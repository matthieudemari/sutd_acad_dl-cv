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1"/>
  </p:notesMasterIdLst>
  <p:sldIdLst>
    <p:sldId id="377" r:id="rId2"/>
    <p:sldId id="760" r:id="rId3"/>
    <p:sldId id="783" r:id="rId4"/>
    <p:sldId id="405" r:id="rId5"/>
    <p:sldId id="378" r:id="rId6"/>
    <p:sldId id="785" r:id="rId7"/>
    <p:sldId id="406" r:id="rId8"/>
    <p:sldId id="379" r:id="rId9"/>
    <p:sldId id="407" r:id="rId10"/>
    <p:sldId id="408" r:id="rId11"/>
    <p:sldId id="409" r:id="rId12"/>
    <p:sldId id="410" r:id="rId13"/>
    <p:sldId id="411" r:id="rId14"/>
    <p:sldId id="413" r:id="rId15"/>
    <p:sldId id="412" r:id="rId16"/>
    <p:sldId id="414" r:id="rId17"/>
    <p:sldId id="416" r:id="rId18"/>
    <p:sldId id="417" r:id="rId19"/>
    <p:sldId id="380" r:id="rId20"/>
    <p:sldId id="418" r:id="rId21"/>
    <p:sldId id="419" r:id="rId22"/>
    <p:sldId id="420" r:id="rId23"/>
    <p:sldId id="382" r:id="rId24"/>
    <p:sldId id="423" r:id="rId25"/>
    <p:sldId id="425" r:id="rId26"/>
    <p:sldId id="424" r:id="rId27"/>
    <p:sldId id="426" r:id="rId28"/>
    <p:sldId id="646" r:id="rId29"/>
    <p:sldId id="383" r:id="rId30"/>
    <p:sldId id="647" r:id="rId31"/>
    <p:sldId id="648" r:id="rId32"/>
    <p:sldId id="649" r:id="rId33"/>
    <p:sldId id="384" r:id="rId34"/>
    <p:sldId id="385" r:id="rId35"/>
    <p:sldId id="650" r:id="rId36"/>
    <p:sldId id="651" r:id="rId37"/>
    <p:sldId id="386" r:id="rId38"/>
    <p:sldId id="652" r:id="rId39"/>
    <p:sldId id="787" r:id="rId40"/>
    <p:sldId id="387" r:id="rId41"/>
    <p:sldId id="761" r:id="rId42"/>
    <p:sldId id="788" r:id="rId43"/>
    <p:sldId id="763" r:id="rId44"/>
    <p:sldId id="388" r:id="rId45"/>
    <p:sldId id="765" r:id="rId46"/>
    <p:sldId id="389" r:id="rId47"/>
    <p:sldId id="766" r:id="rId48"/>
    <p:sldId id="767" r:id="rId49"/>
    <p:sldId id="768" r:id="rId50"/>
    <p:sldId id="390" r:id="rId51"/>
    <p:sldId id="770" r:id="rId52"/>
    <p:sldId id="771" r:id="rId53"/>
    <p:sldId id="769" r:id="rId54"/>
    <p:sldId id="772" r:id="rId55"/>
    <p:sldId id="773" r:id="rId56"/>
    <p:sldId id="774" r:id="rId57"/>
    <p:sldId id="786" r:id="rId58"/>
    <p:sldId id="782" r:id="rId59"/>
    <p:sldId id="548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D6D3CB8D-C5FE-4F85-97E1-008DE64A5D47}">
          <p14:sldIdLst>
            <p14:sldId id="377"/>
          </p14:sldIdLst>
        </p14:section>
        <p14:section name="0. Introduction" id="{2FD0FF71-F5FC-4EB7-B2CB-B31E4CBECD79}">
          <p14:sldIdLst>
            <p14:sldId id="760"/>
            <p14:sldId id="783"/>
          </p14:sldIdLst>
        </p14:section>
        <p14:section name="I.1. The PyTorch framework and its benefits" id="{3DB4E890-7E90-4FB2-B232-A4CA3E58405F}">
          <p14:sldIdLst>
            <p14:sldId id="405"/>
            <p14:sldId id="378"/>
            <p14:sldId id="785"/>
            <p14:sldId id="406"/>
          </p14:sldIdLst>
        </p14:section>
        <p14:section name="I.2. The PyTorch Tensor object" id="{1768638D-70DA-424F-8896-144E38C20B7E}">
          <p14:sldIdLst>
            <p14:sldId id="379"/>
            <p14:sldId id="407"/>
            <p14:sldId id="408"/>
            <p14:sldId id="409"/>
            <p14:sldId id="410"/>
            <p14:sldId id="411"/>
            <p14:sldId id="413"/>
            <p14:sldId id="412"/>
          </p14:sldIdLst>
        </p14:section>
        <p14:section name="I.3. Basic operations on Tensors" id="{D24780B9-223D-471E-BEA1-2E21C247BAE1}">
          <p14:sldIdLst>
            <p14:sldId id="414"/>
            <p14:sldId id="416"/>
            <p14:sldId id="417"/>
            <p14:sldId id="380"/>
            <p14:sldId id="418"/>
            <p14:sldId id="419"/>
            <p14:sldId id="420"/>
          </p14:sldIdLst>
        </p14:section>
        <p14:section name="I.5. Tensor locations" id="{771AE218-AC06-4FBC-B137-8E732849AA6C}">
          <p14:sldIdLst>
            <p14:sldId id="382"/>
            <p14:sldId id="423"/>
            <p14:sldId id="425"/>
            <p14:sldId id="424"/>
            <p14:sldId id="426"/>
          </p14:sldIdLst>
        </p14:section>
        <p14:section name="II.1. Converting our model into PyTorch" id="{A7F7FB4A-93A3-4669-8DFC-6DF59244797C}">
          <p14:sldIdLst>
            <p14:sldId id="646"/>
            <p14:sldId id="383"/>
            <p14:sldId id="647"/>
            <p14:sldId id="648"/>
            <p14:sldId id="649"/>
          </p14:sldIdLst>
        </p14:section>
        <p14:section name="II.2. Writing a forward method" id="{EE78A32E-26E9-4654-8BBF-1E279E6C714E}">
          <p14:sldIdLst>
            <p14:sldId id="384"/>
          </p14:sldIdLst>
        </p14:section>
        <p14:section name="II.3. Implementing a loss and accuracy" id="{D114062D-C6B3-459C-BCC8-5DE3703BF52F}">
          <p14:sldIdLst>
            <p14:sldId id="385"/>
            <p14:sldId id="650"/>
            <p14:sldId id="651"/>
          </p14:sldIdLst>
        </p14:section>
        <p14:section name="II.4. Computation times: GPU vs. CPU" id="{66311FC7-18C1-4097-8DBA-A5161CD65364}">
          <p14:sldIdLst>
            <p14:sldId id="386"/>
            <p14:sldId id="652"/>
            <p14:sldId id="787"/>
          </p14:sldIdLst>
        </p14:section>
        <p14:section name="III.1. Autograd the beast" id="{19687F76-71BB-45E7-B8C7-38B1A65DDA6A}">
          <p14:sldIdLst>
            <p14:sldId id="387"/>
            <p14:sldId id="761"/>
            <p14:sldId id="788"/>
            <p14:sldId id="763"/>
          </p14:sldIdLst>
        </p14:section>
        <p14:section name="III.2. Implementing a simple gradient descent" id="{76A3535D-AB29-4E9E-8C0A-231B2FE96A38}">
          <p14:sldIdLst>
            <p14:sldId id="388"/>
            <p14:sldId id="765"/>
          </p14:sldIdLst>
        </p14:section>
        <p14:section name="III.3. Backpropagation and no_grad()" id="{CB5D7E1A-1513-4D06-AD0A-63CEC9F8E7C4}">
          <p14:sldIdLst>
            <p14:sldId id="389"/>
            <p14:sldId id="766"/>
            <p14:sldId id="767"/>
            <p14:sldId id="768"/>
          </p14:sldIdLst>
        </p14:section>
        <p14:section name="IV.1. Losses and Metrics in PyTorch" id="{E2BC7EF5-C7D5-492D-A438-4E9ED9694EF7}">
          <p14:sldIdLst>
            <p14:sldId id="390"/>
            <p14:sldId id="770"/>
            <p14:sldId id="771"/>
            <p14:sldId id="769"/>
            <p14:sldId id="772"/>
            <p14:sldId id="773"/>
            <p14:sldId id="774"/>
          </p14:sldIdLst>
        </p14:section>
        <p14:section name="V.4. Using Linears" id="{ECDEEBB9-B447-4508-8F5C-EC08C6957CE7}">
          <p14:sldIdLst>
            <p14:sldId id="786"/>
            <p14:sldId id="782"/>
            <p14:sldId id="54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292" autoAdjust="0"/>
  </p:normalViewPr>
  <p:slideViewPr>
    <p:cSldViewPr snapToGrid="0">
      <p:cViewPr varScale="1">
        <p:scale>
          <a:sx n="70" d="100"/>
          <a:sy n="70" d="100"/>
        </p:scale>
        <p:origin x="44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ieu De Mari" userId="dfb708c9-d8dc-439f-9a3b-c772bf4a311c" providerId="ADAL" clId="{81E9B007-0C2C-493E-9B93-55A62C9C1F12}"/>
    <pc:docChg chg="undo custSel addSld delSld modSld delSection modSection">
      <pc:chgData name="Matthieu De Mari" userId="dfb708c9-d8dc-439f-9a3b-c772bf4a311c" providerId="ADAL" clId="{81E9B007-0C2C-493E-9B93-55A62C9C1F12}" dt="2026-03-27T08:33:51.283" v="603" actId="20577"/>
      <pc:docMkLst>
        <pc:docMk/>
      </pc:docMkLst>
      <pc:sldChg chg="modSp mod">
        <pc:chgData name="Matthieu De Mari" userId="dfb708c9-d8dc-439f-9a3b-c772bf4a311c" providerId="ADAL" clId="{81E9B007-0C2C-493E-9B93-55A62C9C1F12}" dt="2026-03-27T03:23:52.839" v="602" actId="20577"/>
        <pc:sldMkLst>
          <pc:docMk/>
          <pc:sldMk cId="1921397945" sldId="383"/>
        </pc:sldMkLst>
        <pc:spChg chg="mod">
          <ac:chgData name="Matthieu De Mari" userId="dfb708c9-d8dc-439f-9a3b-c772bf4a311c" providerId="ADAL" clId="{81E9B007-0C2C-493E-9B93-55A62C9C1F12}" dt="2026-03-27T03:23:52.839" v="602" actId="20577"/>
          <ac:spMkLst>
            <pc:docMk/>
            <pc:sldMk cId="1921397945" sldId="383"/>
            <ac:spMk id="3" creationId="{4E3EB5A2-1EBE-6555-85E5-4CA6DEF3845D}"/>
          </ac:spMkLst>
        </pc:spChg>
      </pc:sldChg>
      <pc:sldChg chg="modSp mod">
        <pc:chgData name="Matthieu De Mari" userId="dfb708c9-d8dc-439f-9a3b-c772bf4a311c" providerId="ADAL" clId="{81E9B007-0C2C-493E-9B93-55A62C9C1F12}" dt="2026-03-15T14:25:49.806" v="511" actId="1076"/>
        <pc:sldMkLst>
          <pc:docMk/>
          <pc:sldMk cId="1513778887" sldId="424"/>
        </pc:sldMkLst>
        <pc:spChg chg="mod">
          <ac:chgData name="Matthieu De Mari" userId="dfb708c9-d8dc-439f-9a3b-c772bf4a311c" providerId="ADAL" clId="{81E9B007-0C2C-493E-9B93-55A62C9C1F12}" dt="2026-03-15T14:25:36.516" v="505" actId="27636"/>
          <ac:spMkLst>
            <pc:docMk/>
            <pc:sldMk cId="1513778887" sldId="424"/>
            <ac:spMk id="3" creationId="{FA1F1CE6-06FF-6DD6-265C-39A26CC7DB57}"/>
          </ac:spMkLst>
        </pc:spChg>
        <pc:spChg chg="mod">
          <ac:chgData name="Matthieu De Mari" userId="dfb708c9-d8dc-439f-9a3b-c772bf4a311c" providerId="ADAL" clId="{81E9B007-0C2C-493E-9B93-55A62C9C1F12}" dt="2026-03-15T14:25:48.138" v="510" actId="20577"/>
          <ac:spMkLst>
            <pc:docMk/>
            <pc:sldMk cId="1513778887" sldId="424"/>
            <ac:spMk id="4" creationId="{E64791F5-A404-78DF-C026-D4C294EB6D13}"/>
          </ac:spMkLst>
        </pc:spChg>
        <pc:picChg chg="mod">
          <ac:chgData name="Matthieu De Mari" userId="dfb708c9-d8dc-439f-9a3b-c772bf4a311c" providerId="ADAL" clId="{81E9B007-0C2C-493E-9B93-55A62C9C1F12}" dt="2026-03-15T14:25:49.806" v="511" actId="1076"/>
          <ac:picMkLst>
            <pc:docMk/>
            <pc:sldMk cId="1513778887" sldId="424"/>
            <ac:picMk id="8" creationId="{65211D6B-6ABB-A3D9-3EA0-559457E53E30}"/>
          </ac:picMkLst>
        </pc:picChg>
      </pc:sldChg>
      <pc:sldChg chg="modSp mod">
        <pc:chgData name="Matthieu De Mari" userId="dfb708c9-d8dc-439f-9a3b-c772bf4a311c" providerId="ADAL" clId="{81E9B007-0C2C-493E-9B93-55A62C9C1F12}" dt="2026-03-15T14:26:11.675" v="545" actId="20577"/>
        <pc:sldMkLst>
          <pc:docMk/>
          <pc:sldMk cId="3471904534" sldId="647"/>
        </pc:sldMkLst>
        <pc:spChg chg="mod">
          <ac:chgData name="Matthieu De Mari" userId="dfb708c9-d8dc-439f-9a3b-c772bf4a311c" providerId="ADAL" clId="{81E9B007-0C2C-493E-9B93-55A62C9C1F12}" dt="2026-03-15T14:26:11.675" v="545" actId="20577"/>
          <ac:spMkLst>
            <pc:docMk/>
            <pc:sldMk cId="3471904534" sldId="647"/>
            <ac:spMk id="3" creationId="{DC9D8363-826B-D189-78FB-CCD945BC5477}"/>
          </ac:spMkLst>
        </pc:spChg>
      </pc:sldChg>
      <pc:sldChg chg="modSp mod">
        <pc:chgData name="Matthieu De Mari" userId="dfb708c9-d8dc-439f-9a3b-c772bf4a311c" providerId="ADAL" clId="{81E9B007-0C2C-493E-9B93-55A62C9C1F12}" dt="2026-03-27T08:33:51.283" v="603" actId="20577"/>
        <pc:sldMkLst>
          <pc:docMk/>
          <pc:sldMk cId="557429466" sldId="785"/>
        </pc:sldMkLst>
        <pc:spChg chg="mod">
          <ac:chgData name="Matthieu De Mari" userId="dfb708c9-d8dc-439f-9a3b-c772bf4a311c" providerId="ADAL" clId="{81E9B007-0C2C-493E-9B93-55A62C9C1F12}" dt="2026-03-27T08:33:51.283" v="603" actId="20577"/>
          <ac:spMkLst>
            <pc:docMk/>
            <pc:sldMk cId="557429466" sldId="785"/>
            <ac:spMk id="3" creationId="{65399E50-9E84-8D67-B55F-073C06C3D10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478373-EB31-4867-8CF0-FA31364748A5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DF365-F842-4E76-AC24-5BC5382A08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2812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E4AD2-5DFB-40B9-9046-538F457C2D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89AB4D-C9BD-4804-BAD4-30ABC21BBF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16BA0-299B-403D-BF6F-22CAD5861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2CE3F-0F08-4DF3-A557-685AC26F7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B7FD2-E7A4-40C9-9DA4-170335047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6607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9B31A-FA50-4DA2-9315-474283DEB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3FCD2-8B77-4AF4-8080-624AD9E7F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1587F-CECC-48E1-9033-F49992081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BEDBB-8F3E-4349-BF02-8BA4BFA4A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49832-CE42-4D03-89CE-BF86C2288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041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741B7-69A0-4F98-A4F1-934086E8E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C4F2BF-824A-433E-A1B8-AA04DCB3E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03A02-257B-42F0-BF28-1777F5C48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A73EA-09DC-41D8-B62F-461F73837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0A76A-6E9C-414F-B980-FF95D8BC4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1840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D12A8-E7BA-4E8E-9357-A40BF427B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B368D-1AC8-401B-8D15-AB5F2DF52B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B54FE0-C058-43CC-8FAE-A8FF7FC43F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EDAEE-3329-419E-908B-25F1A6C11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BF37E1-EFD9-4926-903C-A8F3F36F6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1BFE49-D09A-40E3-8D45-D54CF140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1781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06ACB-47EB-4233-8485-0DBCD4792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1BCCC-D7D1-44A6-85A4-5F35671D8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24D018-9C08-4325-8DE0-27765125B3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054B92-6EF5-4DC3-8819-3BB914D088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9DEE04-4503-4C98-A54E-5B4414DE44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682F25-2B9E-401E-842E-299065232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C4412F-03BB-4180-96FC-5FFE79C5F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D4B694-771E-4D77-A094-AE6844AC4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7763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4B0B5-CEFD-42FE-80F6-946D18792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338384-0D5D-4181-9005-8843908C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F3C4F2-521E-43BA-978F-A744CDEB1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E24618-CDB0-4673-AF57-77A81FE6F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9381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9B6684-ECAC-47C6-9E72-EC9A0F420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837DBC-C277-472E-BF47-6769C2B20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9D80B-7718-49DE-9803-FDF6ECAD1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118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DE5B7-A7F2-453D-9210-C132F794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81A54-3B44-49FD-9DFE-5C031AC3B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CEDAA9-F86E-42B0-BCB5-FFBD8F9BD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8E5CCE-232A-418F-BF54-FECCCBE5B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0C79A-014C-4B02-9279-7EE20A512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3E7691-D5FC-4182-9AE9-20D2EFC76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4019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35217-D17F-45E7-B7CA-F5D4DAFB3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B94D55-9243-49C9-96F4-70D4569015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476A3C-7074-4031-BCF5-275CD92ED7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130CC7-09EA-4C92-80AE-F253D048A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7CD087-50BE-480B-BD3C-2CCB17C0E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96C921-787D-431A-BDD7-DA404775A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6846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B0483-1596-4673-8A29-254D3DC88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8DE429-CA08-4265-9A4D-51FDC7FA5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484A7-7EB0-4711-BB58-4DD3DBAC7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41F78-0B35-41BE-A0A9-4586BE477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6E482-F592-48F9-83BC-62EB3DB57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5946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361B4E-3627-4AD6-AD20-F32FAFBDA4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48BF35-5935-4E82-A1F8-08337A4DA3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BD791-DE7C-49E1-A341-84D81473B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D9CCE-A99B-4CBA-91FF-4D46A3F5C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CAD09-2925-4932-B93A-FF27DE64C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597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DB992C-5696-43C0-B140-56751731D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058581-4C84-49FD-8B3C-95F4C8571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8350B-1B49-41B8-8A7A-F1A1B98F8C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DF616-B21E-4EF6-A6A5-95E2FB3EB1A1}" type="datetimeFigureOut">
              <a:rPr lang="en-GB" smtClean="0"/>
              <a:t>27/03/2026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BE49B-AA7F-417D-B067-42C40475CC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72CFA-2157-4F98-8693-550F0B104B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504F79-603A-6F7A-93E7-C9CABA0FF30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781675" y="0"/>
            <a:ext cx="6635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872183-7F29-FB0F-D3D7-53204406A33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81675" y="6675120"/>
            <a:ext cx="6635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2168708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assemblyai.com/blog/pytorch-vs-tensorflow-in-2022/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tensorflow.org/api_docs/python/tf/dtypes" TargetMode="Externa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tensorflow.org/api_docs/python/tf/dtypes" TargetMode="Externa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pytorch.org/blog/computational-graphs-constructed-in-pytorch/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torchmetrics.readthedocs.io/en/stable/all-metrics.html" TargetMode="External"/><Relationship Id="rId2" Type="http://schemas.openxmlformats.org/officeDocument/2006/relationships/hyperlink" Target="https://pytorch.org/docs/stable/nn.html#loss-functions" TargetMode="Externa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CEB46-CC16-4D19-8C2C-AEE9471D81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5139" y="942610"/>
            <a:ext cx="11441722" cy="2387600"/>
          </a:xfrm>
        </p:spPr>
        <p:txBody>
          <a:bodyPr>
            <a:normAutofit/>
          </a:bodyPr>
          <a:lstStyle/>
          <a:p>
            <a:r>
              <a:rPr lang="en-US" b="1" dirty="0"/>
              <a:t>Practice of Deep Learning</a:t>
            </a:r>
            <a:br>
              <a:rPr lang="en-US" b="1" dirty="0"/>
            </a:br>
            <a:r>
              <a:rPr lang="en-US" dirty="0"/>
              <a:t>Day 2, Part 2/4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6ABDE1-A047-4B53-92F2-67282914DD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Matthieu </a:t>
            </a:r>
            <a:r>
              <a:rPr lang="en-US"/>
              <a:t>De Mari</a:t>
            </a:r>
            <a:endParaRPr lang="en-US" dirty="0"/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EEFD138E-FF3C-4975-898F-313719523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008" y="4484243"/>
            <a:ext cx="4443984" cy="173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15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8AB3E-DF60-4411-7415-7A8708334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About this lecture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58308-C101-BC04-E972-00C74DE50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What is the </a:t>
            </a:r>
            <a:r>
              <a:rPr lang="en-GB" b="1" dirty="0" err="1"/>
              <a:t>PyTorch</a:t>
            </a:r>
            <a:r>
              <a:rPr lang="en-GB" dirty="0"/>
              <a:t> </a:t>
            </a:r>
            <a:r>
              <a:rPr lang="en-GB" b="1" dirty="0"/>
              <a:t>library</a:t>
            </a:r>
            <a:r>
              <a:rPr lang="en-GB" dirty="0"/>
              <a:t> and its </a:t>
            </a:r>
            <a:r>
              <a:rPr lang="en-GB" b="1" dirty="0"/>
              <a:t>benefits</a:t>
            </a:r>
            <a:r>
              <a:rPr lang="en-GB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What is a </a:t>
            </a:r>
            <a:r>
              <a:rPr lang="en-GB" b="1" dirty="0" err="1"/>
              <a:t>PyTorch</a:t>
            </a:r>
            <a:r>
              <a:rPr lang="en-GB" dirty="0"/>
              <a:t> </a:t>
            </a:r>
            <a:r>
              <a:rPr lang="en-GB" b="1" dirty="0"/>
              <a:t>tensor</a:t>
            </a:r>
            <a:r>
              <a:rPr lang="en-GB" dirty="0"/>
              <a:t> </a:t>
            </a:r>
            <a:r>
              <a:rPr lang="en-GB" b="1" dirty="0"/>
              <a:t>object</a:t>
            </a:r>
            <a:r>
              <a:rPr lang="en-GB" dirty="0"/>
              <a:t> and its typical </a:t>
            </a:r>
            <a:r>
              <a:rPr lang="en-GB" b="1" dirty="0"/>
              <a:t>attributes</a:t>
            </a:r>
            <a:r>
              <a:rPr lang="en-GB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How to implement some typical </a:t>
            </a:r>
            <a:r>
              <a:rPr lang="en-GB" b="1" dirty="0"/>
              <a:t>tensor</a:t>
            </a:r>
            <a:r>
              <a:rPr lang="en-GB" dirty="0"/>
              <a:t> </a:t>
            </a:r>
            <a:r>
              <a:rPr lang="en-GB" b="1" dirty="0"/>
              <a:t>operations</a:t>
            </a:r>
            <a:r>
              <a:rPr lang="en-GB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What are </a:t>
            </a:r>
            <a:r>
              <a:rPr lang="en-GB" b="1" dirty="0"/>
              <a:t>tensor</a:t>
            </a:r>
            <a:r>
              <a:rPr lang="en-GB" dirty="0"/>
              <a:t> </a:t>
            </a:r>
            <a:r>
              <a:rPr lang="en-GB" b="1" dirty="0"/>
              <a:t>locations</a:t>
            </a:r>
            <a:r>
              <a:rPr lang="en-GB" dirty="0"/>
              <a:t> in terms of computation?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How to </a:t>
            </a:r>
            <a:r>
              <a:rPr lang="en-GB" b="1" dirty="0"/>
              <a:t>transform</a:t>
            </a:r>
            <a:r>
              <a:rPr lang="en-GB" dirty="0"/>
              <a:t> </a:t>
            </a:r>
            <a:r>
              <a:rPr lang="en-GB" b="1" dirty="0"/>
              <a:t>our</a:t>
            </a:r>
            <a:r>
              <a:rPr lang="en-GB" dirty="0"/>
              <a:t> </a:t>
            </a:r>
            <a:r>
              <a:rPr lang="en-GB" b="1" dirty="0"/>
              <a:t>original</a:t>
            </a:r>
            <a:r>
              <a:rPr lang="en-GB" dirty="0"/>
              <a:t> </a:t>
            </a:r>
            <a:r>
              <a:rPr lang="en-GB" b="1" dirty="0"/>
              <a:t>NumPy</a:t>
            </a:r>
            <a:r>
              <a:rPr lang="en-GB" dirty="0"/>
              <a:t> </a:t>
            </a:r>
            <a:r>
              <a:rPr lang="en-GB" b="1" dirty="0"/>
              <a:t>shallow</a:t>
            </a:r>
            <a:r>
              <a:rPr lang="en-GB" dirty="0"/>
              <a:t> </a:t>
            </a:r>
            <a:r>
              <a:rPr lang="en-GB" b="1" dirty="0"/>
              <a:t>Neural</a:t>
            </a:r>
            <a:r>
              <a:rPr lang="en-GB" dirty="0"/>
              <a:t> </a:t>
            </a:r>
            <a:r>
              <a:rPr lang="en-GB" b="1" dirty="0"/>
              <a:t>Network</a:t>
            </a:r>
            <a:r>
              <a:rPr lang="en-GB" dirty="0"/>
              <a:t> class so it uses </a:t>
            </a:r>
            <a:r>
              <a:rPr lang="en-GB" b="1" dirty="0" err="1"/>
              <a:t>PyTorch</a:t>
            </a:r>
            <a:r>
              <a:rPr lang="en-GB" dirty="0"/>
              <a:t> now instead?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How to implement a </a:t>
            </a:r>
            <a:r>
              <a:rPr lang="en-GB" b="1" dirty="0"/>
              <a:t>forward</a:t>
            </a:r>
            <a:r>
              <a:rPr lang="en-GB" dirty="0"/>
              <a:t>, </a:t>
            </a:r>
            <a:r>
              <a:rPr lang="en-GB" b="1" dirty="0"/>
              <a:t>loss</a:t>
            </a:r>
            <a:r>
              <a:rPr lang="en-GB" dirty="0"/>
              <a:t> and </a:t>
            </a:r>
            <a:r>
              <a:rPr lang="en-GB" b="1" dirty="0"/>
              <a:t>accuracy</a:t>
            </a:r>
            <a:r>
              <a:rPr lang="en-GB" dirty="0"/>
              <a:t> metric in </a:t>
            </a:r>
            <a:r>
              <a:rPr lang="en-GB" dirty="0" err="1"/>
              <a:t>PyTorch</a:t>
            </a:r>
            <a:r>
              <a:rPr lang="en-GB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What are some measurable </a:t>
            </a:r>
            <a:r>
              <a:rPr lang="en-GB" b="1" dirty="0"/>
              <a:t>performance</a:t>
            </a:r>
            <a:r>
              <a:rPr lang="en-GB" dirty="0"/>
              <a:t> </a:t>
            </a:r>
            <a:r>
              <a:rPr lang="en-GB" b="1" dirty="0"/>
              <a:t>benefits</a:t>
            </a:r>
            <a:r>
              <a:rPr lang="en-GB" dirty="0"/>
              <a:t> of using </a:t>
            </a:r>
            <a:r>
              <a:rPr lang="en-GB" b="1" dirty="0" err="1"/>
              <a:t>PyTorch</a:t>
            </a:r>
            <a:r>
              <a:rPr lang="en-GB" dirty="0"/>
              <a:t> over NumPy and </a:t>
            </a:r>
            <a:r>
              <a:rPr lang="en-GB" b="1" dirty="0"/>
              <a:t>GPUs</a:t>
            </a:r>
            <a:r>
              <a:rPr lang="en-GB" dirty="0"/>
              <a:t> over CPUs?</a:t>
            </a:r>
          </a:p>
          <a:p>
            <a:pPr marL="514350" indent="-514350">
              <a:buFont typeface="+mj-lt"/>
              <a:buAutoNum type="arabicPeriod"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17324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8AB3E-DF60-4411-7415-7A8708334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About this lecture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58308-C101-BC04-E972-00C74DE50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8"/>
            </a:pPr>
            <a:r>
              <a:rPr lang="en-GB" dirty="0"/>
              <a:t>What is the </a:t>
            </a:r>
            <a:r>
              <a:rPr lang="en-GB" b="1" dirty="0" err="1"/>
              <a:t>autograd</a:t>
            </a:r>
            <a:r>
              <a:rPr lang="en-GB" dirty="0"/>
              <a:t>/</a:t>
            </a:r>
            <a:r>
              <a:rPr lang="en-GB" b="1" dirty="0"/>
              <a:t>backprop</a:t>
            </a:r>
            <a:r>
              <a:rPr lang="en-GB" dirty="0"/>
              <a:t> module in </a:t>
            </a:r>
            <a:r>
              <a:rPr lang="en-GB" dirty="0" err="1"/>
              <a:t>PyTorch</a:t>
            </a:r>
            <a:r>
              <a:rPr lang="en-GB" dirty="0"/>
              <a:t>, and how does it use a </a:t>
            </a:r>
            <a:r>
              <a:rPr lang="en-GB" b="1" dirty="0"/>
              <a:t>computational</a:t>
            </a:r>
            <a:r>
              <a:rPr lang="en-GB" dirty="0"/>
              <a:t> </a:t>
            </a:r>
            <a:r>
              <a:rPr lang="en-GB" b="1" dirty="0"/>
              <a:t>graph</a:t>
            </a:r>
            <a:r>
              <a:rPr lang="en-GB" dirty="0"/>
              <a:t> to </a:t>
            </a:r>
            <a:r>
              <a:rPr lang="en-GB" b="1" dirty="0"/>
              <a:t>compute</a:t>
            </a:r>
            <a:r>
              <a:rPr lang="en-GB" dirty="0"/>
              <a:t> </a:t>
            </a:r>
            <a:r>
              <a:rPr lang="en-GB" b="1" dirty="0"/>
              <a:t>all</a:t>
            </a:r>
            <a:r>
              <a:rPr lang="en-GB" dirty="0"/>
              <a:t> </a:t>
            </a:r>
            <a:r>
              <a:rPr lang="en-GB" b="1" dirty="0"/>
              <a:t>derivatives</a:t>
            </a:r>
            <a:r>
              <a:rPr lang="en-GB" dirty="0"/>
              <a:t>? </a:t>
            </a:r>
          </a:p>
          <a:p>
            <a:pPr marL="514350" indent="-514350">
              <a:buFont typeface="+mj-lt"/>
              <a:buAutoNum type="arabicPeriod" startAt="8"/>
            </a:pPr>
            <a:r>
              <a:rPr lang="en-GB" dirty="0"/>
              <a:t>How to use the </a:t>
            </a:r>
            <a:r>
              <a:rPr lang="en-GB" b="1" dirty="0" err="1"/>
              <a:t>autograd</a:t>
            </a:r>
            <a:r>
              <a:rPr lang="en-GB" dirty="0"/>
              <a:t> to implement </a:t>
            </a:r>
            <a:r>
              <a:rPr lang="en-GB" b="1" dirty="0"/>
              <a:t>derivatives</a:t>
            </a:r>
            <a:r>
              <a:rPr lang="en-GB" dirty="0"/>
              <a:t> and a </a:t>
            </a:r>
            <a:r>
              <a:rPr lang="en-GB" b="1" dirty="0"/>
              <a:t>vanilla</a:t>
            </a:r>
            <a:r>
              <a:rPr lang="en-GB" dirty="0"/>
              <a:t> </a:t>
            </a:r>
            <a:r>
              <a:rPr lang="en-GB" b="1" dirty="0"/>
              <a:t>gradient</a:t>
            </a:r>
            <a:r>
              <a:rPr lang="en-GB" dirty="0"/>
              <a:t> </a:t>
            </a:r>
            <a:r>
              <a:rPr lang="en-GB" b="1" dirty="0"/>
              <a:t>descent</a:t>
            </a:r>
            <a:r>
              <a:rPr lang="en-GB" dirty="0"/>
              <a:t>?</a:t>
            </a:r>
          </a:p>
          <a:p>
            <a:pPr marL="514350" indent="-514350">
              <a:buFont typeface="+mj-lt"/>
              <a:buAutoNum type="arabicPeriod" startAt="8"/>
            </a:pPr>
            <a:r>
              <a:rPr lang="en-GB" dirty="0"/>
              <a:t>How to implement </a:t>
            </a:r>
            <a:r>
              <a:rPr lang="en-GB" b="1" dirty="0"/>
              <a:t>backprop</a:t>
            </a:r>
            <a:r>
              <a:rPr lang="en-GB" dirty="0"/>
              <a:t> in </a:t>
            </a:r>
            <a:r>
              <a:rPr lang="en-GB" dirty="0" err="1"/>
              <a:t>PyTorch</a:t>
            </a:r>
            <a:r>
              <a:rPr lang="en-GB" dirty="0"/>
              <a:t> for our </a:t>
            </a:r>
            <a:r>
              <a:rPr lang="en-GB" b="1" dirty="0"/>
              <a:t>shallow</a:t>
            </a:r>
            <a:r>
              <a:rPr lang="en-GB" dirty="0"/>
              <a:t> </a:t>
            </a:r>
            <a:r>
              <a:rPr lang="en-GB" b="1" dirty="0"/>
              <a:t>Neural</a:t>
            </a:r>
            <a:r>
              <a:rPr lang="en-GB" dirty="0"/>
              <a:t> </a:t>
            </a:r>
            <a:r>
              <a:rPr lang="en-GB" b="1" dirty="0"/>
              <a:t>Network</a:t>
            </a:r>
            <a:r>
              <a:rPr lang="en-GB" dirty="0"/>
              <a:t> class?</a:t>
            </a:r>
          </a:p>
          <a:p>
            <a:pPr marL="514350" indent="-514350">
              <a:buFont typeface="+mj-lt"/>
              <a:buAutoNum type="arabicPeriod" startAt="8"/>
            </a:pPr>
            <a:r>
              <a:rPr lang="en-GB" dirty="0"/>
              <a:t>How to finally revise our </a:t>
            </a:r>
            <a:r>
              <a:rPr lang="en-GB" b="1" dirty="0"/>
              <a:t>trainer</a:t>
            </a:r>
            <a:r>
              <a:rPr lang="en-GB" dirty="0"/>
              <a:t> function to obtain a minimal, yet complete Neural Network in </a:t>
            </a:r>
            <a:r>
              <a:rPr lang="en-GB" dirty="0" err="1"/>
              <a:t>PyTorch</a:t>
            </a:r>
            <a:r>
              <a:rPr lang="en-GB" dirty="0"/>
              <a:t>?</a:t>
            </a:r>
          </a:p>
          <a:p>
            <a:pPr marL="514350" indent="-514350">
              <a:buFont typeface="+mj-lt"/>
              <a:buAutoNum type="arabicPeriod" startAt="8"/>
            </a:pPr>
            <a:r>
              <a:rPr lang="en-SG" dirty="0"/>
              <a:t>How to implement </a:t>
            </a:r>
            <a:r>
              <a:rPr lang="en-SG" b="1" dirty="0"/>
              <a:t>building</a:t>
            </a:r>
            <a:r>
              <a:rPr lang="en-SG" dirty="0"/>
              <a:t> </a:t>
            </a:r>
            <a:r>
              <a:rPr lang="en-SG" b="1" dirty="0"/>
              <a:t>blocks</a:t>
            </a:r>
            <a:r>
              <a:rPr lang="en-SG" dirty="0"/>
              <a:t> in </a:t>
            </a:r>
            <a:r>
              <a:rPr lang="en-SG" dirty="0" err="1"/>
              <a:t>PyTorch</a:t>
            </a:r>
            <a:r>
              <a:rPr lang="en-SG" dirty="0"/>
              <a:t>?</a:t>
            </a:r>
          </a:p>
          <a:p>
            <a:pPr marL="514350" indent="-514350">
              <a:buFont typeface="+mj-lt"/>
              <a:buAutoNum type="arabicPeriod" startAt="8"/>
            </a:pPr>
            <a:r>
              <a:rPr lang="en-SG" dirty="0"/>
              <a:t>How to implement and train our first </a:t>
            </a:r>
            <a:r>
              <a:rPr lang="en-SG" b="1" dirty="0"/>
              <a:t>Deep</a:t>
            </a:r>
            <a:r>
              <a:rPr lang="en-SG" dirty="0"/>
              <a:t> </a:t>
            </a:r>
            <a:r>
              <a:rPr lang="en-SG" b="1" dirty="0"/>
              <a:t>Neural</a:t>
            </a:r>
            <a:r>
              <a:rPr lang="en-SG" dirty="0"/>
              <a:t> </a:t>
            </a:r>
            <a:r>
              <a:rPr lang="en-SG" b="1" dirty="0"/>
              <a:t>Network</a:t>
            </a:r>
            <a:r>
              <a:rPr lang="en-SG" dirty="0"/>
              <a:t>?</a:t>
            </a:r>
          </a:p>
          <a:p>
            <a:pPr marL="514350" indent="-514350">
              <a:buFont typeface="+mj-lt"/>
              <a:buAutoNum type="arabicPeriod" startAt="8"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70805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64693-5090-BB52-ECF3-0666AAD25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Technical pre-requisites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86CDA-C22E-B272-5CB5-BE1E309AAA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r>
              <a:rPr lang="en-GB" dirty="0"/>
              <a:t>Framework of choice will be </a:t>
            </a:r>
            <a:r>
              <a:rPr lang="en-GB" b="1" dirty="0" err="1"/>
              <a:t>PyTorch</a:t>
            </a:r>
            <a:r>
              <a:rPr lang="en-GB" b="1" dirty="0"/>
              <a:t>! </a:t>
            </a:r>
            <a:r>
              <a:rPr lang="en-GB" dirty="0"/>
              <a:t>(not </a:t>
            </a:r>
            <a:r>
              <a:rPr lang="en-GB" dirty="0" err="1"/>
              <a:t>Tensorflow</a:t>
            </a:r>
            <a:r>
              <a:rPr lang="en-GB" dirty="0"/>
              <a:t>, not </a:t>
            </a:r>
            <a:r>
              <a:rPr lang="en-GB" dirty="0" err="1"/>
              <a:t>Keras</a:t>
            </a:r>
            <a:r>
              <a:rPr lang="en-GB" dirty="0"/>
              <a:t>, not </a:t>
            </a:r>
            <a:r>
              <a:rPr lang="en-GB" dirty="0" err="1"/>
              <a:t>MXNet</a:t>
            </a:r>
            <a:r>
              <a:rPr lang="en-GB" dirty="0"/>
              <a:t>, etc.)</a:t>
            </a:r>
          </a:p>
          <a:p>
            <a:r>
              <a:rPr lang="en-GB" dirty="0"/>
              <a:t>Increasing popularity and preferred to Google’s </a:t>
            </a:r>
            <a:r>
              <a:rPr lang="en-GB" dirty="0" err="1"/>
              <a:t>Tensorflow</a:t>
            </a:r>
            <a:r>
              <a:rPr lang="en-GB" dirty="0"/>
              <a:t> these days for many reasons.</a:t>
            </a:r>
          </a:p>
          <a:p>
            <a:r>
              <a:rPr lang="en-GB" dirty="0"/>
              <a:t>Learn more, if curious: </a:t>
            </a:r>
            <a:r>
              <a:rPr lang="en-GB" dirty="0">
                <a:hlinkClick r:id="rId2"/>
              </a:rPr>
              <a:t>https://www.assemblyai.com/blog/pytorch-vs-tensorflow-in-2022/</a:t>
            </a:r>
            <a:endParaRPr lang="en-GB" dirty="0"/>
          </a:p>
          <a:p>
            <a:endParaRPr lang="en-GB" dirty="0"/>
          </a:p>
          <a:p>
            <a:endParaRPr lang="en-SG" dirty="0"/>
          </a:p>
        </p:txBody>
      </p:sp>
      <p:pic>
        <p:nvPicPr>
          <p:cNvPr id="8" name="Picture 7" descr="Chart&#10;&#10;Description automatically generated">
            <a:extLst>
              <a:ext uri="{FF2B5EF4-FFF2-40B4-BE49-F238E27FC236}">
                <a16:creationId xmlns:a16="http://schemas.microsoft.com/office/drawing/2014/main" id="{A5EAB954-957E-D4B7-7CEA-B5B5FA43AA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8581" y="3328011"/>
            <a:ext cx="5719960" cy="3529989"/>
          </a:xfrm>
          <a:prstGeom prst="rect">
            <a:avLst/>
          </a:prstGeom>
        </p:spPr>
      </p:pic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00EC893D-A9C0-E3AD-91DA-F3EAD655B0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2157" y="1219994"/>
            <a:ext cx="4216034" cy="2108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402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C6A3F0-334F-9B7D-CECA-321756F77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On the benefits of using </a:t>
            </a:r>
            <a:r>
              <a:rPr lang="en-GB" dirty="0" err="1"/>
              <a:t>PyTorch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99E50-9E84-8D67-B55F-073C06C3D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There are several benefits to using </a:t>
            </a:r>
            <a:r>
              <a:rPr lang="en-GB" dirty="0" err="1"/>
              <a:t>PyTorch</a:t>
            </a:r>
            <a:r>
              <a:rPr lang="en-GB" dirty="0"/>
              <a:t> over NumPy for implementing neural networks: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More</a:t>
            </a:r>
            <a:r>
              <a:rPr lang="en-GB" dirty="0"/>
              <a:t> </a:t>
            </a:r>
            <a:r>
              <a:rPr lang="en-GB" b="1" dirty="0"/>
              <a:t>intuitive</a:t>
            </a:r>
            <a:r>
              <a:rPr lang="en-GB" dirty="0"/>
              <a:t> </a:t>
            </a:r>
            <a:r>
              <a:rPr lang="en-GB" b="1" dirty="0"/>
              <a:t>interface</a:t>
            </a:r>
            <a:r>
              <a:rPr lang="en-GB" dirty="0"/>
              <a:t> for working with tensors and neural networks.</a:t>
            </a:r>
          </a:p>
          <a:p>
            <a:pPr lvl="1"/>
            <a:r>
              <a:rPr lang="en-GB" dirty="0"/>
              <a:t>NumPy is primarily a numerical computing library.</a:t>
            </a:r>
          </a:p>
          <a:p>
            <a:pPr lvl="1"/>
            <a:r>
              <a:rPr lang="en-GB" dirty="0" err="1"/>
              <a:t>PyTorch</a:t>
            </a:r>
            <a:r>
              <a:rPr lang="en-GB" dirty="0"/>
              <a:t> is specifically designed with deep learning and provides a more natural and convenient interface.</a:t>
            </a:r>
          </a:p>
          <a:p>
            <a:r>
              <a:rPr lang="en-GB" b="1" dirty="0"/>
              <a:t>Large</a:t>
            </a:r>
            <a:r>
              <a:rPr lang="en-GB" dirty="0"/>
              <a:t> </a:t>
            </a:r>
            <a:r>
              <a:rPr lang="en-GB" b="1" dirty="0"/>
              <a:t>active</a:t>
            </a:r>
            <a:r>
              <a:rPr lang="en-GB" dirty="0"/>
              <a:t> </a:t>
            </a:r>
            <a:r>
              <a:rPr lang="en-GB" b="1" dirty="0"/>
              <a:t>community</a:t>
            </a:r>
            <a:r>
              <a:rPr lang="en-GB" dirty="0"/>
              <a:t> of users.</a:t>
            </a:r>
          </a:p>
          <a:p>
            <a:pPr lvl="1"/>
            <a:r>
              <a:rPr lang="en-GB" dirty="0"/>
              <a:t>Many tutorials, detailed documentations and implementations on </a:t>
            </a:r>
            <a:r>
              <a:rPr lang="en-GB" dirty="0" err="1"/>
              <a:t>Github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Stack overflow equivalent.</a:t>
            </a:r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766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C6A3F0-334F-9B7D-CECA-321756F77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On the benefits of using </a:t>
            </a:r>
            <a:r>
              <a:rPr lang="en-GB" dirty="0" err="1"/>
              <a:t>PyTorch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99E50-9E84-8D67-B55F-073C06C3D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There are several benefits to using </a:t>
            </a:r>
            <a:r>
              <a:rPr lang="en-GB" dirty="0" err="1"/>
              <a:t>PyTorch</a:t>
            </a:r>
            <a:r>
              <a:rPr lang="en-GB" dirty="0"/>
              <a:t> over NumPy for implementing neural networks: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PyTorch</a:t>
            </a:r>
            <a:r>
              <a:rPr lang="en-GB" dirty="0"/>
              <a:t> has </a:t>
            </a:r>
            <a:r>
              <a:rPr lang="en-GB" b="1" dirty="0"/>
              <a:t>better</a:t>
            </a:r>
            <a:r>
              <a:rPr lang="en-GB" dirty="0"/>
              <a:t> </a:t>
            </a:r>
            <a:r>
              <a:rPr lang="en-GB" b="1" dirty="0"/>
              <a:t>support</a:t>
            </a:r>
            <a:r>
              <a:rPr lang="en-GB" dirty="0"/>
              <a:t> </a:t>
            </a:r>
            <a:r>
              <a:rPr lang="en-GB" b="1" dirty="0"/>
              <a:t>for</a:t>
            </a:r>
            <a:r>
              <a:rPr lang="en-GB" dirty="0"/>
              <a:t> </a:t>
            </a:r>
            <a:r>
              <a:rPr lang="en-GB" b="1" dirty="0"/>
              <a:t>GPU</a:t>
            </a:r>
            <a:r>
              <a:rPr lang="en-GB" dirty="0"/>
              <a:t> </a:t>
            </a:r>
            <a:r>
              <a:rPr lang="en-GB" b="1" dirty="0"/>
              <a:t>acceleration</a:t>
            </a:r>
            <a:r>
              <a:rPr lang="en-GB" dirty="0"/>
              <a:t> than NumPy.</a:t>
            </a:r>
          </a:p>
          <a:p>
            <a:pPr lvl="1"/>
            <a:r>
              <a:rPr lang="en-GB" dirty="0"/>
              <a:t>If a GPU is available, significantly </a:t>
            </a:r>
            <a:r>
              <a:rPr lang="en-GB" b="1" dirty="0"/>
              <a:t>speed</a:t>
            </a:r>
            <a:r>
              <a:rPr lang="en-GB" dirty="0"/>
              <a:t> </a:t>
            </a:r>
            <a:r>
              <a:rPr lang="en-GB" b="1" dirty="0"/>
              <a:t>up</a:t>
            </a:r>
            <a:r>
              <a:rPr lang="en-GB" dirty="0"/>
              <a:t> </a:t>
            </a:r>
            <a:r>
              <a:rPr lang="en-GB" b="1" dirty="0"/>
              <a:t>the</a:t>
            </a:r>
            <a:r>
              <a:rPr lang="en-GB" dirty="0"/>
              <a:t> </a:t>
            </a:r>
            <a:r>
              <a:rPr lang="en-GB" b="1" dirty="0"/>
              <a:t>training</a:t>
            </a:r>
            <a:r>
              <a:rPr lang="en-GB" dirty="0"/>
              <a:t> of our neural network by performing the computations on the GPU using </a:t>
            </a:r>
            <a:r>
              <a:rPr lang="en-GB" dirty="0" err="1"/>
              <a:t>PyTorch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Especially useful for </a:t>
            </a:r>
            <a:r>
              <a:rPr lang="en-GB" b="1" dirty="0"/>
              <a:t>training</a:t>
            </a:r>
            <a:r>
              <a:rPr lang="en-GB" dirty="0"/>
              <a:t> </a:t>
            </a:r>
            <a:r>
              <a:rPr lang="en-GB" b="1" dirty="0"/>
              <a:t>large</a:t>
            </a:r>
            <a:r>
              <a:rPr lang="en-GB" dirty="0"/>
              <a:t> </a:t>
            </a:r>
            <a:r>
              <a:rPr lang="en-GB" b="1" dirty="0"/>
              <a:t>and</a:t>
            </a:r>
            <a:r>
              <a:rPr lang="en-GB" dirty="0"/>
              <a:t> </a:t>
            </a:r>
            <a:r>
              <a:rPr lang="en-GB" b="1" dirty="0"/>
              <a:t>complex</a:t>
            </a:r>
            <a:r>
              <a:rPr lang="en-GB" dirty="0"/>
              <a:t> </a:t>
            </a:r>
            <a:r>
              <a:rPr lang="en-GB" b="1" dirty="0"/>
              <a:t>models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High-level</a:t>
            </a:r>
            <a:r>
              <a:rPr lang="en-GB" dirty="0"/>
              <a:t> </a:t>
            </a:r>
            <a:r>
              <a:rPr lang="en-GB" b="1" dirty="0"/>
              <a:t>abstractions</a:t>
            </a:r>
            <a:r>
              <a:rPr lang="en-GB" dirty="0"/>
              <a:t> for building and training neural networks.</a:t>
            </a:r>
          </a:p>
          <a:p>
            <a:pPr lvl="1"/>
            <a:r>
              <a:rPr lang="en-GB" dirty="0"/>
              <a:t>Easier to write and debug code, </a:t>
            </a:r>
          </a:p>
          <a:p>
            <a:pPr lvl="1"/>
            <a:r>
              <a:rPr lang="en-GB" dirty="0"/>
              <a:t>Improve the performance of our model by allowing </a:t>
            </a:r>
            <a:r>
              <a:rPr lang="en-GB" dirty="0" err="1"/>
              <a:t>PyTorch</a:t>
            </a:r>
            <a:r>
              <a:rPr lang="en-GB" dirty="0"/>
              <a:t> to apply optimization techniques</a:t>
            </a:r>
          </a:p>
          <a:p>
            <a:pPr lvl="1"/>
            <a:r>
              <a:rPr lang="en-GB" dirty="0"/>
              <a:t>More specifically, </a:t>
            </a:r>
            <a:r>
              <a:rPr lang="en-GB" b="1" dirty="0">
                <a:solidFill>
                  <a:srgbClr val="FF0000"/>
                </a:solidFill>
              </a:rPr>
              <a:t>automatic</a:t>
            </a:r>
            <a:r>
              <a:rPr lang="en-GB" dirty="0"/>
              <a:t> </a:t>
            </a:r>
            <a:r>
              <a:rPr lang="en-GB" b="1" dirty="0">
                <a:solidFill>
                  <a:srgbClr val="FF0000"/>
                </a:solidFill>
              </a:rPr>
              <a:t>differentiation</a:t>
            </a:r>
            <a:r>
              <a:rPr lang="en-GB" dirty="0"/>
              <a:t>!</a:t>
            </a:r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7429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8E2B8-16B2-DFEB-21E8-D5EA9B09A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At this point, you should have installed </a:t>
            </a:r>
            <a:r>
              <a:rPr lang="en-GB" dirty="0" err="1"/>
              <a:t>PyTorch</a:t>
            </a:r>
            <a:r>
              <a:rPr lang="en-GB" dirty="0"/>
              <a:t>, and if possible, CUDA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01D2C-4BE4-C6CD-31D7-3F2E18277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You can check for CUDA/GPU capabilities, using the code below. If the CUDA has not been properly installed or the GPU is not compatible, you will be using a CPU instead.</a:t>
            </a:r>
          </a:p>
          <a:p>
            <a:r>
              <a:rPr lang="en-GB" dirty="0"/>
              <a:t>We strongly advise to take a moment to make sure your machine is CUDA enabled, assuming your GPU is compatible (see W1S1 bonus).</a:t>
            </a:r>
          </a:p>
          <a:p>
            <a:r>
              <a:rPr lang="en-GB" dirty="0"/>
              <a:t>When CUDA is properly installed on a compatible GPU, the line below should display </a:t>
            </a:r>
            <a:r>
              <a:rPr lang="en-GB" i="1" dirty="0" err="1"/>
              <a:t>cuda</a:t>
            </a:r>
            <a:r>
              <a:rPr lang="en-GB" dirty="0"/>
              <a:t>, otherwise it will print </a:t>
            </a:r>
            <a:r>
              <a:rPr lang="en-GB" i="1" dirty="0" err="1"/>
              <a:t>cpu</a:t>
            </a:r>
            <a:r>
              <a:rPr lang="en-GB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2DA575-615D-9EA0-0B63-D1F67373C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342" y="4925814"/>
            <a:ext cx="9567315" cy="1567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927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AF26F8-A3EF-1DA4-0F08-821904720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Tensor object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F664FFA-9452-2803-1619-F256290467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Tensor</a:t>
            </a:r>
            <a:r>
              <a:rPr lang="en-GB" b="1" dirty="0"/>
              <a:t>): </a:t>
            </a:r>
          </a:p>
          <a:p>
            <a:pPr marL="0" indent="0">
              <a:buNone/>
            </a:pPr>
            <a:r>
              <a:rPr lang="en-GB" dirty="0"/>
              <a:t>The tensor is </a:t>
            </a:r>
            <a:r>
              <a:rPr lang="en-GB" dirty="0" err="1"/>
              <a:t>PyTorch's</a:t>
            </a:r>
            <a:r>
              <a:rPr lang="en-GB" dirty="0"/>
              <a:t> basic building block and is very similar to NumPy arrays.</a:t>
            </a:r>
          </a:p>
          <a:p>
            <a:pPr marL="0" indent="0">
              <a:buNone/>
            </a:pPr>
            <a:r>
              <a:rPr lang="en-GB" dirty="0"/>
              <a:t>This is why most of the concepts and methods will look similar</a:t>
            </a:r>
          </a:p>
          <a:p>
            <a:pPr marL="0" indent="0">
              <a:buNone/>
            </a:pPr>
            <a:r>
              <a:rPr lang="en-GB" dirty="0"/>
              <a:t> However, these come with additional features, which will be useful later on when building Neural Networks with these tensors.</a:t>
            </a:r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396DA0-ACDE-2CF1-5318-A812A302B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019" y="2674898"/>
            <a:ext cx="4620270" cy="230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187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34E9-6928-73A0-43A5-8E0EEE693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a Tensor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D9A86-7C7C-734B-80A4-FB642FF100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/>
          <a:lstStyle/>
          <a:p>
            <a:r>
              <a:rPr lang="en-GB" dirty="0"/>
              <a:t>Tensors can be simply created as in NumPy, by using </a:t>
            </a:r>
            <a:r>
              <a:rPr lang="en-GB" b="1" dirty="0"/>
              <a:t>zeros()</a:t>
            </a:r>
            <a:r>
              <a:rPr lang="en-GB" dirty="0"/>
              <a:t> or </a:t>
            </a:r>
            <a:r>
              <a:rPr lang="en-GB" b="1" dirty="0"/>
              <a:t>ones()</a:t>
            </a:r>
            <a:r>
              <a:rPr lang="en-GB" dirty="0"/>
              <a:t> functions, specifying dimensions of the expected Tensor, with tuples.</a:t>
            </a:r>
          </a:p>
          <a:p>
            <a:r>
              <a:rPr lang="en-GB" dirty="0"/>
              <a:t>They can also be created from a </a:t>
            </a:r>
            <a:r>
              <a:rPr lang="en-GB" b="1" dirty="0"/>
              <a:t>list</a:t>
            </a:r>
            <a:r>
              <a:rPr lang="en-GB" dirty="0"/>
              <a:t> (</a:t>
            </a:r>
            <a:r>
              <a:rPr lang="en-GB" b="1" dirty="0"/>
              <a:t>of</a:t>
            </a:r>
            <a:r>
              <a:rPr lang="en-GB" dirty="0"/>
              <a:t> </a:t>
            </a:r>
            <a:r>
              <a:rPr lang="en-GB" b="1" dirty="0"/>
              <a:t>lists</a:t>
            </a:r>
            <a:r>
              <a:rPr lang="en-GB" dirty="0"/>
              <a:t>) of values, by passing it to the </a:t>
            </a:r>
            <a:r>
              <a:rPr lang="en-GB" b="1" dirty="0"/>
              <a:t>tensor() </a:t>
            </a:r>
            <a:r>
              <a:rPr lang="en-GB" dirty="0"/>
              <a:t>function.</a:t>
            </a:r>
          </a:p>
          <a:p>
            <a:r>
              <a:rPr lang="en-GB" dirty="0"/>
              <a:t>Or from a </a:t>
            </a:r>
            <a:r>
              <a:rPr lang="en-GB" b="1" dirty="0" err="1"/>
              <a:t>Numpy</a:t>
            </a:r>
            <a:r>
              <a:rPr lang="en-GB" dirty="0"/>
              <a:t> </a:t>
            </a:r>
            <a:r>
              <a:rPr lang="en-GB" b="1" dirty="0"/>
              <a:t>array</a:t>
            </a:r>
            <a:r>
              <a:rPr lang="en-GB" dirty="0"/>
              <a:t>, using the </a:t>
            </a:r>
            <a:r>
              <a:rPr lang="en-GB" b="1" dirty="0" err="1"/>
              <a:t>from_numpy</a:t>
            </a:r>
            <a:r>
              <a:rPr lang="en-GB" b="1" dirty="0"/>
              <a:t>()</a:t>
            </a:r>
            <a:r>
              <a:rPr lang="en-GB" dirty="0"/>
              <a:t> method. </a:t>
            </a: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EEA628-810A-AF2E-00EE-DF691CE16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326" y="90610"/>
            <a:ext cx="5029902" cy="37247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43654B-55A4-7D2C-64C1-EA7202FE61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1326" y="3829082"/>
            <a:ext cx="4048690" cy="13527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D8B9614-48EF-8437-0E5E-9FEF509AB4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1326" y="5370748"/>
            <a:ext cx="4906060" cy="126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028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8DBA5-CB9C-9AAA-DA24-A5BB82454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Tensor datatypes (</a:t>
            </a:r>
            <a:r>
              <a:rPr lang="en-GB" dirty="0" err="1"/>
              <a:t>dtypes</a:t>
            </a:r>
            <a:r>
              <a:rPr lang="en-GB" dirty="0"/>
              <a:t>)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1AD02-2B23-3037-9908-FF09B34992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 err="1">
                <a:solidFill>
                  <a:srgbClr val="00B050"/>
                </a:solidFill>
              </a:rPr>
              <a:t>dtypes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dirty="0" err="1"/>
              <a:t>PyTorch</a:t>
            </a:r>
            <a:r>
              <a:rPr lang="en-GB" dirty="0"/>
              <a:t> tensors have an attribute called </a:t>
            </a:r>
            <a:r>
              <a:rPr lang="en-GB" b="1" dirty="0" err="1">
                <a:solidFill>
                  <a:srgbClr val="00B050"/>
                </a:solidFill>
              </a:rPr>
              <a:t>dtype</a:t>
            </a:r>
            <a:r>
              <a:rPr lang="en-GB" dirty="0"/>
              <a:t>, which tracks the </a:t>
            </a:r>
            <a:r>
              <a:rPr lang="en-GB" b="1" dirty="0"/>
              <a:t>datatype of values stored in the tensor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See link below for more details on the possible </a:t>
            </a:r>
            <a:r>
              <a:rPr lang="en-GB" dirty="0" err="1"/>
              <a:t>dtypes</a:t>
            </a:r>
            <a:r>
              <a:rPr lang="en-GB" dirty="0"/>
              <a:t>. </a:t>
            </a:r>
            <a:r>
              <a:rPr lang="en-GB" dirty="0">
                <a:hlinkClick r:id="rId2"/>
              </a:rPr>
              <a:t>https://www.tensorflow.org/api_docs/python/tf/dtypes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In general, </a:t>
            </a:r>
            <a:r>
              <a:rPr lang="en-GB" b="1" dirty="0"/>
              <a:t>operations between tensors require compatible, and sometimes identical </a:t>
            </a:r>
            <a:r>
              <a:rPr lang="en-GB" b="1" dirty="0" err="1"/>
              <a:t>dtypes</a:t>
            </a:r>
            <a:r>
              <a:rPr lang="en-GB" dirty="0"/>
              <a:t>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2769B1-E04C-7731-027E-A37C8AAEBC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80097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Here, the dot product failed because one tensor was int, and the other was float/double.</a:t>
            </a:r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E0B423-3A8C-32D4-141D-C55B53A72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277" y="3070000"/>
            <a:ext cx="5720305" cy="3640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396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8DBA5-CB9C-9AAA-DA24-A5BB82454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Tensor datatypes (</a:t>
            </a:r>
            <a:r>
              <a:rPr lang="en-GB" dirty="0" err="1"/>
              <a:t>dtypes</a:t>
            </a:r>
            <a:r>
              <a:rPr lang="en-GB" dirty="0"/>
              <a:t>)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1AD02-2B23-3037-9908-FF09B34992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 err="1">
                <a:solidFill>
                  <a:srgbClr val="00B050"/>
                </a:solidFill>
              </a:rPr>
              <a:t>dtypes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dirty="0" err="1"/>
              <a:t>PyTorch</a:t>
            </a:r>
            <a:r>
              <a:rPr lang="en-GB" dirty="0"/>
              <a:t> tensors have an attribute called </a:t>
            </a:r>
            <a:r>
              <a:rPr lang="en-GB" b="1" dirty="0" err="1">
                <a:solidFill>
                  <a:srgbClr val="00B050"/>
                </a:solidFill>
              </a:rPr>
              <a:t>dtype</a:t>
            </a:r>
            <a:r>
              <a:rPr lang="en-GB" dirty="0"/>
              <a:t>, which tracks the </a:t>
            </a:r>
            <a:r>
              <a:rPr lang="en-GB" b="1" dirty="0"/>
              <a:t>datatype of values stored in the tensor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See link below for more details on the possible </a:t>
            </a:r>
            <a:r>
              <a:rPr lang="en-GB" dirty="0" err="1"/>
              <a:t>dtypes</a:t>
            </a:r>
            <a:r>
              <a:rPr lang="en-GB" dirty="0"/>
              <a:t>. </a:t>
            </a:r>
            <a:r>
              <a:rPr lang="en-GB" dirty="0">
                <a:hlinkClick r:id="rId2"/>
              </a:rPr>
              <a:t>https://www.tensorflow.org/api_docs/python/tf/dtypes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In general, </a:t>
            </a:r>
            <a:r>
              <a:rPr lang="en-GB" b="1" dirty="0"/>
              <a:t>operations between tensors require compatible, and sometimes identical </a:t>
            </a:r>
            <a:r>
              <a:rPr lang="en-GB" b="1" dirty="0" err="1"/>
              <a:t>dtypes</a:t>
            </a:r>
            <a:r>
              <a:rPr lang="en-GB" dirty="0"/>
              <a:t>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2769B1-E04C-7731-027E-A37C8AAEBC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80097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You can change the </a:t>
            </a:r>
            <a:r>
              <a:rPr lang="en-GB" dirty="0" err="1"/>
              <a:t>dtype</a:t>
            </a:r>
            <a:r>
              <a:rPr lang="en-GB" dirty="0"/>
              <a:t> of a tensor</a:t>
            </a:r>
          </a:p>
          <a:p>
            <a:pPr marL="0" indent="0">
              <a:buNone/>
            </a:pPr>
            <a:r>
              <a:rPr lang="en-GB" dirty="0"/>
              <a:t>- by either </a:t>
            </a:r>
            <a:r>
              <a:rPr lang="en-GB" b="1" dirty="0"/>
              <a:t>specifying</a:t>
            </a:r>
            <a:r>
              <a:rPr lang="en-GB" dirty="0"/>
              <a:t> </a:t>
            </a:r>
            <a:r>
              <a:rPr lang="en-GB" b="1" dirty="0"/>
              <a:t>it</a:t>
            </a:r>
            <a:r>
              <a:rPr lang="en-GB" dirty="0"/>
              <a:t> </a:t>
            </a:r>
            <a:r>
              <a:rPr lang="en-GB" b="1" dirty="0"/>
              <a:t>explicitly</a:t>
            </a:r>
            <a:r>
              <a:rPr lang="en-GB" dirty="0"/>
              <a:t> </a:t>
            </a:r>
            <a:r>
              <a:rPr lang="en-GB" b="1" dirty="0"/>
              <a:t>during</a:t>
            </a:r>
            <a:r>
              <a:rPr lang="en-GB" dirty="0"/>
              <a:t> </a:t>
            </a:r>
            <a:r>
              <a:rPr lang="en-GB" b="1" dirty="0"/>
              <a:t>its</a:t>
            </a:r>
            <a:r>
              <a:rPr lang="en-GB" dirty="0"/>
              <a:t> </a:t>
            </a:r>
            <a:r>
              <a:rPr lang="en-GB" b="1" dirty="0"/>
              <a:t>creation</a:t>
            </a:r>
            <a:r>
              <a:rPr lang="en-GB" dirty="0"/>
              <a:t>;</a:t>
            </a:r>
          </a:p>
          <a:p>
            <a:pPr marL="0" indent="0">
              <a:buNone/>
            </a:pPr>
            <a:r>
              <a:rPr lang="en-GB" dirty="0"/>
              <a:t>- or by using the </a:t>
            </a:r>
            <a:r>
              <a:rPr lang="en-GB" b="1" dirty="0"/>
              <a:t>type()</a:t>
            </a:r>
            <a:r>
              <a:rPr lang="en-GB" dirty="0"/>
              <a:t> method on the tensor, casting a new </a:t>
            </a:r>
            <a:r>
              <a:rPr lang="en-GB" dirty="0" err="1"/>
              <a:t>dtype</a:t>
            </a:r>
            <a:r>
              <a:rPr lang="en-GB" dirty="0"/>
              <a:t>.</a:t>
            </a:r>
            <a:endParaRPr lang="en-SG" dirty="0"/>
          </a:p>
          <a:p>
            <a:pPr marL="0" indent="0">
              <a:buNone/>
            </a:pP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74613D-DF48-BF6C-AB43-CCE9EB512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1153" y="4225609"/>
            <a:ext cx="5001323" cy="22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110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8DBA5-CB9C-9AAA-DA24-A5BB82454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Tensor random initializers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C1AD02-2B23-3037-9908-FF09B3499297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 dirty="0"/>
                  <a:t>Tensors can also be </a:t>
                </a:r>
                <a:r>
                  <a:rPr lang="en-GB" b="1" dirty="0"/>
                  <a:t>initialized</a:t>
                </a:r>
                <a:r>
                  <a:rPr lang="en-GB" dirty="0"/>
                  <a:t> </a:t>
                </a:r>
                <a:r>
                  <a:rPr lang="en-GB" b="1" dirty="0"/>
                  <a:t>using</a:t>
                </a:r>
                <a:r>
                  <a:rPr lang="en-GB" dirty="0"/>
                  <a:t> </a:t>
                </a:r>
                <a:r>
                  <a:rPr lang="en-GB" b="1" dirty="0"/>
                  <a:t>random</a:t>
                </a:r>
                <a:r>
                  <a:rPr lang="en-GB" dirty="0"/>
                  <a:t> </a:t>
                </a:r>
                <a:r>
                  <a:rPr lang="en-GB" b="1" dirty="0"/>
                  <a:t>generators</a:t>
                </a:r>
                <a:r>
                  <a:rPr lang="en-GB" dirty="0"/>
                  <a:t>, as in NumPy.</a:t>
                </a:r>
              </a:p>
              <a:p>
                <a:pPr marL="0" indent="0">
                  <a:buNone/>
                </a:pPr>
                <a:r>
                  <a:rPr lang="en-GB" dirty="0"/>
                  <a:t>For instance, we can:</a:t>
                </a:r>
              </a:p>
              <a:p>
                <a:r>
                  <a:rPr lang="en-GB" dirty="0"/>
                  <a:t>use </a:t>
                </a:r>
                <a:r>
                  <a:rPr lang="en-GB" b="1" dirty="0"/>
                  <a:t>rand()</a:t>
                </a:r>
                <a:r>
                  <a:rPr lang="en-GB" dirty="0"/>
                  <a:t> for drawing random values in a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en-GB" b="1" dirty="0"/>
                  <a:t>uniform</a:t>
                </a:r>
                <a:r>
                  <a:rPr lang="en-GB" dirty="0"/>
                  <a:t> </a:t>
                </a:r>
                <a:r>
                  <a:rPr lang="en-GB" b="1" dirty="0"/>
                  <a:t>distribution</a:t>
                </a:r>
                <a:r>
                  <a:rPr lang="en-GB" dirty="0"/>
                  <a:t>,</a:t>
                </a:r>
              </a:p>
              <a:p>
                <a:r>
                  <a:rPr lang="en-GB" dirty="0"/>
                  <a:t>or use </a:t>
                </a:r>
                <a:r>
                  <a:rPr lang="en-GB" b="1" dirty="0" err="1"/>
                  <a:t>randn</a:t>
                </a:r>
                <a:r>
                  <a:rPr lang="en-GB" b="1" dirty="0"/>
                  <a:t>()</a:t>
                </a:r>
                <a:r>
                  <a:rPr lang="en-GB" dirty="0"/>
                  <a:t> to draw values from a </a:t>
                </a:r>
                <a:r>
                  <a:rPr lang="en-GB" b="1" dirty="0"/>
                  <a:t>normal</a:t>
                </a:r>
                <a:r>
                  <a:rPr lang="en-GB" dirty="0"/>
                  <a:t> </a:t>
                </a:r>
                <a:r>
                  <a:rPr lang="en-GB" b="1" dirty="0"/>
                  <a:t>distribution</a:t>
                </a:r>
                <a:r>
                  <a:rPr lang="en-GB" dirty="0"/>
                  <a:t> </a:t>
                </a:r>
                <a:r>
                  <a:rPr lang="en-GB" b="1" dirty="0"/>
                  <a:t>with</a:t>
                </a:r>
                <a:r>
                  <a:rPr lang="en-GB" dirty="0"/>
                  <a:t> </a:t>
                </a:r>
                <a:r>
                  <a:rPr lang="en-GB" b="1" dirty="0"/>
                  <a:t>zero</a:t>
                </a:r>
                <a:r>
                  <a:rPr lang="en-GB" dirty="0"/>
                  <a:t> </a:t>
                </a:r>
                <a:r>
                  <a:rPr lang="en-GB" b="1" dirty="0"/>
                  <a:t>mean</a:t>
                </a:r>
                <a:r>
                  <a:rPr lang="en-GB" dirty="0"/>
                  <a:t> </a:t>
                </a:r>
                <a:r>
                  <a:rPr lang="en-GB" b="1" dirty="0"/>
                  <a:t>and</a:t>
                </a:r>
                <a:r>
                  <a:rPr lang="en-GB" dirty="0"/>
                  <a:t> </a:t>
                </a:r>
                <a:r>
                  <a:rPr lang="en-GB" b="1" dirty="0"/>
                  <a:t>variance</a:t>
                </a:r>
                <a:r>
                  <a:rPr lang="en-GB" dirty="0"/>
                  <a:t> </a:t>
                </a:r>
                <a:r>
                  <a:rPr lang="en-GB" b="1" dirty="0"/>
                  <a:t>one</a:t>
                </a:r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r>
                  <a:rPr lang="en-GB" dirty="0"/>
                  <a:t>Seeding is done with </a:t>
                </a:r>
                <a:r>
                  <a:rPr lang="en-GB" b="1" dirty="0" err="1"/>
                  <a:t>torch.manual_seed</a:t>
                </a:r>
                <a:r>
                  <a:rPr lang="en-GB" b="1" dirty="0"/>
                  <a:t>().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C1AD02-2B23-3037-9908-FF09B34992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471" t="-266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77BD23E-F56C-1A2A-8041-A46EFC48D2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863492" cy="4351338"/>
          </a:xfrm>
        </p:spPr>
        <p:txBody>
          <a:bodyPr>
            <a:normAutofit lnSpcReduction="10000"/>
          </a:bodyPr>
          <a:lstStyle/>
          <a:p>
            <a:r>
              <a:rPr lang="en-GB" dirty="0"/>
              <a:t>Functions and methods exist for calculating mean values of a tensor, its standard deviation/variance, etc.</a:t>
            </a:r>
          </a:p>
          <a:p>
            <a:endParaRPr lang="en-SG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08F0D5-1AC9-5C59-E1F6-A4F9915E4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202" y="3328450"/>
            <a:ext cx="5613487" cy="298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3504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8DBA5-CB9C-9AAA-DA24-A5BB82454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Tensor random initializers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C1AD02-2B23-3037-9908-FF09B3499297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 dirty="0"/>
                  <a:t>Tensors can also be </a:t>
                </a:r>
                <a:r>
                  <a:rPr lang="en-GB" b="1" dirty="0"/>
                  <a:t>initialized</a:t>
                </a:r>
                <a:r>
                  <a:rPr lang="en-GB" dirty="0"/>
                  <a:t> </a:t>
                </a:r>
                <a:r>
                  <a:rPr lang="en-GB" b="1" dirty="0"/>
                  <a:t>using</a:t>
                </a:r>
                <a:r>
                  <a:rPr lang="en-GB" dirty="0"/>
                  <a:t> </a:t>
                </a:r>
                <a:r>
                  <a:rPr lang="en-GB" b="1" dirty="0"/>
                  <a:t>random</a:t>
                </a:r>
                <a:r>
                  <a:rPr lang="en-GB" dirty="0"/>
                  <a:t> </a:t>
                </a:r>
                <a:r>
                  <a:rPr lang="en-GB" b="1" dirty="0"/>
                  <a:t>generators</a:t>
                </a:r>
                <a:r>
                  <a:rPr lang="en-GB" dirty="0"/>
                  <a:t>, as in NumPy.</a:t>
                </a:r>
              </a:p>
              <a:p>
                <a:pPr marL="0" indent="0">
                  <a:buNone/>
                </a:pPr>
                <a:r>
                  <a:rPr lang="en-GB" dirty="0"/>
                  <a:t>For instance, we can:</a:t>
                </a:r>
              </a:p>
              <a:p>
                <a:r>
                  <a:rPr lang="en-GB" dirty="0"/>
                  <a:t>use </a:t>
                </a:r>
                <a:r>
                  <a:rPr lang="en-GB" b="1" dirty="0"/>
                  <a:t>rand()</a:t>
                </a:r>
                <a:r>
                  <a:rPr lang="en-GB" dirty="0"/>
                  <a:t> for drawing random values in a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en-GB" b="1" dirty="0"/>
                  <a:t>uniform</a:t>
                </a:r>
                <a:r>
                  <a:rPr lang="en-GB" dirty="0"/>
                  <a:t> </a:t>
                </a:r>
                <a:r>
                  <a:rPr lang="en-GB" b="1" dirty="0"/>
                  <a:t>distribution</a:t>
                </a:r>
                <a:r>
                  <a:rPr lang="en-GB" dirty="0"/>
                  <a:t>,</a:t>
                </a:r>
              </a:p>
              <a:p>
                <a:r>
                  <a:rPr lang="en-GB" dirty="0"/>
                  <a:t>or use </a:t>
                </a:r>
                <a:r>
                  <a:rPr lang="en-GB" b="1" dirty="0" err="1"/>
                  <a:t>randn</a:t>
                </a:r>
                <a:r>
                  <a:rPr lang="en-GB" b="1" dirty="0"/>
                  <a:t>()</a:t>
                </a:r>
                <a:r>
                  <a:rPr lang="en-GB" dirty="0"/>
                  <a:t> to draw values from a </a:t>
                </a:r>
                <a:r>
                  <a:rPr lang="en-GB" b="1" dirty="0"/>
                  <a:t>normal</a:t>
                </a:r>
                <a:r>
                  <a:rPr lang="en-GB" dirty="0"/>
                  <a:t> </a:t>
                </a:r>
                <a:r>
                  <a:rPr lang="en-GB" b="1" dirty="0"/>
                  <a:t>distribution</a:t>
                </a:r>
                <a:r>
                  <a:rPr lang="en-GB" dirty="0"/>
                  <a:t> </a:t>
                </a:r>
                <a:r>
                  <a:rPr lang="en-GB" b="1" dirty="0"/>
                  <a:t>with</a:t>
                </a:r>
                <a:r>
                  <a:rPr lang="en-GB" dirty="0"/>
                  <a:t> </a:t>
                </a:r>
                <a:r>
                  <a:rPr lang="en-GB" b="1" dirty="0"/>
                  <a:t>zero</a:t>
                </a:r>
                <a:r>
                  <a:rPr lang="en-GB" dirty="0"/>
                  <a:t> </a:t>
                </a:r>
                <a:r>
                  <a:rPr lang="en-GB" b="1" dirty="0"/>
                  <a:t>mean</a:t>
                </a:r>
                <a:r>
                  <a:rPr lang="en-GB" dirty="0"/>
                  <a:t> </a:t>
                </a:r>
                <a:r>
                  <a:rPr lang="en-GB" b="1" dirty="0"/>
                  <a:t>and</a:t>
                </a:r>
                <a:r>
                  <a:rPr lang="en-GB" dirty="0"/>
                  <a:t> </a:t>
                </a:r>
                <a:r>
                  <a:rPr lang="en-GB" b="1" dirty="0"/>
                  <a:t>variance</a:t>
                </a:r>
                <a:r>
                  <a:rPr lang="en-GB" dirty="0"/>
                  <a:t> </a:t>
                </a:r>
                <a:r>
                  <a:rPr lang="en-GB" b="1" dirty="0"/>
                  <a:t>one</a:t>
                </a:r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r>
                  <a:rPr lang="en-GB" dirty="0"/>
                  <a:t>Seeding is done with </a:t>
                </a:r>
                <a:r>
                  <a:rPr lang="en-GB" b="1" dirty="0" err="1"/>
                  <a:t>torch.manual_seed</a:t>
                </a:r>
                <a:r>
                  <a:rPr lang="en-GB" b="1" dirty="0"/>
                  <a:t>().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C1AD02-2B23-3037-9908-FF09B34992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471" t="-266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77BD23E-F56C-1A2A-8041-A46EFC48D2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863492" cy="4351338"/>
          </a:xfrm>
        </p:spPr>
        <p:txBody>
          <a:bodyPr>
            <a:normAutofit lnSpcReduction="10000"/>
          </a:bodyPr>
          <a:lstStyle/>
          <a:p>
            <a:r>
              <a:rPr lang="en-GB" dirty="0"/>
              <a:t>Functions and methods exist for calculating mean values of a tensor, its standard deviation/variance, etc.</a:t>
            </a:r>
          </a:p>
          <a:p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C2A4C7-E8B8-6EB6-8E8D-628C46CE1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683881"/>
            <a:ext cx="5887083" cy="2628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4092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8E432-407E-8907-4328-C2E9EDFC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Additional attributes of Tensors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BC25369-B12F-4AC1-0A2A-B7362924B8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Tensors come with </a:t>
            </a:r>
            <a:r>
              <a:rPr lang="en-GB" b="1" dirty="0"/>
              <a:t>many attributes and methods</a:t>
            </a:r>
            <a:r>
              <a:rPr lang="en-GB" dirty="0"/>
              <a:t>, e.g. asking the shape of a tensor, like in NumPy, is done using the </a:t>
            </a:r>
            <a:r>
              <a:rPr lang="en-GB" b="1" dirty="0"/>
              <a:t>shape</a:t>
            </a:r>
            <a:r>
              <a:rPr lang="en-GB" dirty="0"/>
              <a:t> attribute.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Not planning to cover all of these attributes and methods, because…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2A851B-519D-6246-1325-49AE148D4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15" y="2883454"/>
            <a:ext cx="5032310" cy="1236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1383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8E432-407E-8907-4328-C2E9EDFC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Additional attributes of Tensors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BC25369-B12F-4AC1-0A2A-B7362924B8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Tensors come with many attributes and methods, e.g. asking the shape of a tensor, like in NumPy, is done using the </a:t>
            </a:r>
            <a:r>
              <a:rPr lang="en-GB" b="1" dirty="0"/>
              <a:t>shape</a:t>
            </a:r>
            <a:r>
              <a:rPr lang="en-GB" dirty="0"/>
              <a:t> attribute.</a:t>
            </a:r>
          </a:p>
          <a:p>
            <a:r>
              <a:rPr lang="en-GB" dirty="0"/>
              <a:t>Too many of them for me to cover, so </a:t>
            </a:r>
            <a:r>
              <a:rPr lang="en-GB" b="1" dirty="0"/>
              <a:t>RTFM</a:t>
            </a:r>
            <a:r>
              <a:rPr lang="en-GB" dirty="0"/>
              <a:t>!</a:t>
            </a:r>
            <a:endParaRPr lang="en-SG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A4B957-7E20-0025-8F44-1A1D4A3195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3768"/>
          <a:stretch/>
        </p:blipFill>
        <p:spPr>
          <a:xfrm>
            <a:off x="337334" y="3429000"/>
            <a:ext cx="11517332" cy="3331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9295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5EEE8A-9864-C894-ADC1-D56F795F9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operations</a:t>
            </a:r>
            <a:br>
              <a:rPr lang="en-GB" dirty="0"/>
            </a:br>
            <a:r>
              <a:rPr lang="en-GB" dirty="0"/>
              <a:t>on Tensors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0D93335-8A92-D60B-8902-7A5CD0AD4E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All the typical element-wise operations on arrays work on tensors. For instance, we can:</a:t>
            </a:r>
          </a:p>
          <a:p>
            <a:r>
              <a:rPr lang="en-GB" b="1" dirty="0"/>
              <a:t>access elements using the square bracket notation</a:t>
            </a:r>
            <a:r>
              <a:rPr lang="en-GB" dirty="0"/>
              <a:t>, multiple square bracket notations and multiple indexes in a single square bracket;</a:t>
            </a:r>
          </a:p>
          <a:p>
            <a:r>
              <a:rPr lang="en-GB" b="1" dirty="0">
                <a:solidFill>
                  <a:schemeClr val="bg1"/>
                </a:solidFill>
              </a:rPr>
              <a:t>slice a tensor</a:t>
            </a:r>
            <a:r>
              <a:rPr lang="en-GB" dirty="0">
                <a:solidFill>
                  <a:schemeClr val="bg1"/>
                </a:solidFill>
              </a:rPr>
              <a:t> using the square bracket notation and colon symbol;</a:t>
            </a:r>
          </a:p>
          <a:p>
            <a:r>
              <a:rPr lang="en-GB" b="1" dirty="0">
                <a:solidFill>
                  <a:schemeClr val="bg1"/>
                </a:solidFill>
              </a:rPr>
              <a:t>update elements </a:t>
            </a:r>
            <a:r>
              <a:rPr lang="en-GB" dirty="0">
                <a:solidFill>
                  <a:schemeClr val="bg1"/>
                </a:solidFill>
              </a:rPr>
              <a:t>of a tensor using the square bracket notation;</a:t>
            </a:r>
          </a:p>
          <a:p>
            <a:r>
              <a:rPr lang="en-GB" b="1" dirty="0">
                <a:solidFill>
                  <a:schemeClr val="bg1"/>
                </a:solidFill>
              </a:rPr>
              <a:t>browse through elements of a tensor </a:t>
            </a:r>
            <a:r>
              <a:rPr lang="en-GB" dirty="0">
                <a:solidFill>
                  <a:schemeClr val="bg1"/>
                </a:solidFill>
              </a:rPr>
              <a:t>using a </a:t>
            </a:r>
            <a:r>
              <a:rPr lang="en-GB" b="1" dirty="0">
                <a:solidFill>
                  <a:schemeClr val="bg1"/>
                </a:solidFill>
              </a:rPr>
              <a:t>for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b="1" dirty="0">
                <a:solidFill>
                  <a:schemeClr val="bg1"/>
                </a:solidFill>
              </a:rPr>
              <a:t>loop</a:t>
            </a:r>
            <a:r>
              <a:rPr lang="en-GB" dirty="0">
                <a:solidFill>
                  <a:schemeClr val="bg1"/>
                </a:solidFill>
              </a:rPr>
              <a:t>.</a:t>
            </a:r>
            <a:endParaRPr lang="en-SG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F9878A-DE25-3093-AE99-5BACE4EEE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870" y="1509713"/>
            <a:ext cx="5810598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969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5EEE8A-9864-C894-ADC1-D56F795F9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operations</a:t>
            </a:r>
            <a:br>
              <a:rPr lang="en-GB" dirty="0"/>
            </a:br>
            <a:r>
              <a:rPr lang="en-GB" dirty="0"/>
              <a:t>on Tensors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0D93335-8A92-D60B-8902-7A5CD0AD4E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All the typical element-wise operations on arrays work on tensors. For instance, we can:</a:t>
            </a:r>
          </a:p>
          <a:p>
            <a:r>
              <a:rPr lang="en-GB" b="1" dirty="0"/>
              <a:t>access elements using the square bracket notation</a:t>
            </a:r>
            <a:r>
              <a:rPr lang="en-GB" dirty="0"/>
              <a:t>, multiple square bracket notations and multiple indexes in a single square bracket;</a:t>
            </a:r>
          </a:p>
          <a:p>
            <a:r>
              <a:rPr lang="en-GB" b="1" dirty="0"/>
              <a:t>update elements </a:t>
            </a:r>
            <a:r>
              <a:rPr lang="en-GB" dirty="0"/>
              <a:t>of a tensor using the square bracket notation;</a:t>
            </a:r>
          </a:p>
          <a:p>
            <a:r>
              <a:rPr lang="en-GB" b="1" dirty="0">
                <a:solidFill>
                  <a:schemeClr val="bg1"/>
                </a:solidFill>
              </a:rPr>
              <a:t>browse through elements of a tensor </a:t>
            </a:r>
            <a:r>
              <a:rPr lang="en-GB" dirty="0">
                <a:solidFill>
                  <a:schemeClr val="bg1"/>
                </a:solidFill>
              </a:rPr>
              <a:t>using a </a:t>
            </a:r>
            <a:r>
              <a:rPr lang="en-GB" b="1" dirty="0">
                <a:solidFill>
                  <a:schemeClr val="bg1"/>
                </a:solidFill>
              </a:rPr>
              <a:t>for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b="1" dirty="0">
                <a:solidFill>
                  <a:schemeClr val="bg1"/>
                </a:solidFill>
              </a:rPr>
              <a:t>loop</a:t>
            </a:r>
            <a:r>
              <a:rPr lang="en-GB" dirty="0">
                <a:solidFill>
                  <a:schemeClr val="bg1"/>
                </a:solidFill>
              </a:rPr>
              <a:t>.</a:t>
            </a:r>
            <a:endParaRPr lang="en-SG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F2A61E-8AF7-2870-14E3-5A5BC11E7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1058" y="1258276"/>
            <a:ext cx="6110942" cy="4680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7023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5EEE8A-9864-C894-ADC1-D56F795F9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operations</a:t>
            </a:r>
            <a:br>
              <a:rPr lang="en-GB" dirty="0"/>
            </a:br>
            <a:r>
              <a:rPr lang="en-GB" dirty="0"/>
              <a:t>on Tensors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0D93335-8A92-D60B-8902-7A5CD0AD4E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All the typical element-wise operations on arrays work on tensors. For instance, we can:</a:t>
            </a:r>
          </a:p>
          <a:p>
            <a:r>
              <a:rPr lang="en-GB" b="1" dirty="0"/>
              <a:t>access elements using the square bracket notation</a:t>
            </a:r>
            <a:r>
              <a:rPr lang="en-GB" dirty="0"/>
              <a:t>, multiple square bracket notations and multiple indexes in a single square bracket;</a:t>
            </a:r>
          </a:p>
          <a:p>
            <a:r>
              <a:rPr lang="en-GB" b="1" dirty="0"/>
              <a:t>update elements </a:t>
            </a:r>
            <a:r>
              <a:rPr lang="en-GB" dirty="0"/>
              <a:t>of a tensor using the square bracket notation;</a:t>
            </a:r>
          </a:p>
          <a:p>
            <a:r>
              <a:rPr lang="en-GB" b="1" dirty="0"/>
              <a:t>browse through elements of a tensor </a:t>
            </a:r>
            <a:r>
              <a:rPr lang="en-GB" dirty="0"/>
              <a:t>using a </a:t>
            </a:r>
            <a:r>
              <a:rPr lang="en-GB" b="1" dirty="0"/>
              <a:t>for</a:t>
            </a:r>
            <a:r>
              <a:rPr lang="en-GB" dirty="0"/>
              <a:t> </a:t>
            </a:r>
            <a:r>
              <a:rPr lang="en-GB" b="1" dirty="0"/>
              <a:t>loop</a:t>
            </a:r>
            <a:r>
              <a:rPr lang="en-GB" dirty="0"/>
              <a:t>.</a:t>
            </a:r>
            <a:endParaRPr lang="en-S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4189C2-2B91-CB7B-E738-0ED6B5D21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27906"/>
            <a:ext cx="6038053" cy="5172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4579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26354-C35C-9E58-34D0-5861FBC9E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Arithmetic operations</a:t>
            </a:r>
            <a:br>
              <a:rPr lang="en-GB" dirty="0"/>
            </a:br>
            <a:r>
              <a:rPr lang="en-GB" dirty="0"/>
              <a:t>on Tensors</a:t>
            </a:r>
            <a:endParaRPr lang="en-SG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6F683A9-058D-AF33-0AA8-27120C94D3E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827"/>
          <a:stretch/>
        </p:blipFill>
        <p:spPr>
          <a:xfrm>
            <a:off x="6886501" y="1381268"/>
            <a:ext cx="4805314" cy="51116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46EFE0C-C1D6-FB5D-CFDC-E9D49F2BE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5809" y="230189"/>
            <a:ext cx="5163271" cy="933580"/>
          </a:xfrm>
          <a:prstGeom prst="rect">
            <a:avLst/>
          </a:prstGeom>
        </p:spPr>
      </p:pic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D7DD82EB-95E2-C9DB-F4EA-EEAA4EF903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5592097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All NumPy array operations work on Tensors and equivalent methods have been written in torch as well.</a:t>
            </a:r>
          </a:p>
          <a:p>
            <a:r>
              <a:rPr lang="en-GB" dirty="0"/>
              <a:t>Element-wise Addition/Subtraction,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004369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26354-C35C-9E58-34D0-5861FBC9E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Arithmetic operations</a:t>
            </a:r>
            <a:br>
              <a:rPr lang="en-GB" dirty="0"/>
            </a:br>
            <a:r>
              <a:rPr lang="en-GB" dirty="0"/>
              <a:t>on Tensors</a:t>
            </a:r>
            <a:endParaRPr lang="en-SG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46EFE0C-C1D6-FB5D-CFDC-E9D49F2B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5809" y="230189"/>
            <a:ext cx="5163271" cy="9335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9F3982-AD07-F3C7-01A6-EB93F89406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9758" y="1298705"/>
            <a:ext cx="4057165" cy="5381462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95E6B02B-00D1-4B97-B7BC-916C0CB69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5592097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All NumPy array operations work on Tensors and equivalent methods have been written in torch as well.</a:t>
            </a:r>
          </a:p>
          <a:p>
            <a:r>
              <a:rPr lang="en-GB" dirty="0"/>
              <a:t>Element-wise Addition/Subtraction,</a:t>
            </a:r>
          </a:p>
          <a:p>
            <a:r>
              <a:rPr lang="en-GB" dirty="0"/>
              <a:t>Element-wise Multiplication/Division,</a:t>
            </a:r>
          </a:p>
        </p:txBody>
      </p:sp>
    </p:spTree>
    <p:extLst>
      <p:ext uri="{BB962C8B-B14F-4D97-AF65-F5344CB8AC3E}">
        <p14:creationId xmlns:p14="http://schemas.microsoft.com/office/powerpoint/2010/main" val="33101535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26354-C35C-9E58-34D0-5861FBC9E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Arithmetic operations</a:t>
            </a:r>
            <a:br>
              <a:rPr lang="en-GB" dirty="0"/>
            </a:br>
            <a:r>
              <a:rPr lang="en-GB" dirty="0"/>
              <a:t>on Tensors</a:t>
            </a:r>
            <a:endParaRPr lang="en-SG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46EFE0C-C1D6-FB5D-CFDC-E9D49F2B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5809" y="230189"/>
            <a:ext cx="5163271" cy="9335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DC9D72-D860-714E-4315-84A729841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9204" y="1761807"/>
            <a:ext cx="4696480" cy="4553585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BFBA435-DBD0-76FC-67E1-9A809C6F4D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5592097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All NumPy array operations work on Tensors and equivalent methods have been written in torch as well.</a:t>
            </a:r>
          </a:p>
          <a:p>
            <a:r>
              <a:rPr lang="en-GB" dirty="0"/>
              <a:t>Element-wise Addition/Subtraction,</a:t>
            </a:r>
          </a:p>
          <a:p>
            <a:r>
              <a:rPr lang="en-GB" dirty="0"/>
              <a:t>Element-wise Multiplication/Division,</a:t>
            </a:r>
          </a:p>
          <a:p>
            <a:r>
              <a:rPr lang="en-GB" dirty="0"/>
              <a:t>Transposition,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638919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26354-C35C-9E58-34D0-5861FBC9E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Arithmetic operations</a:t>
            </a:r>
            <a:br>
              <a:rPr lang="en-GB" dirty="0"/>
            </a:br>
            <a:r>
              <a:rPr lang="en-GB" dirty="0"/>
              <a:t>on Tensors</a:t>
            </a:r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F8287B-68F9-6307-9899-F1C2672A4F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5592097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All NumPy array operations work on Tensors and equivalent methods have been written in torch as well.</a:t>
            </a:r>
          </a:p>
          <a:p>
            <a:r>
              <a:rPr lang="en-GB" dirty="0"/>
              <a:t>Element-wise Addition/Subtraction,</a:t>
            </a:r>
          </a:p>
          <a:p>
            <a:r>
              <a:rPr lang="en-GB" dirty="0"/>
              <a:t>Element-wise Multiplication/Division,</a:t>
            </a:r>
          </a:p>
          <a:p>
            <a:r>
              <a:rPr lang="en-GB" dirty="0"/>
              <a:t>Transposition,</a:t>
            </a:r>
          </a:p>
          <a:p>
            <a:r>
              <a:rPr lang="en-GB" dirty="0"/>
              <a:t>Matrix multiplication and dot product,</a:t>
            </a:r>
          </a:p>
          <a:p>
            <a:r>
              <a:rPr lang="en-GB" dirty="0"/>
              <a:t>Along </a:t>
            </a:r>
            <a:r>
              <a:rPr lang="en-GB"/>
              <a:t>with more </a:t>
            </a:r>
            <a:r>
              <a:rPr lang="en-GB" dirty="0"/>
              <a:t>L</a:t>
            </a:r>
            <a:r>
              <a:rPr lang="en-GB"/>
              <a:t>inear </a:t>
            </a:r>
            <a:r>
              <a:rPr lang="en-GB" dirty="0"/>
              <a:t>Algebra stuff (now is the time to revise!).</a:t>
            </a:r>
          </a:p>
          <a:p>
            <a:endParaRPr lang="en-SG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46EFE0C-C1D6-FB5D-CFDC-E9D49F2B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5809" y="230189"/>
            <a:ext cx="5163271" cy="9335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3A71BB-E43D-61AE-122C-4A8C0D315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0160" y="2394079"/>
            <a:ext cx="4146269" cy="44692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383FA4-4E5E-B38F-E7AB-7A2F11CE2D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2699" y="1161971"/>
            <a:ext cx="5181600" cy="1327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2830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2713C-FE07-816E-6FFD-E2674D117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Tensor locations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F1CE6-06FF-6DD6-265C-39A26CC7DB5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u="sng" dirty="0"/>
              <a:t>Recall:</a:t>
            </a:r>
            <a:r>
              <a:rPr lang="en-GB" b="1" dirty="0"/>
              <a:t> </a:t>
            </a:r>
            <a:r>
              <a:rPr lang="en-GB" dirty="0" err="1"/>
              <a:t>PyTorch</a:t>
            </a:r>
            <a:r>
              <a:rPr lang="en-GB" dirty="0"/>
              <a:t> has </a:t>
            </a:r>
            <a:r>
              <a:rPr lang="en-GB" b="1" dirty="0"/>
              <a:t>better</a:t>
            </a:r>
            <a:r>
              <a:rPr lang="en-GB" dirty="0"/>
              <a:t> </a:t>
            </a:r>
            <a:r>
              <a:rPr lang="en-GB" b="1" dirty="0"/>
              <a:t>support</a:t>
            </a:r>
            <a:r>
              <a:rPr lang="en-GB" dirty="0"/>
              <a:t> </a:t>
            </a:r>
            <a:r>
              <a:rPr lang="en-GB" b="1" dirty="0"/>
              <a:t>for</a:t>
            </a:r>
            <a:r>
              <a:rPr lang="en-GB" dirty="0"/>
              <a:t> </a:t>
            </a:r>
            <a:r>
              <a:rPr lang="en-GB" b="1" dirty="0"/>
              <a:t>GPU</a:t>
            </a:r>
            <a:r>
              <a:rPr lang="en-GB" dirty="0"/>
              <a:t> </a:t>
            </a:r>
            <a:r>
              <a:rPr lang="en-GB" b="1" dirty="0"/>
              <a:t>acceleration</a:t>
            </a:r>
            <a:r>
              <a:rPr lang="en-GB" dirty="0"/>
              <a:t> than NumPy.</a:t>
            </a:r>
          </a:p>
          <a:p>
            <a:r>
              <a:rPr lang="en-GB" dirty="0"/>
              <a:t>If a GPU is available, significantly </a:t>
            </a:r>
            <a:r>
              <a:rPr lang="en-GB" b="1" dirty="0"/>
              <a:t>speed</a:t>
            </a:r>
            <a:r>
              <a:rPr lang="en-GB" dirty="0"/>
              <a:t> </a:t>
            </a:r>
            <a:r>
              <a:rPr lang="en-GB" b="1" dirty="0"/>
              <a:t>up</a:t>
            </a:r>
            <a:r>
              <a:rPr lang="en-GB" dirty="0"/>
              <a:t> </a:t>
            </a:r>
            <a:r>
              <a:rPr lang="en-GB" b="1" dirty="0"/>
              <a:t>the</a:t>
            </a:r>
            <a:r>
              <a:rPr lang="en-GB" dirty="0"/>
              <a:t> </a:t>
            </a:r>
            <a:r>
              <a:rPr lang="en-GB" b="1" dirty="0"/>
              <a:t>training</a:t>
            </a:r>
            <a:r>
              <a:rPr lang="en-GB" dirty="0"/>
              <a:t> of our neural network by performing the computations on the GPU using </a:t>
            </a:r>
            <a:r>
              <a:rPr lang="en-GB" dirty="0" err="1"/>
              <a:t>PyTorch</a:t>
            </a:r>
            <a:r>
              <a:rPr lang="en-GB" dirty="0"/>
              <a:t>.</a:t>
            </a:r>
          </a:p>
          <a:p>
            <a:r>
              <a:rPr lang="en-GB" dirty="0"/>
              <a:t>Especially useful for </a:t>
            </a:r>
            <a:r>
              <a:rPr lang="en-GB" b="1" dirty="0"/>
              <a:t>training</a:t>
            </a:r>
            <a:r>
              <a:rPr lang="en-GB" dirty="0"/>
              <a:t> </a:t>
            </a:r>
            <a:r>
              <a:rPr lang="en-GB" b="1" dirty="0"/>
              <a:t>large</a:t>
            </a:r>
            <a:r>
              <a:rPr lang="en-GB" dirty="0"/>
              <a:t> </a:t>
            </a:r>
            <a:r>
              <a:rPr lang="en-GB" b="1" dirty="0"/>
              <a:t>and</a:t>
            </a:r>
            <a:r>
              <a:rPr lang="en-GB" dirty="0"/>
              <a:t> </a:t>
            </a:r>
            <a:r>
              <a:rPr lang="en-GB" b="1" dirty="0"/>
              <a:t>complex</a:t>
            </a:r>
            <a:r>
              <a:rPr lang="en-GB" dirty="0"/>
              <a:t> </a:t>
            </a:r>
            <a:r>
              <a:rPr lang="en-GB" b="1" dirty="0"/>
              <a:t>models</a:t>
            </a:r>
            <a:r>
              <a:rPr lang="en-GB" dirty="0"/>
              <a:t>.</a:t>
            </a:r>
          </a:p>
          <a:p>
            <a:endParaRPr lang="en-GB" dirty="0"/>
          </a:p>
          <a:p>
            <a:endParaRPr lang="en-SG" dirty="0"/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6AF5739C-A62C-69DB-A2FB-542D29AC8C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6523" y="2571984"/>
            <a:ext cx="5293115" cy="2281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6358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2713C-FE07-816E-6FFD-E2674D117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Tensor locations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F1CE6-06FF-6DD6-265C-39A26CC7DB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/>
              <a:t>By default, all tensors are used by the CPU. If device enabled for GPU/CUDA computation, transfer the tensor to the GPU for faster computation.</a:t>
            </a:r>
          </a:p>
          <a:p>
            <a:pPr marL="0" indent="0">
              <a:buNone/>
            </a:pPr>
            <a:r>
              <a:rPr lang="en-GB" dirty="0"/>
              <a:t>This is done in three ways: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Using </a:t>
            </a:r>
            <a:r>
              <a:rPr lang="en-GB" b="1" dirty="0"/>
              <a:t>.to(device)</a:t>
            </a:r>
            <a:r>
              <a:rPr lang="en-GB" dirty="0"/>
              <a:t> method will transfer to the best device available for computation (device variable was defined earlier, when we checked for </a:t>
            </a:r>
            <a:r>
              <a:rPr lang="en-GB" dirty="0" err="1"/>
              <a:t>cuda</a:t>
            </a:r>
            <a:r>
              <a:rPr lang="en-GB" dirty="0"/>
              <a:t>/</a:t>
            </a:r>
            <a:r>
              <a:rPr lang="en-GB" dirty="0" err="1"/>
              <a:t>cpu</a:t>
            </a:r>
            <a:r>
              <a:rPr lang="en-GB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Using </a:t>
            </a:r>
            <a:r>
              <a:rPr lang="en-GB" b="1" dirty="0">
                <a:solidFill>
                  <a:schemeClr val="bg1"/>
                </a:solidFill>
              </a:rPr>
              <a:t>.</a:t>
            </a:r>
            <a:r>
              <a:rPr lang="en-GB" b="1" dirty="0" err="1">
                <a:solidFill>
                  <a:schemeClr val="bg1"/>
                </a:solidFill>
              </a:rPr>
              <a:t>cpu</a:t>
            </a:r>
            <a:r>
              <a:rPr lang="en-GB" b="1" dirty="0">
                <a:solidFill>
                  <a:schemeClr val="bg1"/>
                </a:solidFill>
              </a:rPr>
              <a:t>()</a:t>
            </a:r>
            <a:r>
              <a:rPr lang="en-GB" dirty="0">
                <a:solidFill>
                  <a:schemeClr val="bg1"/>
                </a:solidFill>
              </a:rPr>
              <a:t> or </a:t>
            </a:r>
            <a:r>
              <a:rPr lang="en-GB" b="1" dirty="0">
                <a:solidFill>
                  <a:schemeClr val="bg1"/>
                </a:solidFill>
              </a:rPr>
              <a:t>.</a:t>
            </a:r>
            <a:r>
              <a:rPr lang="en-GB" b="1" dirty="0" err="1">
                <a:solidFill>
                  <a:schemeClr val="bg1"/>
                </a:solidFill>
              </a:rPr>
              <a:t>cuda</a:t>
            </a:r>
            <a:r>
              <a:rPr lang="en-GB" b="1" dirty="0">
                <a:solidFill>
                  <a:schemeClr val="bg1"/>
                </a:solidFill>
              </a:rPr>
              <a:t>()</a:t>
            </a:r>
            <a:r>
              <a:rPr lang="en-GB" dirty="0">
                <a:solidFill>
                  <a:schemeClr val="bg1"/>
                </a:solidFill>
              </a:rPr>
              <a:t> will force transfer to the </a:t>
            </a:r>
            <a:r>
              <a:rPr lang="en-GB" dirty="0" err="1">
                <a:solidFill>
                  <a:schemeClr val="bg1"/>
                </a:solidFill>
              </a:rPr>
              <a:t>cpu</a:t>
            </a:r>
            <a:r>
              <a:rPr lang="en-GB" dirty="0">
                <a:solidFill>
                  <a:schemeClr val="bg1"/>
                </a:solidFill>
              </a:rPr>
              <a:t> or </a:t>
            </a:r>
            <a:r>
              <a:rPr lang="en-GB" dirty="0" err="1">
                <a:solidFill>
                  <a:schemeClr val="bg1"/>
                </a:solidFill>
              </a:rPr>
              <a:t>cuda</a:t>
            </a:r>
            <a:r>
              <a:rPr lang="en-GB" dirty="0">
                <a:solidFill>
                  <a:schemeClr val="bg1"/>
                </a:solidFill>
              </a:rPr>
              <a:t> respectively. Note that it might fail if you machine is not CUDA compatible.</a:t>
            </a:r>
          </a:p>
          <a:p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D4CA45-334A-7101-22BC-2B329A4C4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799" y="1626580"/>
            <a:ext cx="6148339" cy="389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2549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2713C-FE07-816E-6FFD-E2674D117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Tensor locations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F1CE6-06FF-6DD6-265C-39A26CC7DB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/>
              <a:t>By default, all tensors are used by the CPU. If device enabled for GPU/CUDA computation, transfer the tensor to the GPU for faster computation.</a:t>
            </a:r>
          </a:p>
          <a:p>
            <a:pPr marL="0" indent="0">
              <a:buNone/>
            </a:pPr>
            <a:r>
              <a:rPr lang="en-GB" dirty="0"/>
              <a:t>This is done in three ways: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Using </a:t>
            </a:r>
            <a:r>
              <a:rPr lang="en-GB" b="1" dirty="0"/>
              <a:t>.to(device)</a:t>
            </a:r>
            <a:r>
              <a:rPr lang="en-GB" dirty="0"/>
              <a:t> method will transfer to the best device available for computation (device variable was defined earlier, when we checked for </a:t>
            </a:r>
            <a:r>
              <a:rPr lang="en-GB" dirty="0" err="1"/>
              <a:t>cuda</a:t>
            </a:r>
            <a:r>
              <a:rPr lang="en-GB" dirty="0"/>
              <a:t>/</a:t>
            </a:r>
            <a:r>
              <a:rPr lang="en-GB" dirty="0" err="1"/>
              <a:t>cpu</a:t>
            </a:r>
            <a:r>
              <a:rPr lang="en-GB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Using </a:t>
            </a:r>
            <a:r>
              <a:rPr lang="en-GB" b="1" dirty="0"/>
              <a:t>.</a:t>
            </a:r>
            <a:r>
              <a:rPr lang="en-GB" b="1" dirty="0" err="1"/>
              <a:t>cpu</a:t>
            </a:r>
            <a:r>
              <a:rPr lang="en-GB" b="1" dirty="0"/>
              <a:t>()</a:t>
            </a:r>
            <a:r>
              <a:rPr lang="en-GB" dirty="0"/>
              <a:t> or </a:t>
            </a:r>
            <a:r>
              <a:rPr lang="en-GB" b="1" dirty="0"/>
              <a:t>.</a:t>
            </a:r>
            <a:r>
              <a:rPr lang="en-GB" b="1" dirty="0" err="1"/>
              <a:t>cuda</a:t>
            </a:r>
            <a:r>
              <a:rPr lang="en-GB" b="1" dirty="0"/>
              <a:t>()</a:t>
            </a:r>
            <a:r>
              <a:rPr lang="en-GB" dirty="0"/>
              <a:t> will force transfer to the CPU or CUDA respectively. Note that it might fail if your machine is not CUDA compatible.</a:t>
            </a:r>
          </a:p>
          <a:p>
            <a:endParaRPr lang="en-SG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B8FD1AB-C7BC-2282-E03B-0783B8994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0352" y="1690688"/>
            <a:ext cx="4855817" cy="4697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7726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2713C-FE07-816E-6FFD-E2674D117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Tensor locations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F1CE6-06FF-6DD6-265C-39A26CC7DB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By default, all tensors are used by the CPU. If device enabled for GPU/CUDA computation, transfer the tensor to the GPU for faster computation.</a:t>
            </a:r>
          </a:p>
          <a:p>
            <a:pPr marL="0" indent="0">
              <a:buNone/>
            </a:pPr>
            <a:r>
              <a:rPr lang="en-GB" dirty="0"/>
              <a:t>This is done in three ways: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Using </a:t>
            </a:r>
            <a:r>
              <a:rPr lang="en-GB" b="1" dirty="0"/>
              <a:t>.to(device)</a:t>
            </a:r>
            <a:r>
              <a:rPr lang="en-GB" dirty="0"/>
              <a:t> method will transfer to the given device for computation (device variable was typically defined earlier, when we checked for </a:t>
            </a:r>
            <a:r>
              <a:rPr lang="en-GB" dirty="0" err="1"/>
              <a:t>cuda</a:t>
            </a:r>
            <a:r>
              <a:rPr lang="en-GB" dirty="0"/>
              <a:t>/</a:t>
            </a:r>
            <a:r>
              <a:rPr lang="en-GB" dirty="0" err="1"/>
              <a:t>cpu</a:t>
            </a:r>
            <a:r>
              <a:rPr lang="en-GB" dirty="0"/>
              <a:t>).</a:t>
            </a:r>
          </a:p>
          <a:p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4791F5-A404-78DF-C026-D4C294EB6D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5032375"/>
          </a:xfrm>
        </p:spPr>
        <p:txBody>
          <a:bodyPr>
            <a:normAutofit/>
          </a:bodyPr>
          <a:lstStyle/>
          <a:p>
            <a:r>
              <a:rPr lang="en-GB" dirty="0"/>
              <a:t>Using </a:t>
            </a:r>
            <a:r>
              <a:rPr lang="en-GB" b="1" dirty="0"/>
              <a:t>.</a:t>
            </a:r>
            <a:r>
              <a:rPr lang="en-GB" b="1" dirty="0" err="1"/>
              <a:t>cpu</a:t>
            </a:r>
            <a:r>
              <a:rPr lang="en-GB" b="1" dirty="0"/>
              <a:t>()</a:t>
            </a:r>
            <a:r>
              <a:rPr lang="en-GB" dirty="0"/>
              <a:t> or </a:t>
            </a:r>
            <a:r>
              <a:rPr lang="en-GB" b="1" dirty="0"/>
              <a:t>.</a:t>
            </a:r>
            <a:r>
              <a:rPr lang="en-GB" b="1" dirty="0" err="1"/>
              <a:t>cuda</a:t>
            </a:r>
            <a:r>
              <a:rPr lang="en-GB" b="1" dirty="0"/>
              <a:t>()</a:t>
            </a:r>
            <a:r>
              <a:rPr lang="en-GB" dirty="0"/>
              <a:t> will force transfer to the CPU or CUDA respectively. Note that it might fail if your machine is not CUDA compatible.</a:t>
            </a:r>
          </a:p>
          <a:p>
            <a:r>
              <a:rPr lang="en-GB" dirty="0"/>
              <a:t>In doubt, you can check the </a:t>
            </a:r>
            <a:r>
              <a:rPr lang="en-GB" b="1" dirty="0"/>
              <a:t>device</a:t>
            </a:r>
            <a:r>
              <a:rPr lang="en-GB" dirty="0"/>
              <a:t> attribute of your tensors.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211D6B-6ABB-A3D9-3EA0-559457E53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7025" y="4892011"/>
            <a:ext cx="5497546" cy="1722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7788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2713C-FE07-816E-6FFD-E2674D117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Tensor locations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F1CE6-06FF-6DD6-265C-39A26CC7D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Very important: two tensors with different devices cannot be used in the same operation! (same logic as with the </a:t>
            </a:r>
            <a:r>
              <a:rPr lang="en-GB" b="1" dirty="0" err="1"/>
              <a:t>dtypes</a:t>
            </a:r>
            <a:r>
              <a:rPr lang="en-GB" b="1" dirty="0"/>
              <a:t>).</a:t>
            </a:r>
          </a:p>
          <a:p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2FF5A8-41F2-D417-514A-60422BEB1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728" y="2732741"/>
            <a:ext cx="7652544" cy="4125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3368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DB95A-6F54-1C8E-C7BF-34F5ECB6A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Same dataset as before</a:t>
            </a: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D00DD9-21D0-0350-AF57-AAB151299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6398" y="1548881"/>
            <a:ext cx="7200177" cy="4862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3600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36228-8F7A-1389-12CE-514215337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shallow neural network class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EB5A2-1EBE-6555-85E5-4CA6DEF38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783529" cy="50323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We will reuse our previous </a:t>
            </a:r>
            <a:r>
              <a:rPr lang="en-GB" b="1" dirty="0" err="1"/>
              <a:t>ShallowNeuralNet</a:t>
            </a:r>
            <a:r>
              <a:rPr lang="en-GB" dirty="0"/>
              <a:t> class from earlier, which:</a:t>
            </a:r>
          </a:p>
          <a:p>
            <a:r>
              <a:rPr lang="en-GB" dirty="0"/>
              <a:t>implements a Shallow neural network using </a:t>
            </a:r>
            <a:r>
              <a:rPr lang="en-GB" b="1" dirty="0"/>
              <a:t>two fully connected layers </a:t>
            </a:r>
            <a:r>
              <a:rPr lang="en-GB" dirty="0"/>
              <a:t>and </a:t>
            </a:r>
            <a:r>
              <a:rPr lang="en-GB" b="1" dirty="0"/>
              <a:t>sigmoid</a:t>
            </a:r>
            <a:r>
              <a:rPr lang="en-GB" dirty="0"/>
              <a:t> </a:t>
            </a:r>
            <a:r>
              <a:rPr lang="en-GB" b="1" dirty="0"/>
              <a:t>activation</a:t>
            </a:r>
            <a:r>
              <a:rPr lang="en-GB" dirty="0"/>
              <a:t> </a:t>
            </a:r>
            <a:r>
              <a:rPr lang="en-GB" b="1" dirty="0"/>
              <a:t>functions</a:t>
            </a:r>
            <a:r>
              <a:rPr lang="en-GB" dirty="0"/>
              <a:t>,</a:t>
            </a:r>
          </a:p>
          <a:p>
            <a:r>
              <a:rPr lang="en-GB" dirty="0"/>
              <a:t>uses a </a:t>
            </a:r>
            <a:r>
              <a:rPr lang="en-GB" b="1" dirty="0"/>
              <a:t>simple gradient descent algorithm </a:t>
            </a:r>
            <a:r>
              <a:rPr lang="en-GB" b="1"/>
              <a:t>for updates</a:t>
            </a:r>
            <a:r>
              <a:rPr lang="en-GB"/>
              <a:t>,</a:t>
            </a:r>
            <a:endParaRPr lang="en-GB" dirty="0"/>
          </a:p>
          <a:p>
            <a:r>
              <a:rPr lang="en-GB" dirty="0"/>
              <a:t>uses a </a:t>
            </a:r>
            <a:r>
              <a:rPr lang="en-GB" b="1" dirty="0"/>
              <a:t>random normal initialization</a:t>
            </a:r>
            <a:r>
              <a:rPr lang="en-GB" dirty="0"/>
              <a:t>,</a:t>
            </a:r>
          </a:p>
          <a:p>
            <a:r>
              <a:rPr lang="en-GB" dirty="0"/>
              <a:t>comes with a </a:t>
            </a:r>
            <a:r>
              <a:rPr lang="en-GB" b="1" dirty="0"/>
              <a:t>forward() method </a:t>
            </a:r>
            <a:r>
              <a:rPr lang="en-GB" dirty="0"/>
              <a:t>for predictions,</a:t>
            </a:r>
          </a:p>
          <a:p>
            <a:r>
              <a:rPr lang="en-GB" dirty="0"/>
              <a:t>comes with </a:t>
            </a:r>
            <a:r>
              <a:rPr lang="en-GB" b="1" dirty="0"/>
              <a:t>a backward() </a:t>
            </a:r>
            <a:r>
              <a:rPr lang="en-GB" dirty="0"/>
              <a:t>and </a:t>
            </a:r>
            <a:r>
              <a:rPr lang="en-GB" b="1" dirty="0"/>
              <a:t>train() method </a:t>
            </a:r>
            <a:r>
              <a:rPr lang="en-GB" dirty="0"/>
              <a:t>for backpropagation training,</a:t>
            </a:r>
          </a:p>
          <a:p>
            <a:r>
              <a:rPr lang="en-GB" dirty="0"/>
              <a:t>comes with a </a:t>
            </a:r>
            <a:r>
              <a:rPr lang="en-GB" b="1" dirty="0"/>
              <a:t>cross-entropy loss function </a:t>
            </a:r>
            <a:r>
              <a:rPr lang="en-GB" dirty="0"/>
              <a:t>and an </a:t>
            </a:r>
            <a:r>
              <a:rPr lang="en-GB" b="1" dirty="0"/>
              <a:t>accuracy metric function</a:t>
            </a:r>
            <a:r>
              <a:rPr lang="en-GB" dirty="0"/>
              <a:t>,</a:t>
            </a:r>
          </a:p>
          <a:p>
            <a:r>
              <a:rPr lang="en-GB" dirty="0"/>
              <a:t>comes with a </a:t>
            </a:r>
            <a:r>
              <a:rPr lang="en-GB" b="1" dirty="0"/>
              <a:t>display</a:t>
            </a:r>
            <a:r>
              <a:rPr lang="en-GB" dirty="0"/>
              <a:t> function, to show </a:t>
            </a:r>
            <a:r>
              <a:rPr lang="en-GB" b="1" dirty="0"/>
              <a:t>training curves </a:t>
            </a:r>
            <a:r>
              <a:rPr lang="en-GB" dirty="0"/>
              <a:t>on both the loss and the accuracy,</a:t>
            </a:r>
          </a:p>
          <a:p>
            <a:pPr marL="0" indent="0">
              <a:buNone/>
            </a:pPr>
            <a:r>
              <a:rPr lang="en-GB" dirty="0"/>
              <a:t>Let us start by replicating the </a:t>
            </a:r>
            <a:r>
              <a:rPr lang="en-GB" dirty="0" err="1"/>
              <a:t>init</a:t>
            </a:r>
            <a:r>
              <a:rPr lang="en-GB" dirty="0"/>
              <a:t>, forward, loss and accuracy methods in </a:t>
            </a:r>
            <a:r>
              <a:rPr lang="en-GB" dirty="0" err="1"/>
              <a:t>PyTorch</a:t>
            </a:r>
            <a:r>
              <a:rPr lang="en-GB" dirty="0"/>
              <a:t>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9213979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27A2B-D462-CFC8-D30B-A409AFF0A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Writing a </a:t>
            </a:r>
            <a:r>
              <a:rPr lang="en-GB" dirty="0" err="1"/>
              <a:t>PyTorch</a:t>
            </a:r>
            <a:r>
              <a:rPr lang="en-GB" dirty="0"/>
              <a:t> neural network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D8363-826B-D189-78FB-CCD945BC5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The main differences between the original class and the </a:t>
            </a:r>
            <a:r>
              <a:rPr lang="en-GB" dirty="0" err="1"/>
              <a:t>PyTorch</a:t>
            </a:r>
            <a:r>
              <a:rPr lang="en-GB" dirty="0"/>
              <a:t> version of </a:t>
            </a:r>
            <a:r>
              <a:rPr lang="en-GB"/>
              <a:t>our shallow neural network </a:t>
            </a:r>
            <a:r>
              <a:rPr lang="en-GB" dirty="0"/>
              <a:t>are:</a:t>
            </a:r>
          </a:p>
          <a:p>
            <a:r>
              <a:rPr lang="en-GB" dirty="0"/>
              <a:t>The </a:t>
            </a:r>
            <a:r>
              <a:rPr lang="en-GB" dirty="0" err="1"/>
              <a:t>PyTorch</a:t>
            </a:r>
            <a:r>
              <a:rPr lang="en-GB" dirty="0"/>
              <a:t> version of the class </a:t>
            </a:r>
            <a:r>
              <a:rPr lang="en-GB" b="1" dirty="0"/>
              <a:t>should</a:t>
            </a:r>
            <a:r>
              <a:rPr lang="en-GB" dirty="0"/>
              <a:t> </a:t>
            </a:r>
            <a:r>
              <a:rPr lang="en-GB" b="1" dirty="0"/>
              <a:t>inherit</a:t>
            </a:r>
            <a:r>
              <a:rPr lang="en-GB" dirty="0"/>
              <a:t> </a:t>
            </a:r>
            <a:r>
              <a:rPr lang="en-GB" b="1" dirty="0"/>
              <a:t>from</a:t>
            </a:r>
            <a:r>
              <a:rPr lang="en-GB" dirty="0"/>
              <a:t> </a:t>
            </a:r>
            <a:r>
              <a:rPr lang="en-GB" b="1" dirty="0" err="1"/>
              <a:t>torch.nn.Module</a:t>
            </a:r>
            <a:r>
              <a:rPr lang="en-GB" b="1" dirty="0"/>
              <a:t> </a:t>
            </a:r>
            <a:r>
              <a:rPr lang="en-GB" dirty="0"/>
              <a:t>and call its parent's </a:t>
            </a:r>
            <a:r>
              <a:rPr lang="en-GB" dirty="0" err="1"/>
              <a:t>init</a:t>
            </a:r>
            <a:r>
              <a:rPr lang="en-GB" dirty="0"/>
              <a:t> method using super().</a:t>
            </a:r>
          </a:p>
          <a:p>
            <a:r>
              <a:rPr lang="en-GB" dirty="0"/>
              <a:t>This is necessary because </a:t>
            </a:r>
            <a:r>
              <a:rPr lang="en-GB" dirty="0" err="1"/>
              <a:t>PyTorch</a:t>
            </a:r>
            <a:r>
              <a:rPr lang="en-GB" dirty="0"/>
              <a:t> uses classes inherited from </a:t>
            </a:r>
            <a:r>
              <a:rPr lang="en-GB" dirty="0" err="1"/>
              <a:t>torch.nn.Module</a:t>
            </a:r>
            <a:r>
              <a:rPr lang="en-GB" dirty="0"/>
              <a:t> to keep track of the layers and their </a:t>
            </a:r>
            <a:r>
              <a:rPr lang="en-GB" b="1" dirty="0"/>
              <a:t>parameters</a:t>
            </a:r>
            <a:r>
              <a:rPr lang="en-GB" dirty="0"/>
              <a:t> in a neural network.</a:t>
            </a:r>
          </a:p>
          <a:p>
            <a:r>
              <a:rPr lang="en-GB" dirty="0"/>
              <a:t>Instead of using NumPy arrays for the weights and biases, the </a:t>
            </a:r>
            <a:r>
              <a:rPr lang="en-GB" dirty="0" err="1"/>
              <a:t>PyTorch</a:t>
            </a:r>
            <a:r>
              <a:rPr lang="en-GB" dirty="0"/>
              <a:t> version uses </a:t>
            </a:r>
            <a:r>
              <a:rPr lang="en-GB" b="1" dirty="0" err="1">
                <a:solidFill>
                  <a:srgbClr val="00B050"/>
                </a:solidFill>
              </a:rPr>
              <a:t>torch.nn.Parameter</a:t>
            </a:r>
            <a:r>
              <a:rPr lang="en-GB" b="1" dirty="0">
                <a:solidFill>
                  <a:srgbClr val="00B050"/>
                </a:solidFill>
              </a:rPr>
              <a:t> </a:t>
            </a:r>
            <a:r>
              <a:rPr lang="en-GB" dirty="0"/>
              <a:t>objects, which is a </a:t>
            </a:r>
            <a:r>
              <a:rPr lang="en-GB" b="1" dirty="0"/>
              <a:t>subclass of tensors, whose values can be trained and modified later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719045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4CC0564-4705-2D37-8595-2DA1E59BE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335" y="170995"/>
            <a:ext cx="9345329" cy="651600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F958211-6E53-C1D5-D2C3-2AA446FBEE3E}"/>
              </a:ext>
            </a:extLst>
          </p:cNvPr>
          <p:cNvSpPr/>
          <p:nvPr/>
        </p:nvSpPr>
        <p:spPr>
          <a:xfrm>
            <a:off x="2516553" y="3344985"/>
            <a:ext cx="8174893" cy="3342019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143808-71E3-C715-11DB-3C104EC1545F}"/>
              </a:ext>
            </a:extLst>
          </p:cNvPr>
          <p:cNvSpPr txBox="1"/>
          <p:nvPr/>
        </p:nvSpPr>
        <p:spPr>
          <a:xfrm>
            <a:off x="6079932" y="1284051"/>
            <a:ext cx="46887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accent2"/>
                </a:solidFill>
              </a:rPr>
              <a:t>Explicitly indicate that the </a:t>
            </a:r>
            <a:r>
              <a:rPr lang="en-GB" sz="2400" b="1" dirty="0" err="1">
                <a:solidFill>
                  <a:schemeClr val="accent2"/>
                </a:solidFill>
              </a:rPr>
              <a:t>Wx</a:t>
            </a:r>
            <a:r>
              <a:rPr lang="en-GB" sz="2400" b="1" dirty="0">
                <a:solidFill>
                  <a:schemeClr val="accent2"/>
                </a:solidFill>
              </a:rPr>
              <a:t> and </a:t>
            </a:r>
            <a:r>
              <a:rPr lang="en-GB" sz="2400" b="1" dirty="0" err="1">
                <a:solidFill>
                  <a:schemeClr val="accent2"/>
                </a:solidFill>
              </a:rPr>
              <a:t>bx</a:t>
            </a:r>
            <a:r>
              <a:rPr lang="en-GB" sz="2400" b="1" dirty="0">
                <a:solidFill>
                  <a:schemeClr val="accent2"/>
                </a:solidFill>
              </a:rPr>
              <a:t> matrices are now tensors, playing the roles of parameters in a Neural Network of some sort.</a:t>
            </a:r>
          </a:p>
        </p:txBody>
      </p:sp>
    </p:spTree>
    <p:extLst>
      <p:ext uri="{BB962C8B-B14F-4D97-AF65-F5344CB8AC3E}">
        <p14:creationId xmlns:p14="http://schemas.microsoft.com/office/powerpoint/2010/main" val="11721123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27A2B-D462-CFC8-D30B-A409AFF0A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Writing a </a:t>
            </a:r>
            <a:r>
              <a:rPr lang="en-GB" dirty="0" err="1"/>
              <a:t>PyTorch</a:t>
            </a:r>
            <a:r>
              <a:rPr lang="en-GB" dirty="0"/>
              <a:t> neural network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D8363-826B-D189-78FB-CCD945BC5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In </a:t>
            </a:r>
            <a:r>
              <a:rPr lang="en-GB" dirty="0" err="1"/>
              <a:t>PyTorch</a:t>
            </a:r>
            <a:r>
              <a:rPr lang="en-GB" dirty="0"/>
              <a:t>, </a:t>
            </a:r>
            <a:r>
              <a:rPr lang="en-GB" b="1" dirty="0" err="1"/>
              <a:t>requires_grad</a:t>
            </a:r>
            <a:r>
              <a:rPr lang="en-GB" b="1" dirty="0"/>
              <a:t> </a:t>
            </a:r>
            <a:r>
              <a:rPr lang="en-GB" dirty="0"/>
              <a:t>is an attribute of tensors that </a:t>
            </a:r>
            <a:r>
              <a:rPr lang="en-GB" b="1" dirty="0"/>
              <a:t>allows the gradients to be calculated for a particular tensor</a:t>
            </a:r>
            <a:r>
              <a:rPr lang="en-GB" dirty="0"/>
              <a:t>, </a:t>
            </a:r>
            <a:r>
              <a:rPr lang="en-GB" b="1" dirty="0"/>
              <a:t>during</a:t>
            </a:r>
            <a:r>
              <a:rPr lang="en-GB" dirty="0"/>
              <a:t> </a:t>
            </a:r>
            <a:r>
              <a:rPr lang="en-GB" b="1" dirty="0"/>
              <a:t>forward operations and</a:t>
            </a:r>
            <a:r>
              <a:rPr lang="en-GB" dirty="0"/>
              <a:t> </a:t>
            </a:r>
            <a:r>
              <a:rPr lang="en-GB" b="1" dirty="0"/>
              <a:t>backpropagation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Setting </a:t>
            </a:r>
            <a:r>
              <a:rPr lang="en-GB" b="1" dirty="0" err="1"/>
              <a:t>retain_grad</a:t>
            </a:r>
            <a:r>
              <a:rPr lang="en-GB" b="1" dirty="0"/>
              <a:t>()</a:t>
            </a:r>
            <a:r>
              <a:rPr lang="en-GB" dirty="0"/>
              <a:t> to </a:t>
            </a:r>
            <a:r>
              <a:rPr lang="en-GB" b="1" dirty="0"/>
              <a:t>True</a:t>
            </a:r>
            <a:r>
              <a:rPr lang="en-GB" dirty="0"/>
              <a:t> for a tensor will tell </a:t>
            </a:r>
            <a:r>
              <a:rPr lang="en-GB" dirty="0" err="1"/>
              <a:t>PyTorch</a:t>
            </a:r>
            <a:r>
              <a:rPr lang="en-GB" dirty="0"/>
              <a:t> to keep track of operations happening during the forward pass, later allowing to compute the gradients of these intermediate tensors.</a:t>
            </a:r>
          </a:p>
          <a:p>
            <a:pPr marL="0" indent="0">
              <a:buNone/>
            </a:pPr>
            <a:r>
              <a:rPr lang="en-GB" dirty="0"/>
              <a:t>This will eventually serve to perform parameters updates via backpropagation.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>
                <a:solidFill>
                  <a:srgbClr val="FF0000"/>
                </a:solidFill>
              </a:rPr>
              <a:t>To keep it simple: Trainable parameters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b="1" dirty="0">
                <a:solidFill>
                  <a:srgbClr val="FF0000"/>
                </a:solidFill>
              </a:rPr>
              <a:t>should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b="1" dirty="0">
                <a:solidFill>
                  <a:srgbClr val="FF0000"/>
                </a:solidFill>
              </a:rPr>
              <a:t>allow for gradients to be retained for backpropagation.</a:t>
            </a:r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68816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595458-81E2-940F-A3E9-22F09182B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Rewriting the forward pass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BDF5152-8165-F342-BDF9-7CF1D911D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 forward pass can be rewritten. You can replace most NumPy operations with their </a:t>
            </a:r>
            <a:r>
              <a:rPr lang="en-GB" dirty="0" err="1"/>
              <a:t>PyTorch</a:t>
            </a:r>
            <a:r>
              <a:rPr lang="en-GB" dirty="0"/>
              <a:t> equivalents. Similarly, our activation function sigmoid is replaced with </a:t>
            </a:r>
            <a:r>
              <a:rPr lang="en-GB" dirty="0" err="1"/>
              <a:t>PyTorch's</a:t>
            </a:r>
            <a:r>
              <a:rPr lang="en-GB" dirty="0"/>
              <a:t> </a:t>
            </a:r>
            <a:r>
              <a:rPr lang="en-GB" b="1" dirty="0" err="1"/>
              <a:t>torch.sigmoid</a:t>
            </a:r>
            <a:r>
              <a:rPr lang="en-GB" b="1" dirty="0"/>
              <a:t>() </a:t>
            </a:r>
            <a:r>
              <a:rPr lang="en-GB" dirty="0"/>
              <a:t>function. </a:t>
            </a:r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7C372F-E912-DE4A-4DF1-EE8281CE0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966" y="3349186"/>
            <a:ext cx="8134068" cy="3508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2981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97535-1088-B797-5883-502EDFA1C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Rewriting the loss and accuracy functions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45D00-1AA4-E710-F652-A7E165C17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Similarly, we can rewrite the </a:t>
            </a:r>
            <a:r>
              <a:rPr lang="en-GB" b="1" dirty="0"/>
              <a:t>loss</a:t>
            </a:r>
            <a:r>
              <a:rPr lang="en-GB" dirty="0"/>
              <a:t> and </a:t>
            </a:r>
            <a:r>
              <a:rPr lang="en-GB" b="1" dirty="0"/>
              <a:t>accuracy</a:t>
            </a:r>
            <a:r>
              <a:rPr lang="en-GB" dirty="0"/>
              <a:t> functions using torch functions in place of the </a:t>
            </a:r>
            <a:r>
              <a:rPr lang="en-GB" dirty="0" err="1"/>
              <a:t>Numpy</a:t>
            </a:r>
            <a:r>
              <a:rPr lang="en-GB" dirty="0"/>
              <a:t> ones, also vectorizing operations as much as possible.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6F7538-0929-9C7F-4437-2EFA2BF34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092" y="3542153"/>
            <a:ext cx="11695651" cy="3069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5110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60D675C-F808-15BD-95C2-87052D57C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651" y="304364"/>
            <a:ext cx="8754697" cy="624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9758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F2AAA-4A37-008C-E7D6-37C0D48B6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Trying out our new neural network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6E96C-A3A7-C270-6E1D-F90C9FE6B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67717"/>
            <a:ext cx="10730219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Before using this Neural Network on our dataset, we need to convert our samples to </a:t>
            </a:r>
            <a:r>
              <a:rPr lang="en-GB" dirty="0" err="1"/>
              <a:t>PyTorch</a:t>
            </a:r>
            <a:r>
              <a:rPr lang="en-GB" dirty="0"/>
              <a:t> Tensor objects and send them to GPU (if available).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DCF4F-119C-C0DE-4989-887667465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466" y="2561625"/>
            <a:ext cx="9793067" cy="429637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3978380-2A86-3DD8-97EC-1CCEAE7AE11C}"/>
              </a:ext>
            </a:extLst>
          </p:cNvPr>
          <p:cNvSpPr/>
          <p:nvPr/>
        </p:nvSpPr>
        <p:spPr>
          <a:xfrm flipV="1">
            <a:off x="1199466" y="2561624"/>
            <a:ext cx="5873457" cy="611421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107211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D2A6B-552C-9A92-9B5D-5DB897023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Computation times comparison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08F03-1D5E-5E62-5A70-1B8EB17DF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Let us run both models (the NumPy one and the </a:t>
            </a:r>
            <a:r>
              <a:rPr lang="en-GB" dirty="0" err="1"/>
              <a:t>PyTorch</a:t>
            </a:r>
            <a:r>
              <a:rPr lang="en-GB" dirty="0"/>
              <a:t> one) and ask them to perform 1000 times the accuracy computation.</a:t>
            </a:r>
          </a:p>
          <a:p>
            <a:r>
              <a:rPr lang="en-GB" dirty="0"/>
              <a:t>On my machine (CUDA, Nvidia GTX 4070), the </a:t>
            </a:r>
            <a:r>
              <a:rPr lang="en-GB" dirty="0" err="1"/>
              <a:t>PyTorch</a:t>
            </a:r>
            <a:r>
              <a:rPr lang="en-GB" dirty="0"/>
              <a:t> model is </a:t>
            </a:r>
            <a:r>
              <a:rPr lang="en-GB" b="1" dirty="0"/>
              <a:t>roughly 30 times faster</a:t>
            </a:r>
            <a:r>
              <a:rPr lang="en-GB" dirty="0"/>
              <a:t>!</a:t>
            </a:r>
          </a:p>
          <a:p>
            <a:r>
              <a:rPr lang="en-GB" i="1" dirty="0"/>
              <a:t>(Obviously depends on your machine, could be even more on some specific DL GPUs).</a:t>
            </a:r>
            <a:endParaRPr lang="en-SG" i="1" dirty="0"/>
          </a:p>
        </p:txBody>
      </p:sp>
      <p:pic>
        <p:nvPicPr>
          <p:cNvPr id="7" name="Picture 6" descr="Chart, bar chart&#10;&#10;Description automatically generated">
            <a:extLst>
              <a:ext uri="{FF2B5EF4-FFF2-40B4-BE49-F238E27FC236}">
                <a16:creationId xmlns:a16="http://schemas.microsoft.com/office/drawing/2014/main" id="{ECC234CE-D676-ECD3-D2E7-52357BDE96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7939" y="4493560"/>
            <a:ext cx="7716121" cy="2364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4709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D2A6B-552C-9A92-9B5D-5DB897023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Computation times comparison</a:t>
            </a: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46E1A0-EF8B-8076-F40B-06546F4B9B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72"/>
          <a:stretch/>
        </p:blipFill>
        <p:spPr>
          <a:xfrm>
            <a:off x="1277516" y="1374925"/>
            <a:ext cx="9636967" cy="548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5384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3C55E-8D40-892D-CA0E-25C9EA18F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70156-A29B-F996-8AA8-5C78B66D5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note for those of you running on MacOS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BFAB2-CE03-4B19-15B7-5D788C13B2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Use Google </a:t>
            </a:r>
            <a:r>
              <a:rPr lang="en-GB" dirty="0" err="1"/>
              <a:t>Colab</a:t>
            </a:r>
            <a:r>
              <a:rPr lang="en-GB" dirty="0"/>
              <a:t> but remember to select GPUs are runtime hardware (by default CPU).</a:t>
            </a:r>
            <a:endParaRPr lang="en-GB" i="1" dirty="0"/>
          </a:p>
          <a:p>
            <a:pPr marL="0" indent="0">
              <a:buNone/>
            </a:pPr>
            <a:r>
              <a:rPr lang="en-GB" b="1" i="1" dirty="0"/>
              <a:t>Also the option of using </a:t>
            </a:r>
            <a:r>
              <a:rPr lang="en-GB" b="1" i="1" u="sng" dirty="0"/>
              <a:t>MPS</a:t>
            </a:r>
            <a:br>
              <a:rPr lang="en-GB" b="1" i="1" u="sng" dirty="0"/>
            </a:br>
            <a:r>
              <a:rPr lang="en-GB" b="1" i="1" dirty="0"/>
              <a:t>(but you have to figure it out!)</a:t>
            </a:r>
          </a:p>
          <a:p>
            <a:pPr marL="0" indent="0">
              <a:buNone/>
            </a:pPr>
            <a:r>
              <a:rPr lang="en-GB" b="1" i="1" dirty="0"/>
              <a:t>Careful, as of Feb 2025, float64 is not a valid datatype in MPS, might need to use float32 in notebooks instead.</a:t>
            </a:r>
          </a:p>
          <a:p>
            <a:pPr marL="0" indent="0">
              <a:buNone/>
            </a:pPr>
            <a:r>
              <a:rPr lang="en-GB" b="1" i="1" dirty="0"/>
              <a:t>Possibly more adjustments needed…</a:t>
            </a:r>
            <a:endParaRPr lang="en-SG" b="1" i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FB43C8-3C29-BA06-BBF8-541C3A943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773380"/>
            <a:ext cx="5856514" cy="4356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4241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AFA90-DB7E-A390-9716-D81708D85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Autograd</a:t>
            </a:r>
            <a:r>
              <a:rPr lang="en-GB" dirty="0"/>
              <a:t>, the </a:t>
            </a:r>
            <a:r>
              <a:rPr lang="en-GB" dirty="0" err="1"/>
              <a:t>PyTorch</a:t>
            </a:r>
            <a:r>
              <a:rPr lang="en-GB" dirty="0"/>
              <a:t> beast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732CA9-163D-B4B0-71B2-AEA1EC81E0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Another feature that makes </a:t>
                </a:r>
                <a:r>
                  <a:rPr lang="en-GB" dirty="0" err="1"/>
                  <a:t>PyTorch</a:t>
                </a:r>
                <a:r>
                  <a:rPr lang="en-GB" dirty="0"/>
                  <a:t> extremely powerful is the </a:t>
                </a:r>
                <a:r>
                  <a:rPr lang="en-GB" b="1" dirty="0" err="1">
                    <a:solidFill>
                      <a:srgbClr val="00B050"/>
                    </a:solidFill>
                  </a:rPr>
                  <a:t>autograd</a:t>
                </a:r>
                <a:r>
                  <a:rPr lang="en-GB" dirty="0"/>
                  <a:t>, a </a:t>
                </a:r>
                <a:r>
                  <a:rPr lang="en-GB" b="1" dirty="0"/>
                  <a:t>computational graph able to provide automatic differentiation for all operations made on Tensors</a:t>
                </a:r>
                <a:r>
                  <a:rPr lang="en-GB" dirty="0"/>
                  <a:t>.</a:t>
                </a:r>
              </a:p>
              <a:p>
                <a:r>
                  <a:rPr lang="en-GB" dirty="0"/>
                  <a:t>To demonstrate, let us consider the function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) = </m:t>
                    </m:r>
                    <m:sSup>
                      <m:sSup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i="1" dirty="0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e>
                        </m:d>
                      </m:e>
                      <m:sup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Let us compute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dirty="0"/>
                  <a:t> and then compute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′(1).</m:t>
                    </m:r>
                  </m:oMath>
                </a14:m>
                <a:endParaRPr lang="en-GB" dirty="0"/>
              </a:p>
              <a:p>
                <a:r>
                  <a:rPr lang="en-GB" dirty="0"/>
                  <a:t>The </a:t>
                </a:r>
                <a:r>
                  <a:rPr lang="en-GB" b="1" dirty="0">
                    <a:solidFill>
                      <a:srgbClr val="00B050"/>
                    </a:solidFill>
                  </a:rPr>
                  <a:t>automatic differentiation/gradient computation </a:t>
                </a:r>
                <a:r>
                  <a:rPr lang="en-GB" dirty="0"/>
                  <a:t>is done by </a:t>
                </a:r>
                <a:r>
                  <a:rPr lang="en-GB" dirty="0" err="1"/>
                  <a:t>PyTorch</a:t>
                </a:r>
                <a:r>
                  <a:rPr lang="en-GB" dirty="0"/>
                  <a:t>, for any operation involving a tensor, that has been tracked by setting its attribute </a:t>
                </a:r>
                <a:r>
                  <a:rPr lang="en-GB" b="1" dirty="0" err="1"/>
                  <a:t>requires_grad</a:t>
                </a:r>
                <a:r>
                  <a:rPr lang="en-GB" b="1" dirty="0"/>
                  <a:t> </a:t>
                </a:r>
                <a:r>
                  <a:rPr lang="en-GB" dirty="0"/>
                  <a:t>to </a:t>
                </a:r>
                <a:r>
                  <a:rPr lang="en-GB" b="1" dirty="0"/>
                  <a:t>True</a:t>
                </a:r>
                <a:r>
                  <a:rPr lang="en-GB" dirty="0"/>
                  <a:t>.</a:t>
                </a:r>
              </a:p>
              <a:p>
                <a:r>
                  <a:rPr lang="en-GB" dirty="0"/>
                  <a:t>Any operation can then be tracked back by using the </a:t>
                </a:r>
                <a:r>
                  <a:rPr lang="en-GB" b="1" dirty="0"/>
                  <a:t>backward() </a:t>
                </a:r>
                <a:r>
                  <a:rPr lang="en-GB" dirty="0"/>
                  <a:t>method on the resulting variable (here,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GB" dirty="0"/>
                  <a:t>).</a:t>
                </a:r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732CA9-163D-B4B0-71B2-AEA1EC81E0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46972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23131A8-4BB8-05EA-55DF-8D5EE17B8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0306" y="1081548"/>
            <a:ext cx="6569984" cy="527994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5788055-7509-D8B6-6340-57C1A2023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Autograd</a:t>
            </a:r>
            <a:br>
              <a:rPr lang="en-GB" dirty="0"/>
            </a:br>
            <a:r>
              <a:rPr lang="en-GB" dirty="0"/>
              <a:t>in action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0EEC07FE-D839-07DF-7C1A-CDBE72FE6BB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211015" y="1825625"/>
                <a:ext cx="5226224" cy="487216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Define our function and its derivative (for reference).</a:t>
                </a:r>
              </a:p>
              <a:p>
                <a:r>
                  <a:rPr lang="en-GB" dirty="0"/>
                  <a:t>Create tensor x, containing a single scalar with value 1.</a:t>
                </a:r>
              </a:p>
              <a:p>
                <a:r>
                  <a:rPr lang="en-GB" dirty="0"/>
                  <a:t>Requires/Retain grad is set to True for tensor x.</a:t>
                </a:r>
              </a:p>
              <a:p>
                <a:r>
                  <a:rPr lang="en-GB" dirty="0"/>
                  <a:t>Compute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dirty="0"/>
                  <a:t>.</a:t>
                </a:r>
              </a:p>
              <a:p>
                <a:r>
                  <a:rPr lang="en-SG" dirty="0"/>
                  <a:t>Use backward() to ask </a:t>
                </a:r>
                <a:r>
                  <a:rPr lang="en-SG" dirty="0" err="1"/>
                  <a:t>PyTorch</a:t>
                </a:r>
                <a:r>
                  <a:rPr lang="en-SG" dirty="0"/>
                  <a:t> to compute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lang="en-SG" dirty="0"/>
                  <a:t>.</a:t>
                </a:r>
              </a:p>
              <a:p>
                <a:r>
                  <a:rPr lang="en-SG" dirty="0"/>
                  <a:t>Derivative value stored in </a:t>
                </a:r>
                <a:r>
                  <a:rPr lang="en-SG" b="1" dirty="0" err="1"/>
                  <a:t>x.grad</a:t>
                </a:r>
                <a:r>
                  <a:rPr lang="en-SG" dirty="0"/>
                  <a:t>.</a:t>
                </a:r>
              </a:p>
            </p:txBody>
          </p:sp>
        </mc:Choice>
        <mc:Fallback xmlns="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0EEC07FE-D839-07DF-7C1A-CDBE72FE6B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211015" y="1825625"/>
                <a:ext cx="5226224" cy="4872160"/>
              </a:xfrm>
              <a:blipFill>
                <a:blip r:embed="rId3"/>
                <a:stretch>
                  <a:fillRect l="-2450" t="-2000" r="-3151" b="-87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96994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D4819-3551-C8DE-D1DC-FC5DA2D35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52352D7-A90C-146F-10F0-764E4C01C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0306" y="1081548"/>
            <a:ext cx="6569984" cy="527994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E5D54B24-37B4-51E0-F27D-B0389537E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Autograd</a:t>
            </a:r>
            <a:br>
              <a:rPr lang="en-GB" dirty="0"/>
            </a:br>
            <a:r>
              <a:rPr lang="en-GB" dirty="0"/>
              <a:t>in action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982DA01D-CDF4-6F03-220D-18E06E9ABA8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211015" y="1825625"/>
                <a:ext cx="5226224" cy="487216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 b="1" dirty="0"/>
                  <a:t>Whenever backward() is used:</a:t>
                </a:r>
              </a:p>
              <a:p>
                <a:r>
                  <a:rPr lang="en-GB" dirty="0" err="1"/>
                  <a:t>Autograd</a:t>
                </a:r>
                <a:r>
                  <a:rPr lang="en-GB" dirty="0"/>
                  <a:t> will look at the computational graph,</a:t>
                </a:r>
              </a:p>
              <a:p>
                <a:r>
                  <a:rPr lang="en-GB" dirty="0"/>
                  <a:t>And it will compute the partial derivatives of the variable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on which backward() is applied,</a:t>
                </a:r>
              </a:p>
              <a:p>
                <a:r>
                  <a:rPr lang="en-GB" dirty="0"/>
                  <a:t>With respect to all the tensors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whose </a:t>
                </a:r>
                <a:r>
                  <a:rPr lang="en-GB" dirty="0" err="1"/>
                  <a:t>requires_grad</a:t>
                </a:r>
                <a:r>
                  <a:rPr lang="en-GB" dirty="0"/>
                  <a:t> parameter was set to True,</a:t>
                </a:r>
              </a:p>
              <a:p>
                <a:r>
                  <a:rPr lang="en-GB" dirty="0"/>
                  <a:t>And store these derivatives </a:t>
                </a:r>
                <a:r>
                  <a:rPr lang="en-GB" dirty="0" err="1"/>
                  <a:t>wrt</a:t>
                </a:r>
                <a:r>
                  <a:rPr lang="en-GB" dirty="0"/>
                  <a:t>. to each tensor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, in said tensor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, under the grad attribute.</a:t>
                </a:r>
                <a:endParaRPr lang="en-SG" dirty="0"/>
              </a:p>
            </p:txBody>
          </p:sp>
        </mc:Choice>
        <mc:Fallback xmlns="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982DA01D-CDF4-6F03-220D-18E06E9ABA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211015" y="1825625"/>
                <a:ext cx="5226224" cy="4872160"/>
              </a:xfrm>
              <a:blipFill>
                <a:blip r:embed="rId3"/>
                <a:stretch>
                  <a:fillRect l="-2450" t="-2750" r="-3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28461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F4681-3E05-3370-3E46-11417BFE0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Autograd</a:t>
            </a:r>
            <a:r>
              <a:rPr lang="en-GB" dirty="0"/>
              <a:t>, in short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A87BA25-5926-816A-6E16-0F90D4B62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The </a:t>
            </a:r>
            <a:r>
              <a:rPr lang="en-GB" b="1" dirty="0" err="1">
                <a:solidFill>
                  <a:srgbClr val="00B050"/>
                </a:solidFill>
              </a:rPr>
              <a:t>autograd</a:t>
            </a:r>
            <a:r>
              <a:rPr lang="en-GB" dirty="0"/>
              <a:t> is one of the most powerful features of the </a:t>
            </a:r>
            <a:r>
              <a:rPr lang="en-GB" dirty="0" err="1"/>
              <a:t>PyTorch</a:t>
            </a:r>
            <a:r>
              <a:rPr lang="en-GB" dirty="0"/>
              <a:t> framework, and why we like it so much for training Neural Networks.</a:t>
            </a:r>
          </a:p>
          <a:p>
            <a:r>
              <a:rPr lang="en-GB" b="1" dirty="0"/>
              <a:t>Thanks to </a:t>
            </a:r>
            <a:r>
              <a:rPr lang="en-GB" b="1" dirty="0" err="1">
                <a:solidFill>
                  <a:srgbClr val="00B050"/>
                </a:solidFill>
              </a:rPr>
              <a:t>autograd</a:t>
            </a:r>
            <a:r>
              <a:rPr lang="en-GB" b="1" dirty="0"/>
              <a:t>, we do not need to manually calculate the gradients for any of our future gradient descent rules ever again!</a:t>
            </a:r>
          </a:p>
          <a:p>
            <a:r>
              <a:rPr lang="en-GB" dirty="0"/>
              <a:t>The counterpart however is that all operation must involve tensors and must use </a:t>
            </a:r>
            <a:r>
              <a:rPr lang="en-GB" dirty="0" err="1"/>
              <a:t>PyTorch</a:t>
            </a:r>
            <a:r>
              <a:rPr lang="en-GB" dirty="0"/>
              <a:t> functions and methods... (but that is ok).</a:t>
            </a:r>
          </a:p>
          <a:p>
            <a:r>
              <a:rPr lang="en-GB" dirty="0"/>
              <a:t>You do not need to know how it implements the computation of all gradients in the background, but if you are curious, have a look at: </a:t>
            </a:r>
            <a:r>
              <a:rPr lang="en-GB" dirty="0">
                <a:hlinkClick r:id="rId2"/>
              </a:rPr>
              <a:t>https://pytorch.org/blog/computational-graphs-constructed-in-pytorch/</a:t>
            </a:r>
            <a:r>
              <a:rPr lang="en-GB" dirty="0"/>
              <a:t>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801759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CA521-96F3-C600-A042-370E3F36C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Implementing gradient descent with </a:t>
            </a:r>
            <a:r>
              <a:rPr lang="en-GB" dirty="0" err="1"/>
              <a:t>autograd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D88AA4-084D-50F6-7F5E-69051FD9A8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Now that we have an automated way to compute gradients, we can use gradient descent to find the (local) minima of any differentiable function. To demonstrate, we use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) = </m:t>
                    </m:r>
                    <m:sSup>
                      <m:sSup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i="1" dirty="0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e>
                        </m:d>
                      </m:e>
                      <m:sup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r>
                  <a:rPr lang="en-GB" dirty="0"/>
                  <a:t>We find the minimum by using the </a:t>
                </a:r>
                <a:r>
                  <a:rPr lang="en-GB" b="1" dirty="0"/>
                  <a:t>gradient descent algorithm</a:t>
                </a:r>
                <a:r>
                  <a:rPr lang="en-GB" dirty="0"/>
                  <a:t>:</a:t>
                </a:r>
              </a:p>
              <a:p>
                <a:r>
                  <a:rPr lang="en-GB" b="1" dirty="0"/>
                  <a:t>Define a tensor with retained gradients and starting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b="1" i="1" dirty="0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GB" dirty="0"/>
                  <a:t>, </a:t>
                </a:r>
                <a:r>
                  <a:rPr lang="en-GB" b="1" dirty="0"/>
                  <a:t>learning</a:t>
                </a:r>
                <a:r>
                  <a:rPr lang="en-GB" dirty="0"/>
                  <a:t> </a:t>
                </a:r>
                <a:r>
                  <a:rPr lang="en-GB" b="1" dirty="0"/>
                  <a:t>rate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GB" dirty="0"/>
                  <a:t>, and set iteration number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 to 0.</a:t>
                </a:r>
              </a:p>
              <a:p>
                <a:r>
                  <a:rPr lang="en-GB" b="1" dirty="0"/>
                  <a:t>Forward pass: </a:t>
                </a:r>
                <a:r>
                  <a:rPr lang="en-GB" dirty="0"/>
                  <a:t>compute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err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 dirty="0" err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r>
                  <a:rPr lang="en-GB" b="1" dirty="0"/>
                  <a:t>Backward pass: </a:t>
                </a:r>
                <a:r>
                  <a:rPr lang="en-GB" dirty="0"/>
                  <a:t>Using</a:t>
                </a:r>
                <a:r>
                  <a:rPr lang="en-GB" b="1" dirty="0"/>
                  <a:t> </a:t>
                </a:r>
                <a:r>
                  <a:rPr lang="en-GB" b="1" dirty="0" err="1"/>
                  <a:t>autograd</a:t>
                </a:r>
                <a:r>
                  <a:rPr lang="en-GB" b="1" dirty="0"/>
                  <a:t>, </a:t>
                </a:r>
                <a:r>
                  <a:rPr lang="en-GB" dirty="0"/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GB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err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 dirty="0" err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′(</m:t>
                    </m:r>
                    <m:sSub>
                      <m:sSubPr>
                        <m:ctrlPr>
                          <a:rPr lang="en-GB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err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 dirty="0" err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Increment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 by 1, and </a:t>
                </a:r>
                <a:r>
                  <a:rPr lang="en-GB" b="1" dirty="0"/>
                  <a:t>repeat forward-backward passes</a:t>
                </a:r>
                <a:r>
                  <a:rPr lang="en-GB" dirty="0"/>
                  <a:t> for a given number of iterations (or until convergence is observed).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D88AA4-084D-50F6-7F5E-69051FD9A8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 r="-179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87731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CA521-96F3-C600-A042-370E3F36C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Implementing gradient descent with </a:t>
            </a:r>
            <a:r>
              <a:rPr lang="en-GB" dirty="0" err="1"/>
              <a:t>autograd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D88AA4-084D-50F6-7F5E-69051FD9A887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343373" y="1489398"/>
                <a:ext cx="5189415" cy="536860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u="sng" dirty="0"/>
                  <a:t>Gradient descent algorithm steps:</a:t>
                </a:r>
              </a:p>
              <a:p>
                <a:r>
                  <a:rPr lang="en-GB" b="1" dirty="0"/>
                  <a:t>Define a tensor with retained gradients and starting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b="1" i="1" dirty="0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GB" dirty="0"/>
                  <a:t>, </a:t>
                </a:r>
                <a:r>
                  <a:rPr lang="en-GB" b="1" dirty="0"/>
                  <a:t>learning</a:t>
                </a:r>
                <a:r>
                  <a:rPr lang="en-GB" dirty="0"/>
                  <a:t> </a:t>
                </a:r>
                <a:r>
                  <a:rPr lang="en-GB" b="1" dirty="0"/>
                  <a:t>rate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GB" dirty="0"/>
                  <a:t>, and set iteration number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 to 0.</a:t>
                </a:r>
              </a:p>
              <a:p>
                <a:r>
                  <a:rPr lang="en-GB" b="1" dirty="0"/>
                  <a:t>Forward pass: </a:t>
                </a:r>
                <a:r>
                  <a:rPr lang="en-GB" dirty="0"/>
                  <a:t>compute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err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 dirty="0" err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r>
                  <a:rPr lang="en-GB" b="1" dirty="0"/>
                  <a:t>Backward pass: </a:t>
                </a:r>
                <a:r>
                  <a:rPr lang="en-GB" dirty="0"/>
                  <a:t>Using</a:t>
                </a:r>
                <a:r>
                  <a:rPr lang="en-GB" b="1" dirty="0"/>
                  <a:t> </a:t>
                </a:r>
                <a:r>
                  <a:rPr lang="en-GB" b="1" dirty="0" err="1"/>
                  <a:t>autograd</a:t>
                </a:r>
                <a:r>
                  <a:rPr lang="en-GB" b="1" dirty="0"/>
                  <a:t>, </a:t>
                </a:r>
                <a:r>
                  <a:rPr lang="en-GB" dirty="0"/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GB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err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 dirty="0" err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′(</m:t>
                    </m:r>
                    <m:sSub>
                      <m:sSubPr>
                        <m:ctrlPr>
                          <a:rPr lang="en-GB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err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 dirty="0" err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Increment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 by 1 and </a:t>
                </a:r>
                <a:r>
                  <a:rPr lang="en-GB" b="1" dirty="0"/>
                  <a:t>repeat forward-backward passes</a:t>
                </a:r>
                <a:r>
                  <a:rPr lang="en-GB" dirty="0"/>
                  <a:t> for a given number of iterations (or until convergence is observed).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D88AA4-084D-50F6-7F5E-69051FD9A8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343373" y="1489398"/>
                <a:ext cx="5189415" cy="5368602"/>
              </a:xfrm>
              <a:blipFill>
                <a:blip r:embed="rId2"/>
                <a:stretch>
                  <a:fillRect l="-2347" t="-1816" r="-3169" b="-22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F7E65437-829A-FD0E-34DF-B7C5610B8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532" y="1690688"/>
            <a:ext cx="6344535" cy="462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3379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F8571-F31A-11B4-26C7-2C202A57B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Rewriting our backpropagation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142A3-3578-C842-742A-3495AD72B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Let us now steal this </a:t>
            </a:r>
            <a:r>
              <a:rPr lang="en-GB" dirty="0" err="1"/>
              <a:t>autograd</a:t>
            </a:r>
            <a:r>
              <a:rPr lang="en-GB" dirty="0"/>
              <a:t> and use it to make our backward method simpler! This will be great because:</a:t>
            </a:r>
          </a:p>
          <a:p>
            <a:r>
              <a:rPr lang="en-GB" dirty="0"/>
              <a:t>There is no need for a </a:t>
            </a:r>
            <a:r>
              <a:rPr lang="en-GB" b="1" dirty="0"/>
              <a:t>backward() </a:t>
            </a:r>
            <a:r>
              <a:rPr lang="en-GB" dirty="0"/>
              <a:t>method as before to compute gradients and gradient descent update rules (built-in method for </a:t>
            </a:r>
            <a:r>
              <a:rPr lang="en-GB" dirty="0" err="1"/>
              <a:t>nn.Module</a:t>
            </a:r>
            <a:r>
              <a:rPr lang="en-GB" dirty="0"/>
              <a:t> classes, covered automatically by </a:t>
            </a:r>
            <a:r>
              <a:rPr lang="en-GB" dirty="0" err="1"/>
              <a:t>PyTorch</a:t>
            </a:r>
            <a:r>
              <a:rPr lang="en-GB" dirty="0"/>
              <a:t> </a:t>
            </a:r>
            <a:r>
              <a:rPr lang="en-GB" dirty="0" err="1"/>
              <a:t>autograd</a:t>
            </a:r>
            <a:r>
              <a:rPr lang="en-GB" dirty="0"/>
              <a:t>, yay!).</a:t>
            </a:r>
          </a:p>
          <a:p>
            <a:r>
              <a:rPr lang="en-GB" dirty="0"/>
              <a:t>Our </a:t>
            </a:r>
            <a:r>
              <a:rPr lang="en-GB" b="1" dirty="0"/>
              <a:t>train() </a:t>
            </a:r>
            <a:r>
              <a:rPr lang="en-GB" dirty="0"/>
              <a:t>method will now simply consist of several iterations of</a:t>
            </a:r>
          </a:p>
          <a:p>
            <a:pPr lvl="1"/>
            <a:r>
              <a:rPr lang="en-GB" sz="2800" b="1" dirty="0"/>
              <a:t>forward()</a:t>
            </a:r>
            <a:r>
              <a:rPr lang="en-GB" sz="2800" dirty="0"/>
              <a:t> pass and loss calculation,</a:t>
            </a:r>
          </a:p>
          <a:p>
            <a:pPr lvl="1"/>
            <a:r>
              <a:rPr lang="en-GB" sz="2800" dirty="0"/>
              <a:t>gradient computation with the </a:t>
            </a:r>
            <a:r>
              <a:rPr lang="en-GB" sz="2800" b="1" dirty="0"/>
              <a:t>backward() </a:t>
            </a:r>
            <a:r>
              <a:rPr lang="en-GB" sz="2800" dirty="0"/>
              <a:t>method, used on loss,</a:t>
            </a:r>
          </a:p>
          <a:p>
            <a:pPr lvl="1"/>
            <a:r>
              <a:rPr lang="en-GB" sz="2800" dirty="0"/>
              <a:t>and </a:t>
            </a:r>
            <a:r>
              <a:rPr lang="en-GB" sz="2800" b="1" dirty="0"/>
              <a:t>gradient descent updates </a:t>
            </a:r>
            <a:r>
              <a:rPr lang="en-GB" sz="2800" dirty="0"/>
              <a:t>on trainable parameters.</a:t>
            </a:r>
            <a:endParaRPr lang="en-SG" sz="2800" dirty="0"/>
          </a:p>
        </p:txBody>
      </p:sp>
    </p:spTree>
    <p:extLst>
      <p:ext uri="{BB962C8B-B14F-4D97-AF65-F5344CB8AC3E}">
        <p14:creationId xmlns:p14="http://schemas.microsoft.com/office/powerpoint/2010/main" val="4816285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F8571-F31A-11B4-26C7-2C202A57B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Backpropagation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142A3-3578-C842-742A-3495AD72B7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4248252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Our </a:t>
            </a:r>
            <a:r>
              <a:rPr lang="en-GB" b="1" dirty="0"/>
              <a:t>train() </a:t>
            </a:r>
            <a:r>
              <a:rPr lang="en-GB" dirty="0"/>
              <a:t>method will be rewritten and now consists of several iterations of</a:t>
            </a:r>
          </a:p>
          <a:p>
            <a:r>
              <a:rPr lang="en-GB" b="1" dirty="0"/>
              <a:t>forward()</a:t>
            </a:r>
            <a:r>
              <a:rPr lang="en-GB" dirty="0"/>
              <a:t> pass and loss calculation,</a:t>
            </a:r>
          </a:p>
          <a:p>
            <a:r>
              <a:rPr lang="en-GB" dirty="0"/>
              <a:t>gradient computation with the </a:t>
            </a:r>
            <a:r>
              <a:rPr lang="en-GB" b="1" dirty="0"/>
              <a:t>backward() </a:t>
            </a:r>
            <a:r>
              <a:rPr lang="en-GB" dirty="0"/>
              <a:t>method, used on loss,</a:t>
            </a:r>
          </a:p>
          <a:p>
            <a:r>
              <a:rPr lang="en-GB" dirty="0"/>
              <a:t>and </a:t>
            </a:r>
            <a:r>
              <a:rPr lang="en-GB" b="1" dirty="0"/>
              <a:t>gradient descent updates </a:t>
            </a:r>
            <a:r>
              <a:rPr lang="en-GB" dirty="0"/>
              <a:t>on trainable parameters.</a:t>
            </a: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65C00E-7E68-A320-3D25-91D5D0CBC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452" y="0"/>
            <a:ext cx="7105548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DC8FF38-1770-9700-7271-5D73562BF213}"/>
              </a:ext>
            </a:extLst>
          </p:cNvPr>
          <p:cNvSpPr/>
          <p:nvPr/>
        </p:nvSpPr>
        <p:spPr>
          <a:xfrm flipV="1">
            <a:off x="5683045" y="2208179"/>
            <a:ext cx="5670755" cy="1124956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385868-5DE5-2E63-1F3B-5481EDBA7776}"/>
              </a:ext>
            </a:extLst>
          </p:cNvPr>
          <p:cNvSpPr/>
          <p:nvPr/>
        </p:nvSpPr>
        <p:spPr>
          <a:xfrm>
            <a:off x="5835445" y="4114800"/>
            <a:ext cx="5670755" cy="846305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546690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F8571-F31A-11B4-26C7-2C202A57B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Backpropagation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142A3-3578-C842-742A-3495AD72B7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4248252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Important note:</a:t>
            </a:r>
          </a:p>
          <a:p>
            <a:pPr marL="0" indent="0">
              <a:buNone/>
            </a:pPr>
            <a:r>
              <a:rPr lang="en-GB" dirty="0"/>
              <a:t>Using</a:t>
            </a:r>
            <a:r>
              <a:rPr lang="en-GB" b="1" dirty="0"/>
              <a:t> with </a:t>
            </a:r>
            <a:r>
              <a:rPr lang="en-GB" b="1" dirty="0" err="1"/>
              <a:t>torch.no_grad</a:t>
            </a:r>
            <a:r>
              <a:rPr lang="en-GB" b="1" dirty="0"/>
              <a:t>(): </a:t>
            </a:r>
            <a:r>
              <a:rPr lang="en-GB" dirty="0"/>
              <a:t>tells </a:t>
            </a:r>
            <a:r>
              <a:rPr lang="en-GB" dirty="0" err="1"/>
              <a:t>PyTorch</a:t>
            </a:r>
            <a:r>
              <a:rPr lang="en-GB" dirty="0"/>
              <a:t> that the operations should not be tracked by the </a:t>
            </a:r>
            <a:r>
              <a:rPr lang="en-GB" dirty="0" err="1"/>
              <a:t>autograd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Indeed, when performing gradient update for a trainable parameter, we do not want to update gradients for other trainable parameters!</a:t>
            </a:r>
          </a:p>
          <a:p>
            <a:pPr marL="0" indent="0">
              <a:buNone/>
            </a:pPr>
            <a:endParaRPr lang="en-SG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65C00E-7E68-A320-3D25-91D5D0CBC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452" y="0"/>
            <a:ext cx="7105548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4C24245-B4D0-5518-62ED-4B29EF65505E}"/>
              </a:ext>
            </a:extLst>
          </p:cNvPr>
          <p:cNvSpPr/>
          <p:nvPr/>
        </p:nvSpPr>
        <p:spPr>
          <a:xfrm>
            <a:off x="5683045" y="3333135"/>
            <a:ext cx="5670755" cy="791393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876985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F8571-F31A-11B4-26C7-2C202A57B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Backpropagation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142A3-3578-C842-742A-3495AD72B7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4248252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Important note #2:</a:t>
            </a:r>
          </a:p>
          <a:p>
            <a:pPr marL="0" indent="0">
              <a:buNone/>
            </a:pPr>
            <a:r>
              <a:rPr lang="en-GB" dirty="0"/>
              <a:t>Also, do not forget to </a:t>
            </a:r>
            <a:r>
              <a:rPr lang="en-GB" b="1" dirty="0"/>
              <a:t>reset your gradients to zero </a:t>
            </a:r>
            <a:r>
              <a:rPr lang="en-GB" dirty="0"/>
              <a:t>before the next iteration!</a:t>
            </a:r>
          </a:p>
          <a:p>
            <a:pPr marL="0" indent="0">
              <a:buNone/>
            </a:pPr>
            <a:r>
              <a:rPr lang="en-GB" dirty="0"/>
              <a:t>Otherwise, they will accumulate (and we do not want that!)</a:t>
            </a:r>
          </a:p>
          <a:p>
            <a:pPr marL="0" indent="0">
              <a:buNone/>
            </a:pPr>
            <a:r>
              <a:rPr lang="en-GB" dirty="0"/>
              <a:t>This can be simply done with </a:t>
            </a:r>
            <a:r>
              <a:rPr lang="en-GB" b="1" dirty="0" err="1"/>
              <a:t>grad.zero</a:t>
            </a:r>
            <a:r>
              <a:rPr lang="en-GB" b="1" dirty="0"/>
              <a:t>_().</a:t>
            </a:r>
            <a:endParaRPr lang="en-SG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65C00E-7E68-A320-3D25-91D5D0CBC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452" y="0"/>
            <a:ext cx="7105548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77842EB-FFEB-F535-408B-75E036D5B1B3}"/>
              </a:ext>
            </a:extLst>
          </p:cNvPr>
          <p:cNvSpPr/>
          <p:nvPr/>
        </p:nvSpPr>
        <p:spPr>
          <a:xfrm flipV="1">
            <a:off x="5683045" y="5004617"/>
            <a:ext cx="2231923" cy="1091381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0149377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2DDAE-7B18-E047-726C-A4619D106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Trying our trainer function… Works!</a:t>
            </a:r>
            <a:br>
              <a:rPr lang="en-GB" dirty="0"/>
            </a:b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8B1291-A554-8B80-6FA0-9146AA644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2294" y="1402086"/>
            <a:ext cx="7647411" cy="545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70775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2DDAE-7B18-E047-726C-A4619D106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Trying our trainer function… Works!</a:t>
            </a:r>
            <a:br>
              <a:rPr lang="en-GB" dirty="0"/>
            </a:b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513CD6-1CBE-A3B1-1E6F-41F285705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283" y="1410982"/>
            <a:ext cx="8593433" cy="544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09178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2DDAE-7B18-E047-726C-A4619D106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Trying our trainer function… Works!</a:t>
            </a:r>
            <a:br>
              <a:rPr lang="en-GB" dirty="0"/>
            </a:b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55E7AB-B38B-DC28-57B5-D4F3CA554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542" y="1473715"/>
            <a:ext cx="7944915" cy="5384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4106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E479C-D045-DD74-CA6E-A60F94A36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</a:t>
            </a:r>
            <a:r>
              <a:rPr lang="en-GB" dirty="0" err="1"/>
              <a:t>PyTorch</a:t>
            </a:r>
            <a:r>
              <a:rPr lang="en-GB" dirty="0"/>
              <a:t> losses and metrics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F8A92-BFB5-623C-CBC8-C3AB284F9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In order to make our model even simpler and more efficient, we will use the loss functions and evaluation functions from </a:t>
            </a:r>
            <a:r>
              <a:rPr lang="en-GB" dirty="0" err="1"/>
              <a:t>PyTorch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Our </a:t>
            </a:r>
            <a:r>
              <a:rPr lang="en-GB" b="1" dirty="0" err="1"/>
              <a:t>CE_loss</a:t>
            </a:r>
            <a:r>
              <a:rPr lang="en-GB" b="1" dirty="0"/>
              <a:t>() </a:t>
            </a:r>
            <a:r>
              <a:rPr lang="en-GB" dirty="0"/>
              <a:t>and </a:t>
            </a:r>
            <a:r>
              <a:rPr lang="en-GB" b="1" dirty="0"/>
              <a:t>accuracy() </a:t>
            </a:r>
            <a:r>
              <a:rPr lang="en-GB" dirty="0"/>
              <a:t>methods will therefore be replaced with the built-in </a:t>
            </a:r>
            <a:r>
              <a:rPr lang="en-GB" b="1" dirty="0" err="1"/>
              <a:t>nn.BCELoss</a:t>
            </a:r>
            <a:r>
              <a:rPr lang="en-GB" b="1" dirty="0"/>
              <a:t>() </a:t>
            </a:r>
            <a:r>
              <a:rPr lang="en-GB" dirty="0"/>
              <a:t>and the </a:t>
            </a:r>
            <a:r>
              <a:rPr lang="en-GB" b="1" dirty="0" err="1"/>
              <a:t>BinaryAccuracy</a:t>
            </a:r>
            <a:r>
              <a:rPr lang="en-GB" b="1" dirty="0"/>
              <a:t>() </a:t>
            </a:r>
            <a:r>
              <a:rPr lang="en-GB" dirty="0"/>
              <a:t>functions from the </a:t>
            </a:r>
            <a:r>
              <a:rPr lang="en-GB" b="1" dirty="0" err="1"/>
              <a:t>PyTorch</a:t>
            </a:r>
            <a:r>
              <a:rPr lang="en-GB" dirty="0"/>
              <a:t> and </a:t>
            </a:r>
            <a:r>
              <a:rPr lang="en-GB" b="1" dirty="0" err="1"/>
              <a:t>TorchMetrics</a:t>
            </a:r>
            <a:r>
              <a:rPr lang="en-GB" dirty="0"/>
              <a:t> libraries.</a:t>
            </a:r>
          </a:p>
          <a:p>
            <a:pPr marL="0" indent="0">
              <a:buNone/>
            </a:pPr>
            <a:r>
              <a:rPr lang="en-GB" dirty="0"/>
              <a:t>Feel free to have a look at the loss functions available in </a:t>
            </a:r>
            <a:r>
              <a:rPr lang="en-GB" b="1" dirty="0" err="1"/>
              <a:t>PyTorch</a:t>
            </a:r>
            <a:r>
              <a:rPr lang="en-GB" dirty="0"/>
              <a:t>, here: </a:t>
            </a:r>
            <a:r>
              <a:rPr lang="en-GB" dirty="0">
                <a:hlinkClick r:id="rId2"/>
              </a:rPr>
              <a:t>https://pytorch.org/docs/stable/nn.html#loss-functions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b="1" dirty="0" err="1"/>
              <a:t>Torchmetrics</a:t>
            </a:r>
            <a:r>
              <a:rPr lang="en-GB" dirty="0"/>
              <a:t> is a supporting library, which provides a few additional losses and metrics functions, ready to use with </a:t>
            </a:r>
            <a:r>
              <a:rPr lang="en-GB" b="1" dirty="0" err="1"/>
              <a:t>PyTorch</a:t>
            </a:r>
            <a:r>
              <a:rPr lang="en-GB" dirty="0"/>
              <a:t>: </a:t>
            </a:r>
            <a:r>
              <a:rPr lang="en-GB" dirty="0">
                <a:hlinkClick r:id="rId3"/>
              </a:rPr>
              <a:t>https://torchmetrics.readthedocs.io/en/stable/all-metrics.html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098997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A22C389-6C54-9099-6A64-828E4E151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414" y="318653"/>
            <a:ext cx="9469171" cy="622069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5D2C95D-2B70-B440-975A-04C4967C6B36}"/>
              </a:ext>
            </a:extLst>
          </p:cNvPr>
          <p:cNvSpPr/>
          <p:nvPr/>
        </p:nvSpPr>
        <p:spPr>
          <a:xfrm>
            <a:off x="2375877" y="5947508"/>
            <a:ext cx="3071446" cy="679938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9146292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74376F7-0E3A-4AAD-EC53-B5CDCF5F5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202" y="0"/>
            <a:ext cx="6849595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0C8C131-441A-C680-9DA7-9EFCD7CB8648}"/>
              </a:ext>
            </a:extLst>
          </p:cNvPr>
          <p:cNvSpPr/>
          <p:nvPr/>
        </p:nvSpPr>
        <p:spPr>
          <a:xfrm flipV="1">
            <a:off x="3227754" y="1344246"/>
            <a:ext cx="4220307" cy="375139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CF19188-331C-56E9-DDFD-E1D8F2293637}"/>
              </a:ext>
            </a:extLst>
          </p:cNvPr>
          <p:cNvSpPr/>
          <p:nvPr/>
        </p:nvSpPr>
        <p:spPr>
          <a:xfrm>
            <a:off x="3579447" y="5978768"/>
            <a:ext cx="3048000" cy="375139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4443959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7C229A-616F-199B-C751-22C64F2D2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794" y="0"/>
            <a:ext cx="95824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34197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B77E7-CB2D-6A18-874E-BE9479EAB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Last but not least, using layers prototypes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75DF954-50B0-50B8-B602-A4BADC48B24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GB" dirty="0"/>
                  <a:t>A simpler way would be to</a:t>
                </a:r>
              </a:p>
              <a:p>
                <a:r>
                  <a:rPr lang="en-GB" dirty="0"/>
                  <a:t>Define the trainable parameters,</a:t>
                </a:r>
              </a:p>
              <a:p>
                <a:r>
                  <a:rPr lang="en-GB" dirty="0"/>
                  <a:t>And the operation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𝑊𝑋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to use in a given layer,</a:t>
                </a:r>
              </a:p>
              <a:p>
                <a:pPr marL="0" indent="0">
                  <a:buNone/>
                </a:pPr>
                <a:r>
                  <a:rPr lang="en-GB" dirty="0"/>
                  <a:t>All at once, by using the </a:t>
                </a:r>
                <a:r>
                  <a:rPr lang="en-GB" b="1" dirty="0">
                    <a:solidFill>
                      <a:schemeClr val="accent2"/>
                    </a:solidFill>
                  </a:rPr>
                  <a:t>Linear() </a:t>
                </a:r>
                <a:r>
                  <a:rPr lang="en-GB" dirty="0"/>
                  <a:t>layer available in </a:t>
                </a:r>
                <a:r>
                  <a:rPr lang="en-GB" dirty="0" err="1"/>
                  <a:t>PyTorch</a:t>
                </a:r>
                <a:r>
                  <a:rPr lang="en-GB" dirty="0"/>
                  <a:t>!</a:t>
                </a:r>
              </a:p>
              <a:p>
                <a:r>
                  <a:rPr lang="en-GB" dirty="0"/>
                  <a:t>We simply use the Linear() layer and call it as a function in the forward method!</a:t>
                </a:r>
              </a:p>
              <a:p>
                <a:r>
                  <a:rPr lang="en-GB" dirty="0"/>
                  <a:t>And remove the Parameter objects in our __</a:t>
                </a:r>
                <a:r>
                  <a:rPr lang="en-GB" dirty="0" err="1"/>
                  <a:t>init</a:t>
                </a:r>
                <a:r>
                  <a:rPr lang="en-GB" dirty="0"/>
                  <a:t>__, as they will now be attributes of the Linear() objects.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75DF954-50B0-50B8-B602-A4BADC48B2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118" t="-1816" r="-1765" b="-26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8EB51A59-EDBF-04FF-A358-04B81894FD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90" t="3035"/>
          <a:stretch/>
        </p:blipFill>
        <p:spPr>
          <a:xfrm>
            <a:off x="6409189" y="1825624"/>
            <a:ext cx="5782811" cy="4311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08358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D86860C-A975-6A1D-2657-944DB1F94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 summarize</a:t>
            </a:r>
            <a:endParaRPr lang="en-SG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82BC02-8C8A-BDB1-A192-B4E530ACD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We now have a full Neural Network class, written in </a:t>
            </a:r>
            <a:r>
              <a:rPr lang="en-GB" dirty="0" err="1"/>
              <a:t>PyTorch</a:t>
            </a:r>
            <a:r>
              <a:rPr lang="en-GB" dirty="0"/>
              <a:t>, with:</a:t>
            </a:r>
          </a:p>
          <a:p>
            <a:r>
              <a:rPr lang="en-GB" dirty="0"/>
              <a:t>2 linear layers, sigmoid activation functions,</a:t>
            </a:r>
          </a:p>
          <a:p>
            <a:r>
              <a:rPr lang="en-GB" dirty="0"/>
              <a:t>Xavier uniform initialization on trainable parameters,</a:t>
            </a:r>
          </a:p>
          <a:p>
            <a:r>
              <a:rPr lang="en-SG" dirty="0"/>
              <a:t>Forward pass method,</a:t>
            </a:r>
          </a:p>
          <a:p>
            <a:r>
              <a:rPr lang="en-SG" dirty="0" err="1"/>
              <a:t>Autograd</a:t>
            </a:r>
            <a:r>
              <a:rPr lang="en-SG" dirty="0"/>
              <a:t> backpropagation and trainer method,</a:t>
            </a:r>
          </a:p>
          <a:p>
            <a:r>
              <a:rPr lang="en-SG" dirty="0"/>
              <a:t>Cross-entropy loss and accuracies,</a:t>
            </a:r>
          </a:p>
          <a:p>
            <a:r>
              <a:rPr lang="en-SG"/>
              <a:t>Linear layer prototypes</a:t>
            </a:r>
            <a:endParaRPr lang="en-SG" dirty="0"/>
          </a:p>
          <a:p>
            <a:pPr marL="0" indent="0">
              <a:buNone/>
            </a:pPr>
            <a:r>
              <a:rPr lang="en-SG" dirty="0"/>
              <a:t>And it runs/trains at the speed of light (almost…) on GPU!</a:t>
            </a:r>
          </a:p>
        </p:txBody>
      </p:sp>
    </p:spTree>
    <p:extLst>
      <p:ext uri="{BB962C8B-B14F-4D97-AF65-F5344CB8AC3E}">
        <p14:creationId xmlns:p14="http://schemas.microsoft.com/office/powerpoint/2010/main" val="27853127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EBB267-24B9-144C-E4DE-C6D6CD35E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Let us call it a break for now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84BD3C-A362-227F-DB67-10CF1E267B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We will continue on the next lecture with more </a:t>
            </a:r>
            <a:r>
              <a:rPr lang="en-GB" dirty="0" err="1"/>
              <a:t>PyTorch</a:t>
            </a:r>
            <a:r>
              <a:rPr lang="en-GB"/>
              <a:t> concepts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4272836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2144</TotalTime>
  <Words>3594</Words>
  <Application>Microsoft Office PowerPoint</Application>
  <PresentationFormat>Widescreen</PresentationFormat>
  <Paragraphs>269</Paragraphs>
  <Slides>59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4" baseType="lpstr">
      <vt:lpstr>Arial</vt:lpstr>
      <vt:lpstr>Calibri</vt:lpstr>
      <vt:lpstr>Calibri Light</vt:lpstr>
      <vt:lpstr>Cambria Math</vt:lpstr>
      <vt:lpstr>Office Theme</vt:lpstr>
      <vt:lpstr>Practice of Deep Learning Day 2, Part 2/4</vt:lpstr>
      <vt:lpstr>About this lecture</vt:lpstr>
      <vt:lpstr>About this lecture</vt:lpstr>
      <vt:lpstr>Technical pre-requisites</vt:lpstr>
      <vt:lpstr>On the benefits of using PyTorch</vt:lpstr>
      <vt:lpstr>On the benefits of using PyTorch</vt:lpstr>
      <vt:lpstr>At this point, you should have installed PyTorch, and if possible, CUDA</vt:lpstr>
      <vt:lpstr>The Tensor object</vt:lpstr>
      <vt:lpstr>Creating a Tensor</vt:lpstr>
      <vt:lpstr>Tensor datatypes (dtypes)</vt:lpstr>
      <vt:lpstr>Tensor datatypes (dtypes)</vt:lpstr>
      <vt:lpstr>Tensor random initializers</vt:lpstr>
      <vt:lpstr>Tensor random initializers</vt:lpstr>
      <vt:lpstr>Additional attributes of Tensors</vt:lpstr>
      <vt:lpstr>Additional attributes of Tensors</vt:lpstr>
      <vt:lpstr>Basic operations on Tensors</vt:lpstr>
      <vt:lpstr>Basic operations on Tensors</vt:lpstr>
      <vt:lpstr>Basic operations on Tensors</vt:lpstr>
      <vt:lpstr>Arithmetic operations on Tensors</vt:lpstr>
      <vt:lpstr>Arithmetic operations on Tensors</vt:lpstr>
      <vt:lpstr>Arithmetic operations on Tensors</vt:lpstr>
      <vt:lpstr>Arithmetic operations on Tensors</vt:lpstr>
      <vt:lpstr>Tensor locations</vt:lpstr>
      <vt:lpstr>Tensor locations</vt:lpstr>
      <vt:lpstr>Tensor locations</vt:lpstr>
      <vt:lpstr>Tensor locations</vt:lpstr>
      <vt:lpstr>Tensor locations</vt:lpstr>
      <vt:lpstr>Same dataset as before</vt:lpstr>
      <vt:lpstr>Our shallow neural network class</vt:lpstr>
      <vt:lpstr>Writing a PyTorch neural network</vt:lpstr>
      <vt:lpstr>PowerPoint Presentation</vt:lpstr>
      <vt:lpstr>Writing a PyTorch neural network</vt:lpstr>
      <vt:lpstr>Rewriting the forward pass</vt:lpstr>
      <vt:lpstr>Rewriting the loss and accuracy functions</vt:lpstr>
      <vt:lpstr>PowerPoint Presentation</vt:lpstr>
      <vt:lpstr>Trying out our new neural network</vt:lpstr>
      <vt:lpstr>Computation times comparison</vt:lpstr>
      <vt:lpstr>Computation times comparison</vt:lpstr>
      <vt:lpstr>A note for those of you running on MacOS</vt:lpstr>
      <vt:lpstr>Autograd, the PyTorch beast</vt:lpstr>
      <vt:lpstr>Autograd in action</vt:lpstr>
      <vt:lpstr>Autograd in action</vt:lpstr>
      <vt:lpstr>Autograd, in short</vt:lpstr>
      <vt:lpstr>Implementing gradient descent with autograd</vt:lpstr>
      <vt:lpstr>Implementing gradient descent with autograd</vt:lpstr>
      <vt:lpstr>Rewriting our backpropagation</vt:lpstr>
      <vt:lpstr>Backpropagation</vt:lpstr>
      <vt:lpstr>Backpropagation</vt:lpstr>
      <vt:lpstr>Backpropagation</vt:lpstr>
      <vt:lpstr>Trying our trainer function… Works! </vt:lpstr>
      <vt:lpstr>Trying our trainer function… Works! </vt:lpstr>
      <vt:lpstr>Trying our trainer function… Works! </vt:lpstr>
      <vt:lpstr>Using PyTorch losses and metrics</vt:lpstr>
      <vt:lpstr>PowerPoint Presentation</vt:lpstr>
      <vt:lpstr>PowerPoint Presentation</vt:lpstr>
      <vt:lpstr>PowerPoint Presentation</vt:lpstr>
      <vt:lpstr>Last but not least, using layers prototypes</vt:lpstr>
      <vt:lpstr>To summarize</vt:lpstr>
      <vt:lpstr>Let us call it a break for now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50.039 Theory and Practice of Deep Learning W8 S1-2-3</dc:title>
  <dc:creator>Matthieu DE MARI</dc:creator>
  <cp:lastModifiedBy>Matthieu De Mari</cp:lastModifiedBy>
  <cp:revision>108</cp:revision>
  <dcterms:created xsi:type="dcterms:W3CDTF">2021-03-10T09:35:15Z</dcterms:created>
  <dcterms:modified xsi:type="dcterms:W3CDTF">2026-03-27T08:33:57Z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fde23a9-9a05-4714-826f-57380a17bd9d_Enabled">
    <vt:lpwstr>true</vt:lpwstr>
  </property>
  <property fmtid="{D5CDD505-2E9C-101B-9397-08002B2CF9AE}" pid="3" name="MSIP_Label_7fde23a9-9a05-4714-826f-57380a17bd9d_SetDate">
    <vt:lpwstr>2022-10-19T06:30:58Z</vt:lpwstr>
  </property>
  <property fmtid="{D5CDD505-2E9C-101B-9397-08002B2CF9AE}" pid="4" name="MSIP_Label_7fde23a9-9a05-4714-826f-57380a17bd9d_Method">
    <vt:lpwstr>Privileged</vt:lpwstr>
  </property>
  <property fmtid="{D5CDD505-2E9C-101B-9397-08002B2CF9AE}" pid="5" name="MSIP_Label_7fde23a9-9a05-4714-826f-57380a17bd9d_Name">
    <vt:lpwstr>Restricted</vt:lpwstr>
  </property>
  <property fmtid="{D5CDD505-2E9C-101B-9397-08002B2CF9AE}" pid="6" name="MSIP_Label_7fde23a9-9a05-4714-826f-57380a17bd9d_SiteId">
    <vt:lpwstr>3476b776-e990-4f72-b950-62489831623d</vt:lpwstr>
  </property>
  <property fmtid="{D5CDD505-2E9C-101B-9397-08002B2CF9AE}" pid="7" name="MSIP_Label_7fde23a9-9a05-4714-826f-57380a17bd9d_ActionId">
    <vt:lpwstr>0e56de01-4734-4bb5-8abe-0837a2dfdfb0</vt:lpwstr>
  </property>
  <property fmtid="{D5CDD505-2E9C-101B-9397-08002B2CF9AE}" pid="8" name="MSIP_Label_7fde23a9-9a05-4714-826f-57380a17bd9d_ContentBits">
    <vt:lpwstr>3</vt:lpwstr>
  </property>
  <property fmtid="{D5CDD505-2E9C-101B-9397-08002B2CF9AE}" pid="9" name="ClassificationContentMarkingFooterLocations">
    <vt:lpwstr>Office Theme:10</vt:lpwstr>
  </property>
  <property fmtid="{D5CDD505-2E9C-101B-9397-08002B2CF9AE}" pid="10" name="ClassificationContentMarkingFooterText">
    <vt:lpwstr>Restricted</vt:lpwstr>
  </property>
  <property fmtid="{D5CDD505-2E9C-101B-9397-08002B2CF9AE}" pid="11" name="ClassificationContentMarkingHeaderLocations">
    <vt:lpwstr>Office Theme:9</vt:lpwstr>
  </property>
  <property fmtid="{D5CDD505-2E9C-101B-9397-08002B2CF9AE}" pid="12" name="ClassificationContentMarkingHeaderText">
    <vt:lpwstr>Restricted</vt:lpwstr>
  </property>
</Properties>
</file>