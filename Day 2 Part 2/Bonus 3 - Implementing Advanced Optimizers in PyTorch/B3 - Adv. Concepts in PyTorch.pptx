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77" r:id="rId2"/>
    <p:sldId id="783" r:id="rId3"/>
    <p:sldId id="391" r:id="rId4"/>
    <p:sldId id="775" r:id="rId5"/>
    <p:sldId id="776" r:id="rId6"/>
    <p:sldId id="777" r:id="rId7"/>
    <p:sldId id="778" r:id="rId8"/>
    <p:sldId id="779" r:id="rId9"/>
    <p:sldId id="392" r:id="rId10"/>
    <p:sldId id="394" r:id="rId11"/>
    <p:sldId id="780" r:id="rId12"/>
    <p:sldId id="39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0. Introduction" id="{2FD0FF71-F5FC-4EB7-B2CB-B31E4CBECD79}">
          <p14:sldIdLst>
            <p14:sldId id="783"/>
          </p14:sldIdLst>
        </p14:section>
        <p14:section name="IV.2. Advanced Optimizers in PyTorch" id="{6BC0117F-1D0C-409A-833E-C7EE3E9502E3}">
          <p14:sldIdLst>
            <p14:sldId id="391"/>
            <p14:sldId id="775"/>
            <p14:sldId id="776"/>
            <p14:sldId id="777"/>
          </p14:sldIdLst>
        </p14:section>
        <p14:section name="V.1. Dataloaders for mini-batches" id="{4E3A828C-E499-48C2-BA63-F36EF42F7E48}">
          <p14:sldIdLst>
            <p14:sldId id="778"/>
            <p14:sldId id="779"/>
            <p14:sldId id="392"/>
          </p14:sldIdLst>
        </p14:section>
        <p14:section name="V.2. Initializers" id="{074E8EDD-F3DA-4195-AAA1-EBB4E429D0DE}">
          <p14:sldIdLst>
            <p14:sldId id="394"/>
            <p14:sldId id="780"/>
          </p14:sldIdLst>
        </p14:section>
        <p14:section name="V.3. Regularization" id="{FC804AC1-DACD-4AFE-AF3D-8D0DC3116991}">
          <p14:sldIdLst>
            <p14:sldId id="3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B5AC6D-63DB-4409-B01C-328428961A98}" v="8" dt="2026-01-12T06:29:15.042"/>
    <p1510:client id="{FABB78FB-7C92-4CDC-8C62-AA4800B04067}" v="1" dt="2026-01-12T06:19:00.9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delSld modSld delSection modSection">
      <pc:chgData name="Matthieu De Mari" userId="dfb708c9-d8dc-439f-9a3b-c772bf4a311c" providerId="ADAL" clId="{81E9B007-0C2C-493E-9B93-55A62C9C1F12}" dt="2026-01-12T06:29:46.951" v="175" actId="20577"/>
      <pc:docMkLst>
        <pc:docMk/>
      </pc:docMkLst>
      <pc:sldChg chg="modSp mod">
        <pc:chgData name="Matthieu De Mari" userId="dfb708c9-d8dc-439f-9a3b-c772bf4a311c" providerId="ADAL" clId="{81E9B007-0C2C-493E-9B93-55A62C9C1F12}" dt="2026-01-12T06:29:46.951" v="175" actId="20577"/>
        <pc:sldMkLst>
          <pc:docMk/>
          <pc:sldMk cId="1040156172" sldId="377"/>
        </pc:sldMkLst>
        <pc:spChg chg="mod">
          <ac:chgData name="Matthieu De Mari" userId="dfb708c9-d8dc-439f-9a3b-c772bf4a311c" providerId="ADAL" clId="{81E9B007-0C2C-493E-9B93-55A62C9C1F12}" dt="2026-01-12T06:29:46.951" v="175" actId="20577"/>
          <ac:spMkLst>
            <pc:docMk/>
            <pc:sldMk cId="1040156172" sldId="377"/>
            <ac:spMk id="2" creationId="{080CEB46-CC16-4D19-8C2C-AEE9471D8168}"/>
          </ac:spMkLst>
        </pc:spChg>
      </pc:sldChg>
      <pc:sldChg chg="modSp del mod">
        <pc:chgData name="Matthieu De Mari" userId="dfb708c9-d8dc-439f-9a3b-c772bf4a311c" providerId="ADAL" clId="{81E9B007-0C2C-493E-9B93-55A62C9C1F12}" dt="2026-01-12T06:29:25.140" v="163" actId="47"/>
        <pc:sldMkLst>
          <pc:docMk/>
          <pc:sldMk cId="2474697269" sldId="387"/>
        </pc:sldMkLst>
        <pc:spChg chg="mod">
          <ac:chgData name="Matthieu De Mari" userId="dfb708c9-d8dc-439f-9a3b-c772bf4a311c" providerId="ADAL" clId="{81E9B007-0C2C-493E-9B93-55A62C9C1F12}" dt="2025-12-18T22:21:39.978" v="26" actId="20577"/>
          <ac:spMkLst>
            <pc:docMk/>
            <pc:sldMk cId="2474697269" sldId="387"/>
            <ac:spMk id="3" creationId="{C7732CA9-163D-B4B0-71B2-AEA1EC81E0E6}"/>
          </ac:spMkLst>
        </pc:spChg>
      </pc:sldChg>
      <pc:sldChg chg="del">
        <pc:chgData name="Matthieu De Mari" userId="dfb708c9-d8dc-439f-9a3b-c772bf4a311c" providerId="ADAL" clId="{81E9B007-0C2C-493E-9B93-55A62C9C1F12}" dt="2026-01-12T06:29:26.776" v="164" actId="47"/>
        <pc:sldMkLst>
          <pc:docMk/>
          <pc:sldMk cId="4198773114" sldId="388"/>
        </pc:sldMkLst>
      </pc:sldChg>
      <pc:sldChg chg="del">
        <pc:chgData name="Matthieu De Mari" userId="dfb708c9-d8dc-439f-9a3b-c772bf4a311c" providerId="ADAL" clId="{81E9B007-0C2C-493E-9B93-55A62C9C1F12}" dt="2026-01-12T06:29:28.073" v="165" actId="47"/>
        <pc:sldMkLst>
          <pc:docMk/>
          <pc:sldMk cId="481628505" sldId="389"/>
        </pc:sldMkLst>
      </pc:sldChg>
      <pc:sldChg chg="del">
        <pc:chgData name="Matthieu De Mari" userId="dfb708c9-d8dc-439f-9a3b-c772bf4a311c" providerId="ADAL" clId="{81E9B007-0C2C-493E-9B93-55A62C9C1F12}" dt="2026-01-12T06:29:29.338" v="166" actId="47"/>
        <pc:sldMkLst>
          <pc:docMk/>
          <pc:sldMk cId="2128707751" sldId="390"/>
        </pc:sldMkLst>
      </pc:sldChg>
      <pc:sldChg chg="del">
        <pc:chgData name="Matthieu De Mari" userId="dfb708c9-d8dc-439f-9a3b-c772bf4a311c" providerId="ADAL" clId="{81E9B007-0C2C-493E-9B93-55A62C9C1F12}" dt="2026-01-12T06:29:22.884" v="162" actId="47"/>
        <pc:sldMkLst>
          <pc:docMk/>
          <pc:sldMk cId="2437975891" sldId="650"/>
        </pc:sldMkLst>
      </pc:sldChg>
      <pc:sldChg chg="del">
        <pc:chgData name="Matthieu De Mari" userId="dfb708c9-d8dc-439f-9a3b-c772bf4a311c" providerId="ADAL" clId="{81E9B007-0C2C-493E-9B93-55A62C9C1F12}" dt="2026-01-12T06:29:25.140" v="163" actId="47"/>
        <pc:sldMkLst>
          <pc:docMk/>
          <pc:sldMk cId="3339699406" sldId="761"/>
        </pc:sldMkLst>
      </pc:sldChg>
      <pc:sldChg chg="modSp del mod">
        <pc:chgData name="Matthieu De Mari" userId="dfb708c9-d8dc-439f-9a3b-c772bf4a311c" providerId="ADAL" clId="{81E9B007-0C2C-493E-9B93-55A62C9C1F12}" dt="2026-01-12T06:29:25.140" v="163" actId="47"/>
        <pc:sldMkLst>
          <pc:docMk/>
          <pc:sldMk cId="1546007078" sldId="762"/>
        </pc:sldMkLst>
        <pc:spChg chg="mod">
          <ac:chgData name="Matthieu De Mari" userId="dfb708c9-d8dc-439f-9a3b-c772bf4a311c" providerId="ADAL" clId="{81E9B007-0C2C-493E-9B93-55A62C9C1F12}" dt="2025-12-18T22:22:14.441" v="42" actId="20577"/>
          <ac:spMkLst>
            <pc:docMk/>
            <pc:sldMk cId="1546007078" sldId="762"/>
            <ac:spMk id="11" creationId="{0EEC07FE-D839-07DF-7C1A-CDBE72FE6BB9}"/>
          </ac:spMkLst>
        </pc:spChg>
      </pc:sldChg>
      <pc:sldChg chg="modSp del mod">
        <pc:chgData name="Matthieu De Mari" userId="dfb708c9-d8dc-439f-9a3b-c772bf4a311c" providerId="ADAL" clId="{81E9B007-0C2C-493E-9B93-55A62C9C1F12}" dt="2026-01-12T06:29:25.140" v="163" actId="47"/>
        <pc:sldMkLst>
          <pc:docMk/>
          <pc:sldMk cId="2580175991" sldId="763"/>
        </pc:sldMkLst>
        <pc:spChg chg="mod">
          <ac:chgData name="Matthieu De Mari" userId="dfb708c9-d8dc-439f-9a3b-c772bf4a311c" providerId="ADAL" clId="{81E9B007-0C2C-493E-9B93-55A62C9C1F12}" dt="2025-12-18T22:23:03.026" v="56" actId="20577"/>
          <ac:spMkLst>
            <pc:docMk/>
            <pc:sldMk cId="2580175991" sldId="763"/>
            <ac:spMk id="5" creationId="{1A87BA25-5926-816A-6E16-0F90D4B62FB8}"/>
          </ac:spMkLst>
        </pc:spChg>
      </pc:sldChg>
      <pc:sldChg chg="del">
        <pc:chgData name="Matthieu De Mari" userId="dfb708c9-d8dc-439f-9a3b-c772bf4a311c" providerId="ADAL" clId="{81E9B007-0C2C-493E-9B93-55A62C9C1F12}" dt="2026-01-12T06:29:28.073" v="165" actId="47"/>
        <pc:sldMkLst>
          <pc:docMk/>
          <pc:sldMk cId="1879463264" sldId="764"/>
        </pc:sldMkLst>
      </pc:sldChg>
      <pc:sldChg chg="del">
        <pc:chgData name="Matthieu De Mari" userId="dfb708c9-d8dc-439f-9a3b-c772bf4a311c" providerId="ADAL" clId="{81E9B007-0C2C-493E-9B93-55A62C9C1F12}" dt="2026-01-12T06:29:26.776" v="164" actId="47"/>
        <pc:sldMkLst>
          <pc:docMk/>
          <pc:sldMk cId="1996337912" sldId="765"/>
        </pc:sldMkLst>
      </pc:sldChg>
      <pc:sldChg chg="addSp modSp del">
        <pc:chgData name="Matthieu De Mari" userId="dfb708c9-d8dc-439f-9a3b-c772bf4a311c" providerId="ADAL" clId="{81E9B007-0C2C-493E-9B93-55A62C9C1F12}" dt="2026-01-12T06:29:28.073" v="165" actId="47"/>
        <pc:sldMkLst>
          <pc:docMk/>
          <pc:sldMk cId="1554669076" sldId="766"/>
        </pc:sldMkLst>
        <pc:spChg chg="add mod">
          <ac:chgData name="Matthieu De Mari" userId="dfb708c9-d8dc-439f-9a3b-c772bf4a311c" providerId="ADAL" clId="{81E9B007-0C2C-493E-9B93-55A62C9C1F12}" dt="2026-01-12T06:19:00.997" v="84"/>
          <ac:spMkLst>
            <pc:docMk/>
            <pc:sldMk cId="1554669076" sldId="766"/>
            <ac:spMk id="4" creationId="{0835CA2A-B4E8-1215-37A1-0152CE5F42EF}"/>
          </ac:spMkLst>
        </pc:spChg>
      </pc:sldChg>
      <pc:sldChg chg="del">
        <pc:chgData name="Matthieu De Mari" userId="dfb708c9-d8dc-439f-9a3b-c772bf4a311c" providerId="ADAL" clId="{81E9B007-0C2C-493E-9B93-55A62C9C1F12}" dt="2026-01-12T06:29:28.073" v="165" actId="47"/>
        <pc:sldMkLst>
          <pc:docMk/>
          <pc:sldMk cId="887698529" sldId="767"/>
        </pc:sldMkLst>
      </pc:sldChg>
      <pc:sldChg chg="del">
        <pc:chgData name="Matthieu De Mari" userId="dfb708c9-d8dc-439f-9a3b-c772bf4a311c" providerId="ADAL" clId="{81E9B007-0C2C-493E-9B93-55A62C9C1F12}" dt="2026-01-12T06:29:28.073" v="165" actId="47"/>
        <pc:sldMkLst>
          <pc:docMk/>
          <pc:sldMk cId="3101493777" sldId="768"/>
        </pc:sldMkLst>
      </pc:sldChg>
      <pc:sldChg chg="del">
        <pc:chgData name="Matthieu De Mari" userId="dfb708c9-d8dc-439f-9a3b-c772bf4a311c" providerId="ADAL" clId="{81E9B007-0C2C-493E-9B93-55A62C9C1F12}" dt="2026-01-12T06:29:29.338" v="166" actId="47"/>
        <pc:sldMkLst>
          <pc:docMk/>
          <pc:sldMk cId="2909899754" sldId="769"/>
        </pc:sldMkLst>
      </pc:sldChg>
      <pc:sldChg chg="del">
        <pc:chgData name="Matthieu De Mari" userId="dfb708c9-d8dc-439f-9a3b-c772bf4a311c" providerId="ADAL" clId="{81E9B007-0C2C-493E-9B93-55A62C9C1F12}" dt="2026-01-12T06:29:29.338" v="166" actId="47"/>
        <pc:sldMkLst>
          <pc:docMk/>
          <pc:sldMk cId="581091786" sldId="770"/>
        </pc:sldMkLst>
      </pc:sldChg>
      <pc:sldChg chg="del">
        <pc:chgData name="Matthieu De Mari" userId="dfb708c9-d8dc-439f-9a3b-c772bf4a311c" providerId="ADAL" clId="{81E9B007-0C2C-493E-9B93-55A62C9C1F12}" dt="2026-01-12T06:29:29.338" v="166" actId="47"/>
        <pc:sldMkLst>
          <pc:docMk/>
          <pc:sldMk cId="2768410648" sldId="771"/>
        </pc:sldMkLst>
      </pc:sldChg>
      <pc:sldChg chg="del">
        <pc:chgData name="Matthieu De Mari" userId="dfb708c9-d8dc-439f-9a3b-c772bf4a311c" providerId="ADAL" clId="{81E9B007-0C2C-493E-9B93-55A62C9C1F12}" dt="2026-01-12T06:29:29.338" v="166" actId="47"/>
        <pc:sldMkLst>
          <pc:docMk/>
          <pc:sldMk cId="2791462929" sldId="772"/>
        </pc:sldMkLst>
      </pc:sldChg>
      <pc:sldChg chg="del">
        <pc:chgData name="Matthieu De Mari" userId="dfb708c9-d8dc-439f-9a3b-c772bf4a311c" providerId="ADAL" clId="{81E9B007-0C2C-493E-9B93-55A62C9C1F12}" dt="2026-01-12T06:29:29.338" v="166" actId="47"/>
        <pc:sldMkLst>
          <pc:docMk/>
          <pc:sldMk cId="3544439591" sldId="773"/>
        </pc:sldMkLst>
      </pc:sldChg>
      <pc:sldChg chg="del">
        <pc:chgData name="Matthieu De Mari" userId="dfb708c9-d8dc-439f-9a3b-c772bf4a311c" providerId="ADAL" clId="{81E9B007-0C2C-493E-9B93-55A62C9C1F12}" dt="2026-01-12T06:29:29.338" v="166" actId="47"/>
        <pc:sldMkLst>
          <pc:docMk/>
          <pc:sldMk cId="2831341972" sldId="774"/>
        </pc:sldMkLst>
      </pc:sldChg>
      <pc:sldChg chg="modSp mod">
        <pc:chgData name="Matthieu De Mari" userId="dfb708c9-d8dc-439f-9a3b-c772bf4a311c" providerId="ADAL" clId="{81E9B007-0C2C-493E-9B93-55A62C9C1F12}" dt="2025-12-18T22:25:14.215" v="80"/>
        <pc:sldMkLst>
          <pc:docMk/>
          <pc:sldMk cId="743119883" sldId="775"/>
        </pc:sldMkLst>
        <pc:spChg chg="mod">
          <ac:chgData name="Matthieu De Mari" userId="dfb708c9-d8dc-439f-9a3b-c772bf4a311c" providerId="ADAL" clId="{81E9B007-0C2C-493E-9B93-55A62C9C1F12}" dt="2025-12-18T22:25:14.215" v="80"/>
          <ac:spMkLst>
            <pc:docMk/>
            <pc:sldMk cId="743119883" sldId="775"/>
            <ac:spMk id="3" creationId="{EDC87932-752D-FABC-76EF-38023409D8D8}"/>
          </ac:spMkLst>
        </pc:spChg>
      </pc:sldChg>
      <pc:sldChg chg="modSp mod">
        <pc:chgData name="Matthieu De Mari" userId="dfb708c9-d8dc-439f-9a3b-c772bf4a311c" providerId="ADAL" clId="{81E9B007-0C2C-493E-9B93-55A62C9C1F12}" dt="2025-12-18T22:26:26.279" v="83" actId="14100"/>
        <pc:sldMkLst>
          <pc:docMk/>
          <pc:sldMk cId="2678238830" sldId="780"/>
        </pc:sldMkLst>
        <pc:spChg chg="mod">
          <ac:chgData name="Matthieu De Mari" userId="dfb708c9-d8dc-439f-9a3b-c772bf4a311c" providerId="ADAL" clId="{81E9B007-0C2C-493E-9B93-55A62C9C1F12}" dt="2025-12-18T22:26:21.436" v="82" actId="27636"/>
          <ac:spMkLst>
            <pc:docMk/>
            <pc:sldMk cId="2678238830" sldId="780"/>
            <ac:spMk id="4" creationId="{7B27ED01-4B43-7115-3D3C-53FF72E7590A}"/>
          </ac:spMkLst>
        </pc:spChg>
        <pc:picChg chg="mod">
          <ac:chgData name="Matthieu De Mari" userId="dfb708c9-d8dc-439f-9a3b-c772bf4a311c" providerId="ADAL" clId="{81E9B007-0C2C-493E-9B93-55A62C9C1F12}" dt="2025-12-18T22:26:26.279" v="83" actId="14100"/>
          <ac:picMkLst>
            <pc:docMk/>
            <pc:sldMk cId="2678238830" sldId="780"/>
            <ac:picMk id="5" creationId="{F9B5E18C-3841-3FEA-69B5-359FC902D27F}"/>
          </ac:picMkLst>
        </pc:picChg>
      </pc:sldChg>
      <pc:sldChg chg="del">
        <pc:chgData name="Matthieu De Mari" userId="dfb708c9-d8dc-439f-9a3b-c772bf4a311c" providerId="ADAL" clId="{81E9B007-0C2C-493E-9B93-55A62C9C1F12}" dt="2026-01-12T06:29:40.686" v="167" actId="47"/>
        <pc:sldMkLst>
          <pc:docMk/>
          <pc:sldMk cId="3029045816" sldId="781"/>
        </pc:sldMkLst>
      </pc:sldChg>
      <pc:sldChg chg="del">
        <pc:chgData name="Matthieu De Mari" userId="dfb708c9-d8dc-439f-9a3b-c772bf4a311c" providerId="ADAL" clId="{81E9B007-0C2C-493E-9B93-55A62C9C1F12}" dt="2026-01-12T06:29:40.686" v="167" actId="47"/>
        <pc:sldMkLst>
          <pc:docMk/>
          <pc:sldMk cId="278531271" sldId="782"/>
        </pc:sldMkLst>
      </pc:sldChg>
      <pc:sldChg chg="modSp mod">
        <pc:chgData name="Matthieu De Mari" userId="dfb708c9-d8dc-439f-9a3b-c772bf4a311c" providerId="ADAL" clId="{81E9B007-0C2C-493E-9B93-55A62C9C1F12}" dt="2026-01-12T06:29:17.678" v="160" actId="12"/>
        <pc:sldMkLst>
          <pc:docMk/>
          <pc:sldMk cId="639852900" sldId="783"/>
        </pc:sldMkLst>
        <pc:spChg chg="mod">
          <ac:chgData name="Matthieu De Mari" userId="dfb708c9-d8dc-439f-9a3b-c772bf4a311c" providerId="ADAL" clId="{81E9B007-0C2C-493E-9B93-55A62C9C1F12}" dt="2026-01-12T06:29:17.678" v="160" actId="12"/>
          <ac:spMkLst>
            <pc:docMk/>
            <pc:sldMk cId="639852900" sldId="783"/>
            <ac:spMk id="3" creationId="{65B58308-C101-BC04-E972-00C74DE5080B}"/>
          </ac:spMkLst>
        </pc:spChg>
      </pc:sldChg>
      <pc:sldChg chg="modSp del mod">
        <pc:chgData name="Matthieu De Mari" userId="dfb708c9-d8dc-439f-9a3b-c772bf4a311c" providerId="ADAL" clId="{81E9B007-0C2C-493E-9B93-55A62C9C1F12}" dt="2026-01-12T06:29:03.428" v="154" actId="47"/>
        <pc:sldMkLst>
          <pc:docMk/>
          <pc:sldMk cId="2670805330" sldId="784"/>
        </pc:sldMkLst>
        <pc:spChg chg="mod">
          <ac:chgData name="Matthieu De Mari" userId="dfb708c9-d8dc-439f-9a3b-c772bf4a311c" providerId="ADAL" clId="{81E9B007-0C2C-493E-9B93-55A62C9C1F12}" dt="2026-01-12T06:28:55.890" v="150" actId="21"/>
          <ac:spMkLst>
            <pc:docMk/>
            <pc:sldMk cId="2670805330" sldId="784"/>
            <ac:spMk id="3" creationId="{65B58308-C101-BC04-E972-00C74DE5080B}"/>
          </ac:spMkLst>
        </pc:spChg>
      </pc:sldChg>
      <pc:sldChg chg="modSp del mod">
        <pc:chgData name="Matthieu De Mari" userId="dfb708c9-d8dc-439f-9a3b-c772bf4a311c" providerId="ADAL" clId="{81E9B007-0C2C-493E-9B93-55A62C9C1F12}" dt="2026-01-12T06:29:20.141" v="161" actId="47"/>
        <pc:sldMkLst>
          <pc:docMk/>
          <pc:sldMk cId="636279122" sldId="785"/>
        </pc:sldMkLst>
        <pc:spChg chg="mod">
          <ac:chgData name="Matthieu De Mari" userId="dfb708c9-d8dc-439f-9a3b-c772bf4a311c" providerId="ADAL" clId="{81E9B007-0C2C-493E-9B93-55A62C9C1F12}" dt="2026-01-12T06:29:09.804" v="155" actId="21"/>
          <ac:spMkLst>
            <pc:docMk/>
            <pc:sldMk cId="636279122" sldId="785"/>
            <ac:spMk id="3" creationId="{65B58308-C101-BC04-E972-00C74DE5080B}"/>
          </ac:spMkLst>
        </pc:spChg>
      </pc:sldChg>
      <pc:sldChg chg="del">
        <pc:chgData name="Matthieu De Mari" userId="dfb708c9-d8dc-439f-9a3b-c772bf4a311c" providerId="ADAL" clId="{81E9B007-0C2C-493E-9B93-55A62C9C1F12}" dt="2026-01-12T06:29:40.686" v="167" actId="47"/>
        <pc:sldMkLst>
          <pc:docMk/>
          <pc:sldMk cId="2116083586" sldId="786"/>
        </pc:sldMkLst>
      </pc:sldChg>
      <pc:sldChg chg="del">
        <pc:chgData name="Matthieu De Mari" userId="dfb708c9-d8dc-439f-9a3b-c772bf4a311c" providerId="ADAL" clId="{81E9B007-0C2C-493E-9B93-55A62C9C1F12}" dt="2026-01-12T06:29:25.140" v="163" actId="47"/>
        <pc:sldMkLst>
          <pc:docMk/>
          <pc:sldMk cId="1002846102" sldId="7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12/01/2026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12/01/2026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12/01/2026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12/01/2026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12/01/2026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12/01/2026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12/01/2026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12/01/2026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12/01/2026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12/01/2026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12/01/2026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12/01/2026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12/01/2026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ytorch.org/docs/stable/optim.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pytorch.org/docs/stable/_modules/torch/optim/adam.html#Adam" TargetMode="External"/><Relationship Id="rId2" Type="http://schemas.openxmlformats.org/officeDocument/2006/relationships/hyperlink" Target="https://pytorch.org/docs/stable/generated/torch.optim.Adam.html#torch.optim.Ada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pytorch.org/cppdocs/api/file_torch_csrc_api_include_torch_nn_init.h.html#file-torch-csrc-api-include-torch-nn-init-h" TargetMode="External"/><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Practice of Deep Learning</a:t>
            </a:r>
            <a:br>
              <a:rPr lang="en-US" dirty="0"/>
            </a:br>
            <a:r>
              <a:rPr lang="en-US" dirty="0"/>
              <a:t>Bonus 3 – Implementing </a:t>
            </a:r>
            <a:r>
              <a:rPr lang="en-US"/>
              <a:t>Advanced Concepts </a:t>
            </a:r>
            <a:r>
              <a:rPr lang="en-US" dirty="0"/>
              <a:t>in </a:t>
            </a:r>
            <a:r>
              <a:rPr lang="en-US" dirty="0" err="1"/>
              <a:t>PyTorch</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8AB3E-DF60-4411-7415-7A8708334829}"/>
              </a:ext>
            </a:extLst>
          </p:cNvPr>
          <p:cNvSpPr>
            <a:spLocks noGrp="1"/>
          </p:cNvSpPr>
          <p:nvPr>
            <p:ph type="title"/>
          </p:nvPr>
        </p:nvSpPr>
        <p:spPr/>
        <p:txBody>
          <a:bodyPr/>
          <a:lstStyle/>
          <a:p>
            <a:r>
              <a:rPr lang="en-GB" dirty="0"/>
              <a:t>Introduction (Week 3)</a:t>
            </a:r>
            <a:endParaRPr lang="en-SG" dirty="0"/>
          </a:p>
        </p:txBody>
      </p:sp>
      <p:sp>
        <p:nvSpPr>
          <p:cNvPr id="3" name="Content Placeholder 2">
            <a:extLst>
              <a:ext uri="{FF2B5EF4-FFF2-40B4-BE49-F238E27FC236}">
                <a16:creationId xmlns:a16="http://schemas.microsoft.com/office/drawing/2014/main" id="{65B58308-C101-BC04-E972-00C74DE5080B}"/>
              </a:ext>
            </a:extLst>
          </p:cNvPr>
          <p:cNvSpPr>
            <a:spLocks noGrp="1"/>
          </p:cNvSpPr>
          <p:nvPr>
            <p:ph idx="1"/>
          </p:nvPr>
        </p:nvSpPr>
        <p:spPr>
          <a:xfrm>
            <a:off x="838200" y="1825624"/>
            <a:ext cx="10515600" cy="5032375"/>
          </a:xfrm>
        </p:spPr>
        <p:txBody>
          <a:bodyPr/>
          <a:lstStyle/>
          <a:p>
            <a:pPr marL="514350" indent="-514350">
              <a:buFont typeface="+mj-lt"/>
              <a:buAutoNum type="arabicPeriod"/>
            </a:pPr>
            <a:r>
              <a:rPr lang="en-GB" dirty="0"/>
              <a:t>How to use </a:t>
            </a:r>
            <a:r>
              <a:rPr lang="en-GB" b="1" dirty="0" err="1"/>
              <a:t>PyTorch</a:t>
            </a:r>
            <a:r>
              <a:rPr lang="en-GB" dirty="0"/>
              <a:t> to implement </a:t>
            </a:r>
            <a:r>
              <a:rPr lang="en-GB" b="1" dirty="0"/>
              <a:t>advanced</a:t>
            </a:r>
            <a:r>
              <a:rPr lang="en-GB" dirty="0"/>
              <a:t> </a:t>
            </a:r>
            <a:r>
              <a:rPr lang="en-GB" b="1" dirty="0"/>
              <a:t>optimizers</a:t>
            </a:r>
            <a:r>
              <a:rPr lang="en-GB" dirty="0"/>
              <a:t>?</a:t>
            </a:r>
          </a:p>
          <a:p>
            <a:pPr marL="514350" indent="-514350">
              <a:buFont typeface="+mj-lt"/>
              <a:buAutoNum type="arabicPeriod"/>
            </a:pPr>
            <a:r>
              <a:rPr lang="en-GB" dirty="0"/>
              <a:t>How to use </a:t>
            </a:r>
            <a:r>
              <a:rPr lang="en-GB" b="1" dirty="0" err="1"/>
              <a:t>PyTorch</a:t>
            </a:r>
            <a:r>
              <a:rPr lang="en-GB" dirty="0"/>
              <a:t> to implement </a:t>
            </a:r>
            <a:r>
              <a:rPr lang="en-GB" b="1" dirty="0"/>
              <a:t>advanced</a:t>
            </a:r>
            <a:r>
              <a:rPr lang="en-GB" dirty="0"/>
              <a:t> </a:t>
            </a:r>
            <a:r>
              <a:rPr lang="en-GB" b="1" dirty="0"/>
              <a:t>initializers</a:t>
            </a:r>
            <a:r>
              <a:rPr lang="en-GB" dirty="0"/>
              <a:t>?</a:t>
            </a:r>
          </a:p>
          <a:p>
            <a:pPr marL="514350" indent="-514350">
              <a:buFont typeface="+mj-lt"/>
              <a:buAutoNum type="arabicPeriod"/>
            </a:pPr>
            <a:r>
              <a:rPr lang="en-GB" dirty="0"/>
              <a:t>How to use </a:t>
            </a:r>
            <a:r>
              <a:rPr lang="en-GB" b="1" dirty="0" err="1"/>
              <a:t>PyTorch</a:t>
            </a:r>
            <a:r>
              <a:rPr lang="en-GB" dirty="0"/>
              <a:t> to implement </a:t>
            </a:r>
            <a:r>
              <a:rPr lang="en-GB" b="1" dirty="0"/>
              <a:t>regularization</a:t>
            </a:r>
            <a:r>
              <a:rPr lang="en-GB" dirty="0"/>
              <a:t>?</a:t>
            </a:r>
          </a:p>
          <a:p>
            <a:pPr marL="514350" indent="-514350">
              <a:buFont typeface="+mj-lt"/>
              <a:buAutoNum type="arabicPeriod"/>
            </a:pPr>
            <a:r>
              <a:rPr lang="en-GB" dirty="0"/>
              <a:t>What are the </a:t>
            </a:r>
            <a:r>
              <a:rPr lang="en-GB" b="1" dirty="0"/>
              <a:t>Dataset</a:t>
            </a:r>
            <a:r>
              <a:rPr lang="en-GB" dirty="0"/>
              <a:t> and </a:t>
            </a:r>
            <a:r>
              <a:rPr lang="en-GB" b="1" dirty="0" err="1"/>
              <a:t>Dataloader</a:t>
            </a:r>
            <a:r>
              <a:rPr lang="en-GB" dirty="0"/>
              <a:t> objects in </a:t>
            </a:r>
            <a:r>
              <a:rPr lang="en-GB" b="1" dirty="0" err="1"/>
              <a:t>PyTorch</a:t>
            </a:r>
            <a:r>
              <a:rPr lang="en-GB" dirty="0"/>
              <a:t>?</a:t>
            </a:r>
          </a:p>
          <a:p>
            <a:pPr marL="514350" indent="-514350">
              <a:buFont typeface="+mj-lt"/>
              <a:buAutoNum type="arabicPeriod"/>
            </a:pPr>
            <a:r>
              <a:rPr lang="en-GB" dirty="0"/>
              <a:t>How to implement a custom </a:t>
            </a:r>
            <a:r>
              <a:rPr lang="en-GB" b="1" dirty="0" err="1"/>
              <a:t>Dataloader</a:t>
            </a:r>
            <a:r>
              <a:rPr lang="en-GB" dirty="0"/>
              <a:t> and </a:t>
            </a:r>
            <a:r>
              <a:rPr lang="en-GB" b="1" dirty="0"/>
              <a:t>Dataset</a:t>
            </a:r>
            <a:r>
              <a:rPr lang="en-GB" dirty="0"/>
              <a:t> object in </a:t>
            </a:r>
            <a:r>
              <a:rPr lang="en-GB" dirty="0" err="1"/>
              <a:t>PyTorch</a:t>
            </a:r>
            <a:r>
              <a:rPr lang="en-GB" dirty="0"/>
              <a:t>?</a:t>
            </a:r>
          </a:p>
          <a:p>
            <a:pPr marL="514350" indent="-514350">
              <a:buFont typeface="+mj-lt"/>
              <a:buAutoNum type="arabicPeriod"/>
            </a:pPr>
            <a:endParaRPr lang="en-GB" dirty="0"/>
          </a:p>
          <a:p>
            <a:pPr marL="514350" indent="-514350">
              <a:buFont typeface="+mj-lt"/>
              <a:buAutoNum type="arabicPeriod"/>
            </a:pPr>
            <a:endParaRPr lang="en-SG" dirty="0">
              <a:solidFill>
                <a:schemeClr val="bg1">
                  <a:lumMod val="65000"/>
                </a:schemeClr>
              </a:solidFill>
            </a:endParaRPr>
          </a:p>
        </p:txBody>
      </p:sp>
    </p:spTree>
    <p:extLst>
      <p:ext uri="{BB962C8B-B14F-4D97-AF65-F5344CB8AC3E}">
        <p14:creationId xmlns:p14="http://schemas.microsoft.com/office/powerpoint/2010/main" val="639852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2E9E4-1AEF-6408-1465-D1DC917DE2AF}"/>
              </a:ext>
            </a:extLst>
          </p:cNvPr>
          <p:cNvSpPr>
            <a:spLocks noGrp="1"/>
          </p:cNvSpPr>
          <p:nvPr>
            <p:ph type="title"/>
          </p:nvPr>
        </p:nvSpPr>
        <p:spPr/>
        <p:txBody>
          <a:bodyPr/>
          <a:lstStyle/>
          <a:p>
            <a:r>
              <a:rPr lang="en-GB" dirty="0"/>
              <a:t>Using advanced optimizers (Adam, etc.)</a:t>
            </a:r>
            <a:endParaRPr lang="en-SG" dirty="0"/>
          </a:p>
        </p:txBody>
      </p:sp>
      <p:sp>
        <p:nvSpPr>
          <p:cNvPr id="3" name="Content Placeholder 2">
            <a:extLst>
              <a:ext uri="{FF2B5EF4-FFF2-40B4-BE49-F238E27FC236}">
                <a16:creationId xmlns:a16="http://schemas.microsoft.com/office/drawing/2014/main" id="{EDC87932-752D-FABC-76EF-38023409D8D8}"/>
              </a:ext>
            </a:extLst>
          </p:cNvPr>
          <p:cNvSpPr>
            <a:spLocks noGrp="1"/>
          </p:cNvSpPr>
          <p:nvPr>
            <p:ph idx="1"/>
          </p:nvPr>
        </p:nvSpPr>
        <p:spPr>
          <a:xfrm>
            <a:off x="838200" y="1825624"/>
            <a:ext cx="10515600" cy="5032375"/>
          </a:xfrm>
        </p:spPr>
        <p:txBody>
          <a:bodyPr/>
          <a:lstStyle/>
          <a:p>
            <a:pPr marL="0" indent="0">
              <a:buNone/>
            </a:pPr>
            <a:r>
              <a:rPr lang="en-GB" dirty="0"/>
              <a:t>Our next step is logically to </a:t>
            </a:r>
            <a:r>
              <a:rPr lang="en-GB" b="1" dirty="0"/>
              <a:t>replace our vanilla gradient descent with some more advanced optimizers</a:t>
            </a:r>
            <a:r>
              <a:rPr lang="en-GB" dirty="0"/>
              <a:t>, e.g. Adam, </a:t>
            </a:r>
            <a:r>
              <a:rPr lang="en-GB" dirty="0" err="1"/>
              <a:t>AdaGrad</a:t>
            </a:r>
            <a:r>
              <a:rPr lang="en-GB" dirty="0"/>
              <a:t>, </a:t>
            </a:r>
            <a:r>
              <a:rPr lang="en-GB" dirty="0" err="1"/>
              <a:t>RMSProp</a:t>
            </a:r>
            <a:r>
              <a:rPr lang="en-GB" dirty="0"/>
              <a:t>, etc.</a:t>
            </a:r>
          </a:p>
          <a:p>
            <a:pPr marL="0" indent="0">
              <a:buNone/>
            </a:pPr>
            <a:r>
              <a:rPr lang="en-GB" dirty="0"/>
              <a:t>Again, we will be relying on </a:t>
            </a:r>
            <a:r>
              <a:rPr lang="en-GB" dirty="0" err="1"/>
              <a:t>PyTorch</a:t>
            </a:r>
            <a:r>
              <a:rPr lang="en-GB" dirty="0"/>
              <a:t> as much as possible.</a:t>
            </a:r>
          </a:p>
          <a:p>
            <a:pPr marL="0" indent="0">
              <a:buNone/>
            </a:pPr>
            <a:endParaRPr lang="en-GB" dirty="0"/>
          </a:p>
          <a:p>
            <a:pPr marL="0" indent="0">
              <a:buNone/>
            </a:pPr>
            <a:r>
              <a:rPr lang="en-GB" dirty="0"/>
              <a:t>Feel free to have a look at all the available </a:t>
            </a:r>
            <a:r>
              <a:rPr lang="en-GB" b="1" dirty="0"/>
              <a:t>built-in</a:t>
            </a:r>
            <a:r>
              <a:rPr lang="en-GB" dirty="0"/>
              <a:t> </a:t>
            </a:r>
            <a:r>
              <a:rPr lang="en-GB" b="1" dirty="0"/>
              <a:t>optimizers</a:t>
            </a:r>
            <a:r>
              <a:rPr lang="en-GB" dirty="0"/>
              <a:t>, available in </a:t>
            </a:r>
            <a:r>
              <a:rPr lang="en-GB" dirty="0" err="1"/>
              <a:t>PyTorch</a:t>
            </a:r>
            <a:r>
              <a:rPr lang="en-GB" dirty="0"/>
              <a:t>, here: </a:t>
            </a:r>
            <a:r>
              <a:rPr lang="en-GB" dirty="0">
                <a:hlinkClick r:id="rId2"/>
              </a:rPr>
              <a:t>https://pytorch.org/docs/stable/optim.html</a:t>
            </a:r>
            <a:endParaRPr lang="en-GB" dirty="0"/>
          </a:p>
          <a:p>
            <a:pPr marL="0" indent="0">
              <a:buNone/>
            </a:pPr>
            <a:endParaRPr lang="en-GB" dirty="0"/>
          </a:p>
          <a:p>
            <a:pPr marL="0" indent="0">
              <a:buNone/>
            </a:pPr>
            <a:r>
              <a:rPr lang="en-GB" dirty="0"/>
              <a:t>Let us now demonstrate how to use them in our Neural Network!</a:t>
            </a:r>
          </a:p>
          <a:p>
            <a:endParaRPr lang="en-GB" dirty="0"/>
          </a:p>
        </p:txBody>
      </p:sp>
    </p:spTree>
    <p:extLst>
      <p:ext uri="{BB962C8B-B14F-4D97-AF65-F5344CB8AC3E}">
        <p14:creationId xmlns:p14="http://schemas.microsoft.com/office/powerpoint/2010/main" val="1283478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2E9E4-1AEF-6408-1465-D1DC917DE2AF}"/>
              </a:ext>
            </a:extLst>
          </p:cNvPr>
          <p:cNvSpPr>
            <a:spLocks noGrp="1"/>
          </p:cNvSpPr>
          <p:nvPr>
            <p:ph type="title"/>
          </p:nvPr>
        </p:nvSpPr>
        <p:spPr/>
        <p:txBody>
          <a:bodyPr/>
          <a:lstStyle/>
          <a:p>
            <a:r>
              <a:rPr lang="en-GB" dirty="0"/>
              <a:t>Using advanced optimizers (Adam, etc.)</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C87932-752D-FABC-76EF-38023409D8D8}"/>
                  </a:ext>
                </a:extLst>
              </p:cNvPr>
              <p:cNvSpPr>
                <a:spLocks noGrp="1"/>
              </p:cNvSpPr>
              <p:nvPr>
                <p:ph idx="1"/>
              </p:nvPr>
            </p:nvSpPr>
            <p:spPr>
              <a:xfrm>
                <a:off x="838200" y="1825624"/>
                <a:ext cx="10923954" cy="5032375"/>
              </a:xfrm>
            </p:spPr>
            <p:txBody>
              <a:bodyPr>
                <a:normAutofit/>
              </a:bodyPr>
              <a:lstStyle/>
              <a:p>
                <a:pPr marL="0" indent="0">
                  <a:buNone/>
                </a:pPr>
                <a:r>
                  <a:rPr lang="en-GB" dirty="0"/>
                  <a:t>Three modifications are to be considered in order to use </a:t>
                </a:r>
                <a:r>
                  <a:rPr lang="en-GB" b="1" dirty="0"/>
                  <a:t>Adam</a:t>
                </a:r>
                <a:r>
                  <a:rPr lang="en-GB" dirty="0"/>
                  <a:t> optimizer instead of the Vanilla gradient descent.</a:t>
                </a:r>
                <a:endParaRPr lang="en-SG" dirty="0"/>
              </a:p>
              <a:p>
                <a:r>
                  <a:rPr lang="en-GB" b="1" dirty="0"/>
                  <a:t>Adam</a:t>
                </a:r>
                <a:r>
                  <a:rPr lang="en-GB" dirty="0"/>
                  <a:t> will be added as an optimizer object and can be passed to the </a:t>
                </a:r>
                <a:r>
                  <a:rPr lang="en-GB" b="1" dirty="0"/>
                  <a:t>train()</a:t>
                </a:r>
                <a:r>
                  <a:rPr lang="en-GB" dirty="0"/>
                  <a:t> method. It will simply consist of an additional variable.</a:t>
                </a:r>
              </a:p>
              <a:p>
                <a:pPr marL="0" indent="0">
                  <a:buNone/>
                </a:pPr>
                <a:r>
                  <a:rPr lang="en-GB" i="1" dirty="0"/>
                  <a:t>optimizer = </a:t>
                </a:r>
                <a:r>
                  <a:rPr lang="en-GB" i="1" dirty="0" err="1"/>
                  <a:t>torch.optim.Adam</a:t>
                </a:r>
                <a:r>
                  <a:rPr lang="en-GB" i="1" dirty="0"/>
                  <a:t>(</a:t>
                </a:r>
                <a:r>
                  <a:rPr lang="en-GB" i="1" dirty="0" err="1"/>
                  <a:t>self.parameters</a:t>
                </a:r>
                <a:r>
                  <a:rPr lang="en-GB" i="1" dirty="0"/>
                  <a:t>(), </a:t>
                </a:r>
                <a:r>
                  <a:rPr lang="en-GB" i="1" dirty="0" err="1"/>
                  <a:t>lr</a:t>
                </a:r>
                <a:r>
                  <a:rPr lang="en-GB" i="1" dirty="0"/>
                  <a:t> = alpha,</a:t>
                </a:r>
                <a:br>
                  <a:rPr lang="en-GB" i="1" dirty="0"/>
                </a:br>
                <a:r>
                  <a:rPr lang="en-GB" i="1" dirty="0"/>
                  <a:t>				         betas = (beta1, beta2), eps = 1e-08)</a:t>
                </a:r>
              </a:p>
              <a:p>
                <a:r>
                  <a:rPr lang="en-GB" dirty="0"/>
                  <a:t>The</a:t>
                </a:r>
                <a:r>
                  <a:rPr lang="en-GB" b="1" dirty="0"/>
                  <a:t> </a:t>
                </a:r>
                <a:r>
                  <a:rPr lang="en-GB" b="1" dirty="0" err="1"/>
                  <a:t>optimizer.step</a:t>
                </a:r>
                <a:r>
                  <a:rPr lang="en-GB" b="1" dirty="0"/>
                  <a:t>() </a:t>
                </a:r>
                <a:r>
                  <a:rPr lang="en-GB" dirty="0"/>
                  <a:t>is used to update the </a:t>
                </a:r>
                <a14:m>
                  <m:oMath xmlns:m="http://schemas.openxmlformats.org/officeDocument/2006/math">
                    <m:r>
                      <a:rPr lang="en-GB" i="1" dirty="0" smtClean="0">
                        <a:latin typeface="Cambria Math" panose="02040503050406030204" pitchFamily="18" charset="0"/>
                      </a:rPr>
                      <m:t>𝑉</m:t>
                    </m:r>
                  </m:oMath>
                </a14:m>
                <a:r>
                  <a:rPr lang="en-GB" dirty="0"/>
                  <a:t> and </a:t>
                </a:r>
                <a14:m>
                  <m:oMath xmlns:m="http://schemas.openxmlformats.org/officeDocument/2006/math">
                    <m:r>
                      <a:rPr lang="en-GB" i="1" dirty="0" smtClean="0">
                        <a:latin typeface="Cambria Math" panose="02040503050406030204" pitchFamily="18" charset="0"/>
                      </a:rPr>
                      <m:t>𝑆</m:t>
                    </m:r>
                  </m:oMath>
                </a14:m>
                <a:r>
                  <a:rPr lang="en-GB" dirty="0"/>
                  <a:t> parameters in Adam. </a:t>
                </a:r>
                <a:r>
                  <a:rPr lang="en-GB" b="1" dirty="0"/>
                  <a:t>This also realizes the gradient rule update procedure entirely (damn!).</a:t>
                </a:r>
              </a:p>
              <a:p>
                <a:r>
                  <a:rPr lang="en-GB" dirty="0"/>
                  <a:t>You should remember to </a:t>
                </a:r>
                <a:r>
                  <a:rPr lang="en-GB" b="1" dirty="0"/>
                  <a:t>reset gradients in optimizer to 0</a:t>
                </a:r>
                <a:r>
                  <a:rPr lang="en-GB" dirty="0"/>
                  <a:t>, like you would in the parameters tensors. The operation </a:t>
                </a:r>
                <a:r>
                  <a:rPr lang="en-GB" b="1" dirty="0" err="1"/>
                  <a:t>optimizer.zero_grad</a:t>
                </a:r>
                <a:r>
                  <a:rPr lang="en-GB" b="1" dirty="0"/>
                  <a:t>() </a:t>
                </a:r>
                <a:r>
                  <a:rPr lang="en-GB" dirty="0"/>
                  <a:t>replaces all four </a:t>
                </a:r>
                <a:r>
                  <a:rPr lang="en-GB" b="1" dirty="0" err="1"/>
                  <a:t>self.Xx.grad.zero</a:t>
                </a:r>
                <a:r>
                  <a:rPr lang="en-GB" b="1" dirty="0"/>
                  <a:t>_() </a:t>
                </a:r>
                <a:r>
                  <a:rPr lang="en-GB" dirty="0"/>
                  <a:t>operations we had earlier!</a:t>
                </a:r>
                <a:endParaRPr lang="en-SG" dirty="0"/>
              </a:p>
            </p:txBody>
          </p:sp>
        </mc:Choice>
        <mc:Fallback xmlns="">
          <p:sp>
            <p:nvSpPr>
              <p:cNvPr id="3" name="Content Placeholder 2">
                <a:extLst>
                  <a:ext uri="{FF2B5EF4-FFF2-40B4-BE49-F238E27FC236}">
                    <a16:creationId xmlns:a16="http://schemas.microsoft.com/office/drawing/2014/main" id="{EDC87932-752D-FABC-76EF-38023409D8D8}"/>
                  </a:ext>
                </a:extLst>
              </p:cNvPr>
              <p:cNvSpPr>
                <a:spLocks noGrp="1" noRot="1" noChangeAspect="1" noMove="1" noResize="1" noEditPoints="1" noAdjustHandles="1" noChangeArrowheads="1" noChangeShapeType="1" noTextEdit="1"/>
              </p:cNvSpPr>
              <p:nvPr>
                <p:ph idx="1"/>
              </p:nvPr>
            </p:nvSpPr>
            <p:spPr>
              <a:xfrm>
                <a:off x="838200" y="1825624"/>
                <a:ext cx="10923954" cy="5032375"/>
              </a:xfrm>
              <a:blipFill>
                <a:blip r:embed="rId2"/>
                <a:stretch>
                  <a:fillRect l="-1173" t="-1937" r="-670"/>
                </a:stretch>
              </a:blipFill>
            </p:spPr>
            <p:txBody>
              <a:bodyPr/>
              <a:lstStyle/>
              <a:p>
                <a:r>
                  <a:rPr lang="en-GB">
                    <a:noFill/>
                  </a:rPr>
                  <a:t> </a:t>
                </a:r>
              </a:p>
            </p:txBody>
          </p:sp>
        </mc:Fallback>
      </mc:AlternateContent>
    </p:spTree>
    <p:extLst>
      <p:ext uri="{BB962C8B-B14F-4D97-AF65-F5344CB8AC3E}">
        <p14:creationId xmlns:p14="http://schemas.microsoft.com/office/powerpoint/2010/main" val="743119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96114E-5630-8F4B-7F34-8E0B7043DE39}"/>
              </a:ext>
            </a:extLst>
          </p:cNvPr>
          <p:cNvPicPr>
            <a:picLocks noChangeAspect="1"/>
          </p:cNvPicPr>
          <p:nvPr/>
        </p:nvPicPr>
        <p:blipFill>
          <a:blip r:embed="rId2"/>
          <a:stretch>
            <a:fillRect/>
          </a:stretch>
        </p:blipFill>
        <p:spPr>
          <a:xfrm>
            <a:off x="2583944" y="0"/>
            <a:ext cx="7024111" cy="6858000"/>
          </a:xfrm>
          <a:prstGeom prst="rect">
            <a:avLst/>
          </a:prstGeom>
        </p:spPr>
      </p:pic>
      <p:sp>
        <p:nvSpPr>
          <p:cNvPr id="6" name="Rectangle 5">
            <a:extLst>
              <a:ext uri="{FF2B5EF4-FFF2-40B4-BE49-F238E27FC236}">
                <a16:creationId xmlns:a16="http://schemas.microsoft.com/office/drawing/2014/main" id="{B81BF3B3-CE84-481C-BA68-D4C15AEFD0C8}"/>
              </a:ext>
            </a:extLst>
          </p:cNvPr>
          <p:cNvSpPr/>
          <p:nvPr/>
        </p:nvSpPr>
        <p:spPr>
          <a:xfrm flipV="1">
            <a:off x="2583944" y="195384"/>
            <a:ext cx="7024111" cy="1338448"/>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19BF4F18-8542-0DC3-D74A-719630C157EC}"/>
              </a:ext>
            </a:extLst>
          </p:cNvPr>
          <p:cNvSpPr/>
          <p:nvPr/>
        </p:nvSpPr>
        <p:spPr>
          <a:xfrm>
            <a:off x="2583944" y="0"/>
            <a:ext cx="7024111" cy="195384"/>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88F7E578-F57B-3DA6-91CB-FDA0B5ADDE28}"/>
              </a:ext>
            </a:extLst>
          </p:cNvPr>
          <p:cNvSpPr/>
          <p:nvPr/>
        </p:nvSpPr>
        <p:spPr>
          <a:xfrm>
            <a:off x="3141785" y="4470400"/>
            <a:ext cx="4384430" cy="562708"/>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a:extLst>
              <a:ext uri="{FF2B5EF4-FFF2-40B4-BE49-F238E27FC236}">
                <a16:creationId xmlns:a16="http://schemas.microsoft.com/office/drawing/2014/main" id="{2EC6039F-E579-454C-DF0C-2DA2980864E5}"/>
              </a:ext>
            </a:extLst>
          </p:cNvPr>
          <p:cNvSpPr/>
          <p:nvPr/>
        </p:nvSpPr>
        <p:spPr>
          <a:xfrm>
            <a:off x="3141785" y="5150338"/>
            <a:ext cx="1766277" cy="359508"/>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966383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2E9E4-1AEF-6408-1465-D1DC917DE2AF}"/>
              </a:ext>
            </a:extLst>
          </p:cNvPr>
          <p:cNvSpPr>
            <a:spLocks noGrp="1"/>
          </p:cNvSpPr>
          <p:nvPr>
            <p:ph type="title"/>
          </p:nvPr>
        </p:nvSpPr>
        <p:spPr/>
        <p:txBody>
          <a:bodyPr/>
          <a:lstStyle/>
          <a:p>
            <a:r>
              <a:rPr lang="en-GB" dirty="0"/>
              <a:t>Using advanced optimizers (Adam, etc.)</a:t>
            </a:r>
            <a:endParaRPr lang="en-SG" dirty="0"/>
          </a:p>
        </p:txBody>
      </p:sp>
      <p:sp>
        <p:nvSpPr>
          <p:cNvPr id="3" name="Content Placeholder 2">
            <a:extLst>
              <a:ext uri="{FF2B5EF4-FFF2-40B4-BE49-F238E27FC236}">
                <a16:creationId xmlns:a16="http://schemas.microsoft.com/office/drawing/2014/main" id="{EDC87932-752D-FABC-76EF-38023409D8D8}"/>
              </a:ext>
            </a:extLst>
          </p:cNvPr>
          <p:cNvSpPr>
            <a:spLocks noGrp="1"/>
          </p:cNvSpPr>
          <p:nvPr>
            <p:ph idx="1"/>
          </p:nvPr>
        </p:nvSpPr>
        <p:spPr>
          <a:xfrm>
            <a:off x="838200" y="1825624"/>
            <a:ext cx="11002108" cy="5032375"/>
          </a:xfrm>
        </p:spPr>
        <p:txBody>
          <a:bodyPr>
            <a:normAutofit/>
          </a:bodyPr>
          <a:lstStyle/>
          <a:p>
            <a:pPr marL="0" indent="0">
              <a:buNone/>
            </a:pPr>
            <a:r>
              <a:rPr lang="en-GB" dirty="0"/>
              <a:t>Feel free to also have a look at the implementation of these optimizers. (You should be able to recognize some concepts from Week 2!)</a:t>
            </a:r>
            <a:br>
              <a:rPr lang="en-GB" dirty="0"/>
            </a:br>
            <a:br>
              <a:rPr lang="en-GB" dirty="0"/>
            </a:br>
            <a:r>
              <a:rPr lang="en-GB" dirty="0"/>
              <a:t>These optimizers come with a few more features that might be worth exploring if you are curious (but we will consider them out-of-scope)!</a:t>
            </a:r>
          </a:p>
          <a:p>
            <a:pPr marL="0" indent="0">
              <a:buNone/>
            </a:pPr>
            <a:r>
              <a:rPr lang="en-GB" dirty="0">
                <a:hlinkClick r:id="rId2"/>
              </a:rPr>
              <a:t>https://pytorch.org/docs/stable/generated/torch.optim.Adam.html#torch.optim.Adam</a:t>
            </a:r>
            <a:endParaRPr lang="en-GB" dirty="0"/>
          </a:p>
          <a:p>
            <a:pPr marL="0" indent="0">
              <a:buNone/>
            </a:pPr>
            <a:endParaRPr lang="en-GB" dirty="0"/>
          </a:p>
          <a:p>
            <a:pPr marL="0" indent="0">
              <a:buNone/>
            </a:pPr>
            <a:r>
              <a:rPr lang="en-GB" b="1" dirty="0"/>
              <a:t>Note: </a:t>
            </a:r>
            <a:r>
              <a:rPr lang="en-GB" dirty="0"/>
              <a:t>implementing your own optimizer is generally a “bad” idea (takes lots of work!), but feel free to look at source codes to see what it takes!</a:t>
            </a:r>
            <a:br>
              <a:rPr lang="en-GB" dirty="0"/>
            </a:br>
            <a:r>
              <a:rPr lang="en-GB" dirty="0">
                <a:hlinkClick r:id="rId3"/>
              </a:rPr>
              <a:t>https://pytorch.org/docs/stable/_modules/torch/optim/adam.html#Adam</a:t>
            </a:r>
            <a:endParaRPr lang="en-GB" dirty="0"/>
          </a:p>
          <a:p>
            <a:pPr marL="0" indent="0">
              <a:buNone/>
            </a:pPr>
            <a:endParaRPr lang="en-GB" dirty="0"/>
          </a:p>
        </p:txBody>
      </p:sp>
    </p:spTree>
    <p:extLst>
      <p:ext uri="{BB962C8B-B14F-4D97-AF65-F5344CB8AC3E}">
        <p14:creationId xmlns:p14="http://schemas.microsoft.com/office/powerpoint/2010/main" val="3349972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1A1F8-8179-2E4B-0559-23E67A65BC3B}"/>
              </a:ext>
            </a:extLst>
          </p:cNvPr>
          <p:cNvSpPr>
            <a:spLocks noGrp="1"/>
          </p:cNvSpPr>
          <p:nvPr>
            <p:ph type="title"/>
          </p:nvPr>
        </p:nvSpPr>
        <p:spPr/>
        <p:txBody>
          <a:bodyPr/>
          <a:lstStyle/>
          <a:p>
            <a:r>
              <a:rPr lang="en-GB" dirty="0"/>
              <a:t>Implementing a stochastic mini-batch GD</a:t>
            </a:r>
            <a:endParaRPr lang="en-SG" dirty="0"/>
          </a:p>
        </p:txBody>
      </p:sp>
      <p:sp>
        <p:nvSpPr>
          <p:cNvPr id="3" name="Content Placeholder 2">
            <a:extLst>
              <a:ext uri="{FF2B5EF4-FFF2-40B4-BE49-F238E27FC236}">
                <a16:creationId xmlns:a16="http://schemas.microsoft.com/office/drawing/2014/main" id="{434F9CC2-454D-E009-C2D1-3A775BEB1B4B}"/>
              </a:ext>
            </a:extLst>
          </p:cNvPr>
          <p:cNvSpPr>
            <a:spLocks noGrp="1"/>
          </p:cNvSpPr>
          <p:nvPr>
            <p:ph idx="1"/>
          </p:nvPr>
        </p:nvSpPr>
        <p:spPr>
          <a:xfrm>
            <a:off x="838200" y="1825624"/>
            <a:ext cx="10515600" cy="4778375"/>
          </a:xfrm>
        </p:spPr>
        <p:txBody>
          <a:bodyPr>
            <a:normAutofit/>
          </a:bodyPr>
          <a:lstStyle/>
          <a:p>
            <a:pPr marL="0" indent="0">
              <a:buNone/>
            </a:pPr>
            <a:r>
              <a:rPr lang="en-GB" dirty="0"/>
              <a:t>We can also define a Stochastic Mini-Batches Gradient Descent procedure. This is typically done with two steps.</a:t>
            </a:r>
          </a:p>
          <a:p>
            <a:pPr marL="514350" indent="-514350">
              <a:buAutoNum type="arabicPeriod"/>
            </a:pPr>
            <a:r>
              <a:rPr lang="en-GB" b="1" dirty="0"/>
              <a:t>Create</a:t>
            </a:r>
            <a:r>
              <a:rPr lang="en-GB" dirty="0"/>
              <a:t> </a:t>
            </a:r>
            <a:r>
              <a:rPr lang="en-GB" b="1" dirty="0"/>
              <a:t>a</a:t>
            </a:r>
            <a:r>
              <a:rPr lang="en-GB" dirty="0"/>
              <a:t> </a:t>
            </a:r>
            <a:r>
              <a:rPr lang="en-GB" b="1" dirty="0"/>
              <a:t>Dataset</a:t>
            </a:r>
            <a:r>
              <a:rPr lang="en-GB" dirty="0"/>
              <a:t> </a:t>
            </a:r>
            <a:r>
              <a:rPr lang="en-GB" b="1" dirty="0"/>
              <a:t>and</a:t>
            </a:r>
            <a:r>
              <a:rPr lang="en-GB" dirty="0"/>
              <a:t> </a:t>
            </a:r>
            <a:r>
              <a:rPr lang="en-GB" b="1" dirty="0"/>
              <a:t>a</a:t>
            </a:r>
            <a:r>
              <a:rPr lang="en-GB" dirty="0"/>
              <a:t> </a:t>
            </a:r>
            <a:r>
              <a:rPr lang="en-GB" b="1" dirty="0" err="1"/>
              <a:t>Dataloader</a:t>
            </a:r>
            <a:r>
              <a:rPr lang="en-GB" b="1" dirty="0"/>
              <a:t> </a:t>
            </a:r>
            <a:r>
              <a:rPr lang="en-GB" dirty="0"/>
              <a:t>using the inputs and outputs provided in the </a:t>
            </a:r>
            <a:r>
              <a:rPr lang="en-GB" b="1" dirty="0"/>
              <a:t>train()</a:t>
            </a:r>
            <a:r>
              <a:rPr lang="en-GB" dirty="0"/>
              <a:t>.</a:t>
            </a:r>
          </a:p>
          <a:p>
            <a:pPr marL="0" indent="0">
              <a:buNone/>
            </a:pPr>
            <a:r>
              <a:rPr lang="en-GB" i="1" dirty="0"/>
              <a:t>(We will learn more about these Dataset and </a:t>
            </a:r>
            <a:r>
              <a:rPr lang="en-GB" i="1" dirty="0" err="1"/>
              <a:t>Dataloader</a:t>
            </a:r>
            <a:r>
              <a:rPr lang="en-GB" i="1" dirty="0"/>
              <a:t> objects in the next notebook and lecture. For now, just consider that it allows to conveniently zip the data in an object that is able to shuffle and draw random mini-batches of data for us.)</a:t>
            </a:r>
          </a:p>
          <a:p>
            <a:pPr marL="0" indent="0">
              <a:buNone/>
            </a:pPr>
            <a:r>
              <a:rPr lang="en-GB" dirty="0"/>
              <a:t>2. </a:t>
            </a:r>
            <a:r>
              <a:rPr lang="en-GB" b="1" dirty="0"/>
              <a:t>Loop over the mini-batches of data</a:t>
            </a:r>
            <a:r>
              <a:rPr lang="en-GB" dirty="0"/>
              <a:t>, instead of using the entire inputs/outputs at once, like in (full) batch gradient descent.</a:t>
            </a:r>
          </a:p>
          <a:p>
            <a:pPr marL="0" indent="0">
              <a:buNone/>
            </a:pPr>
            <a:endParaRPr lang="en-GB" dirty="0"/>
          </a:p>
          <a:p>
            <a:pPr marL="0" indent="0">
              <a:buNone/>
            </a:pPr>
            <a:endParaRPr lang="en-SG" dirty="0"/>
          </a:p>
        </p:txBody>
      </p:sp>
    </p:spTree>
    <p:extLst>
      <p:ext uri="{BB962C8B-B14F-4D97-AF65-F5344CB8AC3E}">
        <p14:creationId xmlns:p14="http://schemas.microsoft.com/office/powerpoint/2010/main" val="4008937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1B965F-64B9-04CD-4638-0890D97D57DE}"/>
              </a:ext>
            </a:extLst>
          </p:cNvPr>
          <p:cNvPicPr>
            <a:picLocks noChangeAspect="1"/>
          </p:cNvPicPr>
          <p:nvPr/>
        </p:nvPicPr>
        <p:blipFill>
          <a:blip r:embed="rId2"/>
          <a:stretch>
            <a:fillRect/>
          </a:stretch>
        </p:blipFill>
        <p:spPr>
          <a:xfrm>
            <a:off x="1504309" y="390101"/>
            <a:ext cx="9183382" cy="6077798"/>
          </a:xfrm>
          <a:prstGeom prst="rect">
            <a:avLst/>
          </a:prstGeom>
        </p:spPr>
      </p:pic>
      <p:sp>
        <p:nvSpPr>
          <p:cNvPr id="6" name="Rectangle 5">
            <a:extLst>
              <a:ext uri="{FF2B5EF4-FFF2-40B4-BE49-F238E27FC236}">
                <a16:creationId xmlns:a16="http://schemas.microsoft.com/office/drawing/2014/main" id="{DBBF2456-0C4C-AE76-B6E2-E7FC45D9E3BA}"/>
              </a:ext>
            </a:extLst>
          </p:cNvPr>
          <p:cNvSpPr/>
          <p:nvPr/>
        </p:nvSpPr>
        <p:spPr>
          <a:xfrm flipV="1">
            <a:off x="1844431" y="617416"/>
            <a:ext cx="8174891" cy="820615"/>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B95ADA31-58FD-5500-8618-8D30D831D8B0}"/>
              </a:ext>
            </a:extLst>
          </p:cNvPr>
          <p:cNvSpPr/>
          <p:nvPr/>
        </p:nvSpPr>
        <p:spPr>
          <a:xfrm flipH="1">
            <a:off x="9089290" y="390101"/>
            <a:ext cx="1598399" cy="266392"/>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8ED13D18-8BEB-F9E2-EF97-FA30C2C1287A}"/>
              </a:ext>
            </a:extLst>
          </p:cNvPr>
          <p:cNvSpPr/>
          <p:nvPr/>
        </p:nvSpPr>
        <p:spPr>
          <a:xfrm flipV="1">
            <a:off x="2172678" y="4298461"/>
            <a:ext cx="3649784" cy="820615"/>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a:extLst>
              <a:ext uri="{FF2B5EF4-FFF2-40B4-BE49-F238E27FC236}">
                <a16:creationId xmlns:a16="http://schemas.microsoft.com/office/drawing/2014/main" id="{38E02E82-D7E5-732A-71C4-3745B6604D4C}"/>
              </a:ext>
            </a:extLst>
          </p:cNvPr>
          <p:cNvSpPr/>
          <p:nvPr/>
        </p:nvSpPr>
        <p:spPr>
          <a:xfrm>
            <a:off x="2500923" y="5259755"/>
            <a:ext cx="5337907" cy="976922"/>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89794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6D06CA-B3C1-1830-AC72-0181AC10C325}"/>
              </a:ext>
            </a:extLst>
          </p:cNvPr>
          <p:cNvPicPr>
            <a:picLocks noChangeAspect="1"/>
          </p:cNvPicPr>
          <p:nvPr/>
        </p:nvPicPr>
        <p:blipFill>
          <a:blip r:embed="rId2"/>
          <a:stretch>
            <a:fillRect/>
          </a:stretch>
        </p:blipFill>
        <p:spPr>
          <a:xfrm>
            <a:off x="1664472" y="0"/>
            <a:ext cx="8863055" cy="6858000"/>
          </a:xfrm>
          <a:prstGeom prst="rect">
            <a:avLst/>
          </a:prstGeom>
        </p:spPr>
      </p:pic>
    </p:spTree>
    <p:extLst>
      <p:ext uri="{BB962C8B-B14F-4D97-AF65-F5344CB8AC3E}">
        <p14:creationId xmlns:p14="http://schemas.microsoft.com/office/powerpoint/2010/main" val="1341638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3B6C1-D583-A692-9831-4EBA5FFC0843}"/>
              </a:ext>
            </a:extLst>
          </p:cNvPr>
          <p:cNvSpPr>
            <a:spLocks noGrp="1"/>
          </p:cNvSpPr>
          <p:nvPr>
            <p:ph type="title"/>
          </p:nvPr>
        </p:nvSpPr>
        <p:spPr/>
        <p:txBody>
          <a:bodyPr/>
          <a:lstStyle/>
          <a:p>
            <a:r>
              <a:rPr lang="en-GB" dirty="0"/>
              <a:t>Better initializers in </a:t>
            </a:r>
            <a:r>
              <a:rPr lang="en-GB" dirty="0" err="1"/>
              <a:t>PyTorch</a:t>
            </a:r>
            <a:endParaRPr lang="en-SG" dirty="0"/>
          </a:p>
        </p:txBody>
      </p:sp>
      <p:sp>
        <p:nvSpPr>
          <p:cNvPr id="4" name="Content Placeholder 3">
            <a:extLst>
              <a:ext uri="{FF2B5EF4-FFF2-40B4-BE49-F238E27FC236}">
                <a16:creationId xmlns:a16="http://schemas.microsoft.com/office/drawing/2014/main" id="{7B27ED01-4B43-7115-3D3C-53FF72E7590A}"/>
              </a:ext>
            </a:extLst>
          </p:cNvPr>
          <p:cNvSpPr>
            <a:spLocks noGrp="1"/>
          </p:cNvSpPr>
          <p:nvPr>
            <p:ph sz="half" idx="1"/>
          </p:nvPr>
        </p:nvSpPr>
        <p:spPr>
          <a:xfrm>
            <a:off x="234462" y="1825625"/>
            <a:ext cx="3108506" cy="4351338"/>
          </a:xfrm>
        </p:spPr>
        <p:txBody>
          <a:bodyPr>
            <a:normAutofit/>
          </a:bodyPr>
          <a:lstStyle/>
          <a:p>
            <a:pPr marL="0" indent="0">
              <a:buNone/>
            </a:pPr>
            <a:r>
              <a:rPr lang="en-GB" dirty="0"/>
              <a:t>This part is a bit tedious and relies on our own manual implementation of a random normal initializer.</a:t>
            </a:r>
          </a:p>
          <a:p>
            <a:r>
              <a:rPr lang="en-GB" b="1" dirty="0"/>
              <a:t>Need to replace these RNG with built-in </a:t>
            </a:r>
            <a:r>
              <a:rPr lang="en-GB" b="1" dirty="0" err="1"/>
              <a:t>PyTorch</a:t>
            </a:r>
            <a:r>
              <a:rPr lang="en-GB" b="1" dirty="0"/>
              <a:t> initializers!</a:t>
            </a:r>
          </a:p>
        </p:txBody>
      </p:sp>
      <p:pic>
        <p:nvPicPr>
          <p:cNvPr id="7" name="Picture 6">
            <a:extLst>
              <a:ext uri="{FF2B5EF4-FFF2-40B4-BE49-F238E27FC236}">
                <a16:creationId xmlns:a16="http://schemas.microsoft.com/office/drawing/2014/main" id="{FA82CB6F-957A-39D7-F6F0-4ED02FB8462B}"/>
              </a:ext>
            </a:extLst>
          </p:cNvPr>
          <p:cNvPicPr>
            <a:picLocks noChangeAspect="1"/>
          </p:cNvPicPr>
          <p:nvPr/>
        </p:nvPicPr>
        <p:blipFill>
          <a:blip r:embed="rId2"/>
          <a:stretch>
            <a:fillRect/>
          </a:stretch>
        </p:blipFill>
        <p:spPr>
          <a:xfrm>
            <a:off x="3429000" y="1562356"/>
            <a:ext cx="8621328" cy="5077534"/>
          </a:xfrm>
          <a:prstGeom prst="rect">
            <a:avLst/>
          </a:prstGeom>
        </p:spPr>
      </p:pic>
      <p:sp>
        <p:nvSpPr>
          <p:cNvPr id="8" name="Rectangle 7">
            <a:extLst>
              <a:ext uri="{FF2B5EF4-FFF2-40B4-BE49-F238E27FC236}">
                <a16:creationId xmlns:a16="http://schemas.microsoft.com/office/drawing/2014/main" id="{AD6ED9A1-3116-CE4C-FF7F-F3A141ACF6CB}"/>
              </a:ext>
            </a:extLst>
          </p:cNvPr>
          <p:cNvSpPr/>
          <p:nvPr/>
        </p:nvSpPr>
        <p:spPr>
          <a:xfrm>
            <a:off x="3751385" y="3251200"/>
            <a:ext cx="8143630" cy="338869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4097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B5E18C-3841-3FEA-69B5-359FC902D27F}"/>
              </a:ext>
            </a:extLst>
          </p:cNvPr>
          <p:cNvPicPr>
            <a:picLocks noChangeAspect="1"/>
          </p:cNvPicPr>
          <p:nvPr/>
        </p:nvPicPr>
        <p:blipFill>
          <a:blip r:embed="rId2"/>
          <a:stretch>
            <a:fillRect/>
          </a:stretch>
        </p:blipFill>
        <p:spPr>
          <a:xfrm>
            <a:off x="4241260" y="1750318"/>
            <a:ext cx="7950740" cy="4597433"/>
          </a:xfrm>
          <a:prstGeom prst="rect">
            <a:avLst/>
          </a:prstGeom>
        </p:spPr>
      </p:pic>
      <p:sp>
        <p:nvSpPr>
          <p:cNvPr id="2" name="Title 1">
            <a:extLst>
              <a:ext uri="{FF2B5EF4-FFF2-40B4-BE49-F238E27FC236}">
                <a16:creationId xmlns:a16="http://schemas.microsoft.com/office/drawing/2014/main" id="{5EE3B6C1-D583-A692-9831-4EBA5FFC0843}"/>
              </a:ext>
            </a:extLst>
          </p:cNvPr>
          <p:cNvSpPr>
            <a:spLocks noGrp="1"/>
          </p:cNvSpPr>
          <p:nvPr>
            <p:ph type="title"/>
          </p:nvPr>
        </p:nvSpPr>
        <p:spPr/>
        <p:txBody>
          <a:bodyPr/>
          <a:lstStyle/>
          <a:p>
            <a:r>
              <a:rPr lang="en-GB" dirty="0"/>
              <a:t>Better initializers in </a:t>
            </a:r>
            <a:r>
              <a:rPr lang="en-GB" dirty="0" err="1"/>
              <a:t>PyTorch</a:t>
            </a:r>
            <a:endParaRPr lang="en-SG" dirty="0"/>
          </a:p>
        </p:txBody>
      </p:sp>
      <p:sp>
        <p:nvSpPr>
          <p:cNvPr id="4" name="Content Placeholder 3">
            <a:extLst>
              <a:ext uri="{FF2B5EF4-FFF2-40B4-BE49-F238E27FC236}">
                <a16:creationId xmlns:a16="http://schemas.microsoft.com/office/drawing/2014/main" id="{7B27ED01-4B43-7115-3D3C-53FF72E7590A}"/>
              </a:ext>
            </a:extLst>
          </p:cNvPr>
          <p:cNvSpPr>
            <a:spLocks noGrp="1"/>
          </p:cNvSpPr>
          <p:nvPr>
            <p:ph sz="half" idx="1"/>
          </p:nvPr>
        </p:nvSpPr>
        <p:spPr>
          <a:xfrm>
            <a:off x="234461" y="1825625"/>
            <a:ext cx="4006799" cy="4351338"/>
          </a:xfrm>
        </p:spPr>
        <p:txBody>
          <a:bodyPr>
            <a:normAutofit/>
          </a:bodyPr>
          <a:lstStyle/>
          <a:p>
            <a:pPr marL="0" indent="0">
              <a:buNone/>
            </a:pPr>
            <a:r>
              <a:rPr lang="en-GB" dirty="0"/>
              <a:t>Fixed!</a:t>
            </a:r>
            <a:endParaRPr lang="en-GB" b="1" dirty="0"/>
          </a:p>
          <a:p>
            <a:r>
              <a:rPr lang="en-GB" dirty="0"/>
              <a:t>Feel free to have a look at this for </a:t>
            </a:r>
            <a:r>
              <a:rPr lang="en-GB" b="1" dirty="0"/>
              <a:t>additional</a:t>
            </a:r>
            <a:r>
              <a:rPr lang="en-GB" dirty="0"/>
              <a:t> </a:t>
            </a:r>
            <a:r>
              <a:rPr lang="en-GB" b="1" dirty="0"/>
              <a:t>initializers</a:t>
            </a:r>
            <a:r>
              <a:rPr lang="en-GB" dirty="0"/>
              <a:t> in </a:t>
            </a:r>
            <a:r>
              <a:rPr lang="en-GB" dirty="0" err="1"/>
              <a:t>PyTorch</a:t>
            </a:r>
            <a:r>
              <a:rPr lang="en-GB" dirty="0"/>
              <a:t>.</a:t>
            </a:r>
          </a:p>
          <a:p>
            <a:pPr marL="0" indent="0">
              <a:buNone/>
            </a:pPr>
            <a:br>
              <a:rPr lang="en-GB" dirty="0"/>
            </a:br>
            <a:r>
              <a:rPr lang="en-GB" dirty="0">
                <a:hlinkClick r:id="rId3"/>
              </a:rPr>
              <a:t>https://pytorch.org/cppdocs/api/file_torch_csrc_api_include_torch_nn_init.h.html#file-torch-csrc-api-include-torch-nn-init-h</a:t>
            </a:r>
            <a:endParaRPr lang="en-SG" b="1" dirty="0"/>
          </a:p>
        </p:txBody>
      </p:sp>
      <p:sp>
        <p:nvSpPr>
          <p:cNvPr id="8" name="Rectangle 7">
            <a:extLst>
              <a:ext uri="{FF2B5EF4-FFF2-40B4-BE49-F238E27FC236}">
                <a16:creationId xmlns:a16="http://schemas.microsoft.com/office/drawing/2014/main" id="{AD6ED9A1-3116-CE4C-FF7F-F3A141ACF6CB}"/>
              </a:ext>
            </a:extLst>
          </p:cNvPr>
          <p:cNvSpPr/>
          <p:nvPr/>
        </p:nvSpPr>
        <p:spPr>
          <a:xfrm>
            <a:off x="4501661" y="3501292"/>
            <a:ext cx="7643446" cy="2846459"/>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678238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B798-137F-1C5F-D3F8-E30049627063}"/>
              </a:ext>
            </a:extLst>
          </p:cNvPr>
          <p:cNvSpPr>
            <a:spLocks noGrp="1"/>
          </p:cNvSpPr>
          <p:nvPr>
            <p:ph type="title"/>
          </p:nvPr>
        </p:nvSpPr>
        <p:spPr/>
        <p:txBody>
          <a:bodyPr/>
          <a:lstStyle/>
          <a:p>
            <a:r>
              <a:rPr lang="en-GB" dirty="0"/>
              <a:t>Adding a regularization to our loss</a:t>
            </a:r>
            <a:endParaRPr lang="en-SG" dirty="0"/>
          </a:p>
        </p:txBody>
      </p:sp>
      <p:sp>
        <p:nvSpPr>
          <p:cNvPr id="3" name="Content Placeholder 2">
            <a:extLst>
              <a:ext uri="{FF2B5EF4-FFF2-40B4-BE49-F238E27FC236}">
                <a16:creationId xmlns:a16="http://schemas.microsoft.com/office/drawing/2014/main" id="{6A509501-56C2-23F3-214C-C91AB5067894}"/>
              </a:ext>
            </a:extLst>
          </p:cNvPr>
          <p:cNvSpPr>
            <a:spLocks noGrp="1"/>
          </p:cNvSpPr>
          <p:nvPr>
            <p:ph sz="half" idx="1"/>
          </p:nvPr>
        </p:nvSpPr>
        <p:spPr/>
        <p:txBody>
          <a:bodyPr>
            <a:normAutofit/>
          </a:bodyPr>
          <a:lstStyle/>
          <a:p>
            <a:pPr marL="0" indent="0">
              <a:buNone/>
            </a:pPr>
            <a:r>
              <a:rPr lang="en-GB" dirty="0"/>
              <a:t>We have also seen during </a:t>
            </a:r>
            <a:r>
              <a:rPr lang="en-GB" b="1" dirty="0"/>
              <a:t>Ridge</a:t>
            </a:r>
            <a:r>
              <a:rPr lang="en-GB" dirty="0"/>
              <a:t> </a:t>
            </a:r>
            <a:r>
              <a:rPr lang="en-GB" b="1" dirty="0"/>
              <a:t>Regression</a:t>
            </a:r>
            <a:r>
              <a:rPr lang="en-GB" dirty="0"/>
              <a:t> (on Week 1) that it is sometimes beneficial to add a </a:t>
            </a:r>
            <a:r>
              <a:rPr lang="en-GB" b="1" dirty="0"/>
              <a:t>regularization</a:t>
            </a:r>
            <a:r>
              <a:rPr lang="en-GB" dirty="0"/>
              <a:t> term to our loss functions. </a:t>
            </a:r>
          </a:p>
          <a:p>
            <a:r>
              <a:rPr lang="en-GB" dirty="0"/>
              <a:t>Our first step would be to simply compute our </a:t>
            </a:r>
            <a:r>
              <a:rPr lang="en-GB" b="1" dirty="0"/>
              <a:t>regularization</a:t>
            </a:r>
            <a:r>
              <a:rPr lang="en-GB" dirty="0"/>
              <a:t> term by using the </a:t>
            </a:r>
            <a:r>
              <a:rPr lang="en-GB" dirty="0" err="1"/>
              <a:t>PyTorch</a:t>
            </a:r>
            <a:r>
              <a:rPr lang="en-GB" dirty="0"/>
              <a:t> functions, for instance the </a:t>
            </a:r>
            <a:r>
              <a:rPr lang="en-GB" b="1" dirty="0"/>
              <a:t>L1</a:t>
            </a:r>
            <a:r>
              <a:rPr lang="en-GB" dirty="0"/>
              <a:t> </a:t>
            </a:r>
            <a:r>
              <a:rPr lang="en-GB" b="1" dirty="0"/>
              <a:t>loss</a:t>
            </a:r>
            <a:r>
              <a:rPr lang="en-GB" dirty="0"/>
              <a:t>.</a:t>
            </a:r>
          </a:p>
          <a:p>
            <a:endParaRPr lang="en-GB" dirty="0"/>
          </a:p>
          <a:p>
            <a:pPr marL="0" indent="0">
              <a:buNone/>
            </a:pPr>
            <a:endParaRPr lang="en-GB" dirty="0"/>
          </a:p>
        </p:txBody>
      </p:sp>
      <p:sp>
        <p:nvSpPr>
          <p:cNvPr id="4" name="Content Placeholder 3">
            <a:extLst>
              <a:ext uri="{FF2B5EF4-FFF2-40B4-BE49-F238E27FC236}">
                <a16:creationId xmlns:a16="http://schemas.microsoft.com/office/drawing/2014/main" id="{F617EAC8-C948-69D4-C406-FE9CCE702448}"/>
              </a:ext>
            </a:extLst>
          </p:cNvPr>
          <p:cNvSpPr>
            <a:spLocks noGrp="1"/>
          </p:cNvSpPr>
          <p:nvPr>
            <p:ph sz="half" idx="2"/>
          </p:nvPr>
        </p:nvSpPr>
        <p:spPr>
          <a:xfrm>
            <a:off x="6172199" y="1825625"/>
            <a:ext cx="5652477" cy="4351338"/>
          </a:xfrm>
        </p:spPr>
        <p:txBody>
          <a:bodyPr>
            <a:normAutofit/>
          </a:bodyPr>
          <a:lstStyle/>
          <a:p>
            <a:r>
              <a:rPr lang="en-GB" dirty="0"/>
              <a:t>We would then simply </a:t>
            </a:r>
            <a:r>
              <a:rPr lang="en-GB" b="1" dirty="0"/>
              <a:t>add</a:t>
            </a:r>
            <a:r>
              <a:rPr lang="en-GB" dirty="0"/>
              <a:t> </a:t>
            </a:r>
            <a:r>
              <a:rPr lang="en-GB" b="1" dirty="0"/>
              <a:t>it</a:t>
            </a:r>
            <a:r>
              <a:rPr lang="en-GB" dirty="0"/>
              <a:t> </a:t>
            </a:r>
            <a:r>
              <a:rPr lang="en-GB" b="1" dirty="0"/>
              <a:t>to</a:t>
            </a:r>
            <a:r>
              <a:rPr lang="en-GB" dirty="0"/>
              <a:t> </a:t>
            </a:r>
            <a:r>
              <a:rPr lang="en-GB" b="1" dirty="0"/>
              <a:t>the</a:t>
            </a:r>
            <a:r>
              <a:rPr lang="en-GB" dirty="0"/>
              <a:t> </a:t>
            </a:r>
            <a:r>
              <a:rPr lang="en-GB" b="1" dirty="0"/>
              <a:t>loss</a:t>
            </a:r>
            <a:r>
              <a:rPr lang="en-GB" dirty="0"/>
              <a:t> </a:t>
            </a:r>
            <a:r>
              <a:rPr lang="en-GB" b="1" dirty="0"/>
              <a:t>before</a:t>
            </a:r>
            <a:r>
              <a:rPr lang="en-GB" dirty="0"/>
              <a:t> </a:t>
            </a:r>
            <a:r>
              <a:rPr lang="en-GB" b="1" dirty="0"/>
              <a:t>backpropagating</a:t>
            </a:r>
            <a:r>
              <a:rPr lang="en-GB" dirty="0"/>
              <a:t>.</a:t>
            </a:r>
          </a:p>
          <a:p>
            <a:endParaRPr lang="en-SG" dirty="0"/>
          </a:p>
        </p:txBody>
      </p:sp>
      <p:pic>
        <p:nvPicPr>
          <p:cNvPr id="8" name="Picture 7">
            <a:extLst>
              <a:ext uri="{FF2B5EF4-FFF2-40B4-BE49-F238E27FC236}">
                <a16:creationId xmlns:a16="http://schemas.microsoft.com/office/drawing/2014/main" id="{A052F437-7E98-33DE-6B4B-B496C1861CFF}"/>
              </a:ext>
            </a:extLst>
          </p:cNvPr>
          <p:cNvPicPr>
            <a:picLocks noChangeAspect="1"/>
          </p:cNvPicPr>
          <p:nvPr/>
        </p:nvPicPr>
        <p:blipFill>
          <a:blip r:embed="rId2"/>
          <a:stretch>
            <a:fillRect/>
          </a:stretch>
        </p:blipFill>
        <p:spPr>
          <a:xfrm>
            <a:off x="187087" y="5721306"/>
            <a:ext cx="6172556" cy="771569"/>
          </a:xfrm>
          <a:prstGeom prst="rect">
            <a:avLst/>
          </a:prstGeom>
        </p:spPr>
      </p:pic>
      <p:pic>
        <p:nvPicPr>
          <p:cNvPr id="10" name="Picture 9">
            <a:extLst>
              <a:ext uri="{FF2B5EF4-FFF2-40B4-BE49-F238E27FC236}">
                <a16:creationId xmlns:a16="http://schemas.microsoft.com/office/drawing/2014/main" id="{7AE96FE3-0E55-49D9-CEBF-41697612BDAC}"/>
              </a:ext>
            </a:extLst>
          </p:cNvPr>
          <p:cNvPicPr>
            <a:picLocks noChangeAspect="1"/>
          </p:cNvPicPr>
          <p:nvPr/>
        </p:nvPicPr>
        <p:blipFill>
          <a:blip r:embed="rId3"/>
          <a:stretch>
            <a:fillRect/>
          </a:stretch>
        </p:blipFill>
        <p:spPr>
          <a:xfrm>
            <a:off x="6359643" y="3089252"/>
            <a:ext cx="5578881" cy="2316142"/>
          </a:xfrm>
          <a:prstGeom prst="rect">
            <a:avLst/>
          </a:prstGeom>
        </p:spPr>
      </p:pic>
    </p:spTree>
    <p:extLst>
      <p:ext uri="{BB962C8B-B14F-4D97-AF65-F5344CB8AC3E}">
        <p14:creationId xmlns:p14="http://schemas.microsoft.com/office/powerpoint/2010/main" val="3048177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1972</TotalTime>
  <Words>735</Words>
  <Application>Microsoft Office PowerPoint</Application>
  <PresentationFormat>Widescreen</PresentationFormat>
  <Paragraphs>42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Cambria Math</vt:lpstr>
      <vt:lpstr>Office Theme</vt:lpstr>
      <vt:lpstr>Practice of Deep Learning Bonus 3 – Implementing Advanced Concepts in PyTorch</vt:lpstr>
      <vt:lpstr>Introduction (Week 3)</vt:lpstr>
      <vt:lpstr>Using advanced optimizers (Adam, etc.)</vt:lpstr>
      <vt:lpstr>Using advanced optimizers (Adam, etc.)</vt:lpstr>
      <vt:lpstr>PowerPoint Presentation</vt:lpstr>
      <vt:lpstr>Using advanced optimizers (Adam, etc.)</vt:lpstr>
      <vt:lpstr>Implementing a stochastic mini-batch GD</vt:lpstr>
      <vt:lpstr>PowerPoint Presentation</vt:lpstr>
      <vt:lpstr>PowerPoint Presentation</vt:lpstr>
      <vt:lpstr>Better initializers in PyTorch</vt:lpstr>
      <vt:lpstr>Better initializers in PyTorch</vt:lpstr>
      <vt:lpstr>Adding a regularization to our loss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2026-01-12T06:29:47Z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