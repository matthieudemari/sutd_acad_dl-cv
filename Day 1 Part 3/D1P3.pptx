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77" r:id="rId2"/>
    <p:sldId id="517" r:id="rId3"/>
    <p:sldId id="509" r:id="rId4"/>
    <p:sldId id="521" r:id="rId5"/>
    <p:sldId id="522" r:id="rId6"/>
    <p:sldId id="523" r:id="rId7"/>
    <p:sldId id="528" r:id="rId8"/>
    <p:sldId id="524" r:id="rId9"/>
    <p:sldId id="525" r:id="rId10"/>
    <p:sldId id="526" r:id="rId11"/>
    <p:sldId id="527" r:id="rId12"/>
    <p:sldId id="510" r:id="rId13"/>
    <p:sldId id="529" r:id="rId14"/>
    <p:sldId id="535" r:id="rId15"/>
    <p:sldId id="536" r:id="rId16"/>
    <p:sldId id="538" r:id="rId17"/>
    <p:sldId id="539" r:id="rId18"/>
    <p:sldId id="540" r:id="rId19"/>
    <p:sldId id="541" r:id="rId20"/>
    <p:sldId id="511" r:id="rId21"/>
    <p:sldId id="542" r:id="rId22"/>
    <p:sldId id="543" r:id="rId23"/>
    <p:sldId id="544" r:id="rId24"/>
    <p:sldId id="545" r:id="rId25"/>
    <p:sldId id="546" r:id="rId26"/>
    <p:sldId id="547" r:id="rId27"/>
    <p:sldId id="548" r:id="rId28"/>
    <p:sldId id="589" r:id="rId29"/>
    <p:sldId id="512" r:id="rId30"/>
    <p:sldId id="596" r:id="rId31"/>
    <p:sldId id="551" r:id="rId32"/>
    <p:sldId id="550" r:id="rId33"/>
    <p:sldId id="554" r:id="rId34"/>
    <p:sldId id="555" r:id="rId35"/>
    <p:sldId id="513" r:id="rId36"/>
    <p:sldId id="556" r:id="rId37"/>
    <p:sldId id="557" r:id="rId38"/>
    <p:sldId id="552" r:id="rId39"/>
    <p:sldId id="558" r:id="rId40"/>
    <p:sldId id="514" r:id="rId41"/>
    <p:sldId id="560" r:id="rId42"/>
    <p:sldId id="559" r:id="rId43"/>
    <p:sldId id="561" r:id="rId44"/>
    <p:sldId id="519" r:id="rId45"/>
    <p:sldId id="562" r:id="rId46"/>
    <p:sldId id="563" r:id="rId47"/>
    <p:sldId id="592" r:id="rId48"/>
    <p:sldId id="591" r:id="rId49"/>
    <p:sldId id="590" r:id="rId50"/>
    <p:sldId id="565" r:id="rId51"/>
    <p:sldId id="566" r:id="rId52"/>
    <p:sldId id="598" r:id="rId53"/>
    <p:sldId id="59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.1. Introduction" id="{2FD0FF71-F5FC-4EB7-B2CB-B31E4CBECD79}">
          <p14:sldIdLst>
            <p14:sldId id="517"/>
          </p14:sldIdLst>
        </p14:section>
        <p14:section name="IV.1. Sigmoid and Logistic functions" id="{C28C8DEB-BB65-418D-979E-1C35425FCB2C}">
          <p14:sldIdLst>
            <p14:sldId id="509"/>
            <p14:sldId id="521"/>
            <p14:sldId id="522"/>
            <p14:sldId id="523"/>
            <p14:sldId id="528"/>
            <p14:sldId id="524"/>
            <p14:sldId id="525"/>
            <p14:sldId id="526"/>
          </p14:sldIdLst>
        </p14:section>
        <p14:section name="IV.2. Logistic Regression" id="{2B25E2FA-6742-4A72-B36E-97E5BF8A885F}">
          <p14:sldIdLst>
            <p14:sldId id="527"/>
            <p14:sldId id="510"/>
            <p14:sldId id="529"/>
            <p14:sldId id="535"/>
            <p14:sldId id="536"/>
            <p14:sldId id="538"/>
            <p14:sldId id="539"/>
            <p14:sldId id="540"/>
            <p14:sldId id="541"/>
          </p14:sldIdLst>
        </p14:section>
        <p14:section name="IV.3. Training a Logistic Regressor" id="{3925A304-2A90-43AD-9523-DA16BE497C61}">
          <p14:sldIdLst>
            <p14:sldId id="511"/>
            <p14:sldId id="542"/>
            <p14:sldId id="543"/>
            <p14:sldId id="544"/>
            <p14:sldId id="545"/>
            <p14:sldId id="546"/>
            <p14:sldId id="547"/>
            <p14:sldId id="548"/>
          </p14:sldIdLst>
        </p14:section>
        <p14:section name="V.1. The Biology behind Neural Networks" id="{0EC07344-8188-493C-8E52-3B724C703EC0}">
          <p14:sldIdLst>
            <p14:sldId id="589"/>
            <p14:sldId id="512"/>
            <p14:sldId id="596"/>
            <p14:sldId id="551"/>
            <p14:sldId id="550"/>
          </p14:sldIdLst>
        </p14:section>
        <p14:section name="V.2. The Shallow Neural Network model" id="{994CC544-F821-4479-A4B3-218B00ECE70C}">
          <p14:sldIdLst>
            <p14:sldId id="554"/>
            <p14:sldId id="555"/>
            <p14:sldId id="513"/>
            <p14:sldId id="556"/>
            <p14:sldId id="557"/>
          </p14:sldIdLst>
        </p14:section>
        <p14:section name="V.3. Forward pass on a Shallow Neural Network" id="{E249CDA2-B965-451F-AC9F-BDB85B17607A}">
          <p14:sldIdLst>
            <p14:sldId id="552"/>
            <p14:sldId id="558"/>
            <p14:sldId id="514"/>
            <p14:sldId id="560"/>
            <p14:sldId id="559"/>
            <p14:sldId id="561"/>
            <p14:sldId id="519"/>
            <p14:sldId id="562"/>
            <p14:sldId id="563"/>
            <p14:sldId id="592"/>
            <p14:sldId id="591"/>
            <p14:sldId id="590"/>
            <p14:sldId id="565"/>
            <p14:sldId id="566"/>
            <p14:sldId id="598"/>
            <p14:sldId id="5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446D52-C317-103A-D209-A6D1D99CFF7D}" name="Matthieu De Mari" initials="MDM" userId="Matthieu De M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D4094-5553-473F-806F-2EDE7C368238}" v="1" dt="2026-01-08T10:27:18.262"/>
    <p1510:client id="{7BED3835-1716-42B5-B023-6A2990DCB316}" v="45" dt="2026-01-09T02:03:32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92" autoAdjust="0"/>
  </p:normalViewPr>
  <p:slideViewPr>
    <p:cSldViewPr snapToGrid="0">
      <p:cViewPr varScale="1">
        <p:scale>
          <a:sx n="114" d="100"/>
          <a:sy n="114" d="100"/>
        </p:scale>
        <p:origin x="4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addSld delSld modSld sldOrd delSection modSection">
      <pc:chgData name="Matthieu De Mari" userId="dfb708c9-d8dc-439f-9a3b-c772bf4a311c" providerId="ADAL" clId="{81E9B007-0C2C-493E-9B93-55A62C9C1F12}" dt="2026-01-09T02:05:13.241" v="664" actId="47"/>
      <pc:docMkLst>
        <pc:docMk/>
      </pc:docMkLst>
      <pc:sldChg chg="del">
        <pc:chgData name="Matthieu De Mari" userId="dfb708c9-d8dc-439f-9a3b-c772bf4a311c" providerId="ADAL" clId="{81E9B007-0C2C-493E-9B93-55A62C9C1F12}" dt="2026-01-09T01:53:00.960" v="451" actId="47"/>
        <pc:sldMkLst>
          <pc:docMk/>
          <pc:sldMk cId="3442501962" sldId="257"/>
        </pc:sldMkLst>
      </pc:sldChg>
      <pc:sldChg chg="del">
        <pc:chgData name="Matthieu De Mari" userId="dfb708c9-d8dc-439f-9a3b-c772bf4a311c" providerId="ADAL" clId="{81E9B007-0C2C-493E-9B93-55A62C9C1F12}" dt="2026-01-09T02:05:13.241" v="664" actId="47"/>
        <pc:sldMkLst>
          <pc:docMk/>
          <pc:sldMk cId="1893873068" sldId="266"/>
        </pc:sldMkLst>
      </pc:sldChg>
      <pc:sldChg chg="del">
        <pc:chgData name="Matthieu De Mari" userId="dfb708c9-d8dc-439f-9a3b-c772bf4a311c" providerId="ADAL" clId="{81E9B007-0C2C-493E-9B93-55A62C9C1F12}" dt="2026-01-09T02:05:13.241" v="664" actId="47"/>
        <pc:sldMkLst>
          <pc:docMk/>
          <pc:sldMk cId="3880949074" sldId="267"/>
        </pc:sldMkLst>
      </pc:sldChg>
      <pc:sldChg chg="del">
        <pc:chgData name="Matthieu De Mari" userId="dfb708c9-d8dc-439f-9a3b-c772bf4a311c" providerId="ADAL" clId="{81E9B007-0C2C-493E-9B93-55A62C9C1F12}" dt="2026-01-09T02:05:10.959" v="663" actId="47"/>
        <pc:sldMkLst>
          <pc:docMk/>
          <pc:sldMk cId="1036081419" sldId="346"/>
        </pc:sldMkLst>
      </pc:sldChg>
      <pc:sldChg chg="modSp mod">
        <pc:chgData name="Matthieu De Mari" userId="dfb708c9-d8dc-439f-9a3b-c772bf4a311c" providerId="ADAL" clId="{81E9B007-0C2C-493E-9B93-55A62C9C1F12}" dt="2026-01-09T01:52:54.210" v="450" actId="20577"/>
        <pc:sldMkLst>
          <pc:docMk/>
          <pc:sldMk cId="1040156172" sldId="377"/>
        </pc:sldMkLst>
        <pc:spChg chg="mod">
          <ac:chgData name="Matthieu De Mari" userId="dfb708c9-d8dc-439f-9a3b-c772bf4a311c" providerId="ADAL" clId="{81E9B007-0C2C-493E-9B93-55A62C9C1F12}" dt="2026-01-09T01:52:54.210" v="450" actId="20577"/>
          <ac:spMkLst>
            <pc:docMk/>
            <pc:sldMk cId="1040156172" sldId="377"/>
            <ac:spMk id="2" creationId="{080CEB46-CC16-4D19-8C2C-AEE9471D8168}"/>
          </ac:spMkLst>
        </pc:spChg>
      </pc:sldChg>
      <pc:sldChg chg="modSp mod">
        <pc:chgData name="Matthieu De Mari" userId="dfb708c9-d8dc-439f-9a3b-c772bf4a311c" providerId="ADAL" clId="{81E9B007-0C2C-493E-9B93-55A62C9C1F12}" dt="2026-01-09T02:04:47.827" v="658" actId="20577"/>
        <pc:sldMkLst>
          <pc:docMk/>
          <pc:sldMk cId="1464669599" sldId="517"/>
        </pc:sldMkLst>
        <pc:spChg chg="mod">
          <ac:chgData name="Matthieu De Mari" userId="dfb708c9-d8dc-439f-9a3b-c772bf4a311c" providerId="ADAL" clId="{81E9B007-0C2C-493E-9B93-55A62C9C1F12}" dt="2026-01-09T01:53:32.373" v="468" actId="20577"/>
          <ac:spMkLst>
            <pc:docMk/>
            <pc:sldMk cId="1464669599" sldId="517"/>
            <ac:spMk id="2" creationId="{49D40417-A4D3-4CE8-96E7-708E2439AE7B}"/>
          </ac:spMkLst>
        </pc:spChg>
        <pc:spChg chg="mod">
          <ac:chgData name="Matthieu De Mari" userId="dfb708c9-d8dc-439f-9a3b-c772bf4a311c" providerId="ADAL" clId="{81E9B007-0C2C-493E-9B93-55A62C9C1F12}" dt="2026-01-09T02:04:47.827" v="658" actId="20577"/>
          <ac:spMkLst>
            <pc:docMk/>
            <pc:sldMk cId="1464669599" sldId="517"/>
            <ac:spMk id="3" creationId="{35995840-A9D9-479A-A34F-EA7DC229D38E}"/>
          </ac:spMkLst>
        </pc:spChg>
      </pc:sldChg>
      <pc:sldChg chg="modSp del mod">
        <pc:chgData name="Matthieu De Mari" userId="dfb708c9-d8dc-439f-9a3b-c772bf4a311c" providerId="ADAL" clId="{81E9B007-0C2C-493E-9B93-55A62C9C1F12}" dt="2026-01-09T01:53:17.421" v="457" actId="47"/>
        <pc:sldMkLst>
          <pc:docMk/>
          <pc:sldMk cId="3190584464" sldId="518"/>
        </pc:sldMkLst>
        <pc:spChg chg="mod">
          <ac:chgData name="Matthieu De Mari" userId="dfb708c9-d8dc-439f-9a3b-c772bf4a311c" providerId="ADAL" clId="{81E9B007-0C2C-493E-9B93-55A62C9C1F12}" dt="2026-01-09T01:53:08.102" v="453" actId="21"/>
          <ac:spMkLst>
            <pc:docMk/>
            <pc:sldMk cId="3190584464" sldId="518"/>
            <ac:spMk id="3" creationId="{35995840-A9D9-479A-A34F-EA7DC229D38E}"/>
          </ac:spMkLst>
        </pc:spChg>
      </pc:sldChg>
      <pc:sldChg chg="modSp mod">
        <pc:chgData name="Matthieu De Mari" userId="dfb708c9-d8dc-439f-9a3b-c772bf4a311c" providerId="ADAL" clId="{81E9B007-0C2C-493E-9B93-55A62C9C1F12}" dt="2025-12-18T21:25:15.049" v="44" actId="114"/>
        <pc:sldMkLst>
          <pc:docMk/>
          <pc:sldMk cId="3754516330" sldId="522"/>
        </pc:sldMkLst>
        <pc:spChg chg="mod">
          <ac:chgData name="Matthieu De Mari" userId="dfb708c9-d8dc-439f-9a3b-c772bf4a311c" providerId="ADAL" clId="{81E9B007-0C2C-493E-9B93-55A62C9C1F12}" dt="2025-12-18T21:24:29.959" v="6" actId="20577"/>
          <ac:spMkLst>
            <pc:docMk/>
            <pc:sldMk cId="3754516330" sldId="522"/>
            <ac:spMk id="2" creationId="{52FD168C-A8B7-FBE2-0183-8C332FD8F550}"/>
          </ac:spMkLst>
        </pc:spChg>
        <pc:spChg chg="mod">
          <ac:chgData name="Matthieu De Mari" userId="dfb708c9-d8dc-439f-9a3b-c772bf4a311c" providerId="ADAL" clId="{81E9B007-0C2C-493E-9B93-55A62C9C1F12}" dt="2025-12-18T21:25:15.049" v="44" actId="114"/>
          <ac:spMkLst>
            <pc:docMk/>
            <pc:sldMk cId="3754516330" sldId="522"/>
            <ac:spMk id="3" creationId="{917B4F07-EB70-8BF3-73A3-76EFC1C5820B}"/>
          </ac:spMkLst>
        </pc:spChg>
        <pc:spChg chg="mod">
          <ac:chgData name="Matthieu De Mari" userId="dfb708c9-d8dc-439f-9a3b-c772bf4a311c" providerId="ADAL" clId="{81E9B007-0C2C-493E-9B93-55A62C9C1F12}" dt="2025-12-18T21:25:05.059" v="40" actId="14100"/>
          <ac:spMkLst>
            <pc:docMk/>
            <pc:sldMk cId="3754516330" sldId="522"/>
            <ac:spMk id="4" creationId="{224B6C00-CDCA-7753-FD92-73BE0C88AE10}"/>
          </ac:spMkLst>
        </pc:spChg>
      </pc:sldChg>
      <pc:sldChg chg="modSp mod">
        <pc:chgData name="Matthieu De Mari" userId="dfb708c9-d8dc-439f-9a3b-c772bf4a311c" providerId="ADAL" clId="{81E9B007-0C2C-493E-9B93-55A62C9C1F12}" dt="2025-12-18T21:25:39.065" v="46" actId="1076"/>
        <pc:sldMkLst>
          <pc:docMk/>
          <pc:sldMk cId="2978828430" sldId="523"/>
        </pc:sldMkLst>
        <pc:picChg chg="mod modCrop">
          <ac:chgData name="Matthieu De Mari" userId="dfb708c9-d8dc-439f-9a3b-c772bf4a311c" providerId="ADAL" clId="{81E9B007-0C2C-493E-9B93-55A62C9C1F12}" dt="2025-12-18T21:25:39.065" v="46" actId="1076"/>
          <ac:picMkLst>
            <pc:docMk/>
            <pc:sldMk cId="2978828430" sldId="523"/>
            <ac:picMk id="8" creationId="{DD36D8E9-EC44-BBB5-12EC-8C34D43F16E5}"/>
          </ac:picMkLst>
        </pc:picChg>
      </pc:sldChg>
      <pc:sldChg chg="modSp mod">
        <pc:chgData name="Matthieu De Mari" userId="dfb708c9-d8dc-439f-9a3b-c772bf4a311c" providerId="ADAL" clId="{81E9B007-0C2C-493E-9B93-55A62C9C1F12}" dt="2026-01-09T01:55:40.325" v="503" actId="20577"/>
        <pc:sldMkLst>
          <pc:docMk/>
          <pc:sldMk cId="3692904375" sldId="527"/>
        </pc:sldMkLst>
        <pc:spChg chg="mod">
          <ac:chgData name="Matthieu De Mari" userId="dfb708c9-d8dc-439f-9a3b-c772bf4a311c" providerId="ADAL" clId="{81E9B007-0C2C-493E-9B93-55A62C9C1F12}" dt="2026-01-09T01:55:40.325" v="503" actId="20577"/>
          <ac:spMkLst>
            <pc:docMk/>
            <pc:sldMk cId="3692904375" sldId="527"/>
            <ac:spMk id="5" creationId="{C1F51DE3-B943-E325-81E1-3500067990A2}"/>
          </ac:spMkLst>
        </pc:spChg>
      </pc:sldChg>
      <pc:sldChg chg="ord">
        <pc:chgData name="Matthieu De Mari" userId="dfb708c9-d8dc-439f-9a3b-c772bf4a311c" providerId="ADAL" clId="{81E9B007-0C2C-493E-9B93-55A62C9C1F12}" dt="2025-12-18T21:25:56.840" v="48"/>
        <pc:sldMkLst>
          <pc:docMk/>
          <pc:sldMk cId="3778560088" sldId="528"/>
        </pc:sldMkLst>
      </pc:sldChg>
      <pc:sldChg chg="modSp mod">
        <pc:chgData name="Matthieu De Mari" userId="dfb708c9-d8dc-439f-9a3b-c772bf4a311c" providerId="ADAL" clId="{81E9B007-0C2C-493E-9B93-55A62C9C1F12}" dt="2026-01-09T01:56:31.402" v="531"/>
        <pc:sldMkLst>
          <pc:docMk/>
          <pc:sldMk cId="453944168" sldId="538"/>
        </pc:sldMkLst>
        <pc:spChg chg="mod">
          <ac:chgData name="Matthieu De Mari" userId="dfb708c9-d8dc-439f-9a3b-c772bf4a311c" providerId="ADAL" clId="{81E9B007-0C2C-493E-9B93-55A62C9C1F12}" dt="2026-01-09T01:56:31.402" v="531"/>
          <ac:spMkLst>
            <pc:docMk/>
            <pc:sldMk cId="453944168" sldId="538"/>
            <ac:spMk id="3" creationId="{546D2DE9-7096-79A2-190F-2A03A0ED8072}"/>
          </ac:spMkLst>
        </pc:spChg>
        <pc:spChg chg="mod">
          <ac:chgData name="Matthieu De Mari" userId="dfb708c9-d8dc-439f-9a3b-c772bf4a311c" providerId="ADAL" clId="{81E9B007-0C2C-493E-9B93-55A62C9C1F12}" dt="2025-12-18T21:29:08.938" v="61" actId="27636"/>
          <ac:spMkLst>
            <pc:docMk/>
            <pc:sldMk cId="453944168" sldId="538"/>
            <ac:spMk id="4" creationId="{C493B871-8697-50CC-250A-24B808241DA0}"/>
          </ac:spMkLst>
        </pc:spChg>
      </pc:sldChg>
      <pc:sldChg chg="modSp">
        <pc:chgData name="Matthieu De Mari" userId="dfb708c9-d8dc-439f-9a3b-c772bf4a311c" providerId="ADAL" clId="{81E9B007-0C2C-493E-9B93-55A62C9C1F12}" dt="2025-12-18T21:29:39.739" v="63" actId="20577"/>
        <pc:sldMkLst>
          <pc:docMk/>
          <pc:sldMk cId="545763732" sldId="539"/>
        </pc:sldMkLst>
        <pc:spChg chg="mod">
          <ac:chgData name="Matthieu De Mari" userId="dfb708c9-d8dc-439f-9a3b-c772bf4a311c" providerId="ADAL" clId="{81E9B007-0C2C-493E-9B93-55A62C9C1F12}" dt="2025-12-18T21:29:39.739" v="63" actId="20577"/>
          <ac:spMkLst>
            <pc:docMk/>
            <pc:sldMk cId="545763732" sldId="539"/>
            <ac:spMk id="4" creationId="{C493B871-8697-50CC-250A-24B808241DA0}"/>
          </ac:spMkLst>
        </pc:spChg>
      </pc:sldChg>
      <pc:sldChg chg="modSp">
        <pc:chgData name="Matthieu De Mari" userId="dfb708c9-d8dc-439f-9a3b-c772bf4a311c" providerId="ADAL" clId="{81E9B007-0C2C-493E-9B93-55A62C9C1F12}" dt="2025-12-18T21:31:03.191" v="64" actId="20577"/>
        <pc:sldMkLst>
          <pc:docMk/>
          <pc:sldMk cId="3916751870" sldId="542"/>
        </pc:sldMkLst>
        <pc:spChg chg="mod">
          <ac:chgData name="Matthieu De Mari" userId="dfb708c9-d8dc-439f-9a3b-c772bf4a311c" providerId="ADAL" clId="{81E9B007-0C2C-493E-9B93-55A62C9C1F12}" dt="2025-12-18T21:31:03.191" v="64" actId="20577"/>
          <ac:spMkLst>
            <pc:docMk/>
            <pc:sldMk cId="3916751870" sldId="542"/>
            <ac:spMk id="5" creationId="{42EE8989-CA0E-9B9A-AB65-DD59B00F6EB2}"/>
          </ac:spMkLst>
        </pc:spChg>
      </pc:sldChg>
      <pc:sldChg chg="modSp mod">
        <pc:chgData name="Matthieu De Mari" userId="dfb708c9-d8dc-439f-9a3b-c772bf4a311c" providerId="ADAL" clId="{81E9B007-0C2C-493E-9B93-55A62C9C1F12}" dt="2025-12-18T21:31:53.301" v="76" actId="20577"/>
        <pc:sldMkLst>
          <pc:docMk/>
          <pc:sldMk cId="3100334900" sldId="544"/>
        </pc:sldMkLst>
        <pc:spChg chg="mod">
          <ac:chgData name="Matthieu De Mari" userId="dfb708c9-d8dc-439f-9a3b-c772bf4a311c" providerId="ADAL" clId="{81E9B007-0C2C-493E-9B93-55A62C9C1F12}" dt="2025-12-18T21:31:53.301" v="76" actId="20577"/>
          <ac:spMkLst>
            <pc:docMk/>
            <pc:sldMk cId="3100334900" sldId="544"/>
            <ac:spMk id="3" creationId="{110B34B5-B323-85AD-87E7-A164C8773EEB}"/>
          </ac:spMkLst>
        </pc:spChg>
      </pc:sldChg>
      <pc:sldChg chg="modSp mod">
        <pc:chgData name="Matthieu De Mari" userId="dfb708c9-d8dc-439f-9a3b-c772bf4a311c" providerId="ADAL" clId="{81E9B007-0C2C-493E-9B93-55A62C9C1F12}" dt="2026-01-09T01:58:31.410" v="533" actId="20577"/>
        <pc:sldMkLst>
          <pc:docMk/>
          <pc:sldMk cId="618201935" sldId="545"/>
        </pc:sldMkLst>
        <pc:spChg chg="mod">
          <ac:chgData name="Matthieu De Mari" userId="dfb708c9-d8dc-439f-9a3b-c772bf4a311c" providerId="ADAL" clId="{81E9B007-0C2C-493E-9B93-55A62C9C1F12}" dt="2026-01-09T01:58:31.410" v="533" actId="20577"/>
          <ac:spMkLst>
            <pc:docMk/>
            <pc:sldMk cId="618201935" sldId="545"/>
            <ac:spMk id="3" creationId="{110B34B5-B323-85AD-87E7-A164C8773EEB}"/>
          </ac:spMkLst>
        </pc:spChg>
      </pc:sldChg>
      <pc:sldChg chg="modSp mod">
        <pc:chgData name="Matthieu De Mari" userId="dfb708c9-d8dc-439f-9a3b-c772bf4a311c" providerId="ADAL" clId="{81E9B007-0C2C-493E-9B93-55A62C9C1F12}" dt="2025-12-18T21:32:55.498" v="81" actId="20577"/>
        <pc:sldMkLst>
          <pc:docMk/>
          <pc:sldMk cId="1753014364" sldId="548"/>
        </pc:sldMkLst>
        <pc:spChg chg="mod">
          <ac:chgData name="Matthieu De Mari" userId="dfb708c9-d8dc-439f-9a3b-c772bf4a311c" providerId="ADAL" clId="{81E9B007-0C2C-493E-9B93-55A62C9C1F12}" dt="2025-12-18T21:32:55.498" v="81" actId="20577"/>
          <ac:spMkLst>
            <pc:docMk/>
            <pc:sldMk cId="1753014364" sldId="548"/>
            <ac:spMk id="2" creationId="{E367757C-64AF-8BE1-A9D7-5D4CA0106416}"/>
          </ac:spMkLst>
        </pc:spChg>
      </pc:sldChg>
      <pc:sldChg chg="modSp mod">
        <pc:chgData name="Matthieu De Mari" userId="dfb708c9-d8dc-439f-9a3b-c772bf4a311c" providerId="ADAL" clId="{81E9B007-0C2C-493E-9B93-55A62C9C1F12}" dt="2025-12-18T21:35:27.024" v="186" actId="20577"/>
        <pc:sldMkLst>
          <pc:docMk/>
          <pc:sldMk cId="243822673" sldId="551"/>
        </pc:sldMkLst>
        <pc:spChg chg="mod">
          <ac:chgData name="Matthieu De Mari" userId="dfb708c9-d8dc-439f-9a3b-c772bf4a311c" providerId="ADAL" clId="{81E9B007-0C2C-493E-9B93-55A62C9C1F12}" dt="2025-12-18T21:35:27.024" v="186" actId="20577"/>
          <ac:spMkLst>
            <pc:docMk/>
            <pc:sldMk cId="243822673" sldId="551"/>
            <ac:spMk id="3" creationId="{69973FE9-2456-3189-E04A-C10B8A15BD47}"/>
          </ac:spMkLst>
        </pc:spChg>
      </pc:sldChg>
      <pc:sldChg chg="modSp mod">
        <pc:chgData name="Matthieu De Mari" userId="dfb708c9-d8dc-439f-9a3b-c772bf4a311c" providerId="ADAL" clId="{81E9B007-0C2C-493E-9B93-55A62C9C1F12}" dt="2025-12-18T21:38:35.163" v="204" actId="113"/>
        <pc:sldMkLst>
          <pc:docMk/>
          <pc:sldMk cId="494556532" sldId="562"/>
        </pc:sldMkLst>
        <pc:spChg chg="mod">
          <ac:chgData name="Matthieu De Mari" userId="dfb708c9-d8dc-439f-9a3b-c772bf4a311c" providerId="ADAL" clId="{81E9B007-0C2C-493E-9B93-55A62C9C1F12}" dt="2025-12-18T21:38:35.163" v="204" actId="113"/>
          <ac:spMkLst>
            <pc:docMk/>
            <pc:sldMk cId="494556532" sldId="562"/>
            <ac:spMk id="7" creationId="{D518979B-485A-1F91-718D-3D2067DBEA0B}"/>
          </ac:spMkLst>
        </pc:spChg>
      </pc:sldChg>
      <pc:sldChg chg="modSp mod">
        <pc:chgData name="Matthieu De Mari" userId="dfb708c9-d8dc-439f-9a3b-c772bf4a311c" providerId="ADAL" clId="{81E9B007-0C2C-493E-9B93-55A62C9C1F12}" dt="2026-01-09T02:02:14.253" v="558" actId="20577"/>
        <pc:sldMkLst>
          <pc:docMk/>
          <pc:sldMk cId="2506094589" sldId="565"/>
        </pc:sldMkLst>
        <pc:spChg chg="mod">
          <ac:chgData name="Matthieu De Mari" userId="dfb708c9-d8dc-439f-9a3b-c772bf4a311c" providerId="ADAL" clId="{81E9B007-0C2C-493E-9B93-55A62C9C1F12}" dt="2026-01-09T02:02:14.253" v="558" actId="20577"/>
          <ac:spMkLst>
            <pc:docMk/>
            <pc:sldMk cId="2506094589" sldId="565"/>
            <ac:spMk id="7" creationId="{351BBB68-C97A-F968-8AD2-DE508BF2C073}"/>
          </ac:spMkLst>
        </pc:spChg>
        <pc:picChg chg="mod">
          <ac:chgData name="Matthieu De Mari" userId="dfb708c9-d8dc-439f-9a3b-c772bf4a311c" providerId="ADAL" clId="{81E9B007-0C2C-493E-9B93-55A62C9C1F12}" dt="2025-12-18T21:41:40.611" v="269" actId="14100"/>
          <ac:picMkLst>
            <pc:docMk/>
            <pc:sldMk cId="2506094589" sldId="565"/>
            <ac:picMk id="5" creationId="{36123BC0-70CA-3C75-E622-ABD557DA9A48}"/>
          </ac:picMkLst>
        </pc:picChg>
      </pc:sldChg>
      <pc:sldChg chg="modSp mod">
        <pc:chgData name="Matthieu De Mari" userId="dfb708c9-d8dc-439f-9a3b-c772bf4a311c" providerId="ADAL" clId="{81E9B007-0C2C-493E-9B93-55A62C9C1F12}" dt="2026-01-09T02:03:03.936" v="586" actId="14100"/>
        <pc:sldMkLst>
          <pc:docMk/>
          <pc:sldMk cId="2861982866" sldId="566"/>
        </pc:sldMkLst>
        <pc:spChg chg="mod">
          <ac:chgData name="Matthieu De Mari" userId="dfb708c9-d8dc-439f-9a3b-c772bf4a311c" providerId="ADAL" clId="{81E9B007-0C2C-493E-9B93-55A62C9C1F12}" dt="2026-01-09T02:02:58.555" v="584" actId="1076"/>
          <ac:spMkLst>
            <pc:docMk/>
            <pc:sldMk cId="2861982866" sldId="566"/>
            <ac:spMk id="12" creationId="{DD3CD9CC-3DB1-E108-6A9D-978D92CBFE28}"/>
          </ac:spMkLst>
        </pc:spChg>
        <pc:picChg chg="mod">
          <ac:chgData name="Matthieu De Mari" userId="dfb708c9-d8dc-439f-9a3b-c772bf4a311c" providerId="ADAL" clId="{81E9B007-0C2C-493E-9B93-55A62C9C1F12}" dt="2026-01-09T02:03:02.006" v="585" actId="1076"/>
          <ac:picMkLst>
            <pc:docMk/>
            <pc:sldMk cId="2861982866" sldId="566"/>
            <ac:picMk id="10" creationId="{072B0F04-E003-8681-9F9A-699B20E267B0}"/>
          </ac:picMkLst>
        </pc:picChg>
        <pc:cxnChg chg="mod">
          <ac:chgData name="Matthieu De Mari" userId="dfb708c9-d8dc-439f-9a3b-c772bf4a311c" providerId="ADAL" clId="{81E9B007-0C2C-493E-9B93-55A62C9C1F12}" dt="2026-01-09T02:03:03.936" v="586" actId="14100"/>
          <ac:cxnSpMkLst>
            <pc:docMk/>
            <pc:sldMk cId="2861982866" sldId="566"/>
            <ac:cxnSpMk id="14" creationId="{C64E9A37-A7F7-360B-952C-B89423628496}"/>
          </ac:cxnSpMkLst>
        </pc:cxnChg>
      </pc:sldChg>
      <pc:sldChg chg="del">
        <pc:chgData name="Matthieu De Mari" userId="dfb708c9-d8dc-439f-9a3b-c772bf4a311c" providerId="ADAL" clId="{81E9B007-0C2C-493E-9B93-55A62C9C1F12}" dt="2026-01-09T02:04:59.043" v="659" actId="47"/>
        <pc:sldMkLst>
          <pc:docMk/>
          <pc:sldMk cId="2118947663" sldId="567"/>
        </pc:sldMkLst>
      </pc:sldChg>
      <pc:sldChg chg="del">
        <pc:chgData name="Matthieu De Mari" userId="dfb708c9-d8dc-439f-9a3b-c772bf4a311c" providerId="ADAL" clId="{81E9B007-0C2C-493E-9B93-55A62C9C1F12}" dt="2026-01-09T02:04:59.043" v="659" actId="47"/>
        <pc:sldMkLst>
          <pc:docMk/>
          <pc:sldMk cId="209871370" sldId="568"/>
        </pc:sldMkLst>
      </pc:sldChg>
      <pc:sldChg chg="modSp del mod">
        <pc:chgData name="Matthieu De Mari" userId="dfb708c9-d8dc-439f-9a3b-c772bf4a311c" providerId="ADAL" clId="{81E9B007-0C2C-493E-9B93-55A62C9C1F12}" dt="2026-01-09T02:05:13.241" v="664" actId="47"/>
        <pc:sldMkLst>
          <pc:docMk/>
          <pc:sldMk cId="548617228" sldId="570"/>
        </pc:sldMkLst>
        <pc:spChg chg="mod">
          <ac:chgData name="Matthieu De Mari" userId="dfb708c9-d8dc-439f-9a3b-c772bf4a311c" providerId="ADAL" clId="{81E9B007-0C2C-493E-9B93-55A62C9C1F12}" dt="2025-12-18T21:50:16.109" v="445" actId="20577"/>
          <ac:spMkLst>
            <pc:docMk/>
            <pc:sldMk cId="548617228" sldId="570"/>
            <ac:spMk id="3" creationId="{E475B357-0886-EDDA-5F55-77F580FB4D9B}"/>
          </ac:spMkLst>
        </pc:spChg>
      </pc:sldChg>
      <pc:sldChg chg="del">
        <pc:chgData name="Matthieu De Mari" userId="dfb708c9-d8dc-439f-9a3b-c772bf4a311c" providerId="ADAL" clId="{81E9B007-0C2C-493E-9B93-55A62C9C1F12}" dt="2026-01-09T02:05:13.241" v="664" actId="47"/>
        <pc:sldMkLst>
          <pc:docMk/>
          <pc:sldMk cId="353688173" sldId="571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757709305" sldId="572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3960741178" sldId="573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2111657733" sldId="574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2674170786" sldId="575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4180016153" sldId="576"/>
        </pc:sldMkLst>
      </pc:sldChg>
      <pc:sldChg chg="del">
        <pc:chgData name="Matthieu De Mari" userId="dfb708c9-d8dc-439f-9a3b-c772bf4a311c" providerId="ADAL" clId="{81E9B007-0C2C-493E-9B93-55A62C9C1F12}" dt="2026-01-09T02:05:02.356" v="661" actId="47"/>
        <pc:sldMkLst>
          <pc:docMk/>
          <pc:sldMk cId="1620224169" sldId="577"/>
        </pc:sldMkLst>
      </pc:sldChg>
      <pc:sldChg chg="modSp del">
        <pc:chgData name="Matthieu De Mari" userId="dfb708c9-d8dc-439f-9a3b-c772bf4a311c" providerId="ADAL" clId="{81E9B007-0C2C-493E-9B93-55A62C9C1F12}" dt="2026-01-09T02:05:03.644" v="662" actId="47"/>
        <pc:sldMkLst>
          <pc:docMk/>
          <pc:sldMk cId="174187107" sldId="578"/>
        </pc:sldMkLst>
        <pc:spChg chg="mod">
          <ac:chgData name="Matthieu De Mari" userId="dfb708c9-d8dc-439f-9a3b-c772bf4a311c" providerId="ADAL" clId="{81E9B007-0C2C-493E-9B93-55A62C9C1F12}" dt="2026-01-08T10:27:18.262" v="446" actId="20577"/>
          <ac:spMkLst>
            <pc:docMk/>
            <pc:sldMk cId="174187107" sldId="578"/>
            <ac:spMk id="16" creationId="{5CF0157F-6568-59C9-9C76-67042E94E139}"/>
          </ac:spMkLst>
        </pc:spChg>
      </pc:sldChg>
      <pc:sldChg chg="del">
        <pc:chgData name="Matthieu De Mari" userId="dfb708c9-d8dc-439f-9a3b-c772bf4a311c" providerId="ADAL" clId="{81E9B007-0C2C-493E-9B93-55A62C9C1F12}" dt="2026-01-09T02:05:02.356" v="661" actId="47"/>
        <pc:sldMkLst>
          <pc:docMk/>
          <pc:sldMk cId="3045576156" sldId="579"/>
        </pc:sldMkLst>
      </pc:sldChg>
      <pc:sldChg chg="modSp del mod">
        <pc:chgData name="Matthieu De Mari" userId="dfb708c9-d8dc-439f-9a3b-c772bf4a311c" providerId="ADAL" clId="{81E9B007-0C2C-493E-9B93-55A62C9C1F12}" dt="2026-01-09T02:05:02.356" v="661" actId="47"/>
        <pc:sldMkLst>
          <pc:docMk/>
          <pc:sldMk cId="4030169117" sldId="580"/>
        </pc:sldMkLst>
        <pc:spChg chg="mod">
          <ac:chgData name="Matthieu De Mari" userId="dfb708c9-d8dc-439f-9a3b-c772bf4a311c" providerId="ADAL" clId="{81E9B007-0C2C-493E-9B93-55A62C9C1F12}" dt="2025-12-18T21:45:04.116" v="331" actId="20577"/>
          <ac:spMkLst>
            <pc:docMk/>
            <pc:sldMk cId="4030169117" sldId="580"/>
            <ac:spMk id="8" creationId="{56F73953-A2CE-A62E-D071-2A65983D9173}"/>
          </ac:spMkLst>
        </pc:spChg>
      </pc:sldChg>
      <pc:sldChg chg="del">
        <pc:chgData name="Matthieu De Mari" userId="dfb708c9-d8dc-439f-9a3b-c772bf4a311c" providerId="ADAL" clId="{81E9B007-0C2C-493E-9B93-55A62C9C1F12}" dt="2026-01-09T02:05:03.644" v="662" actId="47"/>
        <pc:sldMkLst>
          <pc:docMk/>
          <pc:sldMk cId="2134879360" sldId="581"/>
        </pc:sldMkLst>
      </pc:sldChg>
      <pc:sldChg chg="modSp del mod">
        <pc:chgData name="Matthieu De Mari" userId="dfb708c9-d8dc-439f-9a3b-c772bf4a311c" providerId="ADAL" clId="{81E9B007-0C2C-493E-9B93-55A62C9C1F12}" dt="2026-01-09T02:05:03.644" v="662" actId="47"/>
        <pc:sldMkLst>
          <pc:docMk/>
          <pc:sldMk cId="1162878205" sldId="582"/>
        </pc:sldMkLst>
        <pc:spChg chg="mod">
          <ac:chgData name="Matthieu De Mari" userId="dfb708c9-d8dc-439f-9a3b-c772bf4a311c" providerId="ADAL" clId="{81E9B007-0C2C-493E-9B93-55A62C9C1F12}" dt="2025-12-18T21:46:10.439" v="402" actId="20577"/>
          <ac:spMkLst>
            <pc:docMk/>
            <pc:sldMk cId="1162878205" sldId="582"/>
            <ac:spMk id="4" creationId="{720BC5D3-5690-1CC7-4476-5F4D434E7343}"/>
          </ac:spMkLst>
        </pc:spChg>
      </pc:sldChg>
      <pc:sldChg chg="del">
        <pc:chgData name="Matthieu De Mari" userId="dfb708c9-d8dc-439f-9a3b-c772bf4a311c" providerId="ADAL" clId="{81E9B007-0C2C-493E-9B93-55A62C9C1F12}" dt="2026-01-09T02:05:03.644" v="662" actId="47"/>
        <pc:sldMkLst>
          <pc:docMk/>
          <pc:sldMk cId="2761289253" sldId="583"/>
        </pc:sldMkLst>
      </pc:sldChg>
      <pc:sldChg chg="del">
        <pc:chgData name="Matthieu De Mari" userId="dfb708c9-d8dc-439f-9a3b-c772bf4a311c" providerId="ADAL" clId="{81E9B007-0C2C-493E-9B93-55A62C9C1F12}" dt="2026-01-09T02:05:10.959" v="663" actId="47"/>
        <pc:sldMkLst>
          <pc:docMk/>
          <pc:sldMk cId="4234745274" sldId="584"/>
        </pc:sldMkLst>
      </pc:sldChg>
      <pc:sldChg chg="del">
        <pc:chgData name="Matthieu De Mari" userId="dfb708c9-d8dc-439f-9a3b-c772bf4a311c" providerId="ADAL" clId="{81E9B007-0C2C-493E-9B93-55A62C9C1F12}" dt="2026-01-09T02:05:02.356" v="661" actId="47"/>
        <pc:sldMkLst>
          <pc:docMk/>
          <pc:sldMk cId="1730252268" sldId="585"/>
        </pc:sldMkLst>
      </pc:sldChg>
      <pc:sldChg chg="del">
        <pc:chgData name="Matthieu De Mari" userId="dfb708c9-d8dc-439f-9a3b-c772bf4a311c" providerId="ADAL" clId="{81E9B007-0C2C-493E-9B93-55A62C9C1F12}" dt="2026-01-09T02:04:59.043" v="659" actId="47"/>
        <pc:sldMkLst>
          <pc:docMk/>
          <pc:sldMk cId="3605419039" sldId="586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884021004" sldId="587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2267076689" sldId="588"/>
        </pc:sldMkLst>
      </pc:sldChg>
      <pc:sldChg chg="modSp mod">
        <pc:chgData name="Matthieu De Mari" userId="dfb708c9-d8dc-439f-9a3b-c772bf4a311c" providerId="ADAL" clId="{81E9B007-0C2C-493E-9B93-55A62C9C1F12}" dt="2025-12-18T21:34:27.034" v="162" actId="20577"/>
        <pc:sldMkLst>
          <pc:docMk/>
          <pc:sldMk cId="3771406022" sldId="589"/>
        </pc:sldMkLst>
        <pc:spChg chg="mod">
          <ac:chgData name="Matthieu De Mari" userId="dfb708c9-d8dc-439f-9a3b-c772bf4a311c" providerId="ADAL" clId="{81E9B007-0C2C-493E-9B93-55A62C9C1F12}" dt="2025-12-18T21:34:27.034" v="162" actId="20577"/>
          <ac:spMkLst>
            <pc:docMk/>
            <pc:sldMk cId="3771406022" sldId="589"/>
            <ac:spMk id="3" creationId="{1686B346-F257-1111-943C-75EAE45D13D2}"/>
          </ac:spMkLst>
        </pc:spChg>
      </pc:sldChg>
      <pc:sldChg chg="modSp mod">
        <pc:chgData name="Matthieu De Mari" userId="dfb708c9-d8dc-439f-9a3b-c772bf4a311c" providerId="ADAL" clId="{81E9B007-0C2C-493E-9B93-55A62C9C1F12}" dt="2026-01-09T02:02:03.765" v="547" actId="14100"/>
        <pc:sldMkLst>
          <pc:docMk/>
          <pc:sldMk cId="3283345998" sldId="590"/>
        </pc:sldMkLst>
        <pc:spChg chg="mod">
          <ac:chgData name="Matthieu De Mari" userId="dfb708c9-d8dc-439f-9a3b-c772bf4a311c" providerId="ADAL" clId="{81E9B007-0C2C-493E-9B93-55A62C9C1F12}" dt="2026-01-09T02:02:03.765" v="547" actId="14100"/>
          <ac:spMkLst>
            <pc:docMk/>
            <pc:sldMk cId="3283345998" sldId="590"/>
            <ac:spMk id="7" creationId="{A2AD8076-6887-CB42-016B-8FBD46BE46D9}"/>
          </ac:spMkLst>
        </pc:spChg>
      </pc:sldChg>
      <pc:sldChg chg="modSp">
        <pc:chgData name="Matthieu De Mari" userId="dfb708c9-d8dc-439f-9a3b-c772bf4a311c" providerId="ADAL" clId="{81E9B007-0C2C-493E-9B93-55A62C9C1F12}" dt="2026-01-09T02:01:53.347" v="539" actId="20577"/>
        <pc:sldMkLst>
          <pc:docMk/>
          <pc:sldMk cId="909948808" sldId="591"/>
        </pc:sldMkLst>
        <pc:spChg chg="mod">
          <ac:chgData name="Matthieu De Mari" userId="dfb708c9-d8dc-439f-9a3b-c772bf4a311c" providerId="ADAL" clId="{81E9B007-0C2C-493E-9B93-55A62C9C1F12}" dt="2026-01-09T02:01:53.347" v="539" actId="20577"/>
          <ac:spMkLst>
            <pc:docMk/>
            <pc:sldMk cId="909948808" sldId="591"/>
            <ac:spMk id="7" creationId="{A2AD8076-6887-CB42-016B-8FBD46BE46D9}"/>
          </ac:spMkLst>
        </pc:spChg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3838573415" sldId="594"/>
        </pc:sldMkLst>
      </pc:sldChg>
      <pc:sldChg chg="del">
        <pc:chgData name="Matthieu De Mari" userId="dfb708c9-d8dc-439f-9a3b-c772bf4a311c" providerId="ADAL" clId="{81E9B007-0C2C-493E-9B93-55A62C9C1F12}" dt="2026-01-09T02:05:00.869" v="660" actId="47"/>
        <pc:sldMkLst>
          <pc:docMk/>
          <pc:sldMk cId="1883251359" sldId="595"/>
        </pc:sldMkLst>
      </pc:sldChg>
      <pc:sldChg chg="del">
        <pc:chgData name="Matthieu De Mari" userId="dfb708c9-d8dc-439f-9a3b-c772bf4a311c" providerId="ADAL" clId="{81E9B007-0C2C-493E-9B93-55A62C9C1F12}" dt="2026-01-09T02:05:03.644" v="662" actId="47"/>
        <pc:sldMkLst>
          <pc:docMk/>
          <pc:sldMk cId="3219688854" sldId="597"/>
        </pc:sldMkLst>
      </pc:sldChg>
      <pc:sldChg chg="add">
        <pc:chgData name="Matthieu De Mari" userId="dfb708c9-d8dc-439f-9a3b-c772bf4a311c" providerId="ADAL" clId="{81E9B007-0C2C-493E-9B93-55A62C9C1F12}" dt="2026-01-09T02:03:18.802" v="587"/>
        <pc:sldMkLst>
          <pc:docMk/>
          <pc:sldMk cId="1815977132" sldId="598"/>
        </pc:sldMkLst>
      </pc:sldChg>
      <pc:sldChg chg="modSp add mod">
        <pc:chgData name="Matthieu De Mari" userId="dfb708c9-d8dc-439f-9a3b-c772bf4a311c" providerId="ADAL" clId="{81E9B007-0C2C-493E-9B93-55A62C9C1F12}" dt="2026-01-09T02:03:53.822" v="654" actId="20577"/>
        <pc:sldMkLst>
          <pc:docMk/>
          <pc:sldMk cId="4272836236" sldId="599"/>
        </pc:sldMkLst>
        <pc:spChg chg="mod">
          <ac:chgData name="Matthieu De Mari" userId="dfb708c9-d8dc-439f-9a3b-c772bf4a311c" providerId="ADAL" clId="{81E9B007-0C2C-493E-9B93-55A62C9C1F12}" dt="2026-01-09T02:03:53.822" v="654" actId="20577"/>
          <ac:spMkLst>
            <pc:docMk/>
            <pc:sldMk cId="4272836236" sldId="599"/>
            <ac:spMk id="5" creationId="{8784BD3C-A362-227F-DB67-10CF1E267B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cikit-learn.org/stable/modules/generated/sklearn.metrics.confusion_matrix.html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cikit-learn.org/stable/modules/generated/sklearn.metrics.classification_report.html#sklearn.metrics.classification_report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Practice of Deep Learning</a:t>
            </a:r>
            <a:br>
              <a:rPr lang="en-US" b="1" dirty="0"/>
            </a:br>
            <a:r>
              <a:rPr lang="en-US" dirty="0"/>
              <a:t>Day 1, Part 3/4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lecture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a </a:t>
            </a:r>
            <a:r>
              <a:rPr lang="en-US" b="1" dirty="0"/>
              <a:t>sigmoid</a:t>
            </a:r>
            <a:r>
              <a:rPr lang="en-US" dirty="0"/>
              <a:t> function? What is a </a:t>
            </a:r>
            <a:r>
              <a:rPr lang="en-US" b="1" dirty="0"/>
              <a:t>logistic</a:t>
            </a:r>
            <a:r>
              <a:rPr lang="en-US" dirty="0"/>
              <a:t> function?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perform </a:t>
            </a:r>
            <a:r>
              <a:rPr lang="en-US" b="1" dirty="0"/>
              <a:t>binary</a:t>
            </a:r>
            <a:r>
              <a:rPr lang="en-US" dirty="0"/>
              <a:t> </a:t>
            </a:r>
            <a:r>
              <a:rPr lang="en-US" b="1" dirty="0"/>
              <a:t>classification</a:t>
            </a:r>
            <a:r>
              <a:rPr lang="en-US" dirty="0"/>
              <a:t> using a </a:t>
            </a:r>
            <a:r>
              <a:rPr lang="en-US" b="1" dirty="0"/>
              <a:t>logistic</a:t>
            </a:r>
            <a:r>
              <a:rPr lang="en-US" dirty="0"/>
              <a:t> </a:t>
            </a:r>
            <a:r>
              <a:rPr lang="en-US" b="1" dirty="0"/>
              <a:t>regressor</a:t>
            </a:r>
            <a:r>
              <a:rPr lang="en-US" dirty="0"/>
              <a:t> and how is it related to linear regression?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Neural</a:t>
            </a:r>
            <a:r>
              <a:rPr lang="en-US" dirty="0"/>
              <a:t> </a:t>
            </a:r>
            <a:r>
              <a:rPr lang="en-US" b="1" dirty="0"/>
              <a:t>Networks</a:t>
            </a:r>
            <a:r>
              <a:rPr lang="en-US" dirty="0"/>
              <a:t> and how do they relate to the </a:t>
            </a:r>
            <a:r>
              <a:rPr lang="en-US" b="1" dirty="0"/>
              <a:t>biology</a:t>
            </a:r>
            <a:r>
              <a:rPr lang="en-US" dirty="0"/>
              <a:t> </a:t>
            </a:r>
            <a:r>
              <a:rPr lang="en-US" b="1" dirty="0"/>
              <a:t>of a</a:t>
            </a:r>
            <a:r>
              <a:rPr lang="en-US" dirty="0"/>
              <a:t> </a:t>
            </a:r>
            <a:r>
              <a:rPr lang="en-US" b="1" dirty="0"/>
              <a:t>human</a:t>
            </a:r>
            <a:r>
              <a:rPr lang="en-US" dirty="0"/>
              <a:t> </a:t>
            </a:r>
            <a:r>
              <a:rPr lang="en-US" b="1" dirty="0"/>
              <a:t>brain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a </a:t>
            </a:r>
            <a:r>
              <a:rPr lang="en-US" b="1" dirty="0"/>
              <a:t>Neuron</a:t>
            </a:r>
            <a:r>
              <a:rPr lang="en-US" dirty="0"/>
              <a:t> in a Neural Network and how does it relate to linear/logistic regression?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</a:t>
            </a:r>
            <a:r>
              <a:rPr lang="en-US" b="1" dirty="0"/>
              <a:t>difference</a:t>
            </a:r>
            <a:r>
              <a:rPr lang="en-US" dirty="0"/>
              <a:t> between a </a:t>
            </a:r>
            <a:r>
              <a:rPr lang="en-US" b="1" dirty="0"/>
              <a:t>shallow</a:t>
            </a:r>
            <a:r>
              <a:rPr lang="en-US" dirty="0"/>
              <a:t> and a </a:t>
            </a:r>
            <a:r>
              <a:rPr lang="en-US" b="1" dirty="0"/>
              <a:t>deep neural network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</a:t>
            </a:r>
            <a:r>
              <a:rPr lang="en-US" b="1" dirty="0"/>
              <a:t>implement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b="1" dirty="0"/>
              <a:t>shallow</a:t>
            </a:r>
            <a:r>
              <a:rPr lang="en-US" dirty="0"/>
              <a:t> </a:t>
            </a:r>
            <a:r>
              <a:rPr lang="en-US" b="1" dirty="0"/>
              <a:t>Neural</a:t>
            </a:r>
            <a:r>
              <a:rPr lang="en-US" dirty="0"/>
              <a:t> </a:t>
            </a:r>
            <a:r>
              <a:rPr lang="en-US" b="1" dirty="0"/>
              <a:t>Network</a:t>
            </a:r>
            <a:r>
              <a:rPr lang="en-US" dirty="0"/>
              <a:t> manually and define a </a:t>
            </a:r>
            <a:r>
              <a:rPr lang="en-US" b="1" dirty="0"/>
              <a:t>forward</a:t>
            </a:r>
            <a:r>
              <a:rPr lang="en-US" dirty="0"/>
              <a:t> </a:t>
            </a:r>
            <a:r>
              <a:rPr lang="en-US" b="1" dirty="0"/>
              <a:t>propagation</a:t>
            </a:r>
            <a:r>
              <a:rPr lang="en-US" dirty="0"/>
              <a:t> method for it?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466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sigmoid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dirty="0"/>
                  <a:t> is an important function used in Machine Learning. It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Or, equivalently</a:t>
                </a: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Note: </a:t>
                </a:r>
                <a:r>
                  <a:rPr lang="en-GB" dirty="0"/>
                  <a:t>Sometimes, the notation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used instead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sigmoid function has the following properties (to be proven as an extra exercise!):</a:t>
                </a:r>
                <a:br>
                  <a:rPr lang="en-GB" dirty="0"/>
                </a:b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  0 &lt;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&lt;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(0) = 0.5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  <a:blipFill>
                <a:blip r:embed="rId3"/>
                <a:stretch>
                  <a:fillRect l="-2471" t="-1937" r="-2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87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sigmoid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dirty="0"/>
                  <a:t> is an important function used in </a:t>
                </a:r>
                <a:r>
                  <a:rPr lang="en-GB" dirty="0" err="1"/>
                  <a:t>Machne</a:t>
                </a:r>
                <a:r>
                  <a:rPr lang="en-GB" dirty="0"/>
                  <a:t> Learning. It is defined as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Or, equivalently</a:t>
                </a: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4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sigmoid function has the following properties: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  0 &lt;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&lt;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(0) = 0.5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  <a:blipFill>
                <a:blip r:embed="rId3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BC4F682-033E-B20F-FF45-E910D6FD6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50" y="0"/>
            <a:ext cx="10351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92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Also introducing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4"/>
                <a:ext cx="615598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Similarly, let us introduce two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dirty="0"/>
                  <a:t>, below: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These two functions also have interesting properties, shown on the right.</a:t>
                </a:r>
                <a:br>
                  <a:rPr lang="en-GB" dirty="0"/>
                </a:br>
                <a:r>
                  <a:rPr lang="en-GB" i="1" dirty="0"/>
                  <a:t>(Prove them as an extra practice?)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4"/>
                <a:ext cx="6155987" cy="5032375"/>
              </a:xfrm>
              <a:blipFill>
                <a:blip r:embed="rId2"/>
                <a:stretch>
                  <a:fillRect l="-1980" t="-1937" r="-3267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159556" y="1825625"/>
                <a:ext cx="4829243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(0.5)=−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159556" y="1825625"/>
                <a:ext cx="4829243" cy="503237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51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Similarly, let us introduce two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dirty="0"/>
                  <a:t>, below: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These two functions also have interesting properties.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70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816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(0.5)=−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816600" cy="503237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D36D8E9-EC44-BBB5-12EC-8C34D43F16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9"/>
          <a:stretch>
            <a:fillRect/>
          </a:stretch>
        </p:blipFill>
        <p:spPr>
          <a:xfrm>
            <a:off x="920480" y="0"/>
            <a:ext cx="10198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28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34AEC-3EA6-219D-81A7-B9BD2E7E1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871" y="4696097"/>
            <a:ext cx="4842662" cy="216190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3C4DE6B-4A9F-D64A-C223-8B019D32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recap: functions and implementations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9F00384-78D5-1AE0-B237-9ABAFA9360E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b="1" dirty="0"/>
                  <a:t>):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Or, equivalently</a:t>
                </a: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9F00384-78D5-1AE0-B237-9ABAFA9360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71" t="-2241" r="-4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BA0C3D1-A680-1DB7-4CCD-05880333B6A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BA0C3D1-A680-1DB7-4CCD-05880333B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4351338"/>
              </a:xfrm>
              <a:blipFill>
                <a:blip r:embed="rId4"/>
                <a:stretch>
                  <a:fillRect l="-2471" t="-2241" r="-70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560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on mixes for our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addition, the following properties hold (some of them require using </a:t>
                </a:r>
                <a:r>
                  <a:rPr lang="en-GB" dirty="0" err="1"/>
                  <a:t>L'Hospital</a:t>
                </a:r>
                <a:r>
                  <a:rPr lang="en-GB" dirty="0"/>
                  <a:t> rule to prove them, try it out?).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607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on mixes for our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addition, the following properties hold (some of them require using </a:t>
                </a:r>
                <a:r>
                  <a:rPr lang="en-GB" dirty="0" err="1"/>
                  <a:t>L'Hospital</a:t>
                </a:r>
                <a:r>
                  <a:rPr lang="en-GB" dirty="0"/>
                  <a:t> rule to prove them, try it out?).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067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addition, the following properties hold (some of them require using </a:t>
                </a:r>
                <a:r>
                  <a:rPr lang="en-GB" dirty="0" err="1"/>
                  <a:t>L'Hospital</a:t>
                </a:r>
                <a:r>
                  <a:rPr lang="en-GB" dirty="0"/>
                  <a:t> rule to prove them).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B6ECADF-0069-4F17-45C7-E8B70909D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98" y="0"/>
            <a:ext cx="10314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1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75BF-18E0-B2E0-1950-BC4CC149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 mock dataset generation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F51DE3-B943-E325-81E1-3500067990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43636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our first notebook, we have a dataset for a </a:t>
                </a:r>
                <a:r>
                  <a:rPr lang="en-GB" b="1" dirty="0"/>
                  <a:t>single-variable binary classification.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inputs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will consist of chest sizes for males between 94cm and 114cm, randomly generated.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outputs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will consists of </a:t>
                </a:r>
                <a:r>
                  <a:rPr lang="en-GB" b="1" dirty="0"/>
                  <a:t>two</a:t>
                </a:r>
                <a:r>
                  <a:rPr lang="en-GB" dirty="0"/>
                  <a:t> </a:t>
                </a:r>
                <a:r>
                  <a:rPr lang="en-GB" b="1" dirty="0"/>
                  <a:t>classes</a:t>
                </a:r>
                <a:r>
                  <a:rPr lang="en-GB" dirty="0"/>
                  <a:t>, corresponding to the shirt size to use, with two possible values:</a:t>
                </a:r>
              </a:p>
              <a:p>
                <a:pPr lvl="1"/>
                <a:r>
                  <a:rPr lang="en-GB" b="1" dirty="0"/>
                  <a:t>M</a:t>
                </a:r>
                <a:r>
                  <a:rPr lang="en-GB" dirty="0"/>
                  <a:t> (class with value </a:t>
                </a:r>
                <a:r>
                  <a:rPr lang="en-GB" b="1" dirty="0"/>
                  <a:t>0</a:t>
                </a:r>
                <a:r>
                  <a:rPr lang="en-GB" dirty="0"/>
                  <a:t>, if chest size is below </a:t>
                </a:r>
                <a:r>
                  <a:rPr lang="en-GB" b="1" dirty="0"/>
                  <a:t>104</a:t>
                </a:r>
                <a:r>
                  <a:rPr lang="en-GB" dirty="0"/>
                  <a:t> cm) size</a:t>
                </a:r>
              </a:p>
              <a:p>
                <a:pPr lvl="1"/>
                <a:r>
                  <a:rPr lang="en-GB" dirty="0"/>
                  <a:t>and </a:t>
                </a:r>
                <a:r>
                  <a:rPr lang="en-GB" b="1" dirty="0"/>
                  <a:t>L</a:t>
                </a:r>
                <a:r>
                  <a:rPr lang="en-GB" dirty="0"/>
                  <a:t> size (class with value </a:t>
                </a:r>
                <a:r>
                  <a:rPr lang="en-GB" b="1" dirty="0"/>
                  <a:t>1</a:t>
                </a:r>
                <a:r>
                  <a:rPr lang="en-GB" dirty="0"/>
                  <a:t>, if chest size is above </a:t>
                </a:r>
                <a:r>
                  <a:rPr lang="en-GB" b="1" dirty="0"/>
                  <a:t>104</a:t>
                </a:r>
                <a:r>
                  <a:rPr lang="en-GB" dirty="0"/>
                  <a:t> cm).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F51DE3-B943-E325-81E1-3500067990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436360" cy="5032375"/>
              </a:xfrm>
              <a:blipFill>
                <a:blip r:embed="rId2"/>
                <a:stretch>
                  <a:fillRect l="-1991" t="-1937" r="-28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462D9BE8-32F5-DE08-00E2-03EC767B82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96"/>
          <a:stretch/>
        </p:blipFill>
        <p:spPr>
          <a:xfrm>
            <a:off x="8042301" y="613091"/>
            <a:ext cx="4017619" cy="609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0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518E48-BC81-EFDD-B44D-EDB8E1C22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67" y="0"/>
            <a:ext cx="8915573" cy="68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73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2AB20D-0335-B6C3-3E8A-E1852D3E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21" y="0"/>
            <a:ext cx="10205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43E8-C8C4-F8C3-1E75-4519A429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about expert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FAE8-6053-E8B4-7FB0-067642DE2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</a:t>
            </a:r>
            <a:r>
              <a:rPr lang="en-GB" dirty="0"/>
              <a:t> is a computer program that mimics the decision-making abilities of a human expert in a specific domain or field.</a:t>
            </a:r>
          </a:p>
          <a:p>
            <a:pPr marL="0" indent="0">
              <a:buNone/>
            </a:pPr>
            <a:r>
              <a:rPr lang="en-GB" dirty="0"/>
              <a:t>It uses knowledge represented in a symbolic form, such as rules or ontologies, to make inferences and decisions based on the data it receives.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24566-E487-2B5B-FECF-1378D31B1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805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Expert systems are “the dream” and provide a high level of performance and accuracy in solving problems or making decisions. But these are difficult to design as they require a strong, and not necessarily obvious, human expertise.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7A199-484C-F8D7-4F43-7CDAD502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676" y="4740021"/>
            <a:ext cx="5879123" cy="14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78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43E8-C8C4-F8C3-1E75-4519A429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about expert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FAE8-6053-E8B4-7FB0-067642DE2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</a:t>
            </a:r>
            <a:r>
              <a:rPr lang="en-GB" dirty="0"/>
              <a:t> is a computer program that mimics the decision-making abilities of a human expert in a specific domain or field.</a:t>
            </a:r>
          </a:p>
          <a:p>
            <a:pPr marL="0" indent="0">
              <a:buNone/>
            </a:pPr>
            <a:r>
              <a:rPr lang="en-GB" dirty="0"/>
              <a:t>It uses knowledge represented in a symbolic form, such as rules or ontologies, to make inferences and decisions based on the data it receives.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24566-E487-2B5B-FECF-1378D31B11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Important note:</a:t>
            </a:r>
            <a:r>
              <a:rPr lang="en-GB" dirty="0"/>
              <a:t> in our case, we could define an expert system as shown below, but most of the time the datasets will not have a clear logic and you will have to rely on ML algorithms instead, basically </a:t>
            </a:r>
            <a:r>
              <a:rPr lang="en-GB" i="1" dirty="0"/>
              <a:t>“hoping the AI will figure out a logic that works”.</a:t>
            </a:r>
            <a:endParaRPr lang="en-SG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96E18-05C3-8C71-06D4-804545AA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318" y="5162408"/>
            <a:ext cx="5249008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26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049E-BB7F-3F3A-0B12-078E7FBE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Linear Regression to Logistic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3340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Definition(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dirty="0"/>
                  <a:t> model assumes that the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for every sample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are connected via the formula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)&gt;0.5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value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often referred to as the </a:t>
                </a:r>
                <a:r>
                  <a:rPr lang="en-GB" b="1" dirty="0"/>
                  <a:t>probability</a:t>
                </a:r>
                <a:r>
                  <a:rPr lang="en-GB" dirty="0"/>
                  <a:t> of sample with value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being of class 1 (that is the probability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being a L size shirt).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334000" cy="5032375"/>
              </a:xfrm>
              <a:blipFill>
                <a:blip r:embed="rId2"/>
                <a:stretch>
                  <a:fillRect l="-2400" t="-1937" r="-14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Respectively,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the </a:t>
                </a:r>
                <a:r>
                  <a:rPr lang="en-GB" b="1" dirty="0"/>
                  <a:t>probability</a:t>
                </a:r>
                <a:r>
                  <a:rPr lang="en-GB" dirty="0"/>
                  <a:t> of sample with value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being of class 0 (that is M size).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/>
                  <a:t>probability</a:t>
                </a:r>
                <a:r>
                  <a:rPr lang="en-GB" dirty="0"/>
                  <a:t> function is then simply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function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always has values between 0 and 1, thanks to the </a:t>
                </a:r>
                <a:r>
                  <a:rPr lang="en-GB" b="1" dirty="0"/>
                  <a:t>sigmoid</a:t>
                </a:r>
                <a:r>
                  <a:rPr lang="en-GB" dirty="0"/>
                  <a:t> function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  <a:blipFill>
                <a:blip r:embed="rId3"/>
                <a:stretch>
                  <a:fillRect l="-2471" t="-2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944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049E-BB7F-3F3A-0B12-078E7FBE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adjusted Logistic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437554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Definition(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dirty="0"/>
                  <a:t> model assumes that the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for every sample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are connected via the formula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GB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GB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&gt;0.5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value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often referred to as the </a:t>
                </a:r>
                <a:r>
                  <a:rPr lang="en-GB" b="1" dirty="0"/>
                  <a:t>probability</a:t>
                </a:r>
                <a:r>
                  <a:rPr lang="en-GB" dirty="0"/>
                  <a:t> of sample with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being of class 1 (that is a L size shirt).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437554" cy="5032375"/>
              </a:xfrm>
              <a:blipFill>
                <a:blip r:embed="rId2"/>
                <a:stretch>
                  <a:fillRect l="-235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This model has </a:t>
                </a:r>
                <a:r>
                  <a:rPr lang="en-GB" b="1" dirty="0"/>
                  <a:t>two trainable parameters</a:t>
                </a:r>
                <a:r>
                  <a:rPr lang="en-GB" dirty="0"/>
                  <a:t>,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and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, to be decided as in the linear regression.</a:t>
                </a:r>
              </a:p>
              <a:p>
                <a:pPr marL="0" indent="0">
                  <a:buNone/>
                </a:pPr>
                <a:r>
                  <a:rPr lang="en-GB" dirty="0"/>
                  <a:t>In fact, we could see the logistic regression as the </a:t>
                </a:r>
                <a:r>
                  <a:rPr lang="en-GB" b="1" dirty="0"/>
                  <a:t>combination of linear regression and sigmoid together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In addition, note that the function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dirty="0"/>
                  <a:t>is also often referred to as the </a:t>
                </a:r>
                <a:r>
                  <a:rPr lang="en-GB" b="1" dirty="0"/>
                  <a:t>logit</a:t>
                </a:r>
                <a:r>
                  <a:rPr lang="en-GB" dirty="0"/>
                  <a:t> function with value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  <a:blipFill>
                <a:blip r:embed="rId3"/>
                <a:stretch>
                  <a:fillRect l="-2471" t="-2061" r="-2353" b="-19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763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748C61-EF21-6D5A-66A2-9B706C1F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44" y="2811231"/>
            <a:ext cx="11672833" cy="4003782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A9FC289B-2D3B-1B18-DC78-0A0676C7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Linear Regression to Logistic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E38244-EB1E-8A30-C5C5-0F231BA5FB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We can implement the logistic regression below and try it out with some values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!</a:t>
                </a:r>
                <a:endParaRPr lang="en-SG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E38244-EB1E-8A30-C5C5-0F231BA5F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638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99043-9779-AAD9-684A-3CF7B1C0F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409153"/>
            <a:ext cx="9497750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70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logistic regressor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before, in linear regression, we will have to </a:t>
                </a:r>
                <a:r>
                  <a:rPr lang="en-GB" b="1" dirty="0"/>
                  <a:t>train the model</a:t>
                </a:r>
                <a:r>
                  <a:rPr lang="en-GB" dirty="0"/>
                  <a:t>, i.e. choose values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that fit the dataset.</a:t>
                </a:r>
              </a:p>
              <a:p>
                <a:r>
                  <a:rPr lang="en-GB" dirty="0"/>
                  <a:t>While </a:t>
                </a:r>
                <a:r>
                  <a:rPr lang="en-GB" b="1" dirty="0"/>
                  <a:t>MSE</a:t>
                </a:r>
                <a:r>
                  <a:rPr lang="en-GB" dirty="0"/>
                  <a:t> seemed to work as a </a:t>
                </a:r>
                <a:r>
                  <a:rPr lang="en-GB" b="1" dirty="0"/>
                  <a:t>loss</a:t>
                </a:r>
                <a:r>
                  <a:rPr lang="en-GB" dirty="0"/>
                  <a:t> </a:t>
                </a:r>
                <a:r>
                  <a:rPr lang="en-GB" b="1" dirty="0"/>
                  <a:t>function</a:t>
                </a:r>
                <a:r>
                  <a:rPr lang="en-GB" dirty="0"/>
                  <a:t> to train the </a:t>
                </a:r>
                <a:r>
                  <a:rPr lang="en-GB" b="1" dirty="0"/>
                  <a:t>linear</a:t>
                </a:r>
                <a:r>
                  <a:rPr lang="en-GB" dirty="0"/>
                  <a:t> </a:t>
                </a:r>
                <a:r>
                  <a:rPr lang="en-GB" b="1" dirty="0"/>
                  <a:t>regression</a:t>
                </a:r>
                <a:r>
                  <a:rPr lang="en-GB" dirty="0"/>
                  <a:t> model, it is not that good for logistic regression.</a:t>
                </a:r>
              </a:p>
              <a:p>
                <a:r>
                  <a:rPr lang="en-GB" dirty="0"/>
                  <a:t>We need something better!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logistic regression, we prefer to </a:t>
                </a:r>
                <a:r>
                  <a:rPr lang="en-GB" b="1" dirty="0"/>
                  <a:t>minimize</a:t>
                </a:r>
                <a:r>
                  <a:rPr lang="en-GB" dirty="0"/>
                  <a:t> a loss function, called the</a:t>
                </a:r>
                <a:br>
                  <a:rPr lang="en-GB" dirty="0"/>
                </a:br>
                <a:r>
                  <a:rPr lang="en-GB" b="1" dirty="0"/>
                  <a:t>log-likelihood</a:t>
                </a:r>
                <a:r>
                  <a:rPr lang="en-GB" dirty="0"/>
                  <a:t> </a:t>
                </a:r>
                <a:r>
                  <a:rPr lang="en-GB" b="1" dirty="0"/>
                  <a:t>(cross-entropy)</a:t>
                </a:r>
                <a:r>
                  <a:rPr lang="en-GB" dirty="0"/>
                  <a:t> function, instead.</a:t>
                </a:r>
              </a:p>
              <a:p>
                <a:r>
                  <a:rPr lang="en-GB" dirty="0"/>
                  <a:t>This function has to do with the two </a:t>
                </a:r>
                <a:r>
                  <a:rPr lang="en-GB" b="1" dirty="0"/>
                  <a:t>logistic</a:t>
                </a:r>
                <a:r>
                  <a:rPr lang="en-GB" dirty="0"/>
                  <a:t> </a:t>
                </a:r>
                <a:r>
                  <a:rPr lang="en-GB" b="1" dirty="0"/>
                  <a:t>functions</a:t>
                </a:r>
                <a:r>
                  <a:rPr lang="en-GB" dirty="0"/>
                  <a:t> we have introduced earlier.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572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18A88A-7226-0CDD-4862-790F8697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log-likelihood function and loss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2EE8989-CA0E-9B9A-AB65-DD59B00F6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log-likelihood</a:t>
                </a:r>
                <a:r>
                  <a:rPr lang="en-GB" b="1" dirty="0"/>
                  <a:t> function):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log-likelihood</a:t>
                </a:r>
                <a:r>
                  <a:rPr lang="en-GB" dirty="0"/>
                  <a:t> </a:t>
                </a:r>
                <a:r>
                  <a:rPr lang="en-GB" b="1" dirty="0"/>
                  <a:t>function</a:t>
                </a:r>
                <a:r>
                  <a:rPr lang="en-GB" dirty="0"/>
                  <a:t>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 good function to use for our problem for the two reasons:</a:t>
                </a:r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is close to the ground truth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b="1" dirty="0"/>
                  <a:t>, both terms of the loss function, will have values close to 0</a:t>
                </a:r>
                <a:r>
                  <a:rPr lang="en-GB" dirty="0"/>
                  <a:t>. This follows from the properties we defined earlier for the mixes of logistic functions.</a:t>
                </a:r>
              </a:p>
              <a:p>
                <a:r>
                  <a:rPr lang="en-GB" dirty="0"/>
                  <a:t>On the opposite</a:t>
                </a:r>
                <a:r>
                  <a:rPr lang="en-GB" b="1" dirty="0"/>
                  <a:t>, the log-likelihood loss function will have a different behaviour 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and the ground truth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b="1" dirty="0"/>
                  <a:t> are different, producing large non-zero negative values instead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2EE8989-CA0E-9B9A-AB65-DD59B00F6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2663" r="-1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751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18A88A-7226-0CDD-4862-790F8697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log-likelihood function and loss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EE8989-CA0E-9B9A-AB65-DD59B00F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(using the </a:t>
            </a:r>
            <a:r>
              <a:rPr lang="en-GB" b="1" dirty="0">
                <a:solidFill>
                  <a:srgbClr val="00B050"/>
                </a:solidFill>
              </a:rPr>
              <a:t>log-likelihood</a:t>
            </a:r>
            <a:r>
              <a:rPr lang="en-GB" b="1" dirty="0"/>
              <a:t> function as a loss):</a:t>
            </a:r>
          </a:p>
          <a:p>
            <a:pPr marL="0" indent="0">
              <a:buNone/>
            </a:pPr>
            <a:r>
              <a:rPr lang="en-GB" dirty="0"/>
              <a:t>This log-likelihood loss function is therefore a good choice of a performance/loss metric to measure the performance of our models.</a:t>
            </a:r>
          </a:p>
          <a:p>
            <a:pPr marL="0" indent="0">
              <a:buNone/>
            </a:pPr>
            <a:r>
              <a:rPr lang="en-GB" dirty="0"/>
              <a:t>Indeed, </a:t>
            </a:r>
            <a:r>
              <a:rPr lang="en-GB" b="1" u="sng" dirty="0"/>
              <a:t>maximizing</a:t>
            </a:r>
            <a:r>
              <a:rPr lang="en-GB" dirty="0"/>
              <a:t> </a:t>
            </a:r>
            <a:r>
              <a:rPr lang="en-GB" b="1" dirty="0"/>
              <a:t>this log-likelihood </a:t>
            </a:r>
            <a:r>
              <a:rPr lang="en-GB" dirty="0"/>
              <a:t>loss function and bringing it to zero would be equivalent to finding the best choice of parameters 𝑎 and 𝑏, and therefore the best fit.</a:t>
            </a:r>
          </a:p>
          <a:p>
            <a:pPr marL="0" indent="0">
              <a:buNone/>
            </a:pPr>
            <a:r>
              <a:rPr lang="en-GB" dirty="0"/>
              <a:t>In practice however, we </a:t>
            </a:r>
            <a:r>
              <a:rPr lang="en-GB" b="1" dirty="0"/>
              <a:t>prefer to </a:t>
            </a:r>
            <a:r>
              <a:rPr lang="en-GB" b="1" u="sng" dirty="0"/>
              <a:t>minimize</a:t>
            </a:r>
            <a:r>
              <a:rPr lang="en-GB" b="1" dirty="0"/>
              <a:t> loss functions</a:t>
            </a:r>
            <a:r>
              <a:rPr lang="en-GB" dirty="0"/>
              <a:t>. This requires a simple adjustment, </a:t>
            </a:r>
            <a:r>
              <a:rPr lang="en-GB" b="1" dirty="0"/>
              <a:t>multiplying the log-likelihood loss function by -1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8D1B4-84A2-EB1C-2C55-F7449236C70C}"/>
                  </a:ext>
                </a:extLst>
              </p:cNvPr>
              <p:cNvSpPr txBox="1"/>
              <p:nvPr/>
            </p:nvSpPr>
            <p:spPr>
              <a:xfrm>
                <a:off x="78154" y="5369243"/>
                <a:ext cx="12035692" cy="1892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GB" sz="2800">
                                                  <a:latin typeface="Cambria Math" panose="02040503050406030204" pitchFamily="18" charset="0"/>
                                                </a:rPr>
                                                <m:t>ln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𝑎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𝑏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  <m:t>1−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GB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func>
                                                <m:funcPr>
                                                  <m:ctrlP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GB" sz="2800">
                                                      <a:latin typeface="Cambria Math" panose="02040503050406030204" pitchFamily="18" charset="0"/>
                                                    </a:rPr>
                                                    <m:t>ln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𝑎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GB" sz="28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GB" sz="28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GB" sz="28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+</m:t>
                                                          </m:r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𝑏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func>
                                            </m:e>
                                          </m:func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800" dirty="0"/>
              </a:p>
              <a:p>
                <a:endParaRPr lang="en-SG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8D1B4-84A2-EB1C-2C55-F7449236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4" y="5369243"/>
                <a:ext cx="12035692" cy="1892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613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C4AB-5DF6-3A7B-07A9-872B867A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the log-likelihood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34B5-B323-85AD-87E7-A164C877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simply implement the log likelihood loss as shown below.</a:t>
            </a:r>
          </a:p>
          <a:p>
            <a:r>
              <a:rPr lang="en-GB" dirty="0"/>
              <a:t>Note: We could look for the </a:t>
            </a:r>
            <a:r>
              <a:rPr lang="en-GB" b="1" dirty="0"/>
              <a:t>”normal</a:t>
            </a:r>
            <a:r>
              <a:rPr lang="en-GB" dirty="0"/>
              <a:t> </a:t>
            </a:r>
            <a:r>
              <a:rPr lang="en-GB" b="1" dirty="0"/>
              <a:t>equation”</a:t>
            </a:r>
            <a:r>
              <a:rPr lang="en-GB" dirty="0"/>
              <a:t> for the logistic regression, but this simply will not work. It is simply impossible to solve the logistic regression problem analytically.</a:t>
            </a:r>
          </a:p>
          <a:p>
            <a:r>
              <a:rPr lang="en-GB" dirty="0"/>
              <a:t>(Not convinced? Try solving it analytically!).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09DCBE-4611-3296-32F0-6F2A520A1A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83"/>
          <a:stretch/>
        </p:blipFill>
        <p:spPr>
          <a:xfrm>
            <a:off x="1212978" y="5098080"/>
            <a:ext cx="9277765" cy="139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34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C4AB-5DF6-3A7B-07A9-872B867A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logistic regressor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34B5-B323-85AD-87E7-A164C877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274976" cy="4845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Instead, it is often preferable to rely on the gradient descent method, or the Newton method.</a:t>
            </a:r>
          </a:p>
          <a:p>
            <a:r>
              <a:rPr lang="en-GB" dirty="0"/>
              <a:t>Typically, this is what the </a:t>
            </a:r>
            <a:r>
              <a:rPr lang="en-GB" b="1" dirty="0" err="1"/>
              <a:t>LogisticRegression</a:t>
            </a:r>
            <a:r>
              <a:rPr lang="en-GB" b="1" dirty="0"/>
              <a:t>()</a:t>
            </a:r>
            <a:r>
              <a:rPr lang="en-GB" dirty="0"/>
              <a:t> object in </a:t>
            </a:r>
            <a:r>
              <a:rPr lang="en-GB" dirty="0" err="1"/>
              <a:t>sklearn</a:t>
            </a:r>
            <a:r>
              <a:rPr lang="en-GB" dirty="0"/>
              <a:t> uses for training!</a:t>
            </a:r>
          </a:p>
          <a:p>
            <a:r>
              <a:rPr lang="en-GB" dirty="0"/>
              <a:t>(Newton method is not covered but feel free to look it up/try it out?)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0534C-1E5C-2536-7C44-58222FFEA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737" y="1764772"/>
            <a:ext cx="6778957" cy="447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01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353DDF-5C29-0AA5-21F9-C5F60A7B8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313890"/>
            <a:ext cx="9412013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76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AE986A-9798-E710-5642-7AB3AAD1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the logistic regression model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D08CC2-D8C0-4AB8-597E-6A99C46C8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722398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When attempting to evaluate a classification model, it is often a good idea to first display a confusion matrix for the predicted values of the dataset samples (test samples, preferably).</a:t>
            </a:r>
          </a:p>
          <a:p>
            <a:r>
              <a:rPr lang="en-GB" dirty="0"/>
              <a:t>We can simply calculate it by using the </a:t>
            </a:r>
            <a:r>
              <a:rPr lang="en-GB" dirty="0" err="1"/>
              <a:t>confusion_matrix</a:t>
            </a:r>
            <a:r>
              <a:rPr lang="en-GB" dirty="0"/>
              <a:t>() function from </a:t>
            </a:r>
            <a:r>
              <a:rPr lang="en-GB" dirty="0" err="1"/>
              <a:t>sklearn</a:t>
            </a:r>
            <a:r>
              <a:rPr lang="en-GB" dirty="0"/>
              <a:t>. The non-diagonal elements have zero values, which is the sign that our model classifies perfectly.</a:t>
            </a:r>
          </a:p>
          <a:p>
            <a:r>
              <a:rPr lang="en-GB" dirty="0"/>
              <a:t>Learn more, here: </a:t>
            </a:r>
            <a:r>
              <a:rPr lang="en-GB" dirty="0">
                <a:hlinkClick r:id="rId2"/>
              </a:rPr>
              <a:t>https://scikit-learn.org/stable/modules/generated/sklearn.metrics.confusion_matrix.html</a:t>
            </a:r>
            <a:r>
              <a:rPr lang="en-GB" dirty="0"/>
              <a:t>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48AA3C-AA90-D1EB-F30D-83277B83B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520" y="1376392"/>
            <a:ext cx="5391728" cy="375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53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AE986A-9798-E710-5642-7AB3AAD1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the logistic regression model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D08CC2-D8C0-4AB8-597E-6A99C46C8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757909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We can also ask for a classification report for the trained model.</a:t>
            </a:r>
          </a:p>
          <a:p>
            <a:r>
              <a:rPr lang="en-GB" dirty="0"/>
              <a:t>This shows the precision, recall and F1 scores for each class, as well as the overall accuracy of the model.</a:t>
            </a:r>
          </a:p>
          <a:p>
            <a:r>
              <a:rPr lang="en-GB" dirty="0"/>
              <a:t>For each one of these interesting metrics, the best value is 1.0. Our model achieves a 1.0 score, suggesting that the model classifies perfectly.</a:t>
            </a:r>
          </a:p>
          <a:p>
            <a:r>
              <a:rPr lang="en-GB" dirty="0"/>
              <a:t>Learn more, here: </a:t>
            </a:r>
            <a:r>
              <a:rPr lang="en-GB" dirty="0">
                <a:hlinkClick r:id="rId2"/>
              </a:rPr>
              <a:t>https://scikit-learn.org/stable/modules/generated/sklearn.metrics.classification_report.html#sklearn.metrics.classification_report</a:t>
            </a:r>
            <a:r>
              <a:rPr lang="en-GB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64EEF-680D-D1CF-445C-11D191CCC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520" y="1376392"/>
            <a:ext cx="5391728" cy="3754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67757C-64AF-8BE1-A9D7-5D4CA0106416}"/>
              </a:ext>
            </a:extLst>
          </p:cNvPr>
          <p:cNvSpPr txBox="1"/>
          <p:nvPr/>
        </p:nvSpPr>
        <p:spPr>
          <a:xfrm>
            <a:off x="7000248" y="5400430"/>
            <a:ext cx="508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Note: the details of these metrics and what they represented is not discussed here (covered in previous ML classes).</a:t>
            </a:r>
          </a:p>
        </p:txBody>
      </p:sp>
    </p:spTree>
    <p:extLst>
      <p:ext uri="{BB962C8B-B14F-4D97-AF65-F5344CB8AC3E}">
        <p14:creationId xmlns:p14="http://schemas.microsoft.com/office/powerpoint/2010/main" val="1753014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8723-AD13-89B7-1419-91F9B6B5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6B346-F257-1111-943C-75EAE45D1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Many tasks we have seen earlier (e.g. appt prices) are “difficult” to solve, or do not have an obvious “explainable” logic.</a:t>
            </a:r>
          </a:p>
          <a:p>
            <a:pPr marL="0" indent="0">
              <a:buNone/>
            </a:pPr>
            <a:r>
              <a:rPr lang="en-GB" dirty="0"/>
              <a:t>Our brain, however, seems very capable to solve these tasks.</a:t>
            </a:r>
          </a:p>
          <a:p>
            <a:pPr marL="0" indent="0">
              <a:buNone/>
            </a:pPr>
            <a:r>
              <a:rPr lang="en-GB" b="1" dirty="0"/>
              <a:t>Million dollar question: </a:t>
            </a:r>
            <a:r>
              <a:rPr lang="en-GB" dirty="0"/>
              <a:t>Could we replace the linear/polynomial/logistic models with a model that mimics the brain?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5FA5B-6C71-D983-90F8-57E791E8F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362" y="4326716"/>
            <a:ext cx="9175275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06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88012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In neural networks, we will implement neurons, but are they really close to the ones in the human brain?</a:t>
            </a:r>
          </a:p>
          <a:p>
            <a:r>
              <a:rPr lang="en-GB" dirty="0"/>
              <a:t>Neural networks are inspired by the neural structure and processes of the human brain.</a:t>
            </a:r>
          </a:p>
          <a:p>
            <a:r>
              <a:rPr lang="en-GB" dirty="0"/>
              <a:t>Neural networks are comprised of interconnected nodes, which are called </a:t>
            </a:r>
            <a:r>
              <a:rPr lang="en-GB" b="1" dirty="0"/>
              <a:t>artificial neurons </a:t>
            </a:r>
            <a:r>
              <a:rPr lang="en-GB" dirty="0"/>
              <a:t>or </a:t>
            </a:r>
            <a:r>
              <a:rPr lang="en-GB" b="1" dirty="0" err="1"/>
              <a:t>perceptrons</a:t>
            </a:r>
            <a:r>
              <a:rPr lang="en-GB" dirty="0"/>
              <a:t>.</a:t>
            </a:r>
          </a:p>
          <a:p>
            <a:r>
              <a:rPr lang="en-GB" dirty="0"/>
              <a:t>Neural networks are related to biology in that they are modelled after biological neural systems.</a:t>
            </a:r>
          </a:p>
        </p:txBody>
      </p:sp>
      <p:pic>
        <p:nvPicPr>
          <p:cNvPr id="4" name="Picture 3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7BFD9D5F-B9B4-25D8-8551-647E6EDC9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65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70181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general,</a:t>
            </a:r>
          </a:p>
          <a:p>
            <a:r>
              <a:rPr lang="en-GB" dirty="0"/>
              <a:t>A </a:t>
            </a:r>
            <a:r>
              <a:rPr lang="en-GB" b="1" dirty="0"/>
              <a:t>neuron will receive stimuli</a:t>
            </a:r>
            <a:r>
              <a:rPr lang="en-GB" dirty="0"/>
              <a:t> through its dendrites, in the form of electrical signals playing the role of </a:t>
            </a:r>
            <a:r>
              <a:rPr lang="en-GB" b="1" dirty="0"/>
              <a:t>inputs</a:t>
            </a:r>
            <a:r>
              <a:rPr lang="en-GB" dirty="0"/>
              <a:t>,</a:t>
            </a:r>
          </a:p>
          <a:p>
            <a:r>
              <a:rPr lang="en-GB" dirty="0"/>
              <a:t>It will </a:t>
            </a:r>
            <a:r>
              <a:rPr lang="en-GB" b="1" dirty="0"/>
              <a:t>process the inputs </a:t>
            </a:r>
            <a:r>
              <a:rPr lang="en-GB" dirty="0"/>
              <a:t>in a certain way in its nucleus (and other parts of the neuron),</a:t>
            </a:r>
          </a:p>
          <a:p>
            <a:r>
              <a:rPr lang="en-GB" dirty="0"/>
              <a:t>If the integrated signals reach a threshold, </a:t>
            </a:r>
            <a:r>
              <a:rPr lang="en-GB" b="1" dirty="0"/>
              <a:t>the neuron generates an action potential</a:t>
            </a:r>
            <a:r>
              <a:rPr lang="en-GB" dirty="0"/>
              <a:t>, a brief electrical impulse. This is an output coming from the axon terminal, in the form of a signal (1) or no signal (0) being produced.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E7C03B-F864-25F2-5F90-9E2F6BAD7D26}"/>
                  </a:ext>
                </a:extLst>
              </p:cNvPr>
              <p:cNvSpPr txBox="1"/>
              <p:nvPr/>
            </p:nvSpPr>
            <p:spPr>
              <a:xfrm>
                <a:off x="8682893" y="3899877"/>
                <a:ext cx="2860431" cy="19389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In other words,</a:t>
                </a:r>
              </a:p>
              <a:p>
                <a:pPr algn="ctr"/>
                <a:endParaRPr lang="en-GB" sz="2400" dirty="0"/>
              </a:p>
              <a:p>
                <a:pPr algn="ctr"/>
                <a:r>
                  <a:rPr lang="en-GB" sz="2400" b="1" dirty="0"/>
                  <a:t>Neuron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b="1" dirty="0"/>
                  <a:t>Logistic Regression?!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E7C03B-F864-25F2-5F90-9E2F6BAD7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893" y="3899877"/>
                <a:ext cx="2860431" cy="1938992"/>
              </a:xfrm>
              <a:prstGeom prst="rect">
                <a:avLst/>
              </a:prstGeom>
              <a:blipFill>
                <a:blip r:embed="rId2"/>
                <a:stretch>
                  <a:fillRect l="-1907" t="-2188" r="-1695" b="-5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93468420-744C-D00A-8162-39F1BEDA1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50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729748" cy="5032375"/>
          </a:xfrm>
        </p:spPr>
        <p:txBody>
          <a:bodyPr>
            <a:normAutofit/>
          </a:bodyPr>
          <a:lstStyle/>
          <a:p>
            <a:r>
              <a:rPr lang="en-GB" dirty="0"/>
              <a:t>Eventually the output signal produced by a neuron will be passed to other neurons in the brain.</a:t>
            </a:r>
          </a:p>
          <a:p>
            <a:r>
              <a:rPr lang="en-GB" dirty="0"/>
              <a:t>The brain could be seen as a set of several neurons processing information, </a:t>
            </a:r>
            <a:r>
              <a:rPr lang="en-GB" b="1" dirty="0"/>
              <a:t>both in parallel and in sequence</a:t>
            </a:r>
            <a:r>
              <a:rPr lang="en-GB" dirty="0"/>
              <a:t>.</a:t>
            </a:r>
          </a:p>
          <a:p>
            <a:r>
              <a:rPr lang="en-GB" dirty="0"/>
              <a:t>This assembly, which resembles the human brain, is commonly referred to as a </a:t>
            </a:r>
            <a:r>
              <a:rPr lang="en-GB" b="1" dirty="0"/>
              <a:t>neural network</a:t>
            </a:r>
            <a:r>
              <a:rPr lang="en-GB" dirty="0"/>
              <a:t>.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779C4BB9-E4D3-29A9-77AA-04412F9DF7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6" t="14479" r="-740" b="12475"/>
          <a:stretch/>
        </p:blipFill>
        <p:spPr>
          <a:xfrm>
            <a:off x="7856375" y="3604630"/>
            <a:ext cx="3872203" cy="2864498"/>
          </a:xfrm>
          <a:prstGeom prst="rect">
            <a:avLst/>
          </a:prstGeom>
        </p:spPr>
      </p:pic>
      <p:pic>
        <p:nvPicPr>
          <p:cNvPr id="5" name="Picture 4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D4E286A9-4AD5-4E9C-6C92-E073C4C44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26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457335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Research has shown that artificial neural networks could indeed be used to solve some of the problems that biological neural networks can solve.</a:t>
            </a:r>
          </a:p>
          <a:p>
            <a:r>
              <a:rPr lang="en-GB" dirty="0"/>
              <a:t>For example, neural networks can be used to identify objects in images, just as biological neural networks can.</a:t>
            </a:r>
          </a:p>
          <a:p>
            <a:r>
              <a:rPr lang="en-GB" dirty="0"/>
              <a:t>The training process of CS neural networks is apparently very similar to the biological neural networks.</a:t>
            </a:r>
          </a:p>
          <a:p>
            <a:r>
              <a:rPr lang="en-GB" dirty="0"/>
              <a:t>This is actually an ongoing argument: see </a:t>
            </a:r>
            <a:r>
              <a:rPr lang="en-US" dirty="0"/>
              <a:t>[Quanta2021] and [MITNews2022].</a:t>
            </a:r>
            <a:endParaRPr lang="en-SG" dirty="0"/>
          </a:p>
          <a:p>
            <a:endParaRPr lang="en-GB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7C25391-7442-1C3D-FAD0-3B793A66D9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6" t="14479" r="-740" b="12475"/>
          <a:stretch/>
        </p:blipFill>
        <p:spPr>
          <a:xfrm>
            <a:off x="7856375" y="3604630"/>
            <a:ext cx="3872203" cy="2864498"/>
          </a:xfrm>
          <a:prstGeom prst="rect">
            <a:avLst/>
          </a:prstGeom>
        </p:spPr>
      </p:pic>
      <p:pic>
        <p:nvPicPr>
          <p:cNvPr id="5" name="Picture 4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09409767-E726-58B0-12E6-E5A975A00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42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E6CC-C09A-B5BA-453D-3EEF46FD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with a mock dataset, again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E89BBBC-7413-FCF8-8C61-B97FC92F32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As before, we will try to come up with a model capable of predicting the price of an apartment based on some of its features. </a:t>
                </a:r>
              </a:p>
              <a:p>
                <a:pPr marL="0" indent="0">
                  <a:buNone/>
                </a:pPr>
                <a:r>
                  <a:rPr lang="en-GB" dirty="0"/>
                  <a:t>The inputs will this time consist of two parameters: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surface</a:t>
                </a:r>
                <a:r>
                  <a:rPr lang="en-GB" dirty="0"/>
                  <a:t> of the apartment, in sqm, just like before,</a:t>
                </a:r>
              </a:p>
              <a:p>
                <a:r>
                  <a:rPr lang="en-GB" dirty="0"/>
                  <a:t>and the </a:t>
                </a:r>
                <a:r>
                  <a:rPr lang="en-GB" b="1" dirty="0"/>
                  <a:t>distance</a:t>
                </a:r>
                <a:r>
                  <a:rPr lang="en-GB" dirty="0"/>
                  <a:t> between the apartment and the closest MRT station in meters.</a:t>
                </a:r>
              </a:p>
              <a:p>
                <a:pPr marL="0" indent="0">
                  <a:buNone/>
                </a:pPr>
                <a:r>
                  <a:rPr lang="en-GB" dirty="0"/>
                  <a:t>We will generate a mock dataset by:</a:t>
                </a:r>
              </a:p>
              <a:p>
                <a:r>
                  <a:rPr lang="en-GB" dirty="0"/>
                  <a:t>randomly drawing </a:t>
                </a:r>
                <a:r>
                  <a:rPr lang="en-GB" b="1" dirty="0"/>
                  <a:t>surfaces</a:t>
                </a:r>
                <a:r>
                  <a:rPr lang="en-GB" dirty="0"/>
                  <a:t> between 40 sqm and 200 sqm,</a:t>
                </a:r>
              </a:p>
              <a:p>
                <a:r>
                  <a:rPr lang="en-GB" dirty="0"/>
                  <a:t>randomly drawing </a:t>
                </a:r>
                <a:r>
                  <a:rPr lang="en-GB" b="1" dirty="0"/>
                  <a:t>distances</a:t>
                </a:r>
                <a:r>
                  <a:rPr lang="en-GB" dirty="0"/>
                  <a:t> between 50 and 1000m,</a:t>
                </a:r>
              </a:p>
              <a:p>
                <a:r>
                  <a:rPr lang="en-GB" dirty="0"/>
                  <a:t>generate prices by assuming that the average price is simply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𝑎𝑣𝑔𝑝𝑟𝑖𝑐𝑒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100000 + 14373×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𝑠𝑢𝑟𝑓𝑎𝑐𝑒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1000 −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× 1286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Finally, we will randomly apply a -/+ 10% variation on the average price to create some variance, and call that the output for a given sample.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E89BBBC-7413-FCF8-8C61-B97FC92F3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300" r="-10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53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E6CC-C09A-B5BA-453D-3EEF46FD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with a mock dataset, again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C10C03-F7BD-49E2-BB80-89E35431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69" y="1756854"/>
            <a:ext cx="11752662" cy="42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11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229FC-D397-9D8C-4B8E-7284C932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26" y="0"/>
            <a:ext cx="6369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18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4CAA90-AC59-0D8D-3497-ACB3CFEC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8" y="0"/>
            <a:ext cx="10428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31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51795-C01A-E1C7-17B8-EBAC4068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885470"/>
            <a:ext cx="11345858" cy="5087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965EAD-A0E9-77F6-B621-C437940A3FE6}"/>
                  </a:ext>
                </a:extLst>
              </p:cNvPr>
              <p:cNvSpPr txBox="1"/>
              <p:nvPr/>
            </p:nvSpPr>
            <p:spPr>
              <a:xfrm>
                <a:off x="717755" y="5751871"/>
                <a:ext cx="110511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𝑎𝑣𝑔𝑝𝑟𝑖𝑐𝑒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100000 + 14373×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𝑠𝑢𝑟𝑓𝑎𝑐𝑒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1000 −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× 1286</m:t>
                      </m:r>
                    </m:oMath>
                  </m:oMathPara>
                </a14:m>
                <a:endParaRPr lang="en-GB" dirty="0"/>
              </a:p>
              <a:p>
                <a:pPr algn="ctr"/>
                <a:r>
                  <a:rPr lang="en-GB" dirty="0"/>
                  <a:t>is actually the equation of a 2D plane in a 3D ambient space!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965EAD-A0E9-77F6-B621-C437940A3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55" y="5751871"/>
                <a:ext cx="11051174" cy="646331"/>
              </a:xfrm>
              <a:prstGeom prst="rect">
                <a:avLst/>
              </a:prstGeom>
              <a:blipFill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552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B538-E653-9290-DBC4-63400A5B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Coding a Neuron and a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74F8-F1BE-D6E5-016B-AE54399D1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4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Neuron</a:t>
            </a:r>
            <a:r>
              <a:rPr lang="en-GB" b="1" dirty="0"/>
              <a:t> in Neural Networks):</a:t>
            </a:r>
          </a:p>
          <a:p>
            <a:pPr marL="0" indent="0">
              <a:buNone/>
            </a:pPr>
            <a:r>
              <a:rPr lang="en-GB" dirty="0"/>
              <a:t>Each artificial neuron in a neural network might for instance be represented as a linear regression (or later on, a logistic regression) model, which receives input, applies a transformation on that input, and produces an output.</a:t>
            </a:r>
          </a:p>
          <a:p>
            <a:pPr marL="0" indent="0">
              <a:buNone/>
            </a:pPr>
            <a:r>
              <a:rPr lang="en-GB" dirty="0"/>
              <a:t>And similar to the way that biological neurons are connected and communicate with each other, artificial neurons are connected to each other, in parallel and in sequence, through a network. This neural network can be thought of as pathways for information to flow.</a:t>
            </a:r>
          </a:p>
          <a:p>
            <a:pPr marL="0" indent="0">
              <a:buNone/>
            </a:pPr>
            <a:r>
              <a:rPr lang="en-GB" dirty="0"/>
              <a:t>(Later on, we will see more advanced ways to represent neurons than linear or logistic regression.)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44809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95FE-84E8-94C7-4598-E1272BDD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Coding our first Neuron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07B46-BDBF-EA2C-6EA2-2B1DD37BF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46" y="1436221"/>
            <a:ext cx="8113904" cy="521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20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43926C-6B91-0C8F-E5E2-B1ABBCC4C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17" y="214086"/>
            <a:ext cx="9916566" cy="626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723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6A7B-B6D2-6F67-1336-912BCD96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minimal Neural Network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19C1F-4F41-1C15-474C-87B353226D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defining a minimal Neural Network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In order to define a minimal neural network with only one neuron, we need two things:</a:t>
                </a:r>
              </a:p>
              <a:p>
                <a:r>
                  <a:rPr lang="en-GB" dirty="0"/>
                  <a:t>First, an </a:t>
                </a:r>
                <a:r>
                  <a:rPr lang="en-GB" b="1" dirty="0"/>
                  <a:t>__</a:t>
                </a:r>
                <a:r>
                  <a:rPr lang="en-GB" b="1" dirty="0" err="1"/>
                  <a:t>init</a:t>
                </a:r>
                <a:r>
                  <a:rPr lang="en-GB" b="1" dirty="0"/>
                  <a:t>__ method, </a:t>
                </a:r>
                <a:r>
                  <a:rPr lang="en-GB" dirty="0"/>
                  <a:t>listing the </a:t>
                </a:r>
                <a:r>
                  <a:rPr lang="en-GB" b="1" dirty="0"/>
                  <a:t>trainable</a:t>
                </a:r>
                <a:r>
                  <a:rPr lang="en-GB" dirty="0"/>
                  <a:t> </a:t>
                </a:r>
                <a:r>
                  <a:rPr lang="en-GB" b="1" dirty="0"/>
                  <a:t>parameters</a:t>
                </a:r>
                <a:r>
                  <a:rPr lang="en-GB" dirty="0"/>
                  <a:t> for the model. In our case that is a </a:t>
                </a:r>
                <a:r>
                  <a:rPr lang="en-GB" b="1" dirty="0"/>
                  <a:t>weight</a:t>
                </a:r>
                <a:r>
                  <a:rPr lang="en-GB" dirty="0"/>
                  <a:t> </a:t>
                </a:r>
                <a:r>
                  <a:rPr lang="en-GB" b="1" dirty="0"/>
                  <a:t>vector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with 2 elements and a single scalar </a:t>
                </a:r>
                <a:r>
                  <a:rPr lang="en-GB" b="1" dirty="0"/>
                  <a:t>bias</a:t>
                </a:r>
                <a:r>
                  <a:rPr lang="en-GB" dirty="0"/>
                  <a:t> value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Second, a </a:t>
                </a:r>
                <a:r>
                  <a:rPr lang="en-GB" b="1" dirty="0"/>
                  <a:t>forward</a:t>
                </a:r>
                <a:r>
                  <a:rPr lang="en-GB" dirty="0"/>
                  <a:t> </a:t>
                </a:r>
                <a:r>
                  <a:rPr lang="en-GB" b="1" dirty="0"/>
                  <a:t>method</a:t>
                </a:r>
                <a:r>
                  <a:rPr lang="en-GB" dirty="0"/>
                  <a:t>, which will be used to formulate predictions for any set of given inputs. The </a:t>
                </a:r>
                <a:r>
                  <a:rPr lang="en-GB" b="1" dirty="0"/>
                  <a:t>prediction</a:t>
                </a:r>
                <a:r>
                  <a:rPr lang="en-GB" dirty="0"/>
                  <a:t> </a:t>
                </a:r>
                <a:r>
                  <a:rPr lang="en-GB" b="1" dirty="0"/>
                  <a:t>formula</a:t>
                </a:r>
                <a:r>
                  <a:rPr lang="en-GB" dirty="0"/>
                  <a:t> is simply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b="1" dirty="0"/>
                  <a:t>(For now, this  single neuron is equivalent to a Linear Regression!)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19C1F-4F41-1C15-474C-87B353226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942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A64E1-9657-6395-FB7C-E89FCA86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13" y="9331"/>
            <a:ext cx="9066623" cy="680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18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CDDC-F493-891C-2E09-5E83E328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6F20-0ADA-E25F-255A-06B421904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takes care of the </a:t>
            </a:r>
            <a:r>
              <a:rPr lang="en-GB" b="1" dirty="0"/>
              <a:t>first</a:t>
            </a:r>
            <a:r>
              <a:rPr lang="en-GB" dirty="0"/>
              <a:t> </a:t>
            </a:r>
            <a:r>
              <a:rPr lang="en-GB" b="1" dirty="0"/>
              <a:t>three</a:t>
            </a:r>
            <a:r>
              <a:rPr lang="en-GB" dirty="0"/>
              <a:t> </a:t>
            </a:r>
            <a:r>
              <a:rPr lang="en-GB" b="1" dirty="0"/>
              <a:t>elements</a:t>
            </a:r>
            <a:r>
              <a:rPr lang="en-GB" dirty="0"/>
              <a:t> of a machine learning problem (task, dataset, model).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fourth</a:t>
            </a:r>
            <a:r>
              <a:rPr lang="en-GB" dirty="0"/>
              <a:t> element we need to define is a </a:t>
            </a:r>
            <a:r>
              <a:rPr lang="en-GB" b="1" dirty="0"/>
              <a:t>loss</a:t>
            </a:r>
            <a:r>
              <a:rPr lang="en-GB" dirty="0"/>
              <a:t> </a:t>
            </a:r>
            <a:r>
              <a:rPr lang="en-GB" b="1" dirty="0"/>
              <a:t>function</a:t>
            </a:r>
            <a:r>
              <a:rPr lang="en-GB" dirty="0"/>
              <a:t>.</a:t>
            </a:r>
          </a:p>
          <a:p>
            <a:r>
              <a:rPr lang="en-GB" dirty="0"/>
              <a:t>As this is a regression task, we can reuse the </a:t>
            </a:r>
            <a:r>
              <a:rPr lang="en-GB" b="1" dirty="0"/>
              <a:t>MSE</a:t>
            </a:r>
            <a:r>
              <a:rPr lang="en-GB" dirty="0"/>
              <a:t> </a:t>
            </a:r>
            <a:r>
              <a:rPr lang="en-GB" b="1" dirty="0"/>
              <a:t>loss</a:t>
            </a:r>
            <a:r>
              <a:rPr lang="en-GB" dirty="0"/>
              <a:t> and add this MSE loss function as a method to our class.</a:t>
            </a:r>
          </a:p>
          <a:p>
            <a:r>
              <a:rPr lang="en-GB" dirty="0"/>
              <a:t>For convenience, we will compute the MSE loss in in matrix form.</a:t>
            </a:r>
          </a:p>
          <a:p>
            <a:r>
              <a:rPr lang="en-GB" dirty="0"/>
              <a:t>We will also reuse the </a:t>
            </a:r>
            <a:r>
              <a:rPr lang="en-GB" b="1" dirty="0"/>
              <a:t>forward()</a:t>
            </a:r>
            <a:r>
              <a:rPr lang="en-GB" dirty="0"/>
              <a:t> method we just coded to make predictions and then compared said predictions with the expected outputs from our dataset.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691783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4332CD-4029-25C5-BAAD-7B2AC3A2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33" y="1700845"/>
            <a:ext cx="8662133" cy="515715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E37038-764C-E08B-C9DF-A2C602A7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Adding a loss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2605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302F-B7B2-26CD-EB4B-FB867D53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parameters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518979B-485A-1F91-718D-3D2067DBEA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8799"/>
                <a:ext cx="5955892" cy="50292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Technically, our Neural Network could operate with any number of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SG" dirty="0"/>
                  <a:t> and any number of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.</a:t>
                </a:r>
              </a:p>
              <a:p>
                <a:pPr marL="0" indent="0">
                  <a:buNone/>
                </a:pPr>
                <a:r>
                  <a:rPr lang="en-SG" dirty="0"/>
                  <a:t>We would simply need to adjust the sizes of the matrices of parameters: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SG" dirty="0"/>
                  <a:t> as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 matrix,</a:t>
                </a:r>
              </a:p>
              <a:p>
                <a:r>
                  <a:rPr lang="en-SG" dirty="0"/>
                  <a:t>B as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 vector.</a:t>
                </a:r>
              </a:p>
              <a:p>
                <a:pPr marL="0" indent="0">
                  <a:buNone/>
                </a:pPr>
                <a:r>
                  <a:rPr lang="en-SG" b="1" dirty="0"/>
                  <a:t>Note: </a:t>
                </a:r>
                <a:r>
                  <a:rPr lang="en-SG" dirty="0"/>
                  <a:t>This would be equivalent to having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SG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neurons, each receiving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SG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inputs, and each producing one output to be assembled as the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SG" dirty="0"/>
                  <a:t> vector.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518979B-485A-1F91-718D-3D2067DBE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8799"/>
                <a:ext cx="5955892" cy="5029201"/>
              </a:xfrm>
              <a:blipFill>
                <a:blip r:embed="rId2"/>
                <a:stretch>
                  <a:fillRect l="-2149" t="-1939" r="-1331" b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88F2326B-03D1-DF9D-6987-ED6387320D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7" r="36786" b="5509"/>
          <a:stretch/>
        </p:blipFill>
        <p:spPr>
          <a:xfrm>
            <a:off x="6766229" y="2220686"/>
            <a:ext cx="5335574" cy="427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56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55738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Shallow Neural Network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Following the logic of our </a:t>
                </a:r>
                <a:r>
                  <a:rPr lang="en-GB" dirty="0" err="1"/>
                  <a:t>SimpleNeuralNet</a:t>
                </a:r>
                <a:r>
                  <a:rPr lang="en-GB" dirty="0"/>
                  <a:t>, we could implement a Shallow Neural Network. </a:t>
                </a:r>
                <a:r>
                  <a:rPr lang="en-GB" b="1" dirty="0"/>
                  <a:t>It will include two processing layers of neurons in a row, instead of just one, and each layer will be implementing its own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𝑾𝑿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operation of some sort.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557387" cy="5032375"/>
              </a:xfrm>
              <a:blipFill>
                <a:blip r:embed="rId2"/>
                <a:stretch>
                  <a:fillRect l="-1155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795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p:pic>
        <p:nvPicPr>
          <p:cNvPr id="5" name="Picture 4" descr="A diagram of a complex formula&#10;&#10;Description automatically generated with medium confidence">
            <a:extLst>
              <a:ext uri="{FF2B5EF4-FFF2-40B4-BE49-F238E27FC236}">
                <a16:creationId xmlns:a16="http://schemas.microsoft.com/office/drawing/2014/main" id="{3A249C4A-540E-C08B-C488-FBA4BB21F1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" b="7075"/>
          <a:stretch/>
        </p:blipFill>
        <p:spPr>
          <a:xfrm>
            <a:off x="942392" y="1418065"/>
            <a:ext cx="10596465" cy="532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050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first layer, will receive inputs with dimensionality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produce outputs with dimensionality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matrix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for this first layer will therefore be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, and the matrix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will be a simple 1D vector with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9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complex formula&#10;&#10;Description automatically generated with medium confidence">
            <a:extLst>
              <a:ext uri="{FF2B5EF4-FFF2-40B4-BE49-F238E27FC236}">
                <a16:creationId xmlns:a16="http://schemas.microsoft.com/office/drawing/2014/main" id="{B97E64B7-D9ED-1D29-975E-180DEE91C7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" b="7075"/>
          <a:stretch/>
        </p:blipFill>
        <p:spPr>
          <a:xfrm>
            <a:off x="3251718" y="3801813"/>
            <a:ext cx="5688563" cy="286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48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second layer, also called </a:t>
                </a:r>
                <a:r>
                  <a:rPr lang="en-GB" b="1" dirty="0"/>
                  <a:t>hidden</a:t>
                </a:r>
                <a:r>
                  <a:rPr lang="en-GB" dirty="0"/>
                  <a:t> </a:t>
                </a:r>
                <a:r>
                  <a:rPr lang="en-GB" b="1" dirty="0"/>
                  <a:t>layer</a:t>
                </a:r>
                <a:r>
                  <a:rPr lang="en-GB" dirty="0"/>
                  <a:t>, will receive the outputs from the previous layer with dimensionality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, use them as inputs and will produce outputs matching the dimensionality of the outputs in our dataset,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matrix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for this second layer will be 2D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will be 1D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2"/>
                <a:stretch>
                  <a:fillRect l="-1128" t="-1937" r="-5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complex formula&#10;&#10;Description automatically generated with medium confidence">
            <a:extLst>
              <a:ext uri="{FF2B5EF4-FFF2-40B4-BE49-F238E27FC236}">
                <a16:creationId xmlns:a16="http://schemas.microsoft.com/office/drawing/2014/main" id="{9858A74A-F7A1-E3E0-849D-D0E3929A33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" b="7075"/>
          <a:stretch/>
        </p:blipFill>
        <p:spPr>
          <a:xfrm>
            <a:off x="3251718" y="3801813"/>
            <a:ext cx="5688563" cy="286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45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123BC0-70CA-3C75-E622-ABD557DA9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911" y="661481"/>
            <a:ext cx="6800137" cy="59445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82A473B-52F1-F6BE-BDF1-62FD170B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NN class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51BBB68-C97A-F968-8AD2-DE508BF2C0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75137" y="1825625"/>
                <a:ext cx="4634608" cy="49424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Small changes:</a:t>
                </a:r>
              </a:p>
              <a:p>
                <a:r>
                  <a:rPr lang="en-GB" dirty="0"/>
                  <a:t>Weights and biases</a:t>
                </a:r>
                <a:br>
                  <a:rPr lang="en-GB" dirty="0"/>
                </a:br>
                <a:r>
                  <a:rPr lang="en-GB" dirty="0"/>
                  <a:t>are now </a:t>
                </a:r>
                <a:r>
                  <a:rPr lang="en-GB" b="1" dirty="0"/>
                  <a:t>randomly</a:t>
                </a:r>
                <a:r>
                  <a:rPr lang="en-GB" dirty="0"/>
                  <a:t> </a:t>
                </a:r>
                <a:r>
                  <a:rPr lang="en-GB" b="1" dirty="0"/>
                  <a:t>initialized</a:t>
                </a:r>
                <a:r>
                  <a:rPr lang="en-GB" dirty="0"/>
                  <a:t>, instead of being passed to the </a:t>
                </a:r>
                <a:r>
                  <a:rPr lang="en-GB" dirty="0" err="1"/>
                  <a:t>init</a:t>
                </a:r>
                <a:r>
                  <a:rPr lang="en-GB" dirty="0"/>
                  <a:t> method.</a:t>
                </a:r>
              </a:p>
              <a:p>
                <a:r>
                  <a:rPr lang="en-GB" dirty="0"/>
                  <a:t>We pass the </a:t>
                </a:r>
                <a:r>
                  <a:rPr lang="en-GB" b="1" dirty="0"/>
                  <a:t>expected</a:t>
                </a:r>
                <a:r>
                  <a:rPr lang="en-GB" dirty="0"/>
                  <a:t> </a:t>
                </a:r>
                <a:r>
                  <a:rPr lang="en-GB" b="1" dirty="0"/>
                  <a:t>sizes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 instead.</a:t>
                </a:r>
              </a:p>
              <a:p>
                <a:r>
                  <a:rPr lang="en-SG" b="1" dirty="0"/>
                  <a:t>And initialize</a:t>
                </a:r>
                <a:r>
                  <a:rPr lang="en-SG" dirty="0"/>
                  <a:t> </a:t>
                </a:r>
                <a:r>
                  <a:rPr lang="en-SG" b="1" dirty="0"/>
                  <a:t>parameters matrices</a:t>
                </a:r>
                <a:r>
                  <a:rPr lang="en-SG" dirty="0"/>
                  <a:t> </a:t>
                </a:r>
                <a:r>
                  <a:rPr lang="en-SG" b="1" dirty="0"/>
                  <a:t>as normal random with zero mean and variance 0.1.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51BBB68-C97A-F968-8AD2-DE508BF2C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75137" y="1825625"/>
                <a:ext cx="4634608" cy="4942498"/>
              </a:xfrm>
              <a:blipFill>
                <a:blip r:embed="rId3"/>
                <a:stretch>
                  <a:fillRect l="-2763" t="-1973" r="-6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0945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BDD955-8C6C-6B79-E4D7-D77E989D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15" y="277012"/>
            <a:ext cx="11488753" cy="2724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78550A-E6DE-7CC0-7837-FC2B1D24A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99" y="3001542"/>
            <a:ext cx="4191585" cy="3734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2B0F04-E003-8681-9F9A-699B20E26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668" y="5578629"/>
            <a:ext cx="5058481" cy="962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3CD9CC-3DB1-E108-6A9D-978D92CBFE28}"/>
              </a:ext>
            </a:extLst>
          </p:cNvPr>
          <p:cNvSpPr txBox="1"/>
          <p:nvPr/>
        </p:nvSpPr>
        <p:spPr>
          <a:xfrm>
            <a:off x="7282669" y="3219938"/>
            <a:ext cx="5150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>
                <a:solidFill>
                  <a:srgbClr val="00B050"/>
                </a:solidFill>
              </a:rPr>
              <a:t>Initialize model</a:t>
            </a:r>
          </a:p>
          <a:p>
            <a:pPr marL="342900" indent="-342900">
              <a:buAutoNum type="arabicPeriod"/>
            </a:pPr>
            <a:r>
              <a:rPr lang="en-GB" sz="2400" dirty="0">
                <a:solidFill>
                  <a:schemeClr val="accent2"/>
                </a:solidFill>
              </a:rPr>
              <a:t>Forward to predict</a:t>
            </a:r>
          </a:p>
          <a:p>
            <a:pPr marL="342900" indent="-342900">
              <a:buAutoNum type="arabicPeriod"/>
            </a:pPr>
            <a:r>
              <a:rPr lang="en-GB" sz="2400" dirty="0">
                <a:solidFill>
                  <a:srgbClr val="7030A0"/>
                </a:solidFill>
              </a:rPr>
              <a:t>Compute loss to evaluate model</a:t>
            </a:r>
            <a:br>
              <a:rPr lang="en-GB" sz="2400" dirty="0">
                <a:solidFill>
                  <a:srgbClr val="7030A0"/>
                </a:solidFill>
              </a:rPr>
            </a:br>
            <a:r>
              <a:rPr lang="en-GB" sz="2400" dirty="0">
                <a:solidFill>
                  <a:srgbClr val="7030A0"/>
                </a:solidFill>
              </a:rPr>
              <a:t>(it is bad, because trainable parameters have completely random values at the moment!)</a:t>
            </a:r>
            <a:endParaRPr lang="en-SG" sz="2400" dirty="0">
              <a:solidFill>
                <a:srgbClr val="7030A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4E9A37-A7F7-360B-952C-B89423628496}"/>
              </a:ext>
            </a:extLst>
          </p:cNvPr>
          <p:cNvCxnSpPr>
            <a:cxnSpLocks/>
          </p:cNvCxnSpPr>
          <p:nvPr/>
        </p:nvCxnSpPr>
        <p:spPr>
          <a:xfrm flipH="1">
            <a:off x="6996089" y="4483510"/>
            <a:ext cx="389449" cy="10951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292570-28B5-65D3-67EE-A694DF11DD12}"/>
              </a:ext>
            </a:extLst>
          </p:cNvPr>
          <p:cNvCxnSpPr>
            <a:cxnSpLocks/>
          </p:cNvCxnSpPr>
          <p:nvPr/>
        </p:nvCxnSpPr>
        <p:spPr>
          <a:xfrm flipH="1" flipV="1">
            <a:off x="4079631" y="3751385"/>
            <a:ext cx="2962031" cy="10507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A0F1C2-C1CE-6209-2479-EE59FD4158C5}"/>
              </a:ext>
            </a:extLst>
          </p:cNvPr>
          <p:cNvCxnSpPr>
            <a:cxnSpLocks/>
          </p:cNvCxnSpPr>
          <p:nvPr/>
        </p:nvCxnSpPr>
        <p:spPr>
          <a:xfrm flipH="1" flipV="1">
            <a:off x="6346092" y="2247628"/>
            <a:ext cx="1039446" cy="97231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9828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6132A-0616-29A5-C555-23F9FD08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7678-BF13-57AE-F89D-F34F6358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a training procedure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DBE7D0-C941-3735-5DC2-8C84C5B4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At the moment, we have coded a model that can initialize trainable parameters randomly, formulate predictions and evaluate its own performance.</a:t>
            </a:r>
          </a:p>
          <a:p>
            <a:r>
              <a:rPr lang="en-GB" dirty="0"/>
              <a:t>It is great, but we have no way to adjust the weights manually.</a:t>
            </a:r>
          </a:p>
          <a:p>
            <a:r>
              <a:rPr lang="en-GB" dirty="0"/>
              <a:t>We can only try a few different initialization and pray the RNG gods to give us trainable parameters with a good loss.</a:t>
            </a:r>
          </a:p>
          <a:p>
            <a:r>
              <a:rPr lang="en-GB" b="1" dirty="0"/>
              <a:t>We need a training</a:t>
            </a:r>
            <a:br>
              <a:rPr lang="en-GB" b="1" dirty="0"/>
            </a:br>
            <a:r>
              <a:rPr lang="en-GB" b="1" dirty="0"/>
              <a:t>procedure!</a:t>
            </a:r>
          </a:p>
          <a:p>
            <a:r>
              <a:rPr lang="en-GB" b="1" dirty="0"/>
              <a:t>What could it be…?</a:t>
            </a:r>
            <a:endParaRPr lang="en-SG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8DE5F1-3101-547E-9D4E-4F667CB51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85" y="4548090"/>
            <a:ext cx="6133804" cy="230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771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EBB267-24B9-144C-E4DE-C6D6CD35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call it a break for now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4BD3C-A362-227F-DB67-10CF1E267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will continue on the next lecture with the training procedure for this Neural Network we just </a:t>
            </a:r>
            <a:r>
              <a:rPr lang="en-GB"/>
              <a:t>built.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272836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3325</TotalTime>
  <Words>3352</Words>
  <Application>Microsoft Office PowerPoint</Application>
  <PresentationFormat>Widescreen</PresentationFormat>
  <Paragraphs>285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Office Theme</vt:lpstr>
      <vt:lpstr>Practice of Deep Learning Day 1, Part 3/4</vt:lpstr>
      <vt:lpstr>About this lecture</vt:lpstr>
      <vt:lpstr>Introducing the sigmoid function</vt:lpstr>
      <vt:lpstr>Introducing the sigmoid function</vt:lpstr>
      <vt:lpstr>Also introducing two logistic functions</vt:lpstr>
      <vt:lpstr>Introducing two logistic functions</vt:lpstr>
      <vt:lpstr>To recap: functions and implementations</vt:lpstr>
      <vt:lpstr>Results on mixes for our two logistic functions</vt:lpstr>
      <vt:lpstr>Results on mixes for our two logistic functions</vt:lpstr>
      <vt:lpstr>Introducing two logistic functions</vt:lpstr>
      <vt:lpstr>New mock dataset generation</vt:lpstr>
      <vt:lpstr>PowerPoint Presentation</vt:lpstr>
      <vt:lpstr>PowerPoint Presentation</vt:lpstr>
      <vt:lpstr>A quick word about expert systems</vt:lpstr>
      <vt:lpstr>A quick word about expert systems</vt:lpstr>
      <vt:lpstr>From Linear Regression to Logistic Regression</vt:lpstr>
      <vt:lpstr>An adjusted Logistic Regression</vt:lpstr>
      <vt:lpstr>From Linear Regression to Logistic Regression</vt:lpstr>
      <vt:lpstr>PowerPoint Presentation</vt:lpstr>
      <vt:lpstr>Training a logistic regressor</vt:lpstr>
      <vt:lpstr>The log-likelihood function and loss</vt:lpstr>
      <vt:lpstr>The log-likelihood function and loss</vt:lpstr>
      <vt:lpstr>Implementing the log-likelihood loss</vt:lpstr>
      <vt:lpstr>Training a logistic regressor</vt:lpstr>
      <vt:lpstr>PowerPoint Presentation</vt:lpstr>
      <vt:lpstr>Evaluating the logistic regression model</vt:lpstr>
      <vt:lpstr>Evaluating the logistic regression model</vt:lpstr>
      <vt:lpstr>A bit of biology</vt:lpstr>
      <vt:lpstr>A bit of biology</vt:lpstr>
      <vt:lpstr>A bit of biology</vt:lpstr>
      <vt:lpstr>A bit of biology</vt:lpstr>
      <vt:lpstr>A bit of biology</vt:lpstr>
      <vt:lpstr>Starting with a mock dataset, again</vt:lpstr>
      <vt:lpstr>Starting with a mock dataset, again</vt:lpstr>
      <vt:lpstr>PowerPoint Presentation</vt:lpstr>
      <vt:lpstr>PowerPoint Presentation</vt:lpstr>
      <vt:lpstr>PowerPoint Presentation</vt:lpstr>
      <vt:lpstr>Coding a Neuron and a Neural Network</vt:lpstr>
      <vt:lpstr>Coding our first Neuron</vt:lpstr>
      <vt:lpstr>PowerPoint Presentation</vt:lpstr>
      <vt:lpstr>Defining a minimal Neural Network </vt:lpstr>
      <vt:lpstr>PowerPoint Presentation</vt:lpstr>
      <vt:lpstr>Adding a loss</vt:lpstr>
      <vt:lpstr>Adding a loss</vt:lpstr>
      <vt:lpstr>Scaling up with more parameters</vt:lpstr>
      <vt:lpstr>Scaling up with more layers</vt:lpstr>
      <vt:lpstr>Scaling up with more layers</vt:lpstr>
      <vt:lpstr>Scaling up with more layers</vt:lpstr>
      <vt:lpstr>Scaling up with more layers</vt:lpstr>
      <vt:lpstr>Our NN class</vt:lpstr>
      <vt:lpstr>PowerPoint Presentation</vt:lpstr>
      <vt:lpstr>The need for a training procedure</vt:lpstr>
      <vt:lpstr>Let us call it a break for 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2026-01-09T02:05:22Z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