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377" r:id="rId2"/>
    <p:sldId id="264" r:id="rId3"/>
    <p:sldId id="379" r:id="rId4"/>
    <p:sldId id="378" r:id="rId5"/>
    <p:sldId id="516" r:id="rId6"/>
    <p:sldId id="406" r:id="rId7"/>
    <p:sldId id="380" r:id="rId8"/>
    <p:sldId id="387" r:id="rId9"/>
    <p:sldId id="390" r:id="rId10"/>
    <p:sldId id="391" r:id="rId11"/>
    <p:sldId id="392" r:id="rId12"/>
    <p:sldId id="549" r:id="rId13"/>
    <p:sldId id="257" r:id="rId14"/>
    <p:sldId id="396" r:id="rId15"/>
    <p:sldId id="397" r:id="rId16"/>
    <p:sldId id="299" r:id="rId17"/>
    <p:sldId id="401" r:id="rId18"/>
    <p:sldId id="276" r:id="rId19"/>
    <p:sldId id="402" r:id="rId20"/>
    <p:sldId id="399" r:id="rId21"/>
    <p:sldId id="400" r:id="rId22"/>
    <p:sldId id="403" r:id="rId23"/>
    <p:sldId id="420" r:id="rId24"/>
    <p:sldId id="421" r:id="rId25"/>
    <p:sldId id="415" r:id="rId26"/>
    <p:sldId id="422" r:id="rId27"/>
    <p:sldId id="424" r:id="rId28"/>
    <p:sldId id="427" r:id="rId29"/>
    <p:sldId id="404" r:id="rId30"/>
    <p:sldId id="433" r:id="rId31"/>
    <p:sldId id="434" r:id="rId32"/>
    <p:sldId id="435" r:id="rId33"/>
    <p:sldId id="436" r:id="rId34"/>
    <p:sldId id="437" r:id="rId35"/>
    <p:sldId id="439" r:id="rId36"/>
    <p:sldId id="438" r:id="rId37"/>
    <p:sldId id="440" r:id="rId38"/>
    <p:sldId id="432" r:id="rId39"/>
    <p:sldId id="441" r:id="rId40"/>
    <p:sldId id="442" r:id="rId41"/>
    <p:sldId id="443" r:id="rId42"/>
    <p:sldId id="444" r:id="rId43"/>
    <p:sldId id="446" r:id="rId44"/>
    <p:sldId id="447" r:id="rId45"/>
    <p:sldId id="445" r:id="rId46"/>
    <p:sldId id="448" r:id="rId47"/>
    <p:sldId id="450" r:id="rId48"/>
    <p:sldId id="451" r:id="rId49"/>
    <p:sldId id="452" r:id="rId50"/>
    <p:sldId id="453" r:id="rId51"/>
    <p:sldId id="455" r:id="rId52"/>
    <p:sldId id="456" r:id="rId53"/>
    <p:sldId id="550" r:id="rId54"/>
    <p:sldId id="457" r:id="rId55"/>
    <p:sldId id="458" r:id="rId56"/>
    <p:sldId id="459" r:id="rId57"/>
    <p:sldId id="460" r:id="rId58"/>
    <p:sldId id="461" r:id="rId59"/>
    <p:sldId id="462" r:id="rId60"/>
    <p:sldId id="463" r:id="rId61"/>
    <p:sldId id="464" r:id="rId62"/>
    <p:sldId id="465" r:id="rId63"/>
    <p:sldId id="466" r:id="rId64"/>
    <p:sldId id="467" r:id="rId65"/>
    <p:sldId id="468" r:id="rId66"/>
    <p:sldId id="469" r:id="rId67"/>
    <p:sldId id="470" r:id="rId68"/>
    <p:sldId id="471" r:id="rId69"/>
    <p:sldId id="472" r:id="rId70"/>
    <p:sldId id="473" r:id="rId71"/>
    <p:sldId id="548" r:id="rId72"/>
    <p:sldId id="393" r:id="rId73"/>
    <p:sldId id="535" r:id="rId74"/>
    <p:sldId id="394" r:id="rId75"/>
    <p:sldId id="395" r:id="rId76"/>
    <p:sldId id="413" r:id="rId77"/>
    <p:sldId id="539" r:id="rId78"/>
    <p:sldId id="418" r:id="rId79"/>
    <p:sldId id="419" r:id="rId80"/>
    <p:sldId id="417" r:id="rId81"/>
    <p:sldId id="425" r:id="rId82"/>
    <p:sldId id="426" r:id="rId83"/>
    <p:sldId id="530" r:id="rId84"/>
    <p:sldId id="531" r:id="rId85"/>
    <p:sldId id="541" r:id="rId86"/>
    <p:sldId id="532" r:id="rId87"/>
    <p:sldId id="533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Admin stuff" id="{5ED9F574-9E90-48C0-B2EF-477D9B3D859A}">
          <p14:sldIdLst>
            <p14:sldId id="264"/>
            <p14:sldId id="379"/>
            <p14:sldId id="378"/>
            <p14:sldId id="516"/>
            <p14:sldId id="406"/>
            <p14:sldId id="380"/>
            <p14:sldId id="387"/>
          </p14:sldIdLst>
        </p14:section>
        <p14:section name="0. Technical pre-requisites" id="{E213CAC3-A784-4F9D-AEBD-558C6D1C388C}">
          <p14:sldIdLst>
            <p14:sldId id="390"/>
            <p14:sldId id="391"/>
            <p14:sldId id="392"/>
          </p14:sldIdLst>
        </p14:section>
        <p14:section name="I.1. Introduction" id="{2FD0FF71-F5FC-4EB7-B2CB-B31E4CBECD79}">
          <p14:sldIdLst>
            <p14:sldId id="549"/>
            <p14:sldId id="257"/>
          </p14:sldIdLst>
        </p14:section>
        <p14:section name="I.2. A bit of jargon" id="{A07A4106-FDDA-4519-82AE-5205038263B6}">
          <p14:sldIdLst>
            <p14:sldId id="396"/>
            <p14:sldId id="397"/>
            <p14:sldId id="299"/>
            <p14:sldId id="401"/>
            <p14:sldId id="276"/>
            <p14:sldId id="402"/>
            <p14:sldId id="399"/>
            <p14:sldId id="400"/>
          </p14:sldIdLst>
        </p14:section>
        <p14:section name="I.3. Families of ML problems" id="{55D2357B-2C0A-43B8-A477-947241819A7F}">
          <p14:sldIdLst>
            <p14:sldId id="403"/>
            <p14:sldId id="420"/>
            <p14:sldId id="421"/>
            <p14:sldId id="415"/>
            <p14:sldId id="422"/>
            <p14:sldId id="424"/>
            <p14:sldId id="427"/>
          </p14:sldIdLst>
        </p14:section>
        <p14:section name="I.4. Structure a of typical ML problem" id="{5515C39D-FD16-4B17-8FD6-858173B071C2}">
          <p14:sldIdLst>
            <p14:sldId id="404"/>
            <p14:sldId id="433"/>
            <p14:sldId id="434"/>
          </p14:sldIdLst>
        </p14:section>
        <p14:section name="II.1. The linear regression problem" id="{7F7C3EFF-24D8-46F9-AD5D-C806FE7D5ADC}">
          <p14:sldIdLst>
            <p14:sldId id="435"/>
            <p14:sldId id="436"/>
            <p14:sldId id="437"/>
            <p14:sldId id="439"/>
            <p14:sldId id="438"/>
            <p14:sldId id="440"/>
            <p14:sldId id="432"/>
            <p14:sldId id="441"/>
            <p14:sldId id="442"/>
            <p14:sldId id="443"/>
            <p14:sldId id="444"/>
            <p14:sldId id="446"/>
            <p14:sldId id="447"/>
          </p14:sldIdLst>
        </p14:section>
        <p14:section name="II.2. Solving the linear regression problem analytically" id="{5AC599D5-9DB1-455E-A49B-B34B9DDC9702}">
          <p14:sldIdLst>
            <p14:sldId id="445"/>
            <p14:sldId id="448"/>
            <p14:sldId id="450"/>
            <p14:sldId id="451"/>
            <p14:sldId id="452"/>
          </p14:sldIdLst>
        </p14:section>
        <p14:section name="II.3. Solving the linear regression problem with gradient descent" id="{3D459045-5515-4E4A-A7FB-662E43EAD6A0}">
          <p14:sldIdLst>
            <p14:sldId id="453"/>
            <p14:sldId id="455"/>
            <p14:sldId id="456"/>
            <p14:sldId id="550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548"/>
          </p14:sldIdLst>
        </p14:section>
        <p14:section name="Bonus - Installing PyTorch and CUDA" id="{98AB9996-991B-4595-93A5-57E9796142BB}">
          <p14:sldIdLst>
            <p14:sldId id="393"/>
            <p14:sldId id="535"/>
            <p14:sldId id="394"/>
            <p14:sldId id="395"/>
            <p14:sldId id="413"/>
          </p14:sldIdLst>
        </p14:section>
        <p14:section name="Bonus - Unupervised Learning details" id="{08DA2268-5FEC-4F57-9C9D-33B7F6658267}">
          <p14:sldIdLst>
            <p14:sldId id="539"/>
            <p14:sldId id="418"/>
            <p14:sldId id="419"/>
            <p14:sldId id="417"/>
            <p14:sldId id="425"/>
            <p14:sldId id="426"/>
          </p14:sldIdLst>
        </p14:section>
        <p14:section name="Bonus - Proof of Normal Equation in Linear Regression" id="{48BBBC49-4250-4EE9-AF4E-596CA906B059}">
          <p14:sldIdLst>
            <p14:sldId id="530"/>
            <p14:sldId id="531"/>
            <p14:sldId id="541"/>
            <p14:sldId id="532"/>
            <p14:sldId id="5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330F3-E993-470F-AD6D-940DEB829968}" v="1" dt="2026-03-15T14:17:06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9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delSection modSection">
      <pc:chgData name="Matthieu De Mari" userId="dfb708c9-d8dc-439f-9a3b-c772bf4a311c" providerId="ADAL" clId="{81E9B007-0C2C-493E-9B93-55A62C9C1F12}" dt="2026-03-15T15:01:25.303" v="4011" actId="20577"/>
      <pc:docMkLst>
        <pc:docMk/>
      </pc:docMkLst>
      <pc:sldChg chg="modSp mod">
        <pc:chgData name="Matthieu De Mari" userId="dfb708c9-d8dc-439f-9a3b-c772bf4a311c" providerId="ADAL" clId="{81E9B007-0C2C-493E-9B93-55A62C9C1F12}" dt="2026-03-15T14:17:07.720" v="3807" actId="27636"/>
        <pc:sldMkLst>
          <pc:docMk/>
          <pc:sldMk cId="3338565690" sldId="264"/>
        </pc:sldMkLst>
        <pc:spChg chg="mod">
          <ac:chgData name="Matthieu De Mari" userId="dfb708c9-d8dc-439f-9a3b-c772bf4a311c" providerId="ADAL" clId="{81E9B007-0C2C-493E-9B93-55A62C9C1F12}" dt="2026-03-15T14:17:07.720" v="3807" actId="27636"/>
          <ac:spMkLst>
            <pc:docMk/>
            <pc:sldMk cId="3338565690" sldId="264"/>
            <ac:spMk id="13" creationId="{100642B6-C432-4551-A081-D2685D9CE257}"/>
          </ac:spMkLst>
        </pc:spChg>
      </pc:sldChg>
      <pc:sldChg chg="modSp mod">
        <pc:chgData name="Matthieu De Mari" userId="dfb708c9-d8dc-439f-9a3b-c772bf4a311c" providerId="ADAL" clId="{81E9B007-0C2C-493E-9B93-55A62C9C1F12}" dt="2026-03-15T14:18:35.151" v="3830" actId="20577"/>
        <pc:sldMkLst>
          <pc:docMk/>
          <pc:sldMk cId="1694737057" sldId="276"/>
        </pc:sldMkLst>
        <pc:spChg chg="mod">
          <ac:chgData name="Matthieu De Mari" userId="dfb708c9-d8dc-439f-9a3b-c772bf4a311c" providerId="ADAL" clId="{81E9B007-0C2C-493E-9B93-55A62C9C1F12}" dt="2026-03-15T14:18:35.151" v="3830" actId="20577"/>
          <ac:spMkLst>
            <pc:docMk/>
            <pc:sldMk cId="1694737057" sldId="276"/>
            <ac:spMk id="3" creationId="{C9C64C1D-F89A-4578-B4F7-6181FAC67178}"/>
          </ac:spMkLst>
        </pc:spChg>
      </pc:sldChg>
      <pc:sldChg chg="add del mod modShow">
        <pc:chgData name="Matthieu De Mari" userId="dfb708c9-d8dc-439f-9a3b-c772bf4a311c" providerId="ADAL" clId="{81E9B007-0C2C-493E-9B93-55A62C9C1F12}" dt="2026-03-15T14:18:17.036" v="3810" actId="729"/>
        <pc:sldMkLst>
          <pc:docMk/>
          <pc:sldMk cId="2161190178" sldId="299"/>
        </pc:sldMkLst>
      </pc:sldChg>
      <pc:sldChg chg="modSp mod">
        <pc:chgData name="Matthieu De Mari" userId="dfb708c9-d8dc-439f-9a3b-c772bf4a311c" providerId="ADAL" clId="{81E9B007-0C2C-493E-9B93-55A62C9C1F12}" dt="2026-03-15T15:01:25.303" v="4011" actId="20577"/>
        <pc:sldMkLst>
          <pc:docMk/>
          <pc:sldMk cId="1437705667" sldId="387"/>
        </pc:sldMkLst>
        <pc:spChg chg="mod">
          <ac:chgData name="Matthieu De Mari" userId="dfb708c9-d8dc-439f-9a3b-c772bf4a311c" providerId="ADAL" clId="{81E9B007-0C2C-493E-9B93-55A62C9C1F12}" dt="2026-03-15T15:01:25.303" v="4011" actId="20577"/>
          <ac:spMkLst>
            <pc:docMk/>
            <pc:sldMk cId="1437705667" sldId="387"/>
            <ac:spMk id="3" creationId="{00158227-B71F-87CC-D0F3-AE23B9DE10AA}"/>
          </ac:spMkLst>
        </pc:spChg>
      </pc:sldChg>
      <pc:sldChg chg="del mod modShow">
        <pc:chgData name="Matthieu De Mari" userId="dfb708c9-d8dc-439f-9a3b-c772bf4a311c" providerId="ADAL" clId="{81E9B007-0C2C-493E-9B93-55A62C9C1F12}" dt="2026-03-15T14:18:49.401" v="3832" actId="47"/>
        <pc:sldMkLst>
          <pc:docMk/>
          <pc:sldMk cId="3176757324" sldId="398"/>
        </pc:sldMkLst>
      </pc:sldChg>
      <pc:sldChg chg="modSp mod">
        <pc:chgData name="Matthieu De Mari" userId="dfb708c9-d8dc-439f-9a3b-c772bf4a311c" providerId="ADAL" clId="{81E9B007-0C2C-493E-9B93-55A62C9C1F12}" dt="2026-03-15T14:19:07.366" v="3851" actId="20577"/>
        <pc:sldMkLst>
          <pc:docMk/>
          <pc:sldMk cId="1676715781" sldId="399"/>
        </pc:sldMkLst>
        <pc:spChg chg="mod">
          <ac:chgData name="Matthieu De Mari" userId="dfb708c9-d8dc-439f-9a3b-c772bf4a311c" providerId="ADAL" clId="{81E9B007-0C2C-493E-9B93-55A62C9C1F12}" dt="2026-03-15T14:19:07.366" v="3851" actId="20577"/>
          <ac:spMkLst>
            <pc:docMk/>
            <pc:sldMk cId="1676715781" sldId="399"/>
            <ac:spMk id="4" creationId="{88798E55-5E88-863A-E590-8857F1B9337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9CD5B6-2E69-4C73-B794-76F70FDB2A5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104306D0-3A8A-49FB-B4F7-483AEE3B08E8}">
      <dgm:prSet phldrT="[Text]"/>
      <dgm:spPr/>
      <dgm:t>
        <a:bodyPr/>
        <a:lstStyle/>
        <a:p>
          <a:r>
            <a:rPr lang="en-GB" dirty="0"/>
            <a:t>Artificial intelligence</a:t>
          </a:r>
          <a:endParaRPr lang="en-SG" dirty="0"/>
        </a:p>
      </dgm:t>
    </dgm:pt>
    <dgm:pt modelId="{D52E967E-1588-44E9-B2EA-3A8EEF4F0001}" type="parTrans" cxnId="{FD34B811-D5B8-4964-B1EA-E7A8B7F54E19}">
      <dgm:prSet/>
      <dgm:spPr/>
      <dgm:t>
        <a:bodyPr/>
        <a:lstStyle/>
        <a:p>
          <a:endParaRPr lang="en-SG"/>
        </a:p>
      </dgm:t>
    </dgm:pt>
    <dgm:pt modelId="{EDFAEF29-F7A1-4665-97EA-CC41F5304347}" type="sibTrans" cxnId="{FD34B811-D5B8-4964-B1EA-E7A8B7F54E19}">
      <dgm:prSet/>
      <dgm:spPr/>
      <dgm:t>
        <a:bodyPr/>
        <a:lstStyle/>
        <a:p>
          <a:endParaRPr lang="en-SG"/>
        </a:p>
      </dgm:t>
    </dgm:pt>
    <dgm:pt modelId="{EED824A5-E231-46F4-88C7-DB795B0C840F}">
      <dgm:prSet phldrT="[Text]"/>
      <dgm:spPr/>
      <dgm:t>
        <a:bodyPr/>
        <a:lstStyle/>
        <a:p>
          <a:r>
            <a:rPr lang="en-GB" dirty="0"/>
            <a:t>Machine Learning</a:t>
          </a:r>
          <a:endParaRPr lang="en-SG" dirty="0"/>
        </a:p>
      </dgm:t>
    </dgm:pt>
    <dgm:pt modelId="{5C50D54F-9828-42E9-B013-F9C4AF23B0DE}" type="parTrans" cxnId="{8C4BEA51-C5BC-4BE5-B7A1-3C6EB014CE5F}">
      <dgm:prSet/>
      <dgm:spPr/>
      <dgm:t>
        <a:bodyPr/>
        <a:lstStyle/>
        <a:p>
          <a:endParaRPr lang="en-SG"/>
        </a:p>
      </dgm:t>
    </dgm:pt>
    <dgm:pt modelId="{CC992ECD-F8D0-464D-ACCE-131CCEDCD9DC}" type="sibTrans" cxnId="{8C4BEA51-C5BC-4BE5-B7A1-3C6EB014CE5F}">
      <dgm:prSet/>
      <dgm:spPr/>
      <dgm:t>
        <a:bodyPr/>
        <a:lstStyle/>
        <a:p>
          <a:endParaRPr lang="en-SG"/>
        </a:p>
      </dgm:t>
    </dgm:pt>
    <dgm:pt modelId="{BCE4C676-D709-46D1-AC02-4CDFDA47C515}">
      <dgm:prSet phldrT="[Text]"/>
      <dgm:spPr/>
      <dgm:t>
        <a:bodyPr/>
        <a:lstStyle/>
        <a:p>
          <a:r>
            <a:rPr lang="en-GB" dirty="0"/>
            <a:t>Neural Networks</a:t>
          </a:r>
          <a:endParaRPr lang="en-SG" dirty="0"/>
        </a:p>
      </dgm:t>
    </dgm:pt>
    <dgm:pt modelId="{A83AE9C8-973A-4B9D-B81C-DD68D07C2DFE}" type="parTrans" cxnId="{E5066507-AEC8-4CD6-9767-3A5D4E8B4D44}">
      <dgm:prSet/>
      <dgm:spPr/>
      <dgm:t>
        <a:bodyPr/>
        <a:lstStyle/>
        <a:p>
          <a:endParaRPr lang="en-SG"/>
        </a:p>
      </dgm:t>
    </dgm:pt>
    <dgm:pt modelId="{4C719ABB-8AAC-4615-9F42-64DD8BB3E053}" type="sibTrans" cxnId="{E5066507-AEC8-4CD6-9767-3A5D4E8B4D44}">
      <dgm:prSet/>
      <dgm:spPr/>
      <dgm:t>
        <a:bodyPr/>
        <a:lstStyle/>
        <a:p>
          <a:endParaRPr lang="en-SG"/>
        </a:p>
      </dgm:t>
    </dgm:pt>
    <dgm:pt modelId="{2AAAFBF7-83C7-479D-AC65-8C3488A6BFA8}">
      <dgm:prSet phldrT="[Text]"/>
      <dgm:spPr/>
      <dgm:t>
        <a:bodyPr/>
        <a:lstStyle/>
        <a:p>
          <a:r>
            <a:rPr lang="en-GB" dirty="0"/>
            <a:t>Deep Learning</a:t>
          </a:r>
          <a:endParaRPr lang="en-SG" dirty="0"/>
        </a:p>
      </dgm:t>
    </dgm:pt>
    <dgm:pt modelId="{A4467761-A0D9-4C09-9CA6-E346179BEDC8}" type="parTrans" cxnId="{CA957AA7-A0E1-49EE-BF60-5E25628389CD}">
      <dgm:prSet/>
      <dgm:spPr/>
      <dgm:t>
        <a:bodyPr/>
        <a:lstStyle/>
        <a:p>
          <a:endParaRPr lang="en-SG"/>
        </a:p>
      </dgm:t>
    </dgm:pt>
    <dgm:pt modelId="{E62172F1-3B23-43C3-96D2-C8E794DA35A0}" type="sibTrans" cxnId="{CA957AA7-A0E1-49EE-BF60-5E25628389CD}">
      <dgm:prSet/>
      <dgm:spPr/>
      <dgm:t>
        <a:bodyPr/>
        <a:lstStyle/>
        <a:p>
          <a:endParaRPr lang="en-SG"/>
        </a:p>
      </dgm:t>
    </dgm:pt>
    <dgm:pt modelId="{03DE1D20-29E8-4FA1-B5F1-5C555DDB98A1}" type="pres">
      <dgm:prSet presAssocID="{159CD5B6-2E69-4C73-B794-76F70FDB2A5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9603298-A817-4B69-A7CC-ACE624EE54EB}" type="pres">
      <dgm:prSet presAssocID="{104306D0-3A8A-49FB-B4F7-483AEE3B08E8}" presName="circle1" presStyleLbl="node1" presStyleIdx="0" presStyleCnt="4"/>
      <dgm:spPr/>
    </dgm:pt>
    <dgm:pt modelId="{ACED1C0C-8BDF-406E-A4FB-C18C62C53904}" type="pres">
      <dgm:prSet presAssocID="{104306D0-3A8A-49FB-B4F7-483AEE3B08E8}" presName="space" presStyleCnt="0"/>
      <dgm:spPr/>
    </dgm:pt>
    <dgm:pt modelId="{4B64177B-3AAD-407C-81EB-47E5DE27D2FD}" type="pres">
      <dgm:prSet presAssocID="{104306D0-3A8A-49FB-B4F7-483AEE3B08E8}" presName="rect1" presStyleLbl="alignAcc1" presStyleIdx="0" presStyleCnt="4" custLinFactX="49537" custLinFactNeighborX="100000" custLinFactNeighborY="-63851"/>
      <dgm:spPr/>
    </dgm:pt>
    <dgm:pt modelId="{692DD63C-0FF1-4F35-893E-4F53D083F70B}" type="pres">
      <dgm:prSet presAssocID="{EED824A5-E231-46F4-88C7-DB795B0C840F}" presName="vertSpace2" presStyleLbl="node1" presStyleIdx="0" presStyleCnt="4"/>
      <dgm:spPr/>
    </dgm:pt>
    <dgm:pt modelId="{82D0C9BC-AB35-41ED-B5AA-19E1A0BC3DB9}" type="pres">
      <dgm:prSet presAssocID="{EED824A5-E231-46F4-88C7-DB795B0C840F}" presName="circle2" presStyleLbl="node1" presStyleIdx="1" presStyleCnt="4"/>
      <dgm:spPr/>
    </dgm:pt>
    <dgm:pt modelId="{0EF61DF8-F923-4D5C-8375-DF1BCAF7B5F6}" type="pres">
      <dgm:prSet presAssocID="{EED824A5-E231-46F4-88C7-DB795B0C840F}" presName="rect2" presStyleLbl="alignAcc1" presStyleIdx="1" presStyleCnt="4"/>
      <dgm:spPr/>
    </dgm:pt>
    <dgm:pt modelId="{B680FBA8-38B0-43B6-9489-BD39087633B2}" type="pres">
      <dgm:prSet presAssocID="{BCE4C676-D709-46D1-AC02-4CDFDA47C515}" presName="vertSpace3" presStyleLbl="node1" presStyleIdx="1" presStyleCnt="4"/>
      <dgm:spPr/>
    </dgm:pt>
    <dgm:pt modelId="{D6E232F9-A506-41A3-9B36-CE9DEC8D4034}" type="pres">
      <dgm:prSet presAssocID="{BCE4C676-D709-46D1-AC02-4CDFDA47C515}" presName="circle3" presStyleLbl="node1" presStyleIdx="2" presStyleCnt="4"/>
      <dgm:spPr/>
    </dgm:pt>
    <dgm:pt modelId="{D0639CE7-4EB7-41D0-82BF-E6CBF2145603}" type="pres">
      <dgm:prSet presAssocID="{BCE4C676-D709-46D1-AC02-4CDFDA47C515}" presName="rect3" presStyleLbl="alignAcc1" presStyleIdx="2" presStyleCnt="4"/>
      <dgm:spPr/>
    </dgm:pt>
    <dgm:pt modelId="{AF318DB6-73F6-4E86-B3D7-B7AE913E339A}" type="pres">
      <dgm:prSet presAssocID="{2AAAFBF7-83C7-479D-AC65-8C3488A6BFA8}" presName="vertSpace4" presStyleLbl="node1" presStyleIdx="2" presStyleCnt="4"/>
      <dgm:spPr/>
    </dgm:pt>
    <dgm:pt modelId="{DBC2DDC1-AE94-4F82-BDDC-398D3F9B144A}" type="pres">
      <dgm:prSet presAssocID="{2AAAFBF7-83C7-479D-AC65-8C3488A6BFA8}" presName="circle4" presStyleLbl="node1" presStyleIdx="3" presStyleCnt="4"/>
      <dgm:spPr/>
    </dgm:pt>
    <dgm:pt modelId="{C32C61C9-97BE-43E6-94DF-2C93AA227736}" type="pres">
      <dgm:prSet presAssocID="{2AAAFBF7-83C7-479D-AC65-8C3488A6BFA8}" presName="rect4" presStyleLbl="alignAcc1" presStyleIdx="3" presStyleCnt="4"/>
      <dgm:spPr/>
    </dgm:pt>
    <dgm:pt modelId="{A32EB1EA-449B-48C9-8704-957B4DD88C1A}" type="pres">
      <dgm:prSet presAssocID="{104306D0-3A8A-49FB-B4F7-483AEE3B08E8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25AF7C3F-C9D5-49B3-966D-C9BE736AAA6D}" type="pres">
      <dgm:prSet presAssocID="{EED824A5-E231-46F4-88C7-DB795B0C840F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D9F42932-1A8D-44DC-A481-2E68B1C8C205}" type="pres">
      <dgm:prSet presAssocID="{BCE4C676-D709-46D1-AC02-4CDFDA47C515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482B82DC-F7FE-4673-9C60-BFEB7B895B63}" type="pres">
      <dgm:prSet presAssocID="{2AAAFBF7-83C7-479D-AC65-8C3488A6BFA8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E5066507-AEC8-4CD6-9767-3A5D4E8B4D44}" srcId="{159CD5B6-2E69-4C73-B794-76F70FDB2A55}" destId="{BCE4C676-D709-46D1-AC02-4CDFDA47C515}" srcOrd="2" destOrd="0" parTransId="{A83AE9C8-973A-4B9D-B81C-DD68D07C2DFE}" sibTransId="{4C719ABB-8AAC-4615-9F42-64DD8BB3E053}"/>
    <dgm:cxn modelId="{38B60E0A-3875-4560-ADAF-1D5BD1A2BD6E}" type="presOf" srcId="{2AAAFBF7-83C7-479D-AC65-8C3488A6BFA8}" destId="{482B82DC-F7FE-4673-9C60-BFEB7B895B63}" srcOrd="1" destOrd="0" presId="urn:microsoft.com/office/officeart/2005/8/layout/target3"/>
    <dgm:cxn modelId="{FD34B811-D5B8-4964-B1EA-E7A8B7F54E19}" srcId="{159CD5B6-2E69-4C73-B794-76F70FDB2A55}" destId="{104306D0-3A8A-49FB-B4F7-483AEE3B08E8}" srcOrd="0" destOrd="0" parTransId="{D52E967E-1588-44E9-B2EA-3A8EEF4F0001}" sibTransId="{EDFAEF29-F7A1-4665-97EA-CC41F5304347}"/>
    <dgm:cxn modelId="{048DEE16-1D6F-40FC-B275-9BE7BF460DB1}" type="presOf" srcId="{EED824A5-E231-46F4-88C7-DB795B0C840F}" destId="{0EF61DF8-F923-4D5C-8375-DF1BCAF7B5F6}" srcOrd="0" destOrd="0" presId="urn:microsoft.com/office/officeart/2005/8/layout/target3"/>
    <dgm:cxn modelId="{1132A734-07AE-4970-898A-EAA2463C6CC9}" type="presOf" srcId="{BCE4C676-D709-46D1-AC02-4CDFDA47C515}" destId="{D9F42932-1A8D-44DC-A481-2E68B1C8C205}" srcOrd="1" destOrd="0" presId="urn:microsoft.com/office/officeart/2005/8/layout/target3"/>
    <dgm:cxn modelId="{8C4BEA51-C5BC-4BE5-B7A1-3C6EB014CE5F}" srcId="{159CD5B6-2E69-4C73-B794-76F70FDB2A55}" destId="{EED824A5-E231-46F4-88C7-DB795B0C840F}" srcOrd="1" destOrd="0" parTransId="{5C50D54F-9828-42E9-B013-F9C4AF23B0DE}" sibTransId="{CC992ECD-F8D0-464D-ACCE-131CCEDCD9DC}"/>
    <dgm:cxn modelId="{0393E277-CEFA-4A96-AE8F-B8BD1A9F9FBF}" type="presOf" srcId="{159CD5B6-2E69-4C73-B794-76F70FDB2A55}" destId="{03DE1D20-29E8-4FA1-B5F1-5C555DDB98A1}" srcOrd="0" destOrd="0" presId="urn:microsoft.com/office/officeart/2005/8/layout/target3"/>
    <dgm:cxn modelId="{EC36849D-025A-42F1-AE09-2817278DAC90}" type="presOf" srcId="{104306D0-3A8A-49FB-B4F7-483AEE3B08E8}" destId="{4B64177B-3AAD-407C-81EB-47E5DE27D2FD}" srcOrd="0" destOrd="0" presId="urn:microsoft.com/office/officeart/2005/8/layout/target3"/>
    <dgm:cxn modelId="{CA957AA7-A0E1-49EE-BF60-5E25628389CD}" srcId="{159CD5B6-2E69-4C73-B794-76F70FDB2A55}" destId="{2AAAFBF7-83C7-479D-AC65-8C3488A6BFA8}" srcOrd="3" destOrd="0" parTransId="{A4467761-A0D9-4C09-9CA6-E346179BEDC8}" sibTransId="{E62172F1-3B23-43C3-96D2-C8E794DA35A0}"/>
    <dgm:cxn modelId="{0FF7D9A7-4642-4FC4-8653-51E11E311AB9}" type="presOf" srcId="{2AAAFBF7-83C7-479D-AC65-8C3488A6BFA8}" destId="{C32C61C9-97BE-43E6-94DF-2C93AA227736}" srcOrd="0" destOrd="0" presId="urn:microsoft.com/office/officeart/2005/8/layout/target3"/>
    <dgm:cxn modelId="{543C51B2-2E8A-47BA-93BC-FEB8034F8405}" type="presOf" srcId="{BCE4C676-D709-46D1-AC02-4CDFDA47C515}" destId="{D0639CE7-4EB7-41D0-82BF-E6CBF2145603}" srcOrd="0" destOrd="0" presId="urn:microsoft.com/office/officeart/2005/8/layout/target3"/>
    <dgm:cxn modelId="{5980DBC7-A72B-44A2-9045-B0E166235376}" type="presOf" srcId="{104306D0-3A8A-49FB-B4F7-483AEE3B08E8}" destId="{A32EB1EA-449B-48C9-8704-957B4DD88C1A}" srcOrd="1" destOrd="0" presId="urn:microsoft.com/office/officeart/2005/8/layout/target3"/>
    <dgm:cxn modelId="{04B582EF-9DBA-49DA-A51F-68402758BECA}" type="presOf" srcId="{EED824A5-E231-46F4-88C7-DB795B0C840F}" destId="{25AF7C3F-C9D5-49B3-966D-C9BE736AAA6D}" srcOrd="1" destOrd="0" presId="urn:microsoft.com/office/officeart/2005/8/layout/target3"/>
    <dgm:cxn modelId="{42B90ACC-AB08-4AF3-803F-F5F801BBE95D}" type="presParOf" srcId="{03DE1D20-29E8-4FA1-B5F1-5C555DDB98A1}" destId="{49603298-A817-4B69-A7CC-ACE624EE54EB}" srcOrd="0" destOrd="0" presId="urn:microsoft.com/office/officeart/2005/8/layout/target3"/>
    <dgm:cxn modelId="{83F7434A-3A32-4C5A-A35B-EF17AF155E20}" type="presParOf" srcId="{03DE1D20-29E8-4FA1-B5F1-5C555DDB98A1}" destId="{ACED1C0C-8BDF-406E-A4FB-C18C62C53904}" srcOrd="1" destOrd="0" presId="urn:microsoft.com/office/officeart/2005/8/layout/target3"/>
    <dgm:cxn modelId="{ECDDE5BB-152E-42E1-837B-D1B09AC1BAD9}" type="presParOf" srcId="{03DE1D20-29E8-4FA1-B5F1-5C555DDB98A1}" destId="{4B64177B-3AAD-407C-81EB-47E5DE27D2FD}" srcOrd="2" destOrd="0" presId="urn:microsoft.com/office/officeart/2005/8/layout/target3"/>
    <dgm:cxn modelId="{4BCEAC5C-638D-4D93-860F-99532470697F}" type="presParOf" srcId="{03DE1D20-29E8-4FA1-B5F1-5C555DDB98A1}" destId="{692DD63C-0FF1-4F35-893E-4F53D083F70B}" srcOrd="3" destOrd="0" presId="urn:microsoft.com/office/officeart/2005/8/layout/target3"/>
    <dgm:cxn modelId="{322AC884-0FBB-45A8-8533-599EAEE1E2BC}" type="presParOf" srcId="{03DE1D20-29E8-4FA1-B5F1-5C555DDB98A1}" destId="{82D0C9BC-AB35-41ED-B5AA-19E1A0BC3DB9}" srcOrd="4" destOrd="0" presId="urn:microsoft.com/office/officeart/2005/8/layout/target3"/>
    <dgm:cxn modelId="{917B7D63-7E60-458E-8F90-4782C82802DA}" type="presParOf" srcId="{03DE1D20-29E8-4FA1-B5F1-5C555DDB98A1}" destId="{0EF61DF8-F923-4D5C-8375-DF1BCAF7B5F6}" srcOrd="5" destOrd="0" presId="urn:microsoft.com/office/officeart/2005/8/layout/target3"/>
    <dgm:cxn modelId="{65CD77EA-72DA-4721-96ED-7EDE4C118E9E}" type="presParOf" srcId="{03DE1D20-29E8-4FA1-B5F1-5C555DDB98A1}" destId="{B680FBA8-38B0-43B6-9489-BD39087633B2}" srcOrd="6" destOrd="0" presId="urn:microsoft.com/office/officeart/2005/8/layout/target3"/>
    <dgm:cxn modelId="{5159D7A5-76EF-497F-B7D8-3CF300AC2E60}" type="presParOf" srcId="{03DE1D20-29E8-4FA1-B5F1-5C555DDB98A1}" destId="{D6E232F9-A506-41A3-9B36-CE9DEC8D4034}" srcOrd="7" destOrd="0" presId="urn:microsoft.com/office/officeart/2005/8/layout/target3"/>
    <dgm:cxn modelId="{547F72F9-2F61-496F-8B7F-34BDA10424FC}" type="presParOf" srcId="{03DE1D20-29E8-4FA1-B5F1-5C555DDB98A1}" destId="{D0639CE7-4EB7-41D0-82BF-E6CBF2145603}" srcOrd="8" destOrd="0" presId="urn:microsoft.com/office/officeart/2005/8/layout/target3"/>
    <dgm:cxn modelId="{BDC0B71D-B685-4E70-8846-9A2B29F3261C}" type="presParOf" srcId="{03DE1D20-29E8-4FA1-B5F1-5C555DDB98A1}" destId="{AF318DB6-73F6-4E86-B3D7-B7AE913E339A}" srcOrd="9" destOrd="0" presId="urn:microsoft.com/office/officeart/2005/8/layout/target3"/>
    <dgm:cxn modelId="{C2B30010-A12D-42A2-A855-4C7868F303C7}" type="presParOf" srcId="{03DE1D20-29E8-4FA1-B5F1-5C555DDB98A1}" destId="{DBC2DDC1-AE94-4F82-BDDC-398D3F9B144A}" srcOrd="10" destOrd="0" presId="urn:microsoft.com/office/officeart/2005/8/layout/target3"/>
    <dgm:cxn modelId="{A94408F5-E2B1-4292-830D-0EDC90AA2B76}" type="presParOf" srcId="{03DE1D20-29E8-4FA1-B5F1-5C555DDB98A1}" destId="{C32C61C9-97BE-43E6-94DF-2C93AA227736}" srcOrd="11" destOrd="0" presId="urn:microsoft.com/office/officeart/2005/8/layout/target3"/>
    <dgm:cxn modelId="{B9165EB6-966A-4F84-B51B-86A8F4D9474B}" type="presParOf" srcId="{03DE1D20-29E8-4FA1-B5F1-5C555DDB98A1}" destId="{A32EB1EA-449B-48C9-8704-957B4DD88C1A}" srcOrd="12" destOrd="0" presId="urn:microsoft.com/office/officeart/2005/8/layout/target3"/>
    <dgm:cxn modelId="{D1538CFF-0994-4EE6-B8FC-E7344E59FBCF}" type="presParOf" srcId="{03DE1D20-29E8-4FA1-B5F1-5C555DDB98A1}" destId="{25AF7C3F-C9D5-49B3-966D-C9BE736AAA6D}" srcOrd="13" destOrd="0" presId="urn:microsoft.com/office/officeart/2005/8/layout/target3"/>
    <dgm:cxn modelId="{655DF406-F593-4EC3-A850-94B0D9036F75}" type="presParOf" srcId="{03DE1D20-29E8-4FA1-B5F1-5C555DDB98A1}" destId="{D9F42932-1A8D-44DC-A481-2E68B1C8C205}" srcOrd="14" destOrd="0" presId="urn:microsoft.com/office/officeart/2005/8/layout/target3"/>
    <dgm:cxn modelId="{2D7B08E4-D6AA-45F1-803C-2CC1E620BE1B}" type="presParOf" srcId="{03DE1D20-29E8-4FA1-B5F1-5C555DDB98A1}" destId="{482B82DC-F7FE-4673-9C60-BFEB7B895B63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47C97-F4C1-42C6-BEB2-FC13112153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BE86BF3-D341-4155-9484-306A3B20C10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Input (</a:t>
          </a:r>
          <a:r>
            <a:rPr lang="fr-FR" dirty="0" err="1"/>
            <a:t>Given</a:t>
          </a:r>
          <a:r>
            <a:rPr lang="fr-FR" dirty="0"/>
            <a:t>)</a:t>
          </a:r>
        </a:p>
      </dgm:t>
    </dgm:pt>
    <dgm:pt modelId="{6EB35FA6-7C13-4889-AEB9-1C80013BD367}" type="parTrans" cxnId="{A2076AF0-E5F5-4FEA-8C3A-45FA8AD83D60}">
      <dgm:prSet/>
      <dgm:spPr/>
      <dgm:t>
        <a:bodyPr/>
        <a:lstStyle/>
        <a:p>
          <a:endParaRPr lang="fr-FR"/>
        </a:p>
      </dgm:t>
    </dgm:pt>
    <dgm:pt modelId="{ABB67F8B-DEC3-4D09-9E17-3A37C7506A51}" type="sibTrans" cxnId="{A2076AF0-E5F5-4FEA-8C3A-45FA8AD83D60}">
      <dgm:prSet/>
      <dgm:spPr/>
      <dgm:t>
        <a:bodyPr/>
        <a:lstStyle/>
        <a:p>
          <a:endParaRPr lang="fr-FR"/>
        </a:p>
      </dgm:t>
    </dgm:pt>
    <dgm:pt modelId="{3C134AC3-C6F5-4ABB-8FA1-78D409436E6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 err="1"/>
            <a:t>Function</a:t>
          </a:r>
          <a:endParaRPr lang="fr-FR" dirty="0"/>
        </a:p>
        <a:p>
          <a:r>
            <a:rPr lang="fr-FR" dirty="0"/>
            <a:t>(</a:t>
          </a:r>
          <a:r>
            <a:rPr lang="fr-FR" dirty="0" err="1"/>
            <a:t>Created</a:t>
          </a:r>
          <a:r>
            <a:rPr lang="fr-FR" dirty="0"/>
            <a:t>)</a:t>
          </a:r>
        </a:p>
      </dgm:t>
    </dgm:pt>
    <dgm:pt modelId="{8676FC33-775E-4430-AD1D-0806E3A69C3B}" type="parTrans" cxnId="{BDCE60FB-719B-45D4-8E9C-00C4009E7530}">
      <dgm:prSet/>
      <dgm:spPr/>
      <dgm:t>
        <a:bodyPr/>
        <a:lstStyle/>
        <a:p>
          <a:endParaRPr lang="fr-FR"/>
        </a:p>
      </dgm:t>
    </dgm:pt>
    <dgm:pt modelId="{3DFA66E1-F929-47B6-9416-F195AE18DE4A}" type="sibTrans" cxnId="{BDCE60FB-719B-45D4-8E9C-00C4009E7530}">
      <dgm:prSet/>
      <dgm:spPr/>
      <dgm:t>
        <a:bodyPr/>
        <a:lstStyle/>
        <a:p>
          <a:endParaRPr lang="fr-FR"/>
        </a:p>
      </dgm:t>
    </dgm:pt>
    <dgm:pt modelId="{ED9451A4-6723-4A3E-BB22-0D9B915F5821}">
      <dgm:prSet phldrT="[Text]"/>
      <dgm:spPr>
        <a:solidFill>
          <a:srgbClr val="C00000"/>
        </a:solidFill>
      </dgm:spPr>
      <dgm:t>
        <a:bodyPr/>
        <a:lstStyle/>
        <a:p>
          <a:r>
            <a:rPr lang="fr-FR" dirty="0"/>
            <a:t>Output</a:t>
          </a:r>
        </a:p>
        <a:p>
          <a:r>
            <a:rPr lang="fr-FR" dirty="0"/>
            <a:t>(</a:t>
          </a:r>
          <a:r>
            <a:rPr lang="fr-FR" dirty="0" err="1"/>
            <a:t>Obtained</a:t>
          </a:r>
          <a:r>
            <a:rPr lang="fr-FR" dirty="0"/>
            <a:t>)</a:t>
          </a:r>
        </a:p>
      </dgm:t>
    </dgm:pt>
    <dgm:pt modelId="{C9961E67-019C-48A8-953D-6DB9DBD191D6}" type="parTrans" cxnId="{E93A3E40-822A-49E3-BB7F-9F11F45D10D2}">
      <dgm:prSet/>
      <dgm:spPr/>
      <dgm:t>
        <a:bodyPr/>
        <a:lstStyle/>
        <a:p>
          <a:endParaRPr lang="fr-FR"/>
        </a:p>
      </dgm:t>
    </dgm:pt>
    <dgm:pt modelId="{F4CD8F25-0B8B-4356-8181-23C92E32B6F4}" type="sibTrans" cxnId="{E93A3E40-822A-49E3-BB7F-9F11F45D10D2}">
      <dgm:prSet/>
      <dgm:spPr/>
      <dgm:t>
        <a:bodyPr/>
        <a:lstStyle/>
        <a:p>
          <a:endParaRPr lang="fr-FR"/>
        </a:p>
      </dgm:t>
    </dgm:pt>
    <dgm:pt modelId="{64323CED-4B76-470C-968C-F1E81F93F046}" type="pres">
      <dgm:prSet presAssocID="{66E47C97-F4C1-42C6-BEB2-FC13112153AE}" presName="Name0" presStyleCnt="0">
        <dgm:presLayoutVars>
          <dgm:dir/>
          <dgm:resizeHandles val="exact"/>
        </dgm:presLayoutVars>
      </dgm:prSet>
      <dgm:spPr/>
    </dgm:pt>
    <dgm:pt modelId="{83E38CBC-CC3E-40D3-B584-F97F97FA64F6}" type="pres">
      <dgm:prSet presAssocID="{5BE86BF3-D341-4155-9484-306A3B20C102}" presName="node" presStyleLbl="node1" presStyleIdx="0" presStyleCnt="3">
        <dgm:presLayoutVars>
          <dgm:bulletEnabled val="1"/>
        </dgm:presLayoutVars>
      </dgm:prSet>
      <dgm:spPr/>
    </dgm:pt>
    <dgm:pt modelId="{5CD182C0-800E-432C-8B73-854A903CC72D}" type="pres">
      <dgm:prSet presAssocID="{ABB67F8B-DEC3-4D09-9E17-3A37C7506A51}" presName="sibTrans" presStyleLbl="sibTrans2D1" presStyleIdx="0" presStyleCnt="2"/>
      <dgm:spPr/>
    </dgm:pt>
    <dgm:pt modelId="{D8051973-2211-4448-A4B9-4F6B25297EDD}" type="pres">
      <dgm:prSet presAssocID="{ABB67F8B-DEC3-4D09-9E17-3A37C7506A51}" presName="connectorText" presStyleLbl="sibTrans2D1" presStyleIdx="0" presStyleCnt="2"/>
      <dgm:spPr/>
    </dgm:pt>
    <dgm:pt modelId="{3C5C6723-04AD-4C68-9F49-07CB9D90BE94}" type="pres">
      <dgm:prSet presAssocID="{3C134AC3-C6F5-4ABB-8FA1-78D409436E64}" presName="node" presStyleLbl="node1" presStyleIdx="1" presStyleCnt="3">
        <dgm:presLayoutVars>
          <dgm:bulletEnabled val="1"/>
        </dgm:presLayoutVars>
      </dgm:prSet>
      <dgm:spPr/>
    </dgm:pt>
    <dgm:pt modelId="{612254E6-4C17-4782-95A1-649BB671D6BB}" type="pres">
      <dgm:prSet presAssocID="{3DFA66E1-F929-47B6-9416-F195AE18DE4A}" presName="sibTrans" presStyleLbl="sibTrans2D1" presStyleIdx="1" presStyleCnt="2"/>
      <dgm:spPr/>
    </dgm:pt>
    <dgm:pt modelId="{6DAE01C6-F71E-4AF2-99DB-1214DCF063A6}" type="pres">
      <dgm:prSet presAssocID="{3DFA66E1-F929-47B6-9416-F195AE18DE4A}" presName="connectorText" presStyleLbl="sibTrans2D1" presStyleIdx="1" presStyleCnt="2"/>
      <dgm:spPr/>
    </dgm:pt>
    <dgm:pt modelId="{04100F71-2CD1-4228-86AA-477CAA37CF23}" type="pres">
      <dgm:prSet presAssocID="{ED9451A4-6723-4A3E-BB22-0D9B915F5821}" presName="node" presStyleLbl="node1" presStyleIdx="2" presStyleCnt="3">
        <dgm:presLayoutVars>
          <dgm:bulletEnabled val="1"/>
        </dgm:presLayoutVars>
      </dgm:prSet>
      <dgm:spPr/>
    </dgm:pt>
  </dgm:ptLst>
  <dgm:cxnLst>
    <dgm:cxn modelId="{D4637A09-D4EC-4E7F-9777-0A233ABD818D}" type="presOf" srcId="{ABB67F8B-DEC3-4D09-9E17-3A37C7506A51}" destId="{D8051973-2211-4448-A4B9-4F6B25297EDD}" srcOrd="1" destOrd="0" presId="urn:microsoft.com/office/officeart/2005/8/layout/process1"/>
    <dgm:cxn modelId="{C748F50C-14D1-4A5D-8190-9B27234876CD}" type="presOf" srcId="{ED9451A4-6723-4A3E-BB22-0D9B915F5821}" destId="{04100F71-2CD1-4228-86AA-477CAA37CF23}" srcOrd="0" destOrd="0" presId="urn:microsoft.com/office/officeart/2005/8/layout/process1"/>
    <dgm:cxn modelId="{0035093C-C95E-43D8-B326-8EBC6C670E0C}" type="presOf" srcId="{3C134AC3-C6F5-4ABB-8FA1-78D409436E64}" destId="{3C5C6723-04AD-4C68-9F49-07CB9D90BE94}" srcOrd="0" destOrd="0" presId="urn:microsoft.com/office/officeart/2005/8/layout/process1"/>
    <dgm:cxn modelId="{E93A3E40-822A-49E3-BB7F-9F11F45D10D2}" srcId="{66E47C97-F4C1-42C6-BEB2-FC13112153AE}" destId="{ED9451A4-6723-4A3E-BB22-0D9B915F5821}" srcOrd="2" destOrd="0" parTransId="{C9961E67-019C-48A8-953D-6DB9DBD191D6}" sibTransId="{F4CD8F25-0B8B-4356-8181-23C92E32B6F4}"/>
    <dgm:cxn modelId="{89B69F4B-629A-4A33-B31E-A94DEBFA9690}" type="presOf" srcId="{ABB67F8B-DEC3-4D09-9E17-3A37C7506A51}" destId="{5CD182C0-800E-432C-8B73-854A903CC72D}" srcOrd="0" destOrd="0" presId="urn:microsoft.com/office/officeart/2005/8/layout/process1"/>
    <dgm:cxn modelId="{53E70178-87C5-43FA-90D1-FFD0D01BA7AD}" type="presOf" srcId="{5BE86BF3-D341-4155-9484-306A3B20C102}" destId="{83E38CBC-CC3E-40D3-B584-F97F97FA64F6}" srcOrd="0" destOrd="0" presId="urn:microsoft.com/office/officeart/2005/8/layout/process1"/>
    <dgm:cxn modelId="{D88736D8-7912-4963-B7D4-11B91A973DC7}" type="presOf" srcId="{3DFA66E1-F929-47B6-9416-F195AE18DE4A}" destId="{612254E6-4C17-4782-95A1-649BB671D6BB}" srcOrd="0" destOrd="0" presId="urn:microsoft.com/office/officeart/2005/8/layout/process1"/>
    <dgm:cxn modelId="{446FA0E4-0BCC-432C-A377-15B5785B110C}" type="presOf" srcId="{66E47C97-F4C1-42C6-BEB2-FC13112153AE}" destId="{64323CED-4B76-470C-968C-F1E81F93F046}" srcOrd="0" destOrd="0" presId="urn:microsoft.com/office/officeart/2005/8/layout/process1"/>
    <dgm:cxn modelId="{4B7F0CED-53AB-46D7-B6A9-7A6BE48865D2}" type="presOf" srcId="{3DFA66E1-F929-47B6-9416-F195AE18DE4A}" destId="{6DAE01C6-F71E-4AF2-99DB-1214DCF063A6}" srcOrd="1" destOrd="0" presId="urn:microsoft.com/office/officeart/2005/8/layout/process1"/>
    <dgm:cxn modelId="{A2076AF0-E5F5-4FEA-8C3A-45FA8AD83D60}" srcId="{66E47C97-F4C1-42C6-BEB2-FC13112153AE}" destId="{5BE86BF3-D341-4155-9484-306A3B20C102}" srcOrd="0" destOrd="0" parTransId="{6EB35FA6-7C13-4889-AEB9-1C80013BD367}" sibTransId="{ABB67F8B-DEC3-4D09-9E17-3A37C7506A51}"/>
    <dgm:cxn modelId="{BDCE60FB-719B-45D4-8E9C-00C4009E7530}" srcId="{66E47C97-F4C1-42C6-BEB2-FC13112153AE}" destId="{3C134AC3-C6F5-4ABB-8FA1-78D409436E64}" srcOrd="1" destOrd="0" parTransId="{8676FC33-775E-4430-AD1D-0806E3A69C3B}" sibTransId="{3DFA66E1-F929-47B6-9416-F195AE18DE4A}"/>
    <dgm:cxn modelId="{21F98D6F-B222-471C-88CF-C39E7E161B2B}" type="presParOf" srcId="{64323CED-4B76-470C-968C-F1E81F93F046}" destId="{83E38CBC-CC3E-40D3-B584-F97F97FA64F6}" srcOrd="0" destOrd="0" presId="urn:microsoft.com/office/officeart/2005/8/layout/process1"/>
    <dgm:cxn modelId="{DE18B930-543F-4B39-BF80-54B179410BF2}" type="presParOf" srcId="{64323CED-4B76-470C-968C-F1E81F93F046}" destId="{5CD182C0-800E-432C-8B73-854A903CC72D}" srcOrd="1" destOrd="0" presId="urn:microsoft.com/office/officeart/2005/8/layout/process1"/>
    <dgm:cxn modelId="{72F5816F-9A0E-4C9C-9A1D-CDBA3CA2C5E8}" type="presParOf" srcId="{5CD182C0-800E-432C-8B73-854A903CC72D}" destId="{D8051973-2211-4448-A4B9-4F6B25297EDD}" srcOrd="0" destOrd="0" presId="urn:microsoft.com/office/officeart/2005/8/layout/process1"/>
    <dgm:cxn modelId="{9A2A168D-6CB5-4AA1-B250-71485F946E2E}" type="presParOf" srcId="{64323CED-4B76-470C-968C-F1E81F93F046}" destId="{3C5C6723-04AD-4C68-9F49-07CB9D90BE94}" srcOrd="2" destOrd="0" presId="urn:microsoft.com/office/officeart/2005/8/layout/process1"/>
    <dgm:cxn modelId="{F8723296-1C36-460D-BD96-DB978ED852DB}" type="presParOf" srcId="{64323CED-4B76-470C-968C-F1E81F93F046}" destId="{612254E6-4C17-4782-95A1-649BB671D6BB}" srcOrd="3" destOrd="0" presId="urn:microsoft.com/office/officeart/2005/8/layout/process1"/>
    <dgm:cxn modelId="{E7168600-118F-490B-992C-536E26BD6CCA}" type="presParOf" srcId="{612254E6-4C17-4782-95A1-649BB671D6BB}" destId="{6DAE01C6-F71E-4AF2-99DB-1214DCF063A6}" srcOrd="0" destOrd="0" presId="urn:microsoft.com/office/officeart/2005/8/layout/process1"/>
    <dgm:cxn modelId="{A0CCDE21-BC6B-4E08-8900-FD26D63DB5DD}" type="presParOf" srcId="{64323CED-4B76-470C-968C-F1E81F93F046}" destId="{04100F71-2CD1-4228-86AA-477CAA37CF2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E47C97-F4C1-42C6-BEB2-FC13112153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BE86BF3-D341-4155-9484-306A3B20C10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Input 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6EB35FA6-7C13-4889-AEB9-1C80013BD367}" type="parTrans" cxnId="{A2076AF0-E5F5-4FEA-8C3A-45FA8AD83D60}">
      <dgm:prSet/>
      <dgm:spPr/>
      <dgm:t>
        <a:bodyPr/>
        <a:lstStyle/>
        <a:p>
          <a:endParaRPr lang="fr-FR"/>
        </a:p>
      </dgm:t>
    </dgm:pt>
    <dgm:pt modelId="{ABB67F8B-DEC3-4D09-9E17-3A37C7506A51}" type="sibTrans" cxnId="{A2076AF0-E5F5-4FEA-8C3A-45FA8AD83D60}">
      <dgm:prSet/>
      <dgm:spPr/>
      <dgm:t>
        <a:bodyPr/>
        <a:lstStyle/>
        <a:p>
          <a:endParaRPr lang="fr-FR"/>
        </a:p>
      </dgm:t>
    </dgm:pt>
    <dgm:pt modelId="{3C134AC3-C6F5-4ABB-8FA1-78D409436E64}">
      <dgm:prSet phldrT="[Text]"/>
      <dgm:spPr>
        <a:solidFill>
          <a:srgbClr val="C00000"/>
        </a:solidFill>
      </dgm:spPr>
      <dgm:t>
        <a:bodyPr/>
        <a:lstStyle/>
        <a:p>
          <a:r>
            <a:rPr lang="fr-FR" dirty="0" err="1"/>
            <a:t>Function</a:t>
          </a:r>
          <a:endParaRPr lang="fr-FR" dirty="0"/>
        </a:p>
        <a:p>
          <a:r>
            <a:rPr lang="fr-FR" dirty="0"/>
            <a:t>(?)</a:t>
          </a:r>
        </a:p>
      </dgm:t>
    </dgm:pt>
    <dgm:pt modelId="{8676FC33-775E-4430-AD1D-0806E3A69C3B}" type="parTrans" cxnId="{BDCE60FB-719B-45D4-8E9C-00C4009E7530}">
      <dgm:prSet/>
      <dgm:spPr/>
      <dgm:t>
        <a:bodyPr/>
        <a:lstStyle/>
        <a:p>
          <a:endParaRPr lang="fr-FR"/>
        </a:p>
      </dgm:t>
    </dgm:pt>
    <dgm:pt modelId="{3DFA66E1-F929-47B6-9416-F195AE18DE4A}" type="sibTrans" cxnId="{BDCE60FB-719B-45D4-8E9C-00C4009E7530}">
      <dgm:prSet/>
      <dgm:spPr/>
      <dgm:t>
        <a:bodyPr/>
        <a:lstStyle/>
        <a:p>
          <a:endParaRPr lang="fr-FR"/>
        </a:p>
      </dgm:t>
    </dgm:pt>
    <dgm:pt modelId="{ED9451A4-6723-4A3E-BB22-0D9B915F5821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Output</a:t>
          </a:r>
        </a:p>
        <a:p>
          <a:r>
            <a:rPr lang="fr-FR" dirty="0"/>
            <a:t>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C9961E67-019C-48A8-953D-6DB9DBD191D6}" type="parTrans" cxnId="{E93A3E40-822A-49E3-BB7F-9F11F45D10D2}">
      <dgm:prSet/>
      <dgm:spPr/>
      <dgm:t>
        <a:bodyPr/>
        <a:lstStyle/>
        <a:p>
          <a:endParaRPr lang="fr-FR"/>
        </a:p>
      </dgm:t>
    </dgm:pt>
    <dgm:pt modelId="{F4CD8F25-0B8B-4356-8181-23C92E32B6F4}" type="sibTrans" cxnId="{E93A3E40-822A-49E3-BB7F-9F11F45D10D2}">
      <dgm:prSet/>
      <dgm:spPr/>
      <dgm:t>
        <a:bodyPr/>
        <a:lstStyle/>
        <a:p>
          <a:endParaRPr lang="fr-FR"/>
        </a:p>
      </dgm:t>
    </dgm:pt>
    <dgm:pt modelId="{64323CED-4B76-470C-968C-F1E81F93F046}" type="pres">
      <dgm:prSet presAssocID="{66E47C97-F4C1-42C6-BEB2-FC13112153AE}" presName="Name0" presStyleCnt="0">
        <dgm:presLayoutVars>
          <dgm:dir/>
          <dgm:resizeHandles val="exact"/>
        </dgm:presLayoutVars>
      </dgm:prSet>
      <dgm:spPr/>
    </dgm:pt>
    <dgm:pt modelId="{83E38CBC-CC3E-40D3-B584-F97F97FA64F6}" type="pres">
      <dgm:prSet presAssocID="{5BE86BF3-D341-4155-9484-306A3B20C102}" presName="node" presStyleLbl="node1" presStyleIdx="0" presStyleCnt="3">
        <dgm:presLayoutVars>
          <dgm:bulletEnabled val="1"/>
        </dgm:presLayoutVars>
      </dgm:prSet>
      <dgm:spPr/>
    </dgm:pt>
    <dgm:pt modelId="{5CD182C0-800E-432C-8B73-854A903CC72D}" type="pres">
      <dgm:prSet presAssocID="{ABB67F8B-DEC3-4D09-9E17-3A37C7506A51}" presName="sibTrans" presStyleLbl="sibTrans2D1" presStyleIdx="0" presStyleCnt="2"/>
      <dgm:spPr/>
    </dgm:pt>
    <dgm:pt modelId="{D8051973-2211-4448-A4B9-4F6B25297EDD}" type="pres">
      <dgm:prSet presAssocID="{ABB67F8B-DEC3-4D09-9E17-3A37C7506A51}" presName="connectorText" presStyleLbl="sibTrans2D1" presStyleIdx="0" presStyleCnt="2"/>
      <dgm:spPr/>
    </dgm:pt>
    <dgm:pt modelId="{3C5C6723-04AD-4C68-9F49-07CB9D90BE94}" type="pres">
      <dgm:prSet presAssocID="{3C134AC3-C6F5-4ABB-8FA1-78D409436E64}" presName="node" presStyleLbl="node1" presStyleIdx="1" presStyleCnt="3">
        <dgm:presLayoutVars>
          <dgm:bulletEnabled val="1"/>
        </dgm:presLayoutVars>
      </dgm:prSet>
      <dgm:spPr/>
    </dgm:pt>
    <dgm:pt modelId="{612254E6-4C17-4782-95A1-649BB671D6BB}" type="pres">
      <dgm:prSet presAssocID="{3DFA66E1-F929-47B6-9416-F195AE18DE4A}" presName="sibTrans" presStyleLbl="sibTrans2D1" presStyleIdx="1" presStyleCnt="2"/>
      <dgm:spPr/>
    </dgm:pt>
    <dgm:pt modelId="{6DAE01C6-F71E-4AF2-99DB-1214DCF063A6}" type="pres">
      <dgm:prSet presAssocID="{3DFA66E1-F929-47B6-9416-F195AE18DE4A}" presName="connectorText" presStyleLbl="sibTrans2D1" presStyleIdx="1" presStyleCnt="2"/>
      <dgm:spPr/>
    </dgm:pt>
    <dgm:pt modelId="{04100F71-2CD1-4228-86AA-477CAA37CF23}" type="pres">
      <dgm:prSet presAssocID="{ED9451A4-6723-4A3E-BB22-0D9B915F5821}" presName="node" presStyleLbl="node1" presStyleIdx="2" presStyleCnt="3">
        <dgm:presLayoutVars>
          <dgm:bulletEnabled val="1"/>
        </dgm:presLayoutVars>
      </dgm:prSet>
      <dgm:spPr/>
    </dgm:pt>
  </dgm:ptLst>
  <dgm:cxnLst>
    <dgm:cxn modelId="{D4637A09-D4EC-4E7F-9777-0A233ABD818D}" type="presOf" srcId="{ABB67F8B-DEC3-4D09-9E17-3A37C7506A51}" destId="{D8051973-2211-4448-A4B9-4F6B25297EDD}" srcOrd="1" destOrd="0" presId="urn:microsoft.com/office/officeart/2005/8/layout/process1"/>
    <dgm:cxn modelId="{C748F50C-14D1-4A5D-8190-9B27234876CD}" type="presOf" srcId="{ED9451A4-6723-4A3E-BB22-0D9B915F5821}" destId="{04100F71-2CD1-4228-86AA-477CAA37CF23}" srcOrd="0" destOrd="0" presId="urn:microsoft.com/office/officeart/2005/8/layout/process1"/>
    <dgm:cxn modelId="{0035093C-C95E-43D8-B326-8EBC6C670E0C}" type="presOf" srcId="{3C134AC3-C6F5-4ABB-8FA1-78D409436E64}" destId="{3C5C6723-04AD-4C68-9F49-07CB9D90BE94}" srcOrd="0" destOrd="0" presId="urn:microsoft.com/office/officeart/2005/8/layout/process1"/>
    <dgm:cxn modelId="{E93A3E40-822A-49E3-BB7F-9F11F45D10D2}" srcId="{66E47C97-F4C1-42C6-BEB2-FC13112153AE}" destId="{ED9451A4-6723-4A3E-BB22-0D9B915F5821}" srcOrd="2" destOrd="0" parTransId="{C9961E67-019C-48A8-953D-6DB9DBD191D6}" sibTransId="{F4CD8F25-0B8B-4356-8181-23C92E32B6F4}"/>
    <dgm:cxn modelId="{89B69F4B-629A-4A33-B31E-A94DEBFA9690}" type="presOf" srcId="{ABB67F8B-DEC3-4D09-9E17-3A37C7506A51}" destId="{5CD182C0-800E-432C-8B73-854A903CC72D}" srcOrd="0" destOrd="0" presId="urn:microsoft.com/office/officeart/2005/8/layout/process1"/>
    <dgm:cxn modelId="{53E70178-87C5-43FA-90D1-FFD0D01BA7AD}" type="presOf" srcId="{5BE86BF3-D341-4155-9484-306A3B20C102}" destId="{83E38CBC-CC3E-40D3-B584-F97F97FA64F6}" srcOrd="0" destOrd="0" presId="urn:microsoft.com/office/officeart/2005/8/layout/process1"/>
    <dgm:cxn modelId="{D88736D8-7912-4963-B7D4-11B91A973DC7}" type="presOf" srcId="{3DFA66E1-F929-47B6-9416-F195AE18DE4A}" destId="{612254E6-4C17-4782-95A1-649BB671D6BB}" srcOrd="0" destOrd="0" presId="urn:microsoft.com/office/officeart/2005/8/layout/process1"/>
    <dgm:cxn modelId="{446FA0E4-0BCC-432C-A377-15B5785B110C}" type="presOf" srcId="{66E47C97-F4C1-42C6-BEB2-FC13112153AE}" destId="{64323CED-4B76-470C-968C-F1E81F93F046}" srcOrd="0" destOrd="0" presId="urn:microsoft.com/office/officeart/2005/8/layout/process1"/>
    <dgm:cxn modelId="{4B7F0CED-53AB-46D7-B6A9-7A6BE48865D2}" type="presOf" srcId="{3DFA66E1-F929-47B6-9416-F195AE18DE4A}" destId="{6DAE01C6-F71E-4AF2-99DB-1214DCF063A6}" srcOrd="1" destOrd="0" presId="urn:microsoft.com/office/officeart/2005/8/layout/process1"/>
    <dgm:cxn modelId="{A2076AF0-E5F5-4FEA-8C3A-45FA8AD83D60}" srcId="{66E47C97-F4C1-42C6-BEB2-FC13112153AE}" destId="{5BE86BF3-D341-4155-9484-306A3B20C102}" srcOrd="0" destOrd="0" parTransId="{6EB35FA6-7C13-4889-AEB9-1C80013BD367}" sibTransId="{ABB67F8B-DEC3-4D09-9E17-3A37C7506A51}"/>
    <dgm:cxn modelId="{BDCE60FB-719B-45D4-8E9C-00C4009E7530}" srcId="{66E47C97-F4C1-42C6-BEB2-FC13112153AE}" destId="{3C134AC3-C6F5-4ABB-8FA1-78D409436E64}" srcOrd="1" destOrd="0" parTransId="{8676FC33-775E-4430-AD1D-0806E3A69C3B}" sibTransId="{3DFA66E1-F929-47B6-9416-F195AE18DE4A}"/>
    <dgm:cxn modelId="{21F98D6F-B222-471C-88CF-C39E7E161B2B}" type="presParOf" srcId="{64323CED-4B76-470C-968C-F1E81F93F046}" destId="{83E38CBC-CC3E-40D3-B584-F97F97FA64F6}" srcOrd="0" destOrd="0" presId="urn:microsoft.com/office/officeart/2005/8/layout/process1"/>
    <dgm:cxn modelId="{DE18B930-543F-4B39-BF80-54B179410BF2}" type="presParOf" srcId="{64323CED-4B76-470C-968C-F1E81F93F046}" destId="{5CD182C0-800E-432C-8B73-854A903CC72D}" srcOrd="1" destOrd="0" presId="urn:microsoft.com/office/officeart/2005/8/layout/process1"/>
    <dgm:cxn modelId="{72F5816F-9A0E-4C9C-9A1D-CDBA3CA2C5E8}" type="presParOf" srcId="{5CD182C0-800E-432C-8B73-854A903CC72D}" destId="{D8051973-2211-4448-A4B9-4F6B25297EDD}" srcOrd="0" destOrd="0" presId="urn:microsoft.com/office/officeart/2005/8/layout/process1"/>
    <dgm:cxn modelId="{9A2A168D-6CB5-4AA1-B250-71485F946E2E}" type="presParOf" srcId="{64323CED-4B76-470C-968C-F1E81F93F046}" destId="{3C5C6723-04AD-4C68-9F49-07CB9D90BE94}" srcOrd="2" destOrd="0" presId="urn:microsoft.com/office/officeart/2005/8/layout/process1"/>
    <dgm:cxn modelId="{F8723296-1C36-460D-BD96-DB978ED852DB}" type="presParOf" srcId="{64323CED-4B76-470C-968C-F1E81F93F046}" destId="{612254E6-4C17-4782-95A1-649BB671D6BB}" srcOrd="3" destOrd="0" presId="urn:microsoft.com/office/officeart/2005/8/layout/process1"/>
    <dgm:cxn modelId="{E7168600-118F-490B-992C-536E26BD6CCA}" type="presParOf" srcId="{612254E6-4C17-4782-95A1-649BB671D6BB}" destId="{6DAE01C6-F71E-4AF2-99DB-1214DCF063A6}" srcOrd="0" destOrd="0" presId="urn:microsoft.com/office/officeart/2005/8/layout/process1"/>
    <dgm:cxn modelId="{A0CCDE21-BC6B-4E08-8900-FD26D63DB5DD}" type="presParOf" srcId="{64323CED-4B76-470C-968C-F1E81F93F046}" destId="{04100F71-2CD1-4228-86AA-477CAA37CF2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47C97-F4C1-42C6-BEB2-FC13112153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BE86BF3-D341-4155-9484-306A3B20C10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Input 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6EB35FA6-7C13-4889-AEB9-1C80013BD367}" type="parTrans" cxnId="{A2076AF0-E5F5-4FEA-8C3A-45FA8AD83D60}">
      <dgm:prSet/>
      <dgm:spPr/>
      <dgm:t>
        <a:bodyPr/>
        <a:lstStyle/>
        <a:p>
          <a:endParaRPr lang="fr-FR"/>
        </a:p>
      </dgm:t>
    </dgm:pt>
    <dgm:pt modelId="{ABB67F8B-DEC3-4D09-9E17-3A37C7506A51}" type="sibTrans" cxnId="{A2076AF0-E5F5-4FEA-8C3A-45FA8AD83D60}">
      <dgm:prSet/>
      <dgm:spPr/>
      <dgm:t>
        <a:bodyPr/>
        <a:lstStyle/>
        <a:p>
          <a:endParaRPr lang="fr-FR"/>
        </a:p>
      </dgm:t>
    </dgm:pt>
    <dgm:pt modelId="{3C134AC3-C6F5-4ABB-8FA1-78D409436E64}">
      <dgm:prSet phldrT="[Text]"/>
      <dgm:spPr>
        <a:solidFill>
          <a:srgbClr val="C00000"/>
        </a:solidFill>
      </dgm:spPr>
      <dgm:t>
        <a:bodyPr/>
        <a:lstStyle/>
        <a:p>
          <a:r>
            <a:rPr lang="fr-FR" dirty="0" err="1"/>
            <a:t>Function</a:t>
          </a:r>
          <a:endParaRPr lang="fr-FR" dirty="0"/>
        </a:p>
        <a:p>
          <a:r>
            <a:rPr lang="fr-FR" dirty="0"/>
            <a:t>(?)</a:t>
          </a:r>
        </a:p>
      </dgm:t>
    </dgm:pt>
    <dgm:pt modelId="{8676FC33-775E-4430-AD1D-0806E3A69C3B}" type="parTrans" cxnId="{BDCE60FB-719B-45D4-8E9C-00C4009E7530}">
      <dgm:prSet/>
      <dgm:spPr/>
      <dgm:t>
        <a:bodyPr/>
        <a:lstStyle/>
        <a:p>
          <a:endParaRPr lang="fr-FR"/>
        </a:p>
      </dgm:t>
    </dgm:pt>
    <dgm:pt modelId="{3DFA66E1-F929-47B6-9416-F195AE18DE4A}" type="sibTrans" cxnId="{BDCE60FB-719B-45D4-8E9C-00C4009E7530}">
      <dgm:prSet/>
      <dgm:spPr/>
      <dgm:t>
        <a:bodyPr/>
        <a:lstStyle/>
        <a:p>
          <a:endParaRPr lang="fr-FR"/>
        </a:p>
      </dgm:t>
    </dgm:pt>
    <dgm:pt modelId="{ED9451A4-6723-4A3E-BB22-0D9B915F5821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Output</a:t>
          </a:r>
        </a:p>
        <a:p>
          <a:r>
            <a:rPr lang="fr-FR" dirty="0"/>
            <a:t>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C9961E67-019C-48A8-953D-6DB9DBD191D6}" type="parTrans" cxnId="{E93A3E40-822A-49E3-BB7F-9F11F45D10D2}">
      <dgm:prSet/>
      <dgm:spPr/>
      <dgm:t>
        <a:bodyPr/>
        <a:lstStyle/>
        <a:p>
          <a:endParaRPr lang="fr-FR"/>
        </a:p>
      </dgm:t>
    </dgm:pt>
    <dgm:pt modelId="{F4CD8F25-0B8B-4356-8181-23C92E32B6F4}" type="sibTrans" cxnId="{E93A3E40-822A-49E3-BB7F-9F11F45D10D2}">
      <dgm:prSet/>
      <dgm:spPr/>
      <dgm:t>
        <a:bodyPr/>
        <a:lstStyle/>
        <a:p>
          <a:endParaRPr lang="fr-FR"/>
        </a:p>
      </dgm:t>
    </dgm:pt>
    <dgm:pt modelId="{64323CED-4B76-470C-968C-F1E81F93F046}" type="pres">
      <dgm:prSet presAssocID="{66E47C97-F4C1-42C6-BEB2-FC13112153AE}" presName="Name0" presStyleCnt="0">
        <dgm:presLayoutVars>
          <dgm:dir/>
          <dgm:resizeHandles val="exact"/>
        </dgm:presLayoutVars>
      </dgm:prSet>
      <dgm:spPr/>
    </dgm:pt>
    <dgm:pt modelId="{83E38CBC-CC3E-40D3-B584-F97F97FA64F6}" type="pres">
      <dgm:prSet presAssocID="{5BE86BF3-D341-4155-9484-306A3B20C102}" presName="node" presStyleLbl="node1" presStyleIdx="0" presStyleCnt="3">
        <dgm:presLayoutVars>
          <dgm:bulletEnabled val="1"/>
        </dgm:presLayoutVars>
      </dgm:prSet>
      <dgm:spPr/>
    </dgm:pt>
    <dgm:pt modelId="{5CD182C0-800E-432C-8B73-854A903CC72D}" type="pres">
      <dgm:prSet presAssocID="{ABB67F8B-DEC3-4D09-9E17-3A37C7506A51}" presName="sibTrans" presStyleLbl="sibTrans2D1" presStyleIdx="0" presStyleCnt="2"/>
      <dgm:spPr/>
    </dgm:pt>
    <dgm:pt modelId="{D8051973-2211-4448-A4B9-4F6B25297EDD}" type="pres">
      <dgm:prSet presAssocID="{ABB67F8B-DEC3-4D09-9E17-3A37C7506A51}" presName="connectorText" presStyleLbl="sibTrans2D1" presStyleIdx="0" presStyleCnt="2"/>
      <dgm:spPr/>
    </dgm:pt>
    <dgm:pt modelId="{3C5C6723-04AD-4C68-9F49-07CB9D90BE94}" type="pres">
      <dgm:prSet presAssocID="{3C134AC3-C6F5-4ABB-8FA1-78D409436E64}" presName="node" presStyleLbl="node1" presStyleIdx="1" presStyleCnt="3">
        <dgm:presLayoutVars>
          <dgm:bulletEnabled val="1"/>
        </dgm:presLayoutVars>
      </dgm:prSet>
      <dgm:spPr/>
    </dgm:pt>
    <dgm:pt modelId="{612254E6-4C17-4782-95A1-649BB671D6BB}" type="pres">
      <dgm:prSet presAssocID="{3DFA66E1-F929-47B6-9416-F195AE18DE4A}" presName="sibTrans" presStyleLbl="sibTrans2D1" presStyleIdx="1" presStyleCnt="2"/>
      <dgm:spPr/>
    </dgm:pt>
    <dgm:pt modelId="{6DAE01C6-F71E-4AF2-99DB-1214DCF063A6}" type="pres">
      <dgm:prSet presAssocID="{3DFA66E1-F929-47B6-9416-F195AE18DE4A}" presName="connectorText" presStyleLbl="sibTrans2D1" presStyleIdx="1" presStyleCnt="2"/>
      <dgm:spPr/>
    </dgm:pt>
    <dgm:pt modelId="{04100F71-2CD1-4228-86AA-477CAA37CF23}" type="pres">
      <dgm:prSet presAssocID="{ED9451A4-6723-4A3E-BB22-0D9B915F5821}" presName="node" presStyleLbl="node1" presStyleIdx="2" presStyleCnt="3">
        <dgm:presLayoutVars>
          <dgm:bulletEnabled val="1"/>
        </dgm:presLayoutVars>
      </dgm:prSet>
      <dgm:spPr/>
    </dgm:pt>
  </dgm:ptLst>
  <dgm:cxnLst>
    <dgm:cxn modelId="{D4637A09-D4EC-4E7F-9777-0A233ABD818D}" type="presOf" srcId="{ABB67F8B-DEC3-4D09-9E17-3A37C7506A51}" destId="{D8051973-2211-4448-A4B9-4F6B25297EDD}" srcOrd="1" destOrd="0" presId="urn:microsoft.com/office/officeart/2005/8/layout/process1"/>
    <dgm:cxn modelId="{C748F50C-14D1-4A5D-8190-9B27234876CD}" type="presOf" srcId="{ED9451A4-6723-4A3E-BB22-0D9B915F5821}" destId="{04100F71-2CD1-4228-86AA-477CAA37CF23}" srcOrd="0" destOrd="0" presId="urn:microsoft.com/office/officeart/2005/8/layout/process1"/>
    <dgm:cxn modelId="{0035093C-C95E-43D8-B326-8EBC6C670E0C}" type="presOf" srcId="{3C134AC3-C6F5-4ABB-8FA1-78D409436E64}" destId="{3C5C6723-04AD-4C68-9F49-07CB9D90BE94}" srcOrd="0" destOrd="0" presId="urn:microsoft.com/office/officeart/2005/8/layout/process1"/>
    <dgm:cxn modelId="{E93A3E40-822A-49E3-BB7F-9F11F45D10D2}" srcId="{66E47C97-F4C1-42C6-BEB2-FC13112153AE}" destId="{ED9451A4-6723-4A3E-BB22-0D9B915F5821}" srcOrd="2" destOrd="0" parTransId="{C9961E67-019C-48A8-953D-6DB9DBD191D6}" sibTransId="{F4CD8F25-0B8B-4356-8181-23C92E32B6F4}"/>
    <dgm:cxn modelId="{89B69F4B-629A-4A33-B31E-A94DEBFA9690}" type="presOf" srcId="{ABB67F8B-DEC3-4D09-9E17-3A37C7506A51}" destId="{5CD182C0-800E-432C-8B73-854A903CC72D}" srcOrd="0" destOrd="0" presId="urn:microsoft.com/office/officeart/2005/8/layout/process1"/>
    <dgm:cxn modelId="{53E70178-87C5-43FA-90D1-FFD0D01BA7AD}" type="presOf" srcId="{5BE86BF3-D341-4155-9484-306A3B20C102}" destId="{83E38CBC-CC3E-40D3-B584-F97F97FA64F6}" srcOrd="0" destOrd="0" presId="urn:microsoft.com/office/officeart/2005/8/layout/process1"/>
    <dgm:cxn modelId="{D88736D8-7912-4963-B7D4-11B91A973DC7}" type="presOf" srcId="{3DFA66E1-F929-47B6-9416-F195AE18DE4A}" destId="{612254E6-4C17-4782-95A1-649BB671D6BB}" srcOrd="0" destOrd="0" presId="urn:microsoft.com/office/officeart/2005/8/layout/process1"/>
    <dgm:cxn modelId="{446FA0E4-0BCC-432C-A377-15B5785B110C}" type="presOf" srcId="{66E47C97-F4C1-42C6-BEB2-FC13112153AE}" destId="{64323CED-4B76-470C-968C-F1E81F93F046}" srcOrd="0" destOrd="0" presId="urn:microsoft.com/office/officeart/2005/8/layout/process1"/>
    <dgm:cxn modelId="{4B7F0CED-53AB-46D7-B6A9-7A6BE48865D2}" type="presOf" srcId="{3DFA66E1-F929-47B6-9416-F195AE18DE4A}" destId="{6DAE01C6-F71E-4AF2-99DB-1214DCF063A6}" srcOrd="1" destOrd="0" presId="urn:microsoft.com/office/officeart/2005/8/layout/process1"/>
    <dgm:cxn modelId="{A2076AF0-E5F5-4FEA-8C3A-45FA8AD83D60}" srcId="{66E47C97-F4C1-42C6-BEB2-FC13112153AE}" destId="{5BE86BF3-D341-4155-9484-306A3B20C102}" srcOrd="0" destOrd="0" parTransId="{6EB35FA6-7C13-4889-AEB9-1C80013BD367}" sibTransId="{ABB67F8B-DEC3-4D09-9E17-3A37C7506A51}"/>
    <dgm:cxn modelId="{BDCE60FB-719B-45D4-8E9C-00C4009E7530}" srcId="{66E47C97-F4C1-42C6-BEB2-FC13112153AE}" destId="{3C134AC3-C6F5-4ABB-8FA1-78D409436E64}" srcOrd="1" destOrd="0" parTransId="{8676FC33-775E-4430-AD1D-0806E3A69C3B}" sibTransId="{3DFA66E1-F929-47B6-9416-F195AE18DE4A}"/>
    <dgm:cxn modelId="{21F98D6F-B222-471C-88CF-C39E7E161B2B}" type="presParOf" srcId="{64323CED-4B76-470C-968C-F1E81F93F046}" destId="{83E38CBC-CC3E-40D3-B584-F97F97FA64F6}" srcOrd="0" destOrd="0" presId="urn:microsoft.com/office/officeart/2005/8/layout/process1"/>
    <dgm:cxn modelId="{DE18B930-543F-4B39-BF80-54B179410BF2}" type="presParOf" srcId="{64323CED-4B76-470C-968C-F1E81F93F046}" destId="{5CD182C0-800E-432C-8B73-854A903CC72D}" srcOrd="1" destOrd="0" presId="urn:microsoft.com/office/officeart/2005/8/layout/process1"/>
    <dgm:cxn modelId="{72F5816F-9A0E-4C9C-9A1D-CDBA3CA2C5E8}" type="presParOf" srcId="{5CD182C0-800E-432C-8B73-854A903CC72D}" destId="{D8051973-2211-4448-A4B9-4F6B25297EDD}" srcOrd="0" destOrd="0" presId="urn:microsoft.com/office/officeart/2005/8/layout/process1"/>
    <dgm:cxn modelId="{9A2A168D-6CB5-4AA1-B250-71485F946E2E}" type="presParOf" srcId="{64323CED-4B76-470C-968C-F1E81F93F046}" destId="{3C5C6723-04AD-4C68-9F49-07CB9D90BE94}" srcOrd="2" destOrd="0" presId="urn:microsoft.com/office/officeart/2005/8/layout/process1"/>
    <dgm:cxn modelId="{F8723296-1C36-460D-BD96-DB978ED852DB}" type="presParOf" srcId="{64323CED-4B76-470C-968C-F1E81F93F046}" destId="{612254E6-4C17-4782-95A1-649BB671D6BB}" srcOrd="3" destOrd="0" presId="urn:microsoft.com/office/officeart/2005/8/layout/process1"/>
    <dgm:cxn modelId="{E7168600-118F-490B-992C-536E26BD6CCA}" type="presParOf" srcId="{612254E6-4C17-4782-95A1-649BB671D6BB}" destId="{6DAE01C6-F71E-4AF2-99DB-1214DCF063A6}" srcOrd="0" destOrd="0" presId="urn:microsoft.com/office/officeart/2005/8/layout/process1"/>
    <dgm:cxn modelId="{A0CCDE21-BC6B-4E08-8900-FD26D63DB5DD}" type="presParOf" srcId="{64323CED-4B76-470C-968C-F1E81F93F046}" destId="{04100F71-2CD1-4228-86AA-477CAA37CF2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E47C97-F4C1-42C6-BEB2-FC13112153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BE86BF3-D341-4155-9484-306A3B20C10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Input (</a:t>
          </a:r>
          <a:r>
            <a:rPr lang="fr-FR" dirty="0" err="1"/>
            <a:t>Given</a:t>
          </a:r>
          <a:r>
            <a:rPr lang="fr-FR" dirty="0"/>
            <a:t>)</a:t>
          </a:r>
        </a:p>
      </dgm:t>
    </dgm:pt>
    <dgm:pt modelId="{6EB35FA6-7C13-4889-AEB9-1C80013BD367}" type="parTrans" cxnId="{A2076AF0-E5F5-4FEA-8C3A-45FA8AD83D60}">
      <dgm:prSet/>
      <dgm:spPr/>
      <dgm:t>
        <a:bodyPr/>
        <a:lstStyle/>
        <a:p>
          <a:endParaRPr lang="fr-FR"/>
        </a:p>
      </dgm:t>
    </dgm:pt>
    <dgm:pt modelId="{ABB67F8B-DEC3-4D09-9E17-3A37C7506A51}" type="sibTrans" cxnId="{A2076AF0-E5F5-4FEA-8C3A-45FA8AD83D60}">
      <dgm:prSet/>
      <dgm:spPr/>
      <dgm:t>
        <a:bodyPr/>
        <a:lstStyle/>
        <a:p>
          <a:endParaRPr lang="fr-FR"/>
        </a:p>
      </dgm:t>
    </dgm:pt>
    <dgm:pt modelId="{3C134AC3-C6F5-4ABB-8FA1-78D409436E6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 err="1"/>
            <a:t>Function</a:t>
          </a:r>
          <a:endParaRPr lang="fr-FR" dirty="0"/>
        </a:p>
        <a:p>
          <a:r>
            <a:rPr lang="fr-FR" dirty="0"/>
            <a:t>(</a:t>
          </a:r>
          <a:r>
            <a:rPr lang="fr-FR" dirty="0" err="1"/>
            <a:t>Coded</a:t>
          </a:r>
          <a:r>
            <a:rPr lang="fr-FR" dirty="0"/>
            <a:t> </a:t>
          </a:r>
          <a:r>
            <a:rPr lang="fr-FR" dirty="0" err="1"/>
            <a:t>Manually</a:t>
          </a:r>
          <a:r>
            <a:rPr lang="fr-FR" dirty="0"/>
            <a:t>)</a:t>
          </a:r>
        </a:p>
      </dgm:t>
    </dgm:pt>
    <dgm:pt modelId="{8676FC33-775E-4430-AD1D-0806E3A69C3B}" type="parTrans" cxnId="{BDCE60FB-719B-45D4-8E9C-00C4009E7530}">
      <dgm:prSet/>
      <dgm:spPr/>
      <dgm:t>
        <a:bodyPr/>
        <a:lstStyle/>
        <a:p>
          <a:endParaRPr lang="fr-FR"/>
        </a:p>
      </dgm:t>
    </dgm:pt>
    <dgm:pt modelId="{3DFA66E1-F929-47B6-9416-F195AE18DE4A}" type="sibTrans" cxnId="{BDCE60FB-719B-45D4-8E9C-00C4009E7530}">
      <dgm:prSet/>
      <dgm:spPr/>
      <dgm:t>
        <a:bodyPr/>
        <a:lstStyle/>
        <a:p>
          <a:endParaRPr lang="fr-FR"/>
        </a:p>
      </dgm:t>
    </dgm:pt>
    <dgm:pt modelId="{ED9451A4-6723-4A3E-BB22-0D9B915F5821}">
      <dgm:prSet phldrT="[Text]"/>
      <dgm:spPr>
        <a:solidFill>
          <a:srgbClr val="C00000"/>
        </a:solidFill>
      </dgm:spPr>
      <dgm:t>
        <a:bodyPr/>
        <a:lstStyle/>
        <a:p>
          <a:r>
            <a:rPr lang="fr-FR" dirty="0"/>
            <a:t>Output</a:t>
          </a:r>
        </a:p>
        <a:p>
          <a:r>
            <a:rPr lang="fr-FR" dirty="0"/>
            <a:t>(</a:t>
          </a:r>
          <a:r>
            <a:rPr lang="fr-FR" dirty="0" err="1"/>
            <a:t>Obtained</a:t>
          </a:r>
          <a:r>
            <a:rPr lang="fr-FR" dirty="0"/>
            <a:t>)</a:t>
          </a:r>
        </a:p>
      </dgm:t>
    </dgm:pt>
    <dgm:pt modelId="{C9961E67-019C-48A8-953D-6DB9DBD191D6}" type="parTrans" cxnId="{E93A3E40-822A-49E3-BB7F-9F11F45D10D2}">
      <dgm:prSet/>
      <dgm:spPr/>
      <dgm:t>
        <a:bodyPr/>
        <a:lstStyle/>
        <a:p>
          <a:endParaRPr lang="fr-FR"/>
        </a:p>
      </dgm:t>
    </dgm:pt>
    <dgm:pt modelId="{F4CD8F25-0B8B-4356-8181-23C92E32B6F4}" type="sibTrans" cxnId="{E93A3E40-822A-49E3-BB7F-9F11F45D10D2}">
      <dgm:prSet/>
      <dgm:spPr/>
      <dgm:t>
        <a:bodyPr/>
        <a:lstStyle/>
        <a:p>
          <a:endParaRPr lang="fr-FR"/>
        </a:p>
      </dgm:t>
    </dgm:pt>
    <dgm:pt modelId="{64323CED-4B76-470C-968C-F1E81F93F046}" type="pres">
      <dgm:prSet presAssocID="{66E47C97-F4C1-42C6-BEB2-FC13112153AE}" presName="Name0" presStyleCnt="0">
        <dgm:presLayoutVars>
          <dgm:dir/>
          <dgm:resizeHandles val="exact"/>
        </dgm:presLayoutVars>
      </dgm:prSet>
      <dgm:spPr/>
    </dgm:pt>
    <dgm:pt modelId="{83E38CBC-CC3E-40D3-B584-F97F97FA64F6}" type="pres">
      <dgm:prSet presAssocID="{5BE86BF3-D341-4155-9484-306A3B20C102}" presName="node" presStyleLbl="node1" presStyleIdx="0" presStyleCnt="3">
        <dgm:presLayoutVars>
          <dgm:bulletEnabled val="1"/>
        </dgm:presLayoutVars>
      </dgm:prSet>
      <dgm:spPr/>
    </dgm:pt>
    <dgm:pt modelId="{5CD182C0-800E-432C-8B73-854A903CC72D}" type="pres">
      <dgm:prSet presAssocID="{ABB67F8B-DEC3-4D09-9E17-3A37C7506A51}" presName="sibTrans" presStyleLbl="sibTrans2D1" presStyleIdx="0" presStyleCnt="2"/>
      <dgm:spPr/>
    </dgm:pt>
    <dgm:pt modelId="{D8051973-2211-4448-A4B9-4F6B25297EDD}" type="pres">
      <dgm:prSet presAssocID="{ABB67F8B-DEC3-4D09-9E17-3A37C7506A51}" presName="connectorText" presStyleLbl="sibTrans2D1" presStyleIdx="0" presStyleCnt="2"/>
      <dgm:spPr/>
    </dgm:pt>
    <dgm:pt modelId="{3C5C6723-04AD-4C68-9F49-07CB9D90BE94}" type="pres">
      <dgm:prSet presAssocID="{3C134AC3-C6F5-4ABB-8FA1-78D409436E64}" presName="node" presStyleLbl="node1" presStyleIdx="1" presStyleCnt="3">
        <dgm:presLayoutVars>
          <dgm:bulletEnabled val="1"/>
        </dgm:presLayoutVars>
      </dgm:prSet>
      <dgm:spPr/>
    </dgm:pt>
    <dgm:pt modelId="{612254E6-4C17-4782-95A1-649BB671D6BB}" type="pres">
      <dgm:prSet presAssocID="{3DFA66E1-F929-47B6-9416-F195AE18DE4A}" presName="sibTrans" presStyleLbl="sibTrans2D1" presStyleIdx="1" presStyleCnt="2"/>
      <dgm:spPr/>
    </dgm:pt>
    <dgm:pt modelId="{6DAE01C6-F71E-4AF2-99DB-1214DCF063A6}" type="pres">
      <dgm:prSet presAssocID="{3DFA66E1-F929-47B6-9416-F195AE18DE4A}" presName="connectorText" presStyleLbl="sibTrans2D1" presStyleIdx="1" presStyleCnt="2"/>
      <dgm:spPr/>
    </dgm:pt>
    <dgm:pt modelId="{04100F71-2CD1-4228-86AA-477CAA37CF23}" type="pres">
      <dgm:prSet presAssocID="{ED9451A4-6723-4A3E-BB22-0D9B915F5821}" presName="node" presStyleLbl="node1" presStyleIdx="2" presStyleCnt="3">
        <dgm:presLayoutVars>
          <dgm:bulletEnabled val="1"/>
        </dgm:presLayoutVars>
      </dgm:prSet>
      <dgm:spPr/>
    </dgm:pt>
  </dgm:ptLst>
  <dgm:cxnLst>
    <dgm:cxn modelId="{D4637A09-D4EC-4E7F-9777-0A233ABD818D}" type="presOf" srcId="{ABB67F8B-DEC3-4D09-9E17-3A37C7506A51}" destId="{D8051973-2211-4448-A4B9-4F6B25297EDD}" srcOrd="1" destOrd="0" presId="urn:microsoft.com/office/officeart/2005/8/layout/process1"/>
    <dgm:cxn modelId="{C748F50C-14D1-4A5D-8190-9B27234876CD}" type="presOf" srcId="{ED9451A4-6723-4A3E-BB22-0D9B915F5821}" destId="{04100F71-2CD1-4228-86AA-477CAA37CF23}" srcOrd="0" destOrd="0" presId="urn:microsoft.com/office/officeart/2005/8/layout/process1"/>
    <dgm:cxn modelId="{0035093C-C95E-43D8-B326-8EBC6C670E0C}" type="presOf" srcId="{3C134AC3-C6F5-4ABB-8FA1-78D409436E64}" destId="{3C5C6723-04AD-4C68-9F49-07CB9D90BE94}" srcOrd="0" destOrd="0" presId="urn:microsoft.com/office/officeart/2005/8/layout/process1"/>
    <dgm:cxn modelId="{E93A3E40-822A-49E3-BB7F-9F11F45D10D2}" srcId="{66E47C97-F4C1-42C6-BEB2-FC13112153AE}" destId="{ED9451A4-6723-4A3E-BB22-0D9B915F5821}" srcOrd="2" destOrd="0" parTransId="{C9961E67-019C-48A8-953D-6DB9DBD191D6}" sibTransId="{F4CD8F25-0B8B-4356-8181-23C92E32B6F4}"/>
    <dgm:cxn modelId="{89B69F4B-629A-4A33-B31E-A94DEBFA9690}" type="presOf" srcId="{ABB67F8B-DEC3-4D09-9E17-3A37C7506A51}" destId="{5CD182C0-800E-432C-8B73-854A903CC72D}" srcOrd="0" destOrd="0" presId="urn:microsoft.com/office/officeart/2005/8/layout/process1"/>
    <dgm:cxn modelId="{53E70178-87C5-43FA-90D1-FFD0D01BA7AD}" type="presOf" srcId="{5BE86BF3-D341-4155-9484-306A3B20C102}" destId="{83E38CBC-CC3E-40D3-B584-F97F97FA64F6}" srcOrd="0" destOrd="0" presId="urn:microsoft.com/office/officeart/2005/8/layout/process1"/>
    <dgm:cxn modelId="{D88736D8-7912-4963-B7D4-11B91A973DC7}" type="presOf" srcId="{3DFA66E1-F929-47B6-9416-F195AE18DE4A}" destId="{612254E6-4C17-4782-95A1-649BB671D6BB}" srcOrd="0" destOrd="0" presId="urn:microsoft.com/office/officeart/2005/8/layout/process1"/>
    <dgm:cxn modelId="{446FA0E4-0BCC-432C-A377-15B5785B110C}" type="presOf" srcId="{66E47C97-F4C1-42C6-BEB2-FC13112153AE}" destId="{64323CED-4B76-470C-968C-F1E81F93F046}" srcOrd="0" destOrd="0" presId="urn:microsoft.com/office/officeart/2005/8/layout/process1"/>
    <dgm:cxn modelId="{4B7F0CED-53AB-46D7-B6A9-7A6BE48865D2}" type="presOf" srcId="{3DFA66E1-F929-47B6-9416-F195AE18DE4A}" destId="{6DAE01C6-F71E-4AF2-99DB-1214DCF063A6}" srcOrd="1" destOrd="0" presId="urn:microsoft.com/office/officeart/2005/8/layout/process1"/>
    <dgm:cxn modelId="{A2076AF0-E5F5-4FEA-8C3A-45FA8AD83D60}" srcId="{66E47C97-F4C1-42C6-BEB2-FC13112153AE}" destId="{5BE86BF3-D341-4155-9484-306A3B20C102}" srcOrd="0" destOrd="0" parTransId="{6EB35FA6-7C13-4889-AEB9-1C80013BD367}" sibTransId="{ABB67F8B-DEC3-4D09-9E17-3A37C7506A51}"/>
    <dgm:cxn modelId="{BDCE60FB-719B-45D4-8E9C-00C4009E7530}" srcId="{66E47C97-F4C1-42C6-BEB2-FC13112153AE}" destId="{3C134AC3-C6F5-4ABB-8FA1-78D409436E64}" srcOrd="1" destOrd="0" parTransId="{8676FC33-775E-4430-AD1D-0806E3A69C3B}" sibTransId="{3DFA66E1-F929-47B6-9416-F195AE18DE4A}"/>
    <dgm:cxn modelId="{21F98D6F-B222-471C-88CF-C39E7E161B2B}" type="presParOf" srcId="{64323CED-4B76-470C-968C-F1E81F93F046}" destId="{83E38CBC-CC3E-40D3-B584-F97F97FA64F6}" srcOrd="0" destOrd="0" presId="urn:microsoft.com/office/officeart/2005/8/layout/process1"/>
    <dgm:cxn modelId="{DE18B930-543F-4B39-BF80-54B179410BF2}" type="presParOf" srcId="{64323CED-4B76-470C-968C-F1E81F93F046}" destId="{5CD182C0-800E-432C-8B73-854A903CC72D}" srcOrd="1" destOrd="0" presId="urn:microsoft.com/office/officeart/2005/8/layout/process1"/>
    <dgm:cxn modelId="{72F5816F-9A0E-4C9C-9A1D-CDBA3CA2C5E8}" type="presParOf" srcId="{5CD182C0-800E-432C-8B73-854A903CC72D}" destId="{D8051973-2211-4448-A4B9-4F6B25297EDD}" srcOrd="0" destOrd="0" presId="urn:microsoft.com/office/officeart/2005/8/layout/process1"/>
    <dgm:cxn modelId="{9A2A168D-6CB5-4AA1-B250-71485F946E2E}" type="presParOf" srcId="{64323CED-4B76-470C-968C-F1E81F93F046}" destId="{3C5C6723-04AD-4C68-9F49-07CB9D90BE94}" srcOrd="2" destOrd="0" presId="urn:microsoft.com/office/officeart/2005/8/layout/process1"/>
    <dgm:cxn modelId="{F8723296-1C36-460D-BD96-DB978ED852DB}" type="presParOf" srcId="{64323CED-4B76-470C-968C-F1E81F93F046}" destId="{612254E6-4C17-4782-95A1-649BB671D6BB}" srcOrd="3" destOrd="0" presId="urn:microsoft.com/office/officeart/2005/8/layout/process1"/>
    <dgm:cxn modelId="{E7168600-118F-490B-992C-536E26BD6CCA}" type="presParOf" srcId="{612254E6-4C17-4782-95A1-649BB671D6BB}" destId="{6DAE01C6-F71E-4AF2-99DB-1214DCF063A6}" srcOrd="0" destOrd="0" presId="urn:microsoft.com/office/officeart/2005/8/layout/process1"/>
    <dgm:cxn modelId="{A0CCDE21-BC6B-4E08-8900-FD26D63DB5DD}" type="presParOf" srcId="{64323CED-4B76-470C-968C-F1E81F93F046}" destId="{04100F71-2CD1-4228-86AA-477CAA37CF2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E47C97-F4C1-42C6-BEB2-FC13112153A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BE86BF3-D341-4155-9484-306A3B20C10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Input x 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6EB35FA6-7C13-4889-AEB9-1C80013BD367}" type="parTrans" cxnId="{A2076AF0-E5F5-4FEA-8C3A-45FA8AD83D60}">
      <dgm:prSet/>
      <dgm:spPr/>
      <dgm:t>
        <a:bodyPr/>
        <a:lstStyle/>
        <a:p>
          <a:endParaRPr lang="fr-FR"/>
        </a:p>
      </dgm:t>
    </dgm:pt>
    <dgm:pt modelId="{ABB67F8B-DEC3-4D09-9E17-3A37C7506A51}" type="sibTrans" cxnId="{A2076AF0-E5F5-4FEA-8C3A-45FA8AD83D60}">
      <dgm:prSet/>
      <dgm:spPr/>
      <dgm:t>
        <a:bodyPr/>
        <a:lstStyle/>
        <a:p>
          <a:endParaRPr lang="fr-FR"/>
        </a:p>
      </dgm:t>
    </dgm:pt>
    <dgm:pt modelId="{3C134AC3-C6F5-4ABB-8FA1-78D409436E64}">
      <dgm:prSet phldrT="[Text]"/>
      <dgm:spPr>
        <a:solidFill>
          <a:srgbClr val="C00000"/>
        </a:solidFill>
      </dgm:spPr>
      <dgm:t>
        <a:bodyPr/>
        <a:lstStyle/>
        <a:p>
          <a:r>
            <a:rPr lang="fr-FR" dirty="0" err="1"/>
            <a:t>Function</a:t>
          </a:r>
          <a:r>
            <a:rPr lang="fr-FR" dirty="0"/>
            <a:t> f</a:t>
          </a:r>
        </a:p>
        <a:p>
          <a:r>
            <a:rPr lang="fr-FR" dirty="0"/>
            <a:t>(?)</a:t>
          </a:r>
        </a:p>
      </dgm:t>
    </dgm:pt>
    <dgm:pt modelId="{8676FC33-775E-4430-AD1D-0806E3A69C3B}" type="parTrans" cxnId="{BDCE60FB-719B-45D4-8E9C-00C4009E7530}">
      <dgm:prSet/>
      <dgm:spPr/>
      <dgm:t>
        <a:bodyPr/>
        <a:lstStyle/>
        <a:p>
          <a:endParaRPr lang="fr-FR"/>
        </a:p>
      </dgm:t>
    </dgm:pt>
    <dgm:pt modelId="{3DFA66E1-F929-47B6-9416-F195AE18DE4A}" type="sibTrans" cxnId="{BDCE60FB-719B-45D4-8E9C-00C4009E7530}">
      <dgm:prSet/>
      <dgm:spPr/>
      <dgm:t>
        <a:bodyPr/>
        <a:lstStyle/>
        <a:p>
          <a:endParaRPr lang="fr-FR"/>
        </a:p>
      </dgm:t>
    </dgm:pt>
    <dgm:pt modelId="{ED9451A4-6723-4A3E-BB22-0D9B915F5821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fr-FR" dirty="0"/>
            <a:t>Output y = f(x)</a:t>
          </a:r>
        </a:p>
        <a:p>
          <a:r>
            <a:rPr lang="fr-FR" dirty="0"/>
            <a:t>(</a:t>
          </a:r>
          <a:r>
            <a:rPr lang="fr-FR" dirty="0" err="1"/>
            <a:t>available</a:t>
          </a:r>
          <a:r>
            <a:rPr lang="fr-FR" dirty="0"/>
            <a:t>)</a:t>
          </a:r>
        </a:p>
      </dgm:t>
    </dgm:pt>
    <dgm:pt modelId="{C9961E67-019C-48A8-953D-6DB9DBD191D6}" type="parTrans" cxnId="{E93A3E40-822A-49E3-BB7F-9F11F45D10D2}">
      <dgm:prSet/>
      <dgm:spPr/>
      <dgm:t>
        <a:bodyPr/>
        <a:lstStyle/>
        <a:p>
          <a:endParaRPr lang="fr-FR"/>
        </a:p>
      </dgm:t>
    </dgm:pt>
    <dgm:pt modelId="{F4CD8F25-0B8B-4356-8181-23C92E32B6F4}" type="sibTrans" cxnId="{E93A3E40-822A-49E3-BB7F-9F11F45D10D2}">
      <dgm:prSet/>
      <dgm:spPr/>
      <dgm:t>
        <a:bodyPr/>
        <a:lstStyle/>
        <a:p>
          <a:endParaRPr lang="fr-FR"/>
        </a:p>
      </dgm:t>
    </dgm:pt>
    <dgm:pt modelId="{64323CED-4B76-470C-968C-F1E81F93F046}" type="pres">
      <dgm:prSet presAssocID="{66E47C97-F4C1-42C6-BEB2-FC13112153AE}" presName="Name0" presStyleCnt="0">
        <dgm:presLayoutVars>
          <dgm:dir/>
          <dgm:resizeHandles val="exact"/>
        </dgm:presLayoutVars>
      </dgm:prSet>
      <dgm:spPr/>
    </dgm:pt>
    <dgm:pt modelId="{83E38CBC-CC3E-40D3-B584-F97F97FA64F6}" type="pres">
      <dgm:prSet presAssocID="{5BE86BF3-D341-4155-9484-306A3B20C102}" presName="node" presStyleLbl="node1" presStyleIdx="0" presStyleCnt="3">
        <dgm:presLayoutVars>
          <dgm:bulletEnabled val="1"/>
        </dgm:presLayoutVars>
      </dgm:prSet>
      <dgm:spPr/>
    </dgm:pt>
    <dgm:pt modelId="{5CD182C0-800E-432C-8B73-854A903CC72D}" type="pres">
      <dgm:prSet presAssocID="{ABB67F8B-DEC3-4D09-9E17-3A37C7506A51}" presName="sibTrans" presStyleLbl="sibTrans2D1" presStyleIdx="0" presStyleCnt="2"/>
      <dgm:spPr/>
    </dgm:pt>
    <dgm:pt modelId="{D8051973-2211-4448-A4B9-4F6B25297EDD}" type="pres">
      <dgm:prSet presAssocID="{ABB67F8B-DEC3-4D09-9E17-3A37C7506A51}" presName="connectorText" presStyleLbl="sibTrans2D1" presStyleIdx="0" presStyleCnt="2"/>
      <dgm:spPr/>
    </dgm:pt>
    <dgm:pt modelId="{3C5C6723-04AD-4C68-9F49-07CB9D90BE94}" type="pres">
      <dgm:prSet presAssocID="{3C134AC3-C6F5-4ABB-8FA1-78D409436E64}" presName="node" presStyleLbl="node1" presStyleIdx="1" presStyleCnt="3">
        <dgm:presLayoutVars>
          <dgm:bulletEnabled val="1"/>
        </dgm:presLayoutVars>
      </dgm:prSet>
      <dgm:spPr/>
    </dgm:pt>
    <dgm:pt modelId="{612254E6-4C17-4782-95A1-649BB671D6BB}" type="pres">
      <dgm:prSet presAssocID="{3DFA66E1-F929-47B6-9416-F195AE18DE4A}" presName="sibTrans" presStyleLbl="sibTrans2D1" presStyleIdx="1" presStyleCnt="2"/>
      <dgm:spPr/>
    </dgm:pt>
    <dgm:pt modelId="{6DAE01C6-F71E-4AF2-99DB-1214DCF063A6}" type="pres">
      <dgm:prSet presAssocID="{3DFA66E1-F929-47B6-9416-F195AE18DE4A}" presName="connectorText" presStyleLbl="sibTrans2D1" presStyleIdx="1" presStyleCnt="2"/>
      <dgm:spPr/>
    </dgm:pt>
    <dgm:pt modelId="{04100F71-2CD1-4228-86AA-477CAA37CF23}" type="pres">
      <dgm:prSet presAssocID="{ED9451A4-6723-4A3E-BB22-0D9B915F5821}" presName="node" presStyleLbl="node1" presStyleIdx="2" presStyleCnt="3">
        <dgm:presLayoutVars>
          <dgm:bulletEnabled val="1"/>
        </dgm:presLayoutVars>
      </dgm:prSet>
      <dgm:spPr/>
    </dgm:pt>
  </dgm:ptLst>
  <dgm:cxnLst>
    <dgm:cxn modelId="{D4637A09-D4EC-4E7F-9777-0A233ABD818D}" type="presOf" srcId="{ABB67F8B-DEC3-4D09-9E17-3A37C7506A51}" destId="{D8051973-2211-4448-A4B9-4F6B25297EDD}" srcOrd="1" destOrd="0" presId="urn:microsoft.com/office/officeart/2005/8/layout/process1"/>
    <dgm:cxn modelId="{C748F50C-14D1-4A5D-8190-9B27234876CD}" type="presOf" srcId="{ED9451A4-6723-4A3E-BB22-0D9B915F5821}" destId="{04100F71-2CD1-4228-86AA-477CAA37CF23}" srcOrd="0" destOrd="0" presId="urn:microsoft.com/office/officeart/2005/8/layout/process1"/>
    <dgm:cxn modelId="{0035093C-C95E-43D8-B326-8EBC6C670E0C}" type="presOf" srcId="{3C134AC3-C6F5-4ABB-8FA1-78D409436E64}" destId="{3C5C6723-04AD-4C68-9F49-07CB9D90BE94}" srcOrd="0" destOrd="0" presId="urn:microsoft.com/office/officeart/2005/8/layout/process1"/>
    <dgm:cxn modelId="{E93A3E40-822A-49E3-BB7F-9F11F45D10D2}" srcId="{66E47C97-F4C1-42C6-BEB2-FC13112153AE}" destId="{ED9451A4-6723-4A3E-BB22-0D9B915F5821}" srcOrd="2" destOrd="0" parTransId="{C9961E67-019C-48A8-953D-6DB9DBD191D6}" sibTransId="{F4CD8F25-0B8B-4356-8181-23C92E32B6F4}"/>
    <dgm:cxn modelId="{89B69F4B-629A-4A33-B31E-A94DEBFA9690}" type="presOf" srcId="{ABB67F8B-DEC3-4D09-9E17-3A37C7506A51}" destId="{5CD182C0-800E-432C-8B73-854A903CC72D}" srcOrd="0" destOrd="0" presId="urn:microsoft.com/office/officeart/2005/8/layout/process1"/>
    <dgm:cxn modelId="{53E70178-87C5-43FA-90D1-FFD0D01BA7AD}" type="presOf" srcId="{5BE86BF3-D341-4155-9484-306A3B20C102}" destId="{83E38CBC-CC3E-40D3-B584-F97F97FA64F6}" srcOrd="0" destOrd="0" presId="urn:microsoft.com/office/officeart/2005/8/layout/process1"/>
    <dgm:cxn modelId="{D88736D8-7912-4963-B7D4-11B91A973DC7}" type="presOf" srcId="{3DFA66E1-F929-47B6-9416-F195AE18DE4A}" destId="{612254E6-4C17-4782-95A1-649BB671D6BB}" srcOrd="0" destOrd="0" presId="urn:microsoft.com/office/officeart/2005/8/layout/process1"/>
    <dgm:cxn modelId="{446FA0E4-0BCC-432C-A377-15B5785B110C}" type="presOf" srcId="{66E47C97-F4C1-42C6-BEB2-FC13112153AE}" destId="{64323CED-4B76-470C-968C-F1E81F93F046}" srcOrd="0" destOrd="0" presId="urn:microsoft.com/office/officeart/2005/8/layout/process1"/>
    <dgm:cxn modelId="{4B7F0CED-53AB-46D7-B6A9-7A6BE48865D2}" type="presOf" srcId="{3DFA66E1-F929-47B6-9416-F195AE18DE4A}" destId="{6DAE01C6-F71E-4AF2-99DB-1214DCF063A6}" srcOrd="1" destOrd="0" presId="urn:microsoft.com/office/officeart/2005/8/layout/process1"/>
    <dgm:cxn modelId="{A2076AF0-E5F5-4FEA-8C3A-45FA8AD83D60}" srcId="{66E47C97-F4C1-42C6-BEB2-FC13112153AE}" destId="{5BE86BF3-D341-4155-9484-306A3B20C102}" srcOrd="0" destOrd="0" parTransId="{6EB35FA6-7C13-4889-AEB9-1C80013BD367}" sibTransId="{ABB67F8B-DEC3-4D09-9E17-3A37C7506A51}"/>
    <dgm:cxn modelId="{BDCE60FB-719B-45D4-8E9C-00C4009E7530}" srcId="{66E47C97-F4C1-42C6-BEB2-FC13112153AE}" destId="{3C134AC3-C6F5-4ABB-8FA1-78D409436E64}" srcOrd="1" destOrd="0" parTransId="{8676FC33-775E-4430-AD1D-0806E3A69C3B}" sibTransId="{3DFA66E1-F929-47B6-9416-F195AE18DE4A}"/>
    <dgm:cxn modelId="{21F98D6F-B222-471C-88CF-C39E7E161B2B}" type="presParOf" srcId="{64323CED-4B76-470C-968C-F1E81F93F046}" destId="{83E38CBC-CC3E-40D3-B584-F97F97FA64F6}" srcOrd="0" destOrd="0" presId="urn:microsoft.com/office/officeart/2005/8/layout/process1"/>
    <dgm:cxn modelId="{DE18B930-543F-4B39-BF80-54B179410BF2}" type="presParOf" srcId="{64323CED-4B76-470C-968C-F1E81F93F046}" destId="{5CD182C0-800E-432C-8B73-854A903CC72D}" srcOrd="1" destOrd="0" presId="urn:microsoft.com/office/officeart/2005/8/layout/process1"/>
    <dgm:cxn modelId="{72F5816F-9A0E-4C9C-9A1D-CDBA3CA2C5E8}" type="presParOf" srcId="{5CD182C0-800E-432C-8B73-854A903CC72D}" destId="{D8051973-2211-4448-A4B9-4F6B25297EDD}" srcOrd="0" destOrd="0" presId="urn:microsoft.com/office/officeart/2005/8/layout/process1"/>
    <dgm:cxn modelId="{9A2A168D-6CB5-4AA1-B250-71485F946E2E}" type="presParOf" srcId="{64323CED-4B76-470C-968C-F1E81F93F046}" destId="{3C5C6723-04AD-4C68-9F49-07CB9D90BE94}" srcOrd="2" destOrd="0" presId="urn:microsoft.com/office/officeart/2005/8/layout/process1"/>
    <dgm:cxn modelId="{F8723296-1C36-460D-BD96-DB978ED852DB}" type="presParOf" srcId="{64323CED-4B76-470C-968C-F1E81F93F046}" destId="{612254E6-4C17-4782-95A1-649BB671D6BB}" srcOrd="3" destOrd="0" presId="urn:microsoft.com/office/officeart/2005/8/layout/process1"/>
    <dgm:cxn modelId="{E7168600-118F-490B-992C-536E26BD6CCA}" type="presParOf" srcId="{612254E6-4C17-4782-95A1-649BB671D6BB}" destId="{6DAE01C6-F71E-4AF2-99DB-1214DCF063A6}" srcOrd="0" destOrd="0" presId="urn:microsoft.com/office/officeart/2005/8/layout/process1"/>
    <dgm:cxn modelId="{A0CCDE21-BC6B-4E08-8900-FD26D63DB5DD}" type="presParOf" srcId="{64323CED-4B76-470C-968C-F1E81F93F046}" destId="{04100F71-2CD1-4228-86AA-477CAA37CF2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9CD5B6-2E69-4C73-B794-76F70FDB2A5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104306D0-3A8A-49FB-B4F7-483AEE3B08E8}">
      <dgm:prSet phldrT="[Text]"/>
      <dgm:spPr/>
      <dgm:t>
        <a:bodyPr/>
        <a:lstStyle/>
        <a:p>
          <a:r>
            <a:rPr lang="en-GB" dirty="0"/>
            <a:t>Artificial intelligence</a:t>
          </a:r>
          <a:endParaRPr lang="en-SG" dirty="0"/>
        </a:p>
      </dgm:t>
    </dgm:pt>
    <dgm:pt modelId="{D52E967E-1588-44E9-B2EA-3A8EEF4F0001}" type="parTrans" cxnId="{FD34B811-D5B8-4964-B1EA-E7A8B7F54E19}">
      <dgm:prSet/>
      <dgm:spPr/>
      <dgm:t>
        <a:bodyPr/>
        <a:lstStyle/>
        <a:p>
          <a:endParaRPr lang="en-SG"/>
        </a:p>
      </dgm:t>
    </dgm:pt>
    <dgm:pt modelId="{EDFAEF29-F7A1-4665-97EA-CC41F5304347}" type="sibTrans" cxnId="{FD34B811-D5B8-4964-B1EA-E7A8B7F54E19}">
      <dgm:prSet/>
      <dgm:spPr/>
      <dgm:t>
        <a:bodyPr/>
        <a:lstStyle/>
        <a:p>
          <a:endParaRPr lang="en-SG"/>
        </a:p>
      </dgm:t>
    </dgm:pt>
    <dgm:pt modelId="{EED824A5-E231-46F4-88C7-DB795B0C840F}">
      <dgm:prSet phldrT="[Text]"/>
      <dgm:spPr/>
      <dgm:t>
        <a:bodyPr/>
        <a:lstStyle/>
        <a:p>
          <a:r>
            <a:rPr lang="en-GB" dirty="0"/>
            <a:t>Machine Learning</a:t>
          </a:r>
          <a:endParaRPr lang="en-SG" dirty="0"/>
        </a:p>
      </dgm:t>
    </dgm:pt>
    <dgm:pt modelId="{5C50D54F-9828-42E9-B013-F9C4AF23B0DE}" type="parTrans" cxnId="{8C4BEA51-C5BC-4BE5-B7A1-3C6EB014CE5F}">
      <dgm:prSet/>
      <dgm:spPr/>
      <dgm:t>
        <a:bodyPr/>
        <a:lstStyle/>
        <a:p>
          <a:endParaRPr lang="en-SG"/>
        </a:p>
      </dgm:t>
    </dgm:pt>
    <dgm:pt modelId="{CC992ECD-F8D0-464D-ACCE-131CCEDCD9DC}" type="sibTrans" cxnId="{8C4BEA51-C5BC-4BE5-B7A1-3C6EB014CE5F}">
      <dgm:prSet/>
      <dgm:spPr/>
      <dgm:t>
        <a:bodyPr/>
        <a:lstStyle/>
        <a:p>
          <a:endParaRPr lang="en-SG"/>
        </a:p>
      </dgm:t>
    </dgm:pt>
    <dgm:pt modelId="{BCE4C676-D709-46D1-AC02-4CDFDA47C515}">
      <dgm:prSet phldrT="[Text]"/>
      <dgm:spPr/>
      <dgm:t>
        <a:bodyPr/>
        <a:lstStyle/>
        <a:p>
          <a:r>
            <a:rPr lang="en-GB" dirty="0"/>
            <a:t>Neural Networks</a:t>
          </a:r>
          <a:endParaRPr lang="en-SG" dirty="0"/>
        </a:p>
      </dgm:t>
    </dgm:pt>
    <dgm:pt modelId="{A83AE9C8-973A-4B9D-B81C-DD68D07C2DFE}" type="parTrans" cxnId="{E5066507-AEC8-4CD6-9767-3A5D4E8B4D44}">
      <dgm:prSet/>
      <dgm:spPr/>
      <dgm:t>
        <a:bodyPr/>
        <a:lstStyle/>
        <a:p>
          <a:endParaRPr lang="en-SG"/>
        </a:p>
      </dgm:t>
    </dgm:pt>
    <dgm:pt modelId="{4C719ABB-8AAC-4615-9F42-64DD8BB3E053}" type="sibTrans" cxnId="{E5066507-AEC8-4CD6-9767-3A5D4E8B4D44}">
      <dgm:prSet/>
      <dgm:spPr/>
      <dgm:t>
        <a:bodyPr/>
        <a:lstStyle/>
        <a:p>
          <a:endParaRPr lang="en-SG"/>
        </a:p>
      </dgm:t>
    </dgm:pt>
    <dgm:pt modelId="{2AAAFBF7-83C7-479D-AC65-8C3488A6BFA8}">
      <dgm:prSet phldrT="[Text]"/>
      <dgm:spPr/>
      <dgm:t>
        <a:bodyPr/>
        <a:lstStyle/>
        <a:p>
          <a:r>
            <a:rPr lang="en-GB" dirty="0"/>
            <a:t>Deep Learning</a:t>
          </a:r>
          <a:endParaRPr lang="en-SG" dirty="0"/>
        </a:p>
      </dgm:t>
    </dgm:pt>
    <dgm:pt modelId="{A4467761-A0D9-4C09-9CA6-E346179BEDC8}" type="parTrans" cxnId="{CA957AA7-A0E1-49EE-BF60-5E25628389CD}">
      <dgm:prSet/>
      <dgm:spPr/>
      <dgm:t>
        <a:bodyPr/>
        <a:lstStyle/>
        <a:p>
          <a:endParaRPr lang="en-SG"/>
        </a:p>
      </dgm:t>
    </dgm:pt>
    <dgm:pt modelId="{E62172F1-3B23-43C3-96D2-C8E794DA35A0}" type="sibTrans" cxnId="{CA957AA7-A0E1-49EE-BF60-5E25628389CD}">
      <dgm:prSet/>
      <dgm:spPr/>
      <dgm:t>
        <a:bodyPr/>
        <a:lstStyle/>
        <a:p>
          <a:endParaRPr lang="en-SG"/>
        </a:p>
      </dgm:t>
    </dgm:pt>
    <dgm:pt modelId="{03DE1D20-29E8-4FA1-B5F1-5C555DDB98A1}" type="pres">
      <dgm:prSet presAssocID="{159CD5B6-2E69-4C73-B794-76F70FDB2A5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9603298-A817-4B69-A7CC-ACE624EE54EB}" type="pres">
      <dgm:prSet presAssocID="{104306D0-3A8A-49FB-B4F7-483AEE3B08E8}" presName="circle1" presStyleLbl="node1" presStyleIdx="0" presStyleCnt="4"/>
      <dgm:spPr/>
    </dgm:pt>
    <dgm:pt modelId="{ACED1C0C-8BDF-406E-A4FB-C18C62C53904}" type="pres">
      <dgm:prSet presAssocID="{104306D0-3A8A-49FB-B4F7-483AEE3B08E8}" presName="space" presStyleCnt="0"/>
      <dgm:spPr/>
    </dgm:pt>
    <dgm:pt modelId="{4B64177B-3AAD-407C-81EB-47E5DE27D2FD}" type="pres">
      <dgm:prSet presAssocID="{104306D0-3A8A-49FB-B4F7-483AEE3B08E8}" presName="rect1" presStyleLbl="alignAcc1" presStyleIdx="0" presStyleCnt="4" custLinFactX="49537" custLinFactNeighborX="100000" custLinFactNeighborY="-63851"/>
      <dgm:spPr/>
    </dgm:pt>
    <dgm:pt modelId="{692DD63C-0FF1-4F35-893E-4F53D083F70B}" type="pres">
      <dgm:prSet presAssocID="{EED824A5-E231-46F4-88C7-DB795B0C840F}" presName="vertSpace2" presStyleLbl="node1" presStyleIdx="0" presStyleCnt="4"/>
      <dgm:spPr/>
    </dgm:pt>
    <dgm:pt modelId="{82D0C9BC-AB35-41ED-B5AA-19E1A0BC3DB9}" type="pres">
      <dgm:prSet presAssocID="{EED824A5-E231-46F4-88C7-DB795B0C840F}" presName="circle2" presStyleLbl="node1" presStyleIdx="1" presStyleCnt="4"/>
      <dgm:spPr/>
    </dgm:pt>
    <dgm:pt modelId="{0EF61DF8-F923-4D5C-8375-DF1BCAF7B5F6}" type="pres">
      <dgm:prSet presAssocID="{EED824A5-E231-46F4-88C7-DB795B0C840F}" presName="rect2" presStyleLbl="alignAcc1" presStyleIdx="1" presStyleCnt="4"/>
      <dgm:spPr/>
    </dgm:pt>
    <dgm:pt modelId="{B680FBA8-38B0-43B6-9489-BD39087633B2}" type="pres">
      <dgm:prSet presAssocID="{BCE4C676-D709-46D1-AC02-4CDFDA47C515}" presName="vertSpace3" presStyleLbl="node1" presStyleIdx="1" presStyleCnt="4"/>
      <dgm:spPr/>
    </dgm:pt>
    <dgm:pt modelId="{D6E232F9-A506-41A3-9B36-CE9DEC8D4034}" type="pres">
      <dgm:prSet presAssocID="{BCE4C676-D709-46D1-AC02-4CDFDA47C515}" presName="circle3" presStyleLbl="node1" presStyleIdx="2" presStyleCnt="4"/>
      <dgm:spPr/>
    </dgm:pt>
    <dgm:pt modelId="{D0639CE7-4EB7-41D0-82BF-E6CBF2145603}" type="pres">
      <dgm:prSet presAssocID="{BCE4C676-D709-46D1-AC02-4CDFDA47C515}" presName="rect3" presStyleLbl="alignAcc1" presStyleIdx="2" presStyleCnt="4"/>
      <dgm:spPr/>
    </dgm:pt>
    <dgm:pt modelId="{AF318DB6-73F6-4E86-B3D7-B7AE913E339A}" type="pres">
      <dgm:prSet presAssocID="{2AAAFBF7-83C7-479D-AC65-8C3488A6BFA8}" presName="vertSpace4" presStyleLbl="node1" presStyleIdx="2" presStyleCnt="4"/>
      <dgm:spPr/>
    </dgm:pt>
    <dgm:pt modelId="{DBC2DDC1-AE94-4F82-BDDC-398D3F9B144A}" type="pres">
      <dgm:prSet presAssocID="{2AAAFBF7-83C7-479D-AC65-8C3488A6BFA8}" presName="circle4" presStyleLbl="node1" presStyleIdx="3" presStyleCnt="4"/>
      <dgm:spPr/>
    </dgm:pt>
    <dgm:pt modelId="{C32C61C9-97BE-43E6-94DF-2C93AA227736}" type="pres">
      <dgm:prSet presAssocID="{2AAAFBF7-83C7-479D-AC65-8C3488A6BFA8}" presName="rect4" presStyleLbl="alignAcc1" presStyleIdx="3" presStyleCnt="4"/>
      <dgm:spPr/>
    </dgm:pt>
    <dgm:pt modelId="{A32EB1EA-449B-48C9-8704-957B4DD88C1A}" type="pres">
      <dgm:prSet presAssocID="{104306D0-3A8A-49FB-B4F7-483AEE3B08E8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25AF7C3F-C9D5-49B3-966D-C9BE736AAA6D}" type="pres">
      <dgm:prSet presAssocID="{EED824A5-E231-46F4-88C7-DB795B0C840F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D9F42932-1A8D-44DC-A481-2E68B1C8C205}" type="pres">
      <dgm:prSet presAssocID="{BCE4C676-D709-46D1-AC02-4CDFDA47C515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482B82DC-F7FE-4673-9C60-BFEB7B895B63}" type="pres">
      <dgm:prSet presAssocID="{2AAAFBF7-83C7-479D-AC65-8C3488A6BFA8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E5066507-AEC8-4CD6-9767-3A5D4E8B4D44}" srcId="{159CD5B6-2E69-4C73-B794-76F70FDB2A55}" destId="{BCE4C676-D709-46D1-AC02-4CDFDA47C515}" srcOrd="2" destOrd="0" parTransId="{A83AE9C8-973A-4B9D-B81C-DD68D07C2DFE}" sibTransId="{4C719ABB-8AAC-4615-9F42-64DD8BB3E053}"/>
    <dgm:cxn modelId="{38B60E0A-3875-4560-ADAF-1D5BD1A2BD6E}" type="presOf" srcId="{2AAAFBF7-83C7-479D-AC65-8C3488A6BFA8}" destId="{482B82DC-F7FE-4673-9C60-BFEB7B895B63}" srcOrd="1" destOrd="0" presId="urn:microsoft.com/office/officeart/2005/8/layout/target3"/>
    <dgm:cxn modelId="{FD34B811-D5B8-4964-B1EA-E7A8B7F54E19}" srcId="{159CD5B6-2E69-4C73-B794-76F70FDB2A55}" destId="{104306D0-3A8A-49FB-B4F7-483AEE3B08E8}" srcOrd="0" destOrd="0" parTransId="{D52E967E-1588-44E9-B2EA-3A8EEF4F0001}" sibTransId="{EDFAEF29-F7A1-4665-97EA-CC41F5304347}"/>
    <dgm:cxn modelId="{048DEE16-1D6F-40FC-B275-9BE7BF460DB1}" type="presOf" srcId="{EED824A5-E231-46F4-88C7-DB795B0C840F}" destId="{0EF61DF8-F923-4D5C-8375-DF1BCAF7B5F6}" srcOrd="0" destOrd="0" presId="urn:microsoft.com/office/officeart/2005/8/layout/target3"/>
    <dgm:cxn modelId="{1132A734-07AE-4970-898A-EAA2463C6CC9}" type="presOf" srcId="{BCE4C676-D709-46D1-AC02-4CDFDA47C515}" destId="{D9F42932-1A8D-44DC-A481-2E68B1C8C205}" srcOrd="1" destOrd="0" presId="urn:microsoft.com/office/officeart/2005/8/layout/target3"/>
    <dgm:cxn modelId="{8C4BEA51-C5BC-4BE5-B7A1-3C6EB014CE5F}" srcId="{159CD5B6-2E69-4C73-B794-76F70FDB2A55}" destId="{EED824A5-E231-46F4-88C7-DB795B0C840F}" srcOrd="1" destOrd="0" parTransId="{5C50D54F-9828-42E9-B013-F9C4AF23B0DE}" sibTransId="{CC992ECD-F8D0-464D-ACCE-131CCEDCD9DC}"/>
    <dgm:cxn modelId="{0393E277-CEFA-4A96-AE8F-B8BD1A9F9FBF}" type="presOf" srcId="{159CD5B6-2E69-4C73-B794-76F70FDB2A55}" destId="{03DE1D20-29E8-4FA1-B5F1-5C555DDB98A1}" srcOrd="0" destOrd="0" presId="urn:microsoft.com/office/officeart/2005/8/layout/target3"/>
    <dgm:cxn modelId="{EC36849D-025A-42F1-AE09-2817278DAC90}" type="presOf" srcId="{104306D0-3A8A-49FB-B4F7-483AEE3B08E8}" destId="{4B64177B-3AAD-407C-81EB-47E5DE27D2FD}" srcOrd="0" destOrd="0" presId="urn:microsoft.com/office/officeart/2005/8/layout/target3"/>
    <dgm:cxn modelId="{CA957AA7-A0E1-49EE-BF60-5E25628389CD}" srcId="{159CD5B6-2E69-4C73-B794-76F70FDB2A55}" destId="{2AAAFBF7-83C7-479D-AC65-8C3488A6BFA8}" srcOrd="3" destOrd="0" parTransId="{A4467761-A0D9-4C09-9CA6-E346179BEDC8}" sibTransId="{E62172F1-3B23-43C3-96D2-C8E794DA35A0}"/>
    <dgm:cxn modelId="{0FF7D9A7-4642-4FC4-8653-51E11E311AB9}" type="presOf" srcId="{2AAAFBF7-83C7-479D-AC65-8C3488A6BFA8}" destId="{C32C61C9-97BE-43E6-94DF-2C93AA227736}" srcOrd="0" destOrd="0" presId="urn:microsoft.com/office/officeart/2005/8/layout/target3"/>
    <dgm:cxn modelId="{543C51B2-2E8A-47BA-93BC-FEB8034F8405}" type="presOf" srcId="{BCE4C676-D709-46D1-AC02-4CDFDA47C515}" destId="{D0639CE7-4EB7-41D0-82BF-E6CBF2145603}" srcOrd="0" destOrd="0" presId="urn:microsoft.com/office/officeart/2005/8/layout/target3"/>
    <dgm:cxn modelId="{5980DBC7-A72B-44A2-9045-B0E166235376}" type="presOf" srcId="{104306D0-3A8A-49FB-B4F7-483AEE3B08E8}" destId="{A32EB1EA-449B-48C9-8704-957B4DD88C1A}" srcOrd="1" destOrd="0" presId="urn:microsoft.com/office/officeart/2005/8/layout/target3"/>
    <dgm:cxn modelId="{04B582EF-9DBA-49DA-A51F-68402758BECA}" type="presOf" srcId="{EED824A5-E231-46F4-88C7-DB795B0C840F}" destId="{25AF7C3F-C9D5-49B3-966D-C9BE736AAA6D}" srcOrd="1" destOrd="0" presId="urn:microsoft.com/office/officeart/2005/8/layout/target3"/>
    <dgm:cxn modelId="{42B90ACC-AB08-4AF3-803F-F5F801BBE95D}" type="presParOf" srcId="{03DE1D20-29E8-4FA1-B5F1-5C555DDB98A1}" destId="{49603298-A817-4B69-A7CC-ACE624EE54EB}" srcOrd="0" destOrd="0" presId="urn:microsoft.com/office/officeart/2005/8/layout/target3"/>
    <dgm:cxn modelId="{83F7434A-3A32-4C5A-A35B-EF17AF155E20}" type="presParOf" srcId="{03DE1D20-29E8-4FA1-B5F1-5C555DDB98A1}" destId="{ACED1C0C-8BDF-406E-A4FB-C18C62C53904}" srcOrd="1" destOrd="0" presId="urn:microsoft.com/office/officeart/2005/8/layout/target3"/>
    <dgm:cxn modelId="{ECDDE5BB-152E-42E1-837B-D1B09AC1BAD9}" type="presParOf" srcId="{03DE1D20-29E8-4FA1-B5F1-5C555DDB98A1}" destId="{4B64177B-3AAD-407C-81EB-47E5DE27D2FD}" srcOrd="2" destOrd="0" presId="urn:microsoft.com/office/officeart/2005/8/layout/target3"/>
    <dgm:cxn modelId="{4BCEAC5C-638D-4D93-860F-99532470697F}" type="presParOf" srcId="{03DE1D20-29E8-4FA1-B5F1-5C555DDB98A1}" destId="{692DD63C-0FF1-4F35-893E-4F53D083F70B}" srcOrd="3" destOrd="0" presId="urn:microsoft.com/office/officeart/2005/8/layout/target3"/>
    <dgm:cxn modelId="{322AC884-0FBB-45A8-8533-599EAEE1E2BC}" type="presParOf" srcId="{03DE1D20-29E8-4FA1-B5F1-5C555DDB98A1}" destId="{82D0C9BC-AB35-41ED-B5AA-19E1A0BC3DB9}" srcOrd="4" destOrd="0" presId="urn:microsoft.com/office/officeart/2005/8/layout/target3"/>
    <dgm:cxn modelId="{917B7D63-7E60-458E-8F90-4782C82802DA}" type="presParOf" srcId="{03DE1D20-29E8-4FA1-B5F1-5C555DDB98A1}" destId="{0EF61DF8-F923-4D5C-8375-DF1BCAF7B5F6}" srcOrd="5" destOrd="0" presId="urn:microsoft.com/office/officeart/2005/8/layout/target3"/>
    <dgm:cxn modelId="{65CD77EA-72DA-4721-96ED-7EDE4C118E9E}" type="presParOf" srcId="{03DE1D20-29E8-4FA1-B5F1-5C555DDB98A1}" destId="{B680FBA8-38B0-43B6-9489-BD39087633B2}" srcOrd="6" destOrd="0" presId="urn:microsoft.com/office/officeart/2005/8/layout/target3"/>
    <dgm:cxn modelId="{5159D7A5-76EF-497F-B7D8-3CF300AC2E60}" type="presParOf" srcId="{03DE1D20-29E8-4FA1-B5F1-5C555DDB98A1}" destId="{D6E232F9-A506-41A3-9B36-CE9DEC8D4034}" srcOrd="7" destOrd="0" presId="urn:microsoft.com/office/officeart/2005/8/layout/target3"/>
    <dgm:cxn modelId="{547F72F9-2F61-496F-8B7F-34BDA10424FC}" type="presParOf" srcId="{03DE1D20-29E8-4FA1-B5F1-5C555DDB98A1}" destId="{D0639CE7-4EB7-41D0-82BF-E6CBF2145603}" srcOrd="8" destOrd="0" presId="urn:microsoft.com/office/officeart/2005/8/layout/target3"/>
    <dgm:cxn modelId="{BDC0B71D-B685-4E70-8846-9A2B29F3261C}" type="presParOf" srcId="{03DE1D20-29E8-4FA1-B5F1-5C555DDB98A1}" destId="{AF318DB6-73F6-4E86-B3D7-B7AE913E339A}" srcOrd="9" destOrd="0" presId="urn:microsoft.com/office/officeart/2005/8/layout/target3"/>
    <dgm:cxn modelId="{C2B30010-A12D-42A2-A855-4C7868F303C7}" type="presParOf" srcId="{03DE1D20-29E8-4FA1-B5F1-5C555DDB98A1}" destId="{DBC2DDC1-AE94-4F82-BDDC-398D3F9B144A}" srcOrd="10" destOrd="0" presId="urn:microsoft.com/office/officeart/2005/8/layout/target3"/>
    <dgm:cxn modelId="{A94408F5-E2B1-4292-830D-0EDC90AA2B76}" type="presParOf" srcId="{03DE1D20-29E8-4FA1-B5F1-5C555DDB98A1}" destId="{C32C61C9-97BE-43E6-94DF-2C93AA227736}" srcOrd="11" destOrd="0" presId="urn:microsoft.com/office/officeart/2005/8/layout/target3"/>
    <dgm:cxn modelId="{B9165EB6-966A-4F84-B51B-86A8F4D9474B}" type="presParOf" srcId="{03DE1D20-29E8-4FA1-B5F1-5C555DDB98A1}" destId="{A32EB1EA-449B-48C9-8704-957B4DD88C1A}" srcOrd="12" destOrd="0" presId="urn:microsoft.com/office/officeart/2005/8/layout/target3"/>
    <dgm:cxn modelId="{D1538CFF-0994-4EE6-B8FC-E7344E59FBCF}" type="presParOf" srcId="{03DE1D20-29E8-4FA1-B5F1-5C555DDB98A1}" destId="{25AF7C3F-C9D5-49B3-966D-C9BE736AAA6D}" srcOrd="13" destOrd="0" presId="urn:microsoft.com/office/officeart/2005/8/layout/target3"/>
    <dgm:cxn modelId="{655DF406-F593-4EC3-A850-94B0D9036F75}" type="presParOf" srcId="{03DE1D20-29E8-4FA1-B5F1-5C555DDB98A1}" destId="{D9F42932-1A8D-44DC-A481-2E68B1C8C205}" srcOrd="14" destOrd="0" presId="urn:microsoft.com/office/officeart/2005/8/layout/target3"/>
    <dgm:cxn modelId="{2D7B08E4-D6AA-45F1-803C-2CC1E620BE1B}" type="presParOf" srcId="{03DE1D20-29E8-4FA1-B5F1-5C555DDB98A1}" destId="{482B82DC-F7FE-4673-9C60-BFEB7B895B63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03298-A817-4B69-A7CC-ACE624EE54EB}">
      <dsp:nvSpPr>
        <dsp:cNvPr id="0" name=""/>
        <dsp:cNvSpPr/>
      </dsp:nvSpPr>
      <dsp:spPr>
        <a:xfrm>
          <a:off x="0" y="588925"/>
          <a:ext cx="2685757" cy="268575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4177B-3AAD-407C-81EB-47E5DE27D2FD}">
      <dsp:nvSpPr>
        <dsp:cNvPr id="0" name=""/>
        <dsp:cNvSpPr/>
      </dsp:nvSpPr>
      <dsp:spPr>
        <a:xfrm>
          <a:off x="1342878" y="0"/>
          <a:ext cx="3133383" cy="26857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Artificial intelligence</a:t>
          </a:r>
          <a:endParaRPr lang="en-SG" sz="2600" kern="1200" dirty="0"/>
        </a:p>
      </dsp:txBody>
      <dsp:txXfrm>
        <a:off x="1342878" y="0"/>
        <a:ext cx="3133383" cy="570723"/>
      </dsp:txXfrm>
    </dsp:sp>
    <dsp:sp modelId="{82D0C9BC-AB35-41ED-B5AA-19E1A0BC3DB9}">
      <dsp:nvSpPr>
        <dsp:cNvPr id="0" name=""/>
        <dsp:cNvSpPr/>
      </dsp:nvSpPr>
      <dsp:spPr>
        <a:xfrm>
          <a:off x="352505" y="1159649"/>
          <a:ext cx="1980745" cy="198074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61DF8-F923-4D5C-8375-DF1BCAF7B5F6}">
      <dsp:nvSpPr>
        <dsp:cNvPr id="0" name=""/>
        <dsp:cNvSpPr/>
      </dsp:nvSpPr>
      <dsp:spPr>
        <a:xfrm>
          <a:off x="1342878" y="1159649"/>
          <a:ext cx="3133383" cy="19807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Machine Learning</a:t>
          </a:r>
          <a:endParaRPr lang="en-SG" sz="2600" kern="1200" dirty="0"/>
        </a:p>
      </dsp:txBody>
      <dsp:txXfrm>
        <a:off x="1342878" y="1159649"/>
        <a:ext cx="3133383" cy="570723"/>
      </dsp:txXfrm>
    </dsp:sp>
    <dsp:sp modelId="{D6E232F9-A506-41A3-9B36-CE9DEC8D4034}">
      <dsp:nvSpPr>
        <dsp:cNvPr id="0" name=""/>
        <dsp:cNvSpPr/>
      </dsp:nvSpPr>
      <dsp:spPr>
        <a:xfrm>
          <a:off x="705011" y="1730372"/>
          <a:ext cx="1275734" cy="12757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39CE7-4EB7-41D0-82BF-E6CBF2145603}">
      <dsp:nvSpPr>
        <dsp:cNvPr id="0" name=""/>
        <dsp:cNvSpPr/>
      </dsp:nvSpPr>
      <dsp:spPr>
        <a:xfrm>
          <a:off x="1342878" y="1730372"/>
          <a:ext cx="3133383" cy="12757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Neural Networks</a:t>
          </a:r>
          <a:endParaRPr lang="en-SG" sz="2600" kern="1200" dirty="0"/>
        </a:p>
      </dsp:txBody>
      <dsp:txXfrm>
        <a:off x="1342878" y="1730372"/>
        <a:ext cx="3133383" cy="570723"/>
      </dsp:txXfrm>
    </dsp:sp>
    <dsp:sp modelId="{DBC2DDC1-AE94-4F82-BDDC-398D3F9B144A}">
      <dsp:nvSpPr>
        <dsp:cNvPr id="0" name=""/>
        <dsp:cNvSpPr/>
      </dsp:nvSpPr>
      <dsp:spPr>
        <a:xfrm>
          <a:off x="1057516" y="2301096"/>
          <a:ext cx="570723" cy="57072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C61C9-97BE-43E6-94DF-2C93AA227736}">
      <dsp:nvSpPr>
        <dsp:cNvPr id="0" name=""/>
        <dsp:cNvSpPr/>
      </dsp:nvSpPr>
      <dsp:spPr>
        <a:xfrm>
          <a:off x="1342878" y="2301096"/>
          <a:ext cx="3133383" cy="5707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Deep Learning</a:t>
          </a:r>
          <a:endParaRPr lang="en-SG" sz="2600" kern="1200" dirty="0"/>
        </a:p>
      </dsp:txBody>
      <dsp:txXfrm>
        <a:off x="1342878" y="2301096"/>
        <a:ext cx="3133383" cy="570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8CBC-CC3E-40D3-B584-F97F97FA64F6}">
      <dsp:nvSpPr>
        <dsp:cNvPr id="0" name=""/>
        <dsp:cNvSpPr/>
      </dsp:nvSpPr>
      <dsp:spPr>
        <a:xfrm>
          <a:off x="4082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Input (</a:t>
          </a:r>
          <a:r>
            <a:rPr lang="fr-FR" sz="1800" kern="1200" dirty="0" err="1"/>
            <a:t>Given</a:t>
          </a:r>
          <a:r>
            <a:rPr lang="fr-FR" sz="1800" kern="1200" dirty="0"/>
            <a:t>)</a:t>
          </a:r>
        </a:p>
      </dsp:txBody>
      <dsp:txXfrm>
        <a:off x="27536" y="244390"/>
        <a:ext cx="1173318" cy="753865"/>
      </dsp:txXfrm>
    </dsp:sp>
    <dsp:sp modelId="{5CD182C0-800E-432C-8B73-854A903CC72D}">
      <dsp:nvSpPr>
        <dsp:cNvPr id="0" name=""/>
        <dsp:cNvSpPr/>
      </dsp:nvSpPr>
      <dsp:spPr>
        <a:xfrm>
          <a:off x="1346331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346331" y="530538"/>
        <a:ext cx="181081" cy="181570"/>
      </dsp:txXfrm>
    </dsp:sp>
    <dsp:sp modelId="{3C5C6723-04AD-4C68-9F49-07CB9D90BE94}">
      <dsp:nvSpPr>
        <dsp:cNvPr id="0" name=""/>
        <dsp:cNvSpPr/>
      </dsp:nvSpPr>
      <dsp:spPr>
        <a:xfrm>
          <a:off x="1712399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Function</a:t>
          </a:r>
          <a:endParaRPr lang="fr-FR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Created</a:t>
          </a:r>
          <a:r>
            <a:rPr lang="fr-FR" sz="1800" kern="1200" dirty="0"/>
            <a:t>)</a:t>
          </a:r>
        </a:p>
      </dsp:txBody>
      <dsp:txXfrm>
        <a:off x="1735853" y="244390"/>
        <a:ext cx="1173318" cy="753865"/>
      </dsp:txXfrm>
    </dsp:sp>
    <dsp:sp modelId="{612254E6-4C17-4782-95A1-649BB671D6BB}">
      <dsp:nvSpPr>
        <dsp:cNvPr id="0" name=""/>
        <dsp:cNvSpPr/>
      </dsp:nvSpPr>
      <dsp:spPr>
        <a:xfrm>
          <a:off x="3054648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054648" y="530538"/>
        <a:ext cx="181081" cy="181570"/>
      </dsp:txXfrm>
    </dsp:sp>
    <dsp:sp modelId="{04100F71-2CD1-4228-86AA-477CAA37CF23}">
      <dsp:nvSpPr>
        <dsp:cNvPr id="0" name=""/>
        <dsp:cNvSpPr/>
      </dsp:nvSpPr>
      <dsp:spPr>
        <a:xfrm>
          <a:off x="3420716" y="220936"/>
          <a:ext cx="1220226" cy="800773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Output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Obtained</a:t>
          </a:r>
          <a:r>
            <a:rPr lang="fr-FR" sz="1800" kern="1200" dirty="0"/>
            <a:t>)</a:t>
          </a:r>
        </a:p>
      </dsp:txBody>
      <dsp:txXfrm>
        <a:off x="3444170" y="244390"/>
        <a:ext cx="1173318" cy="7538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8CBC-CC3E-40D3-B584-F97F97FA64F6}">
      <dsp:nvSpPr>
        <dsp:cNvPr id="0" name=""/>
        <dsp:cNvSpPr/>
      </dsp:nvSpPr>
      <dsp:spPr>
        <a:xfrm>
          <a:off x="4082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Input (</a:t>
          </a:r>
          <a:r>
            <a:rPr lang="fr-FR" sz="1800" kern="1200" dirty="0" err="1"/>
            <a:t>Available</a:t>
          </a:r>
          <a:r>
            <a:rPr lang="fr-FR" sz="1800" kern="1200" dirty="0"/>
            <a:t>)</a:t>
          </a:r>
        </a:p>
      </dsp:txBody>
      <dsp:txXfrm>
        <a:off x="27536" y="244390"/>
        <a:ext cx="1173318" cy="753865"/>
      </dsp:txXfrm>
    </dsp:sp>
    <dsp:sp modelId="{5CD182C0-800E-432C-8B73-854A903CC72D}">
      <dsp:nvSpPr>
        <dsp:cNvPr id="0" name=""/>
        <dsp:cNvSpPr/>
      </dsp:nvSpPr>
      <dsp:spPr>
        <a:xfrm>
          <a:off x="1346331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346331" y="530538"/>
        <a:ext cx="181081" cy="181570"/>
      </dsp:txXfrm>
    </dsp:sp>
    <dsp:sp modelId="{3C5C6723-04AD-4C68-9F49-07CB9D90BE94}">
      <dsp:nvSpPr>
        <dsp:cNvPr id="0" name=""/>
        <dsp:cNvSpPr/>
      </dsp:nvSpPr>
      <dsp:spPr>
        <a:xfrm>
          <a:off x="1712399" y="220936"/>
          <a:ext cx="1220226" cy="800773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Function</a:t>
          </a:r>
          <a:endParaRPr lang="fr-FR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(?)</a:t>
          </a:r>
        </a:p>
      </dsp:txBody>
      <dsp:txXfrm>
        <a:off x="1735853" y="244390"/>
        <a:ext cx="1173318" cy="753865"/>
      </dsp:txXfrm>
    </dsp:sp>
    <dsp:sp modelId="{612254E6-4C17-4782-95A1-649BB671D6BB}">
      <dsp:nvSpPr>
        <dsp:cNvPr id="0" name=""/>
        <dsp:cNvSpPr/>
      </dsp:nvSpPr>
      <dsp:spPr>
        <a:xfrm>
          <a:off x="3054648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054648" y="530538"/>
        <a:ext cx="181081" cy="181570"/>
      </dsp:txXfrm>
    </dsp:sp>
    <dsp:sp modelId="{04100F71-2CD1-4228-86AA-477CAA37CF23}">
      <dsp:nvSpPr>
        <dsp:cNvPr id="0" name=""/>
        <dsp:cNvSpPr/>
      </dsp:nvSpPr>
      <dsp:spPr>
        <a:xfrm>
          <a:off x="3420716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Output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Available</a:t>
          </a:r>
          <a:r>
            <a:rPr lang="fr-FR" sz="1800" kern="1200" dirty="0"/>
            <a:t>)</a:t>
          </a:r>
        </a:p>
      </dsp:txBody>
      <dsp:txXfrm>
        <a:off x="3444170" y="244390"/>
        <a:ext cx="1173318" cy="7538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8CBC-CC3E-40D3-B584-F97F97FA64F6}">
      <dsp:nvSpPr>
        <dsp:cNvPr id="0" name=""/>
        <dsp:cNvSpPr/>
      </dsp:nvSpPr>
      <dsp:spPr>
        <a:xfrm>
          <a:off x="4082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Input (</a:t>
          </a:r>
          <a:r>
            <a:rPr lang="fr-FR" sz="1800" kern="1200" dirty="0" err="1"/>
            <a:t>Available</a:t>
          </a:r>
          <a:r>
            <a:rPr lang="fr-FR" sz="1800" kern="1200" dirty="0"/>
            <a:t>)</a:t>
          </a:r>
        </a:p>
      </dsp:txBody>
      <dsp:txXfrm>
        <a:off x="27536" y="244390"/>
        <a:ext cx="1173318" cy="753865"/>
      </dsp:txXfrm>
    </dsp:sp>
    <dsp:sp modelId="{5CD182C0-800E-432C-8B73-854A903CC72D}">
      <dsp:nvSpPr>
        <dsp:cNvPr id="0" name=""/>
        <dsp:cNvSpPr/>
      </dsp:nvSpPr>
      <dsp:spPr>
        <a:xfrm>
          <a:off x="1346331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346331" y="530538"/>
        <a:ext cx="181081" cy="181570"/>
      </dsp:txXfrm>
    </dsp:sp>
    <dsp:sp modelId="{3C5C6723-04AD-4C68-9F49-07CB9D90BE94}">
      <dsp:nvSpPr>
        <dsp:cNvPr id="0" name=""/>
        <dsp:cNvSpPr/>
      </dsp:nvSpPr>
      <dsp:spPr>
        <a:xfrm>
          <a:off x="1712399" y="220936"/>
          <a:ext cx="1220226" cy="800773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Function</a:t>
          </a:r>
          <a:endParaRPr lang="fr-FR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(?)</a:t>
          </a:r>
        </a:p>
      </dsp:txBody>
      <dsp:txXfrm>
        <a:off x="1735853" y="244390"/>
        <a:ext cx="1173318" cy="753865"/>
      </dsp:txXfrm>
    </dsp:sp>
    <dsp:sp modelId="{612254E6-4C17-4782-95A1-649BB671D6BB}">
      <dsp:nvSpPr>
        <dsp:cNvPr id="0" name=""/>
        <dsp:cNvSpPr/>
      </dsp:nvSpPr>
      <dsp:spPr>
        <a:xfrm>
          <a:off x="3054648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054648" y="530538"/>
        <a:ext cx="181081" cy="181570"/>
      </dsp:txXfrm>
    </dsp:sp>
    <dsp:sp modelId="{04100F71-2CD1-4228-86AA-477CAA37CF23}">
      <dsp:nvSpPr>
        <dsp:cNvPr id="0" name=""/>
        <dsp:cNvSpPr/>
      </dsp:nvSpPr>
      <dsp:spPr>
        <a:xfrm>
          <a:off x="3420716" y="220936"/>
          <a:ext cx="1220226" cy="80077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Output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Available</a:t>
          </a:r>
          <a:r>
            <a:rPr lang="fr-FR" sz="1800" kern="1200" dirty="0"/>
            <a:t>)</a:t>
          </a:r>
        </a:p>
      </dsp:txBody>
      <dsp:txXfrm>
        <a:off x="3444170" y="244390"/>
        <a:ext cx="1173318" cy="7538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8CBC-CC3E-40D3-B584-F97F97FA64F6}">
      <dsp:nvSpPr>
        <dsp:cNvPr id="0" name=""/>
        <dsp:cNvSpPr/>
      </dsp:nvSpPr>
      <dsp:spPr>
        <a:xfrm>
          <a:off x="4082" y="83661"/>
          <a:ext cx="1220226" cy="107532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Input (</a:t>
          </a:r>
          <a:r>
            <a:rPr lang="fr-FR" sz="1800" kern="1200" dirty="0" err="1"/>
            <a:t>Given</a:t>
          </a:r>
          <a:r>
            <a:rPr lang="fr-FR" sz="1800" kern="1200" dirty="0"/>
            <a:t>)</a:t>
          </a:r>
        </a:p>
      </dsp:txBody>
      <dsp:txXfrm>
        <a:off x="35577" y="115156"/>
        <a:ext cx="1157236" cy="1012334"/>
      </dsp:txXfrm>
    </dsp:sp>
    <dsp:sp modelId="{5CD182C0-800E-432C-8B73-854A903CC72D}">
      <dsp:nvSpPr>
        <dsp:cNvPr id="0" name=""/>
        <dsp:cNvSpPr/>
      </dsp:nvSpPr>
      <dsp:spPr>
        <a:xfrm>
          <a:off x="1346331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346331" y="530538"/>
        <a:ext cx="181081" cy="181570"/>
      </dsp:txXfrm>
    </dsp:sp>
    <dsp:sp modelId="{3C5C6723-04AD-4C68-9F49-07CB9D90BE94}">
      <dsp:nvSpPr>
        <dsp:cNvPr id="0" name=""/>
        <dsp:cNvSpPr/>
      </dsp:nvSpPr>
      <dsp:spPr>
        <a:xfrm>
          <a:off x="1712399" y="83661"/>
          <a:ext cx="1220226" cy="107532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Function</a:t>
          </a:r>
          <a:endParaRPr lang="fr-FR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Coded</a:t>
          </a:r>
          <a:r>
            <a:rPr lang="fr-FR" sz="1800" kern="1200" dirty="0"/>
            <a:t> </a:t>
          </a:r>
          <a:r>
            <a:rPr lang="fr-FR" sz="1800" kern="1200" dirty="0" err="1"/>
            <a:t>Manually</a:t>
          </a:r>
          <a:r>
            <a:rPr lang="fr-FR" sz="1800" kern="1200" dirty="0"/>
            <a:t>)</a:t>
          </a:r>
        </a:p>
      </dsp:txBody>
      <dsp:txXfrm>
        <a:off x="1743894" y="115156"/>
        <a:ext cx="1157236" cy="1012334"/>
      </dsp:txXfrm>
    </dsp:sp>
    <dsp:sp modelId="{612254E6-4C17-4782-95A1-649BB671D6BB}">
      <dsp:nvSpPr>
        <dsp:cNvPr id="0" name=""/>
        <dsp:cNvSpPr/>
      </dsp:nvSpPr>
      <dsp:spPr>
        <a:xfrm>
          <a:off x="3054648" y="470015"/>
          <a:ext cx="258687" cy="3026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054648" y="530538"/>
        <a:ext cx="181081" cy="181570"/>
      </dsp:txXfrm>
    </dsp:sp>
    <dsp:sp modelId="{04100F71-2CD1-4228-86AA-477CAA37CF23}">
      <dsp:nvSpPr>
        <dsp:cNvPr id="0" name=""/>
        <dsp:cNvSpPr/>
      </dsp:nvSpPr>
      <dsp:spPr>
        <a:xfrm>
          <a:off x="3420716" y="83661"/>
          <a:ext cx="1220226" cy="1075324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Output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</a:t>
          </a:r>
          <a:r>
            <a:rPr lang="fr-FR" sz="1800" kern="1200" dirty="0" err="1"/>
            <a:t>Obtained</a:t>
          </a:r>
          <a:r>
            <a:rPr lang="fr-FR" sz="1800" kern="1200" dirty="0"/>
            <a:t>)</a:t>
          </a:r>
        </a:p>
      </dsp:txBody>
      <dsp:txXfrm>
        <a:off x="3452211" y="115156"/>
        <a:ext cx="1157236" cy="10123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8CBC-CC3E-40D3-B584-F97F97FA64F6}">
      <dsp:nvSpPr>
        <dsp:cNvPr id="0" name=""/>
        <dsp:cNvSpPr/>
      </dsp:nvSpPr>
      <dsp:spPr>
        <a:xfrm>
          <a:off x="10069" y="0"/>
          <a:ext cx="3009793" cy="1049235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Input x (</a:t>
          </a:r>
          <a:r>
            <a:rPr lang="fr-FR" sz="2400" kern="1200" dirty="0" err="1"/>
            <a:t>available</a:t>
          </a:r>
          <a:r>
            <a:rPr lang="fr-FR" sz="2400" kern="1200" dirty="0"/>
            <a:t>)</a:t>
          </a:r>
        </a:p>
      </dsp:txBody>
      <dsp:txXfrm>
        <a:off x="40800" y="30731"/>
        <a:ext cx="2948331" cy="987773"/>
      </dsp:txXfrm>
    </dsp:sp>
    <dsp:sp modelId="{5CD182C0-800E-432C-8B73-854A903CC72D}">
      <dsp:nvSpPr>
        <dsp:cNvPr id="0" name=""/>
        <dsp:cNvSpPr/>
      </dsp:nvSpPr>
      <dsp:spPr>
        <a:xfrm>
          <a:off x="3320842" y="151403"/>
          <a:ext cx="638076" cy="746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3320842" y="300689"/>
        <a:ext cx="446653" cy="447856"/>
      </dsp:txXfrm>
    </dsp:sp>
    <dsp:sp modelId="{3C5C6723-04AD-4C68-9F49-07CB9D90BE94}">
      <dsp:nvSpPr>
        <dsp:cNvPr id="0" name=""/>
        <dsp:cNvSpPr/>
      </dsp:nvSpPr>
      <dsp:spPr>
        <a:xfrm>
          <a:off x="4223780" y="0"/>
          <a:ext cx="3009793" cy="1049235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/>
            <a:t>Function</a:t>
          </a:r>
          <a:r>
            <a:rPr lang="fr-FR" sz="2400" kern="1200" dirty="0"/>
            <a:t> f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(?)</a:t>
          </a:r>
        </a:p>
      </dsp:txBody>
      <dsp:txXfrm>
        <a:off x="4254511" y="30731"/>
        <a:ext cx="2948331" cy="987773"/>
      </dsp:txXfrm>
    </dsp:sp>
    <dsp:sp modelId="{612254E6-4C17-4782-95A1-649BB671D6BB}">
      <dsp:nvSpPr>
        <dsp:cNvPr id="0" name=""/>
        <dsp:cNvSpPr/>
      </dsp:nvSpPr>
      <dsp:spPr>
        <a:xfrm>
          <a:off x="7534552" y="151403"/>
          <a:ext cx="638076" cy="746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7534552" y="300689"/>
        <a:ext cx="446653" cy="447856"/>
      </dsp:txXfrm>
    </dsp:sp>
    <dsp:sp modelId="{04100F71-2CD1-4228-86AA-477CAA37CF23}">
      <dsp:nvSpPr>
        <dsp:cNvPr id="0" name=""/>
        <dsp:cNvSpPr/>
      </dsp:nvSpPr>
      <dsp:spPr>
        <a:xfrm>
          <a:off x="8437490" y="0"/>
          <a:ext cx="3009793" cy="1049235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Output y = f(x)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(</a:t>
          </a:r>
          <a:r>
            <a:rPr lang="fr-FR" sz="2400" kern="1200" dirty="0" err="1"/>
            <a:t>available</a:t>
          </a:r>
          <a:r>
            <a:rPr lang="fr-FR" sz="2400" kern="1200" dirty="0"/>
            <a:t>)</a:t>
          </a:r>
        </a:p>
      </dsp:txBody>
      <dsp:txXfrm>
        <a:off x="8468221" y="30731"/>
        <a:ext cx="2948331" cy="9877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03298-A817-4B69-A7CC-ACE624EE54EB}">
      <dsp:nvSpPr>
        <dsp:cNvPr id="0" name=""/>
        <dsp:cNvSpPr/>
      </dsp:nvSpPr>
      <dsp:spPr>
        <a:xfrm>
          <a:off x="0" y="609001"/>
          <a:ext cx="1746954" cy="174695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4177B-3AAD-407C-81EB-47E5DE27D2FD}">
      <dsp:nvSpPr>
        <dsp:cNvPr id="0" name=""/>
        <dsp:cNvSpPr/>
      </dsp:nvSpPr>
      <dsp:spPr>
        <a:xfrm>
          <a:off x="873477" y="0"/>
          <a:ext cx="2038113" cy="174695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Artificial intelligence</a:t>
          </a:r>
          <a:endParaRPr lang="en-SG" sz="1700" kern="1200" dirty="0"/>
        </a:p>
      </dsp:txBody>
      <dsp:txXfrm>
        <a:off x="873477" y="0"/>
        <a:ext cx="2038113" cy="371227"/>
      </dsp:txXfrm>
    </dsp:sp>
    <dsp:sp modelId="{82D0C9BC-AB35-41ED-B5AA-19E1A0BC3DB9}">
      <dsp:nvSpPr>
        <dsp:cNvPr id="0" name=""/>
        <dsp:cNvSpPr/>
      </dsp:nvSpPr>
      <dsp:spPr>
        <a:xfrm>
          <a:off x="229287" y="980229"/>
          <a:ext cx="1288379" cy="128837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61DF8-F923-4D5C-8375-DF1BCAF7B5F6}">
      <dsp:nvSpPr>
        <dsp:cNvPr id="0" name=""/>
        <dsp:cNvSpPr/>
      </dsp:nvSpPr>
      <dsp:spPr>
        <a:xfrm>
          <a:off x="873477" y="980229"/>
          <a:ext cx="2038113" cy="128837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Machine Learning</a:t>
          </a:r>
          <a:endParaRPr lang="en-SG" sz="1700" kern="1200" dirty="0"/>
        </a:p>
      </dsp:txBody>
      <dsp:txXfrm>
        <a:off x="873477" y="980229"/>
        <a:ext cx="2038113" cy="371227"/>
      </dsp:txXfrm>
    </dsp:sp>
    <dsp:sp modelId="{D6E232F9-A506-41A3-9B36-CE9DEC8D4034}">
      <dsp:nvSpPr>
        <dsp:cNvPr id="0" name=""/>
        <dsp:cNvSpPr/>
      </dsp:nvSpPr>
      <dsp:spPr>
        <a:xfrm>
          <a:off x="458575" y="1351456"/>
          <a:ext cx="829803" cy="82980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39CE7-4EB7-41D0-82BF-E6CBF2145603}">
      <dsp:nvSpPr>
        <dsp:cNvPr id="0" name=""/>
        <dsp:cNvSpPr/>
      </dsp:nvSpPr>
      <dsp:spPr>
        <a:xfrm>
          <a:off x="873477" y="1351456"/>
          <a:ext cx="2038113" cy="8298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Neural Networks</a:t>
          </a:r>
          <a:endParaRPr lang="en-SG" sz="1700" kern="1200" dirty="0"/>
        </a:p>
      </dsp:txBody>
      <dsp:txXfrm>
        <a:off x="873477" y="1351456"/>
        <a:ext cx="2038113" cy="371227"/>
      </dsp:txXfrm>
    </dsp:sp>
    <dsp:sp modelId="{DBC2DDC1-AE94-4F82-BDDC-398D3F9B144A}">
      <dsp:nvSpPr>
        <dsp:cNvPr id="0" name=""/>
        <dsp:cNvSpPr/>
      </dsp:nvSpPr>
      <dsp:spPr>
        <a:xfrm>
          <a:off x="687863" y="1722684"/>
          <a:ext cx="371227" cy="37122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C61C9-97BE-43E6-94DF-2C93AA227736}">
      <dsp:nvSpPr>
        <dsp:cNvPr id="0" name=""/>
        <dsp:cNvSpPr/>
      </dsp:nvSpPr>
      <dsp:spPr>
        <a:xfrm>
          <a:off x="873477" y="1722684"/>
          <a:ext cx="2038113" cy="3712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Deep Learning</a:t>
          </a:r>
          <a:endParaRPr lang="en-SG" sz="1700" kern="1200" dirty="0"/>
        </a:p>
      </dsp:txBody>
      <dsp:txXfrm>
        <a:off x="873477" y="1722684"/>
        <a:ext cx="2038113" cy="371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667B5-0EA0-5B7D-5AEE-75464B75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8AF35-AF85-FAE0-DA12-DCCA36BE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E54A8-13DD-C9EE-C130-6ACE32C2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matthieu_demari@sutd.edu.sg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://neuralnetworksanddeep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hyperlink" Target="https://www.manning.com/books/deep-learning-with-pytorch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8.04035" TargetMode="External"/><Relationship Id="rId2" Type="http://schemas.openxmlformats.org/officeDocument/2006/relationships/hyperlink" Target="https://www.assemblyai.com/blog/pytorch-vs-tensorflow-in-2022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ytorch.org/get-started/locally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3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7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cuda-downloads" TargetMode="External"/><Relationship Id="rId2" Type="http://schemas.openxmlformats.org/officeDocument/2006/relationships/hyperlink" Target="https://developer.nvidia.com/cuda-gpu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69.jp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 Practice of Deep Learning</a:t>
            </a:r>
            <a:br>
              <a:rPr lang="en-US" b="1" dirty="0"/>
            </a:br>
            <a:r>
              <a:rPr lang="en-US" dirty="0"/>
              <a:t>Course Introduction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D89A-B685-431D-8A42-BB210F5A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word about instructors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00642B6-C432-4551-A081-D2685D9CE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88016" cy="4958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Matthieu (Matt) De Mari</a:t>
            </a:r>
          </a:p>
          <a:p>
            <a:r>
              <a:rPr lang="en-US" dirty="0"/>
              <a:t>Director (Master of Science in Design and Artificial Intelligence for Enterprise)</a:t>
            </a:r>
          </a:p>
          <a:p>
            <a:r>
              <a:rPr lang="en-US" dirty="0"/>
              <a:t>Senior Lecturer at SUTD (Python, Deep Learning, Prog. Language Concepts, Capstone, etc.)</a:t>
            </a:r>
          </a:p>
          <a:p>
            <a:r>
              <a:rPr lang="en-US" dirty="0"/>
              <a:t>PhD from </a:t>
            </a:r>
            <a:r>
              <a:rPr lang="en-US" dirty="0" err="1"/>
              <a:t>CentraleSupelec</a:t>
            </a:r>
            <a:r>
              <a:rPr lang="en-US" dirty="0"/>
              <a:t> (France)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matthieu_demari@sutd.edu.sg</a:t>
            </a:r>
            <a:endParaRPr lang="en-US" dirty="0"/>
          </a:p>
          <a:p>
            <a:r>
              <a:rPr lang="en-US" dirty="0"/>
              <a:t>Office @ SUTD (in SUTD Academy/AI cluster): 2.401-07.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FF3A6-B11F-1ADC-D3BE-E26F218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691" y="1690688"/>
            <a:ext cx="3486869" cy="47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6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1CB0-8783-AFA5-4679-4A0C8467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of this course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BEFE-1E34-9689-F127-9C649BD6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dirty="0"/>
              <a:t>Introduce the technical aspects related to the </a:t>
            </a:r>
            <a:r>
              <a:rPr lang="en-GB" b="1" dirty="0"/>
              <a:t>implementation of Deep Neural Networks, a.k.a. Deep Learning</a:t>
            </a:r>
            <a:r>
              <a:rPr lang="en-GB" dirty="0"/>
              <a:t>.</a:t>
            </a:r>
          </a:p>
          <a:p>
            <a:r>
              <a:rPr lang="en-GB" dirty="0"/>
              <a:t>Teach the students about the </a:t>
            </a:r>
            <a:r>
              <a:rPr lang="en-GB" b="1" dirty="0"/>
              <a:t>most popular framework </a:t>
            </a:r>
            <a:r>
              <a:rPr lang="en-GB" dirty="0"/>
              <a:t>for implementing Deep Neural Networks (as of Jan 2025): </a:t>
            </a:r>
            <a:r>
              <a:rPr lang="en-GB" b="1" dirty="0" err="1"/>
              <a:t>PyTorch</a:t>
            </a:r>
            <a:r>
              <a:rPr lang="en-GB" b="1" dirty="0"/>
              <a:t>.</a:t>
            </a:r>
          </a:p>
          <a:p>
            <a:r>
              <a:rPr lang="en-GB" dirty="0"/>
              <a:t>Discuss the </a:t>
            </a:r>
            <a:r>
              <a:rPr lang="en-GB" b="1" dirty="0"/>
              <a:t>mathematical</a:t>
            </a:r>
            <a:r>
              <a:rPr lang="en-GB" dirty="0"/>
              <a:t> </a:t>
            </a:r>
            <a:r>
              <a:rPr lang="en-GB" b="1" dirty="0"/>
              <a:t>foundations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intuitions</a:t>
            </a:r>
            <a:r>
              <a:rPr lang="en-GB" dirty="0"/>
              <a:t> behind Deep Learning tools, layers and techniques.</a:t>
            </a:r>
          </a:p>
          <a:p>
            <a:r>
              <a:rPr lang="en-GB" dirty="0"/>
              <a:t>Give the students a </a:t>
            </a:r>
            <a:r>
              <a:rPr lang="en-GB" b="1" dirty="0"/>
              <a:t>global overview of the foundational and advanced techniques </a:t>
            </a:r>
            <a:r>
              <a:rPr lang="en-GB" dirty="0"/>
              <a:t>related to Deep Learning and Neural Networks.</a:t>
            </a:r>
          </a:p>
          <a:p>
            <a:r>
              <a:rPr lang="en-GB" dirty="0"/>
              <a:t>Describe </a:t>
            </a:r>
            <a:r>
              <a:rPr lang="en-GB" b="1" dirty="0"/>
              <a:t>examples of practical applications </a:t>
            </a:r>
            <a:r>
              <a:rPr lang="en-GB" dirty="0"/>
              <a:t>of Deep Learning, showing how some key AI tools are implemented.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6985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A71E-22EF-7351-69C3-49A12FF0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Skills needed for this course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67C31-41F1-58EC-49B1-BE1AF7A8E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Must-have CS: </a:t>
            </a:r>
            <a:r>
              <a:rPr lang="en-GB" dirty="0"/>
              <a:t>Python, </a:t>
            </a:r>
            <a:r>
              <a:rPr lang="en-GB" dirty="0" err="1"/>
              <a:t>Numpy</a:t>
            </a:r>
            <a:r>
              <a:rPr lang="en-GB" dirty="0"/>
              <a:t>, Matplotlib.</a:t>
            </a:r>
          </a:p>
          <a:p>
            <a:r>
              <a:rPr lang="en-GB" b="1" dirty="0">
                <a:solidFill>
                  <a:srgbClr val="FF0000"/>
                </a:solidFill>
              </a:rPr>
              <a:t>Must-have Math: </a:t>
            </a:r>
            <a:r>
              <a:rPr lang="en-GB" dirty="0"/>
              <a:t>Linear Algebra, Multiple Variables Calculus, Differentiation/Derivatives, Optimization.</a:t>
            </a:r>
          </a:p>
          <a:p>
            <a:r>
              <a:rPr lang="en-GB" b="1" dirty="0">
                <a:solidFill>
                  <a:srgbClr val="00B050"/>
                </a:solidFill>
              </a:rPr>
              <a:t>Good-to-have CS: </a:t>
            </a:r>
            <a:r>
              <a:rPr lang="en-GB" dirty="0"/>
              <a:t>Machine Learning, Data Processing, Pandas, </a:t>
            </a:r>
            <a:r>
              <a:rPr lang="en-GB" dirty="0" err="1"/>
              <a:t>Scipy</a:t>
            </a:r>
            <a:r>
              <a:rPr lang="en-GB" dirty="0"/>
              <a:t>, </a:t>
            </a:r>
            <a:r>
              <a:rPr lang="en-GB" dirty="0" err="1"/>
              <a:t>Sklearn</a:t>
            </a:r>
            <a:r>
              <a:rPr lang="en-GB" dirty="0"/>
              <a:t>.</a:t>
            </a:r>
          </a:p>
          <a:p>
            <a:r>
              <a:rPr lang="en-GB" b="1" dirty="0">
                <a:solidFill>
                  <a:srgbClr val="00B050"/>
                </a:solidFill>
              </a:rPr>
              <a:t>Good-to-have Math: </a:t>
            </a:r>
            <a:r>
              <a:rPr lang="en-GB" dirty="0"/>
              <a:t>Probabilities and Statistics, Graph Theory.</a:t>
            </a:r>
            <a:endParaRPr lang="en-SG" dirty="0"/>
          </a:p>
          <a:p>
            <a:pPr marL="0" indent="0" algn="ctr">
              <a:buNone/>
            </a:pPr>
            <a:endParaRPr lang="en-SG" b="1" dirty="0"/>
          </a:p>
          <a:p>
            <a:pPr marL="0" indent="0" algn="ctr">
              <a:buNone/>
            </a:pPr>
            <a:r>
              <a:rPr lang="en-SG" b="1" dirty="0"/>
              <a:t>Need to revise?</a:t>
            </a:r>
            <a:br>
              <a:rPr lang="en-SG" b="1" dirty="0"/>
            </a:br>
            <a:r>
              <a:rPr lang="en-SG" b="1" dirty="0"/>
              <a:t>Feel free to check your previous courses, we are going to build upon them!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224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E47F-EE41-14EC-57C7-619AC0EC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way we teach things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9CBB-2BA1-6409-CE17-97C6B5960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1412" y="1825625"/>
            <a:ext cx="5528388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An expert is not someone who</a:t>
            </a:r>
          </a:p>
          <a:p>
            <a:r>
              <a:rPr lang="en-GB" dirty="0"/>
              <a:t>Took a 6h-long online video course,</a:t>
            </a:r>
          </a:p>
          <a:p>
            <a:r>
              <a:rPr lang="en-GB" dirty="0"/>
              <a:t>Implements Neural Networks by randomly connecting basic layers (typically Linear and Conv),</a:t>
            </a:r>
          </a:p>
          <a:p>
            <a:r>
              <a:rPr lang="en-GB" dirty="0"/>
              <a:t>Uses a random framework they do not understand (or </a:t>
            </a:r>
            <a:r>
              <a:rPr lang="en-GB" dirty="0" err="1"/>
              <a:t>autoML</a:t>
            </a:r>
            <a:r>
              <a:rPr lang="en-GB" dirty="0"/>
              <a:t>!),</a:t>
            </a:r>
          </a:p>
          <a:p>
            <a:r>
              <a:rPr lang="en-GB" dirty="0"/>
              <a:t>Cannot obtain more than 90% accuracy on a simple dataset like MNIST or CIFAR-10.</a:t>
            </a:r>
          </a:p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28ADB-0675-1D96-82EC-7D8A9E26F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68983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An expert is someone who</a:t>
            </a:r>
          </a:p>
          <a:p>
            <a:r>
              <a:rPr lang="en-GB" dirty="0"/>
              <a:t>Understands how Neural Networks operate and the mathematical intuition behind why typical operations used in layers,</a:t>
            </a:r>
          </a:p>
          <a:p>
            <a:r>
              <a:rPr lang="en-GB" dirty="0"/>
              <a:t>Understands how the frameworks have been built and what they do behind the scenes,</a:t>
            </a:r>
          </a:p>
          <a:p>
            <a:r>
              <a:rPr lang="en-GB" dirty="0"/>
              <a:t>Understands that AI is a fast-evolving field and knows how to stay up to date when it comes to AI.</a:t>
            </a:r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517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E47F-EE41-14EC-57C7-619AC0EC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way we teach things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9CBB-2BA1-6409-CE17-97C6B596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b="1" dirty="0"/>
              <a:t>Lectures</a:t>
            </a:r>
            <a:r>
              <a:rPr lang="en-GB" dirty="0"/>
              <a:t> </a:t>
            </a:r>
            <a:r>
              <a:rPr lang="en-GB" b="1" dirty="0"/>
              <a:t>slides</a:t>
            </a:r>
            <a:r>
              <a:rPr lang="en-GB" dirty="0"/>
              <a:t>, along with </a:t>
            </a:r>
            <a:r>
              <a:rPr lang="en-GB" b="1" dirty="0"/>
              <a:t>supporting</a:t>
            </a:r>
            <a:r>
              <a:rPr lang="en-GB" dirty="0"/>
              <a:t> </a:t>
            </a:r>
            <a:r>
              <a:rPr lang="en-GB" b="1" dirty="0"/>
              <a:t>notebooks</a:t>
            </a:r>
            <a:r>
              <a:rPr lang="en-GB" dirty="0"/>
              <a:t>.</a:t>
            </a:r>
          </a:p>
          <a:p>
            <a:r>
              <a:rPr lang="en-GB" b="1" dirty="0"/>
              <a:t>Mathematical</a:t>
            </a:r>
            <a:r>
              <a:rPr lang="en-GB" dirty="0"/>
              <a:t> </a:t>
            </a:r>
            <a:r>
              <a:rPr lang="en-GB" b="1" dirty="0"/>
              <a:t>aspects</a:t>
            </a:r>
            <a:r>
              <a:rPr lang="en-GB" dirty="0"/>
              <a:t> discussed in class (to show what is happening behind the scenes of Neural Networks/Deep Learning).</a:t>
            </a:r>
          </a:p>
          <a:p>
            <a:r>
              <a:rPr lang="en-GB" b="1" dirty="0"/>
              <a:t>Made a choice: </a:t>
            </a:r>
            <a:r>
              <a:rPr lang="en-GB" dirty="0"/>
              <a:t>providing lots of code to demonstrate concepts but might </a:t>
            </a:r>
            <a:r>
              <a:rPr lang="en-GB" b="1" u="sng" dirty="0"/>
              <a:t>need you to play with them autonomously</a:t>
            </a:r>
            <a:r>
              <a:rPr lang="en-GB" dirty="0"/>
              <a:t>!</a:t>
            </a:r>
          </a:p>
          <a:p>
            <a:r>
              <a:rPr lang="en-GB" b="1" dirty="0"/>
              <a:t>Extra</a:t>
            </a:r>
            <a:r>
              <a:rPr lang="en-GB" dirty="0"/>
              <a:t> </a:t>
            </a:r>
            <a:r>
              <a:rPr lang="en-GB" b="1" dirty="0"/>
              <a:t>reading</a:t>
            </a:r>
            <a:r>
              <a:rPr lang="en-GB" dirty="0"/>
              <a:t>, for curiosity (supporting papers, articles, etc.) and suggestions of pointers to stay up-to-date.</a:t>
            </a:r>
          </a:p>
          <a:p>
            <a:r>
              <a:rPr lang="en-GB" dirty="0"/>
              <a:t>Suggestions on how to </a:t>
            </a:r>
            <a:r>
              <a:rPr lang="en-GB" b="1" dirty="0"/>
              <a:t>continue your</a:t>
            </a:r>
            <a:r>
              <a:rPr lang="en-GB" dirty="0"/>
              <a:t> </a:t>
            </a:r>
            <a:r>
              <a:rPr lang="en-GB" b="1" dirty="0"/>
              <a:t>learning</a:t>
            </a:r>
            <a:r>
              <a:rPr lang="en-GB" dirty="0"/>
              <a:t>, after this course.</a:t>
            </a:r>
          </a:p>
          <a:p>
            <a:r>
              <a:rPr lang="en-GB" dirty="0"/>
              <a:t>(If time allows, sharing some video recordings as well).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6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F96E-2941-74BC-F17E-3EE0BC3A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Supporting Textbooks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3A28C-95D3-2045-78E8-BEAFD034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60438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Supporting textbooks, for your curiosity (not needed to understand this course, just for reference).</a:t>
            </a:r>
          </a:p>
          <a:p>
            <a:r>
              <a:rPr lang="en-GB" dirty="0"/>
              <a:t>Michael A. Nielsen, “Neural networks and deep learning”, 2015. (</a:t>
            </a:r>
            <a:r>
              <a:rPr lang="en-GB" dirty="0">
                <a:hlinkClick r:id="rId2"/>
              </a:rPr>
              <a:t>http://neuralnetworksanddeeplearning.com/</a:t>
            </a:r>
            <a:r>
              <a:rPr lang="en-GB" dirty="0"/>
              <a:t>)</a:t>
            </a:r>
          </a:p>
          <a:p>
            <a:r>
              <a:rPr lang="en-GB" dirty="0"/>
              <a:t>Ian Goodfellow, </a:t>
            </a:r>
            <a:r>
              <a:rPr lang="en-GB" dirty="0" err="1"/>
              <a:t>Yoshua</a:t>
            </a:r>
            <a:r>
              <a:rPr lang="en-GB" dirty="0"/>
              <a:t> </a:t>
            </a:r>
            <a:r>
              <a:rPr lang="en-GB" dirty="0" err="1"/>
              <a:t>Bengio</a:t>
            </a:r>
            <a:r>
              <a:rPr lang="en-GB" dirty="0"/>
              <a:t> and Aaron Courville, “Deep learning”, 2016. (</a:t>
            </a:r>
            <a:r>
              <a:rPr lang="en-GB" dirty="0">
                <a:hlinkClick r:id="rId3"/>
              </a:rPr>
              <a:t>https://www.deeplearningbook.org/</a:t>
            </a:r>
            <a:r>
              <a:rPr lang="en-GB" dirty="0"/>
              <a:t>)</a:t>
            </a:r>
          </a:p>
          <a:p>
            <a:r>
              <a:rPr lang="en-GB" dirty="0"/>
              <a:t>Stevens et al., “Deep Learning with </a:t>
            </a:r>
            <a:r>
              <a:rPr lang="en-GB" dirty="0" err="1"/>
              <a:t>PyTorch</a:t>
            </a:r>
            <a:r>
              <a:rPr lang="en-GB" dirty="0"/>
              <a:t>”, 2020. (</a:t>
            </a:r>
            <a:r>
              <a:rPr lang="en-GB" dirty="0">
                <a:hlinkClick r:id="rId4"/>
              </a:rPr>
              <a:t>https://www.manning.com/books/deep-learning-with-pytorch</a:t>
            </a:r>
            <a:r>
              <a:rPr lang="en-GB" dirty="0"/>
              <a:t>)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6C8823-C103-3CE1-B38D-3C48663B4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408" y="4833257"/>
            <a:ext cx="1614858" cy="1939685"/>
          </a:xfrm>
          <a:prstGeom prst="rect">
            <a:avLst/>
          </a:prstGeom>
        </p:spPr>
      </p:pic>
      <p:pic>
        <p:nvPicPr>
          <p:cNvPr id="9" name="Picture 8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27054BCD-226C-642D-79D1-F83C787B61F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2" r="20653"/>
          <a:stretch/>
        </p:blipFill>
        <p:spPr>
          <a:xfrm>
            <a:off x="10099408" y="2619261"/>
            <a:ext cx="1616504" cy="2086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899614-E0B3-FF83-C910-37419D7FD4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2971" y="251925"/>
            <a:ext cx="2167732" cy="22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2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F1B8-AAC0-BD3B-71B7-558D7C40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and grading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8227-B71F-87CC-D0F3-AE23B9DE1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7452"/>
          </a:xfrm>
        </p:spPr>
        <p:txBody>
          <a:bodyPr>
            <a:normAutofit/>
          </a:bodyPr>
          <a:lstStyle/>
          <a:p>
            <a:r>
              <a:rPr lang="en-GB" b="1" dirty="0"/>
              <a:t>Quiz at the end of Day 1 (30%): </a:t>
            </a:r>
            <a:r>
              <a:rPr lang="en-GB" dirty="0"/>
              <a:t>Simple MCQ to be taken online, after day 1, to be submitted by the end of this week.</a:t>
            </a:r>
            <a:endParaRPr lang="en-GB" b="1" dirty="0"/>
          </a:p>
          <a:p>
            <a:r>
              <a:rPr lang="en-GB" b="1" dirty="0"/>
              <a:t>Lab at the end of Day 2 (60%): </a:t>
            </a:r>
            <a:r>
              <a:rPr lang="en-GB" dirty="0"/>
              <a:t>A more technical implementation of the concepts seen in class on a real-life problem. To be submitted at the end of the next weekend. More details to follow.</a:t>
            </a:r>
            <a:endParaRPr lang="en-GB" b="1" dirty="0"/>
          </a:p>
          <a:p>
            <a:r>
              <a:rPr lang="en-GB" b="1" dirty="0"/>
              <a:t>Participation and Attendance (10%): </a:t>
            </a:r>
            <a:r>
              <a:rPr lang="en-GB" dirty="0"/>
              <a:t>Not punishing, as long as you attend classes, you should be fine!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37705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BFA7CA6E-5CDB-E94A-8BCF-45FFF37CB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114" y="531527"/>
            <a:ext cx="5609911" cy="1894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64693-5090-BB52-ECF3-0666AAD2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pre-requisites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6CDA-C22E-B272-5CB5-BE1E309AA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367889" cy="5032375"/>
          </a:xfrm>
        </p:spPr>
        <p:txBody>
          <a:bodyPr>
            <a:normAutofit/>
          </a:bodyPr>
          <a:lstStyle/>
          <a:p>
            <a:r>
              <a:rPr lang="en-GB" dirty="0"/>
              <a:t>Install </a:t>
            </a:r>
            <a:r>
              <a:rPr lang="en-GB" b="1" dirty="0"/>
              <a:t>Python</a:t>
            </a:r>
            <a:r>
              <a:rPr lang="en-GB" dirty="0"/>
              <a:t> </a:t>
            </a:r>
            <a:r>
              <a:rPr lang="en-GB" b="1" dirty="0"/>
              <a:t>3</a:t>
            </a:r>
            <a:r>
              <a:rPr lang="en-GB" dirty="0"/>
              <a:t>, if you have not done</a:t>
            </a:r>
            <a:br>
              <a:rPr lang="en-GB" dirty="0"/>
            </a:br>
            <a:r>
              <a:rPr lang="en-GB" dirty="0"/>
              <a:t>so already (</a:t>
            </a:r>
            <a:r>
              <a:rPr lang="en-GB" u="sng" dirty="0"/>
              <a:t>this course does use the C++/Java version of </a:t>
            </a:r>
            <a:r>
              <a:rPr lang="en-GB" u="sng" dirty="0" err="1"/>
              <a:t>PyTorch</a:t>
            </a:r>
            <a:r>
              <a:rPr lang="en-GB" dirty="0"/>
              <a:t>).</a:t>
            </a:r>
          </a:p>
          <a:p>
            <a:r>
              <a:rPr lang="en-GB" b="1" dirty="0"/>
              <a:t>Libraries needed (maybe more based</a:t>
            </a:r>
            <a:br>
              <a:rPr lang="en-GB" b="1" dirty="0"/>
            </a:br>
            <a:r>
              <a:rPr lang="en-GB" b="1" dirty="0"/>
              <a:t>on projects/</a:t>
            </a:r>
            <a:r>
              <a:rPr lang="en-GB" b="1" dirty="0" err="1"/>
              <a:t>homeworks</a:t>
            </a:r>
            <a:r>
              <a:rPr lang="en-GB" b="1" dirty="0"/>
              <a:t>):</a:t>
            </a:r>
            <a:br>
              <a:rPr lang="en-GB" b="1" dirty="0"/>
            </a:br>
            <a:r>
              <a:rPr lang="en-GB" dirty="0" err="1"/>
              <a:t>numpy</a:t>
            </a:r>
            <a:r>
              <a:rPr lang="en-GB" dirty="0"/>
              <a:t>, matplotlib, </a:t>
            </a:r>
            <a:r>
              <a:rPr lang="en-GB" dirty="0" err="1"/>
              <a:t>scipy</a:t>
            </a:r>
            <a:r>
              <a:rPr lang="en-GB" dirty="0"/>
              <a:t>, </a:t>
            </a:r>
            <a:r>
              <a:rPr lang="en-GB" dirty="0" err="1"/>
              <a:t>sklearn</a:t>
            </a:r>
            <a:r>
              <a:rPr lang="en-GB" dirty="0"/>
              <a:t>, torch, </a:t>
            </a:r>
            <a:r>
              <a:rPr lang="en-GB" dirty="0" err="1"/>
              <a:t>torchvision</a:t>
            </a:r>
            <a:r>
              <a:rPr lang="en-GB" dirty="0"/>
              <a:t>, </a:t>
            </a:r>
            <a:r>
              <a:rPr lang="en-GB" dirty="0" err="1"/>
              <a:t>torchmetrics</a:t>
            </a:r>
            <a:r>
              <a:rPr lang="en-GB" dirty="0"/>
              <a:t>, possibly more.</a:t>
            </a:r>
          </a:p>
          <a:p>
            <a:r>
              <a:rPr lang="en-GB" b="1" dirty="0" err="1"/>
              <a:t>Jupyter</a:t>
            </a:r>
            <a:r>
              <a:rPr lang="en-GB" dirty="0"/>
              <a:t> </a:t>
            </a:r>
            <a:r>
              <a:rPr lang="en-GB" b="1" dirty="0"/>
              <a:t>notebooks</a:t>
            </a:r>
            <a:r>
              <a:rPr lang="en-GB" dirty="0"/>
              <a:t> for demos of code, along with the slides.</a:t>
            </a:r>
          </a:p>
          <a:p>
            <a:r>
              <a:rPr lang="en-GB" dirty="0"/>
              <a:t>In doubt, you can always use </a:t>
            </a:r>
            <a:r>
              <a:rPr lang="en-GB" b="1" dirty="0"/>
              <a:t>Google</a:t>
            </a:r>
            <a:r>
              <a:rPr lang="en-GB" dirty="0"/>
              <a:t> </a:t>
            </a:r>
            <a:r>
              <a:rPr lang="en-GB" b="1" dirty="0" err="1"/>
              <a:t>Colab</a:t>
            </a:r>
            <a:r>
              <a:rPr lang="en-GB" b="1" dirty="0"/>
              <a:t> </a:t>
            </a:r>
            <a:r>
              <a:rPr lang="en-GB" dirty="0"/>
              <a:t>to run the codes.</a:t>
            </a:r>
          </a:p>
          <a:p>
            <a:endParaRPr lang="en-GB" dirty="0"/>
          </a:p>
          <a:p>
            <a:endParaRPr lang="en-SG" dirty="0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AA8AD514-CE28-D625-2C90-20F6161E6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932" y="2265054"/>
            <a:ext cx="4655782" cy="2327891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87C01E8D-A578-BDA1-72B7-01BFFF2FE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088" y="4596729"/>
            <a:ext cx="4655781" cy="19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4693-5090-BB52-ECF3-0666AAD2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pre-requisites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6CDA-C22E-B272-5CB5-BE1E309AA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604545" cy="5032375"/>
          </a:xfrm>
        </p:spPr>
        <p:txBody>
          <a:bodyPr>
            <a:normAutofit/>
          </a:bodyPr>
          <a:lstStyle/>
          <a:p>
            <a:r>
              <a:rPr lang="en-GB" dirty="0"/>
              <a:t>Framework of choice will be </a:t>
            </a:r>
            <a:r>
              <a:rPr lang="en-GB" b="1" dirty="0" err="1"/>
              <a:t>PyTorch</a:t>
            </a:r>
            <a:r>
              <a:rPr lang="en-GB" b="1" dirty="0"/>
              <a:t>! </a:t>
            </a:r>
            <a:r>
              <a:rPr lang="en-GB" dirty="0"/>
              <a:t>(not </a:t>
            </a:r>
            <a:r>
              <a:rPr lang="en-GB" dirty="0" err="1"/>
              <a:t>Tensorflow</a:t>
            </a:r>
            <a:r>
              <a:rPr lang="en-GB" dirty="0"/>
              <a:t>, not </a:t>
            </a:r>
            <a:r>
              <a:rPr lang="en-GB" dirty="0" err="1"/>
              <a:t>Keras</a:t>
            </a:r>
            <a:r>
              <a:rPr lang="en-GB" dirty="0"/>
              <a:t>, not </a:t>
            </a:r>
            <a:r>
              <a:rPr lang="en-GB" dirty="0" err="1"/>
              <a:t>MXNet</a:t>
            </a:r>
            <a:r>
              <a:rPr lang="en-GB" dirty="0"/>
              <a:t>, etc.)</a:t>
            </a:r>
          </a:p>
          <a:p>
            <a:r>
              <a:rPr lang="en-GB" dirty="0"/>
              <a:t>Increasing popularity and preferred to Google’s </a:t>
            </a:r>
            <a:r>
              <a:rPr lang="en-GB" dirty="0" err="1"/>
              <a:t>Tensorflow</a:t>
            </a:r>
            <a:r>
              <a:rPr lang="en-GB" dirty="0"/>
              <a:t> these days for many reasons.</a:t>
            </a:r>
          </a:p>
          <a:p>
            <a:r>
              <a:rPr lang="en-GB" dirty="0"/>
              <a:t>Learn more, if curious: </a:t>
            </a:r>
            <a:r>
              <a:rPr lang="en-GB" dirty="0">
                <a:hlinkClick r:id="rId2"/>
              </a:rPr>
              <a:t>https://www.assemblyai.com/blog/pytorch-vs-tensorflow-in-2022/</a:t>
            </a:r>
            <a:endParaRPr lang="en-GB" dirty="0"/>
          </a:p>
          <a:p>
            <a:r>
              <a:rPr lang="en-GB" dirty="0"/>
              <a:t>Also, this: </a:t>
            </a:r>
            <a:r>
              <a:rPr lang="en-GB" dirty="0">
                <a:hlinkClick r:id="rId3"/>
              </a:rPr>
              <a:t>https://arxiv.org/abs/2508.04035</a:t>
            </a:r>
            <a:r>
              <a:rPr lang="en-GB" dirty="0"/>
              <a:t> </a:t>
            </a:r>
          </a:p>
          <a:p>
            <a:endParaRPr lang="en-GB" dirty="0"/>
          </a:p>
          <a:p>
            <a:endParaRPr lang="en-SG" dirty="0"/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A5EAB954-957E-D4B7-7CEA-B5B5FA43A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81" y="3328011"/>
            <a:ext cx="5719960" cy="3529989"/>
          </a:xfrm>
          <a:prstGeom prst="rect">
            <a:avLst/>
          </a:prstGeom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00EC893D-A9C0-E3AD-91DA-F3EAD655B0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157" y="1219994"/>
            <a:ext cx="4216034" cy="21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0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E22-87CF-02A5-3F5F-93789E5D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</a:t>
            </a:r>
            <a:r>
              <a:rPr lang="en-GB" dirty="0" err="1"/>
              <a:t>PyTorch</a:t>
            </a:r>
            <a:r>
              <a:rPr lang="en-GB" dirty="0"/>
              <a:t> and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9174-3E5F-1239-C016-DEB828F2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Install </a:t>
            </a:r>
            <a:r>
              <a:rPr lang="en-GB" dirty="0" err="1"/>
              <a:t>PyTorch</a:t>
            </a:r>
            <a:r>
              <a:rPr lang="en-GB" dirty="0"/>
              <a:t>, by getting the latest version (not the one shown below!) from </a:t>
            </a:r>
            <a:r>
              <a:rPr lang="en-GB" dirty="0">
                <a:hlinkClick r:id="rId2"/>
              </a:rPr>
              <a:t>https://pytorch.org/get-started/locally/</a:t>
            </a:r>
            <a:endParaRPr lang="en-GB" dirty="0"/>
          </a:p>
          <a:p>
            <a:r>
              <a:rPr lang="en-GB" dirty="0"/>
              <a:t>Setting up CUDA/GPU acceleration is always a good idea!</a:t>
            </a:r>
            <a:br>
              <a:rPr lang="en-GB" dirty="0"/>
            </a:br>
            <a:r>
              <a:rPr lang="en-GB" dirty="0"/>
              <a:t>(More details in bonus slides).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B9707-E3C3-C8AC-1495-88C014E7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444" y="3667737"/>
            <a:ext cx="8331051" cy="319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16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06D8-1137-811F-D791-1EB7DCC2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372F-824F-CFD6-F299-3C1FE27A8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Practice of Deep Learning</a:t>
            </a:r>
            <a:br>
              <a:rPr lang="en-US" b="1" dirty="0"/>
            </a:br>
            <a:r>
              <a:rPr lang="en-US" dirty="0"/>
              <a:t>Day 1, Part 1/4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5019E-0AD2-73BD-0E41-79B301592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C9F52351-A086-FC72-0032-EA33722F7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76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are the </a:t>
            </a:r>
            <a:r>
              <a:rPr lang="en-US" b="1" dirty="0"/>
              <a:t>typical</a:t>
            </a:r>
            <a:r>
              <a:rPr lang="en-US" dirty="0"/>
              <a:t> </a:t>
            </a:r>
            <a:r>
              <a:rPr lang="en-US" b="1" dirty="0"/>
              <a:t>concepts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</a:t>
            </a:r>
            <a:r>
              <a:rPr lang="en-US" b="1" dirty="0"/>
              <a:t>Machine</a:t>
            </a:r>
            <a:r>
              <a:rPr lang="en-US" dirty="0"/>
              <a:t> </a:t>
            </a:r>
            <a:r>
              <a:rPr lang="en-US" b="1" dirty="0"/>
              <a:t>Learning</a:t>
            </a:r>
            <a:r>
              <a:rPr lang="en-US" dirty="0"/>
              <a:t> to be used as a starting point for this course?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the </a:t>
            </a:r>
            <a:r>
              <a:rPr lang="en-GB" b="1" dirty="0"/>
              <a:t>different</a:t>
            </a:r>
            <a:r>
              <a:rPr lang="en-GB" dirty="0"/>
              <a:t> </a:t>
            </a:r>
            <a:r>
              <a:rPr lang="en-GB" b="1" dirty="0"/>
              <a:t>families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problems</a:t>
            </a:r>
            <a:r>
              <a:rPr lang="en-GB" dirty="0"/>
              <a:t> in Deep Learning?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the </a:t>
            </a:r>
            <a:r>
              <a:rPr lang="en-GB" b="1" dirty="0"/>
              <a:t>typical</a:t>
            </a:r>
            <a:r>
              <a:rPr lang="en-GB" dirty="0"/>
              <a:t> </a:t>
            </a:r>
            <a:r>
              <a:rPr lang="en-GB" b="1" dirty="0"/>
              <a:t>structure</a:t>
            </a:r>
            <a:r>
              <a:rPr lang="en-GB" dirty="0"/>
              <a:t> </a:t>
            </a:r>
            <a:r>
              <a:rPr lang="en-GB" b="1" dirty="0"/>
              <a:t>of a Deep Learning problem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</a:t>
            </a:r>
            <a:r>
              <a:rPr lang="en-GB" b="1" dirty="0"/>
              <a:t>linear</a:t>
            </a:r>
            <a:r>
              <a:rPr lang="en-GB" dirty="0"/>
              <a:t> </a:t>
            </a:r>
            <a:r>
              <a:rPr lang="en-GB" b="1" dirty="0"/>
              <a:t>regression</a:t>
            </a:r>
            <a:r>
              <a:rPr lang="en-GB" dirty="0"/>
              <a:t> and how to implement it?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the </a:t>
            </a:r>
            <a:r>
              <a:rPr lang="en-GB" b="1" dirty="0"/>
              <a:t>gradient</a:t>
            </a:r>
            <a:r>
              <a:rPr lang="en-GB" dirty="0"/>
              <a:t> </a:t>
            </a:r>
            <a:r>
              <a:rPr lang="en-GB" b="1" dirty="0"/>
              <a:t>descent</a:t>
            </a:r>
            <a:r>
              <a:rPr lang="en-GB" dirty="0"/>
              <a:t> </a:t>
            </a:r>
            <a:r>
              <a:rPr lang="en-GB" b="1" dirty="0"/>
              <a:t>algorithm</a:t>
            </a:r>
            <a:r>
              <a:rPr lang="en-GB" dirty="0"/>
              <a:t> and how is it used to </a:t>
            </a:r>
            <a:r>
              <a:rPr lang="en-GB" b="1" dirty="0"/>
              <a:t>train</a:t>
            </a:r>
            <a:r>
              <a:rPr lang="en-GB" dirty="0"/>
              <a:t> </a:t>
            </a:r>
            <a:r>
              <a:rPr lang="en-GB" b="1" dirty="0"/>
              <a:t>Machine</a:t>
            </a:r>
            <a:r>
              <a:rPr lang="en-GB" dirty="0"/>
              <a:t> </a:t>
            </a:r>
            <a:r>
              <a:rPr lang="en-GB" b="1" dirty="0"/>
              <a:t>Learning</a:t>
            </a:r>
            <a:r>
              <a:rPr lang="en-GB" dirty="0"/>
              <a:t> </a:t>
            </a:r>
            <a:r>
              <a:rPr lang="en-GB" b="1" dirty="0"/>
              <a:t>models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80C4-60DB-6E09-43FB-74235C03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E02448-3801-471A-05BA-5A898146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031" y="3936012"/>
            <a:ext cx="5495201" cy="2659442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FB938B3-49AA-64A9-0AE5-33A896685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Artificial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Intelligence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SG" dirty="0"/>
              <a:t>In Computer Science, </a:t>
            </a:r>
            <a:r>
              <a:rPr lang="en-SG" b="1" dirty="0">
                <a:solidFill>
                  <a:srgbClr val="00B050"/>
                </a:solidFill>
              </a:rPr>
              <a:t>Artificial</a:t>
            </a:r>
            <a:r>
              <a:rPr lang="en-SG" b="1" dirty="0"/>
              <a:t> </a:t>
            </a:r>
            <a:r>
              <a:rPr lang="en-SG" b="1" dirty="0">
                <a:solidFill>
                  <a:srgbClr val="00B050"/>
                </a:solidFill>
              </a:rPr>
              <a:t>Intelligence</a:t>
            </a:r>
            <a:r>
              <a:rPr lang="en-SG" b="1" dirty="0"/>
              <a:t> (AI) </a:t>
            </a:r>
            <a:r>
              <a:rPr lang="en-SG" dirty="0"/>
              <a:t>refers to </a:t>
            </a:r>
            <a:r>
              <a:rPr lang="en-GB" dirty="0"/>
              <a:t>the theory and development of computer systems capable to </a:t>
            </a:r>
            <a:r>
              <a:rPr lang="en-GB" b="1" dirty="0"/>
              <a:t>replicate/emulate the human brain</a:t>
            </a:r>
            <a:r>
              <a:rPr lang="en-GB" dirty="0"/>
              <a:t>, more specifically </a:t>
            </a:r>
            <a:r>
              <a:rPr lang="en-GB" b="1" dirty="0"/>
              <a:t>perform cognitive tasks</a:t>
            </a:r>
            <a:r>
              <a:rPr lang="en-GB" dirty="0"/>
              <a:t> that normally require human intelligence, such as visual perception, speech recognition, decision-making, and translation between languages.</a:t>
            </a:r>
          </a:p>
        </p:txBody>
      </p:sp>
      <p:graphicFrame>
        <p:nvGraphicFramePr>
          <p:cNvPr id="12" name="Content Placeholder 7">
            <a:extLst>
              <a:ext uri="{FF2B5EF4-FFF2-40B4-BE49-F238E27FC236}">
                <a16:creationId xmlns:a16="http://schemas.microsoft.com/office/drawing/2014/main" id="{BCC3C7A5-B077-6F5F-45EA-4FDC58A4BF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827673"/>
              </p:ext>
            </p:extLst>
          </p:nvPr>
        </p:nvGraphicFramePr>
        <p:xfrm>
          <a:off x="7137400" y="365125"/>
          <a:ext cx="4476262" cy="3863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87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80C4-60DB-6E09-43FB-74235C03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98E55-5E88-863A-E590-8857F1B9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161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Machine Learning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Computer Science, </a:t>
            </a:r>
            <a:r>
              <a:rPr lang="en-GB" b="1" dirty="0">
                <a:solidFill>
                  <a:srgbClr val="00B050"/>
                </a:solidFill>
              </a:rPr>
              <a:t>Machine Learning</a:t>
            </a:r>
            <a:r>
              <a:rPr lang="en-GB" dirty="0"/>
              <a:t> </a:t>
            </a:r>
            <a:r>
              <a:rPr lang="en-GB" b="1" dirty="0"/>
              <a:t>(ML)</a:t>
            </a:r>
            <a:r>
              <a:rPr lang="en-GB" dirty="0"/>
              <a:t> refers to the field of study that describes </a:t>
            </a:r>
            <a:r>
              <a:rPr lang="en-GB" b="1" dirty="0"/>
              <a:t>techniques</a:t>
            </a:r>
            <a:r>
              <a:rPr lang="en-GB" dirty="0"/>
              <a:t> and </a:t>
            </a:r>
            <a:r>
              <a:rPr lang="en-GB" b="1" dirty="0"/>
              <a:t>algorithms</a:t>
            </a:r>
            <a:r>
              <a:rPr lang="en-GB" dirty="0"/>
              <a:t> that give computers the </a:t>
            </a:r>
            <a:r>
              <a:rPr lang="en-GB" b="1" dirty="0"/>
              <a:t>ability to learn without being explicitly programmed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u="sng" dirty="0"/>
              <a:t>Some</a:t>
            </a:r>
            <a:r>
              <a:rPr lang="en-GB" dirty="0"/>
              <a:t> implementations of machine learning may rely on </a:t>
            </a:r>
            <a:r>
              <a:rPr lang="en-GB" b="1" dirty="0"/>
              <a:t>data</a:t>
            </a:r>
            <a:r>
              <a:rPr lang="en-GB" dirty="0"/>
              <a:t> and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networks</a:t>
            </a:r>
            <a:r>
              <a:rPr lang="en-GB" dirty="0"/>
              <a:t>.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CD44B9A1-537C-8FAD-9312-28EA40B673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79052"/>
              </p:ext>
            </p:extLst>
          </p:nvPr>
        </p:nvGraphicFramePr>
        <p:xfrm>
          <a:off x="7151077" y="1914767"/>
          <a:ext cx="4645025" cy="124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80214A9B-AEF2-000F-C87F-D02A05A27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586585"/>
              </p:ext>
            </p:extLst>
          </p:nvPr>
        </p:nvGraphicFramePr>
        <p:xfrm>
          <a:off x="7151076" y="5079999"/>
          <a:ext cx="4645025" cy="124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185986-30C4-409E-4CCE-C31ABDC63CE2}"/>
              </a:ext>
            </a:extLst>
          </p:cNvPr>
          <p:cNvSpPr txBox="1"/>
          <p:nvPr/>
        </p:nvSpPr>
        <p:spPr>
          <a:xfrm>
            <a:off x="7151075" y="1640958"/>
            <a:ext cx="464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Conventional programming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C98E0-52CF-30C6-2263-89612014B5AD}"/>
              </a:ext>
            </a:extLst>
          </p:cNvPr>
          <p:cNvSpPr txBox="1"/>
          <p:nvPr/>
        </p:nvSpPr>
        <p:spPr>
          <a:xfrm>
            <a:off x="7151075" y="4760397"/>
            <a:ext cx="464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Machine Learning</a:t>
            </a:r>
            <a:endParaRPr lang="en-SG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8A78D0-5585-4A73-CBAC-4BE6346D2322}"/>
              </a:ext>
            </a:extLst>
          </p:cNvPr>
          <p:cNvSpPr txBox="1"/>
          <p:nvPr/>
        </p:nvSpPr>
        <p:spPr>
          <a:xfrm>
            <a:off x="8860079" y="3774239"/>
            <a:ext cx="1227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3120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8712-EB65-4616-96D6-33BA9B87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9EDF6-A627-45EA-8B4E-4EB7B5AEC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618" y="1825625"/>
            <a:ext cx="54241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normally</a:t>
            </a:r>
            <a:r>
              <a:rPr lang="fr-FR" dirty="0"/>
              <a:t> do in </a:t>
            </a:r>
            <a:r>
              <a:rPr lang="fr-FR" dirty="0" err="1"/>
              <a:t>programming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to design </a:t>
            </a:r>
            <a:r>
              <a:rPr lang="fr-FR" dirty="0" err="1"/>
              <a:t>functions</a:t>
            </a:r>
            <a:r>
              <a:rPr lang="fr-FR" dirty="0"/>
              <a:t>, </a:t>
            </a:r>
          </a:p>
          <a:p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do </a:t>
            </a:r>
            <a:r>
              <a:rPr lang="fr-FR" b="1" dirty="0" err="1"/>
              <a:t>specific</a:t>
            </a:r>
            <a:r>
              <a:rPr lang="fr-FR" dirty="0"/>
              <a:t> </a:t>
            </a:r>
            <a:r>
              <a:rPr lang="fr-FR" b="1" dirty="0" err="1"/>
              <a:t>operations</a:t>
            </a:r>
            <a:r>
              <a:rPr lang="fr-FR" b="1" dirty="0"/>
              <a:t>,</a:t>
            </a:r>
            <a:endParaRPr lang="fr-FR" dirty="0"/>
          </a:p>
          <a:p>
            <a:r>
              <a:rPr lang="fr-FR" dirty="0"/>
              <a:t>and return </a:t>
            </a:r>
            <a:r>
              <a:rPr lang="fr-FR" b="1" dirty="0"/>
              <a:t>outputs,</a:t>
            </a:r>
            <a:endParaRPr lang="fr-FR" dirty="0"/>
          </a:p>
          <a:p>
            <a:r>
              <a:rPr lang="fr-FR" dirty="0"/>
              <a:t>for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b="1" dirty="0"/>
              <a:t>input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BA152880-B18E-4280-B4E6-A8C33492EC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4610827"/>
              </p:ext>
            </p:extLst>
          </p:nvPr>
        </p:nvGraphicFramePr>
        <p:xfrm>
          <a:off x="7022124" y="5072183"/>
          <a:ext cx="4645025" cy="124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7EBCDF-AF94-4764-9BFD-2B84E5C3F6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But </a:t>
            </a:r>
            <a:r>
              <a:rPr lang="fr-FR" dirty="0" err="1"/>
              <a:t>sometimes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encounter</a:t>
            </a:r>
            <a:r>
              <a:rPr lang="fr-FR" dirty="0"/>
              <a:t>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where</a:t>
            </a:r>
            <a:endParaRPr lang="fr-FR" dirty="0"/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easily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b="1" dirty="0"/>
              <a:t>inputs</a:t>
            </a:r>
            <a:r>
              <a:rPr lang="fr-FR" dirty="0"/>
              <a:t> and </a:t>
            </a:r>
            <a:r>
              <a:rPr lang="fr-FR" b="1" dirty="0" err="1"/>
              <a:t>expected</a:t>
            </a:r>
            <a:r>
              <a:rPr lang="fr-FR" dirty="0"/>
              <a:t> outputs,</a:t>
            </a:r>
          </a:p>
          <a:p>
            <a:r>
              <a:rPr lang="fr-FR" dirty="0"/>
              <a:t>but the </a:t>
            </a:r>
            <a:r>
              <a:rPr lang="fr-FR" b="1" dirty="0" err="1"/>
              <a:t>function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coded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/>
              <a:t>not simple </a:t>
            </a:r>
            <a:r>
              <a:rPr lang="fr-FR" dirty="0"/>
              <a:t>to figure out.</a:t>
            </a:r>
          </a:p>
          <a:p>
            <a:r>
              <a:rPr lang="fr-FR" b="1" dirty="0">
                <a:solidFill>
                  <a:srgbClr val="7030A0"/>
                </a:solidFill>
              </a:rPr>
              <a:t>E.g., </a:t>
            </a:r>
            <a:r>
              <a:rPr lang="fr-FR" b="1" dirty="0" err="1">
                <a:solidFill>
                  <a:srgbClr val="7030A0"/>
                </a:solidFill>
              </a:rPr>
              <a:t>what</a:t>
            </a:r>
            <a:r>
              <a:rPr lang="fr-FR" b="1" dirty="0">
                <a:solidFill>
                  <a:srgbClr val="7030A0"/>
                </a:solidFill>
              </a:rPr>
              <a:t> animal in </a:t>
            </a:r>
            <a:r>
              <a:rPr lang="fr-FR" b="1" dirty="0" err="1">
                <a:solidFill>
                  <a:srgbClr val="7030A0"/>
                </a:solidFill>
              </a:rPr>
              <a:t>picture</a:t>
            </a:r>
            <a:r>
              <a:rPr lang="fr-FR" b="1" dirty="0">
                <a:solidFill>
                  <a:srgbClr val="7030A0"/>
                </a:solidFill>
              </a:rPr>
              <a:t>?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7E787324-96AB-4EB4-9953-71DB07B486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951585"/>
              </p:ext>
            </p:extLst>
          </p:nvPr>
        </p:nvGraphicFramePr>
        <p:xfrm>
          <a:off x="859692" y="5072183"/>
          <a:ext cx="4645025" cy="124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61190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AB6F-5999-4074-9E40-17BB01C5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8DCDA-D7C7-42F2-ACC9-65962DF9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7030A0"/>
                </a:solidFill>
              </a:rPr>
              <a:t>E.g., </a:t>
            </a:r>
            <a:r>
              <a:rPr lang="fr-FR" b="1" dirty="0" err="1">
                <a:solidFill>
                  <a:srgbClr val="7030A0"/>
                </a:solidFill>
              </a:rPr>
              <a:t>what</a:t>
            </a:r>
            <a:r>
              <a:rPr lang="fr-FR" b="1" dirty="0">
                <a:solidFill>
                  <a:srgbClr val="7030A0"/>
                </a:solidFill>
              </a:rPr>
              <a:t> animal </a:t>
            </a:r>
            <a:r>
              <a:rPr lang="fr-FR" b="1" dirty="0" err="1">
                <a:solidFill>
                  <a:srgbClr val="7030A0"/>
                </a:solidFill>
              </a:rPr>
              <a:t>is</a:t>
            </a:r>
            <a:r>
              <a:rPr lang="fr-FR" b="1" dirty="0">
                <a:solidFill>
                  <a:srgbClr val="7030A0"/>
                </a:solidFill>
              </a:rPr>
              <a:t> in the </a:t>
            </a:r>
            <a:r>
              <a:rPr lang="fr-FR" b="1" dirty="0" err="1">
                <a:solidFill>
                  <a:srgbClr val="7030A0"/>
                </a:solidFill>
              </a:rPr>
              <a:t>picture</a:t>
            </a:r>
            <a:r>
              <a:rPr lang="fr-FR" b="1" dirty="0">
                <a:solidFill>
                  <a:srgbClr val="7030A0"/>
                </a:solidFill>
              </a:rPr>
              <a:t>?</a:t>
            </a:r>
          </a:p>
          <a:p>
            <a:pPr marL="0" indent="0">
              <a:buNone/>
            </a:pPr>
            <a:r>
              <a:rPr lang="fr-FR" dirty="0" err="1"/>
              <a:t>Typical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 in </a:t>
            </a:r>
            <a:r>
              <a:rPr lang="fr-FR" b="1" dirty="0"/>
              <a:t>Computer</a:t>
            </a:r>
            <a:r>
              <a:rPr lang="fr-FR" dirty="0"/>
              <a:t> </a:t>
            </a:r>
            <a:r>
              <a:rPr lang="fr-FR" b="1" dirty="0"/>
              <a:t>Vision</a:t>
            </a:r>
            <a:r>
              <a:rPr lang="fr-FR" dirty="0"/>
              <a:t>,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/>
              <a:t>Image</a:t>
            </a:r>
            <a:r>
              <a:rPr lang="fr-FR" dirty="0"/>
              <a:t> </a:t>
            </a:r>
            <a:r>
              <a:rPr lang="fr-FR" b="1" dirty="0"/>
              <a:t>Recognition</a:t>
            </a:r>
            <a:r>
              <a:rPr lang="fr-FR" dirty="0"/>
              <a:t>.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9116E2A-DCE2-4670-8B4D-957F10EE8C41}"/>
              </a:ext>
            </a:extLst>
          </p:cNvPr>
          <p:cNvGraphicFramePr>
            <a:graphicFrameLocks/>
          </p:cNvGraphicFramePr>
          <p:nvPr/>
        </p:nvGraphicFramePr>
        <p:xfrm>
          <a:off x="304800" y="3931138"/>
          <a:ext cx="11457354" cy="104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RÃ©sultat de recherche d'images pour &quot;cat image&quot;">
            <a:extLst>
              <a:ext uri="{FF2B5EF4-FFF2-40B4-BE49-F238E27FC236}">
                <a16:creationId xmlns:a16="http://schemas.microsoft.com/office/drawing/2014/main" id="{445E1ED3-5041-4B99-9846-CFDD367F5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83" y="5263136"/>
            <a:ext cx="2217126" cy="147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F6A81F-02D6-412C-BA11-892D93F00BCB}"/>
              </a:ext>
            </a:extLst>
          </p:cNvPr>
          <p:cNvSpPr txBox="1"/>
          <p:nvPr/>
        </p:nvSpPr>
        <p:spPr>
          <a:xfrm>
            <a:off x="9566030" y="5413725"/>
            <a:ext cx="1570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It’s</a:t>
            </a:r>
            <a:r>
              <a:rPr lang="fr-FR" sz="2400" dirty="0"/>
              <a:t> a cat!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495B9-7D81-4995-BE71-C827D37C7801}"/>
              </a:ext>
            </a:extLst>
          </p:cNvPr>
          <p:cNvSpPr txBox="1"/>
          <p:nvPr/>
        </p:nvSpPr>
        <p:spPr>
          <a:xfrm>
            <a:off x="3806091" y="5197789"/>
            <a:ext cx="44313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Very </a:t>
            </a:r>
            <a:r>
              <a:rPr lang="fr-FR" sz="2400" dirty="0" err="1"/>
              <a:t>easy</a:t>
            </a:r>
            <a:r>
              <a:rPr lang="fr-FR" sz="2400" dirty="0"/>
              <a:t> for a </a:t>
            </a:r>
            <a:r>
              <a:rPr lang="fr-FR" sz="2400" dirty="0" err="1"/>
              <a:t>human</a:t>
            </a:r>
            <a:r>
              <a:rPr lang="fr-FR" sz="2400" dirty="0"/>
              <a:t>… </a:t>
            </a:r>
          </a:p>
          <a:p>
            <a:pPr algn="ctr"/>
            <a:r>
              <a:rPr lang="fr-FR" sz="2400" b="1" dirty="0"/>
              <a:t>But, how </a:t>
            </a:r>
            <a:r>
              <a:rPr lang="fr-FR" sz="2400" b="1" dirty="0" err="1"/>
              <a:t>would</a:t>
            </a:r>
            <a:r>
              <a:rPr lang="fr-FR" sz="2400" b="1" dirty="0"/>
              <a:t> </a:t>
            </a:r>
            <a:r>
              <a:rPr lang="fr-FR" sz="2400" b="1" dirty="0" err="1"/>
              <a:t>we</a:t>
            </a:r>
            <a:r>
              <a:rPr lang="fr-FR" sz="2400" b="1" dirty="0"/>
              <a:t> </a:t>
            </a:r>
            <a:r>
              <a:rPr lang="fr-FR" sz="2400" b="1" dirty="0" err="1"/>
              <a:t>explain</a:t>
            </a:r>
            <a:r>
              <a:rPr lang="fr-FR" sz="2400" b="1" dirty="0"/>
              <a:t> the </a:t>
            </a:r>
            <a:r>
              <a:rPr lang="fr-FR" sz="2400" b="1" dirty="0" err="1"/>
              <a:t>logic</a:t>
            </a:r>
            <a:r>
              <a:rPr lang="fr-FR" sz="2400" b="1" dirty="0"/>
              <a:t> of </a:t>
            </a:r>
            <a:r>
              <a:rPr lang="fr-FR" sz="2400" b="1" dirty="0" err="1"/>
              <a:t>recognizing</a:t>
            </a:r>
            <a:r>
              <a:rPr lang="fr-FR" sz="2400" b="1" dirty="0"/>
              <a:t> </a:t>
            </a:r>
            <a:r>
              <a:rPr lang="fr-FR" sz="2400" b="1" dirty="0" err="1"/>
              <a:t>animals</a:t>
            </a:r>
            <a:r>
              <a:rPr lang="fr-FR" sz="2400" b="1" dirty="0"/>
              <a:t> in </a:t>
            </a:r>
            <a:r>
              <a:rPr lang="fr-FR" sz="2400" b="1" dirty="0" err="1"/>
              <a:t>pictures</a:t>
            </a:r>
            <a:r>
              <a:rPr lang="fr-FR" sz="2400" b="1" dirty="0"/>
              <a:t> to a computer?</a:t>
            </a:r>
          </a:p>
        </p:txBody>
      </p:sp>
    </p:spTree>
    <p:extLst>
      <p:ext uri="{BB962C8B-B14F-4D97-AF65-F5344CB8AC3E}">
        <p14:creationId xmlns:p14="http://schemas.microsoft.com/office/powerpoint/2010/main" val="1629532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626C-E353-4DDB-8BFA-C92B0BFB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64C1D-F89A-4578-B4F7-6181FAC67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1330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Other</a:t>
            </a:r>
            <a:r>
              <a:rPr lang="fr-FR" dirty="0"/>
              <a:t> scenarios have to do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/>
              <a:t>no </a:t>
            </a:r>
            <a:r>
              <a:rPr lang="fr-FR" b="1" dirty="0" err="1"/>
              <a:t>easy</a:t>
            </a:r>
            <a:r>
              <a:rPr lang="fr-FR" b="1" dirty="0"/>
              <a:t> </a:t>
            </a:r>
            <a:r>
              <a:rPr lang="fr-FR" b="1" dirty="0" err="1"/>
              <a:t>closed-form</a:t>
            </a:r>
            <a:r>
              <a:rPr lang="fr-FR" b="1" dirty="0"/>
              <a:t> expression </a:t>
            </a:r>
            <a:r>
              <a:rPr lang="fr-FR" b="1" dirty="0" err="1"/>
              <a:t>connecting</a:t>
            </a:r>
            <a:r>
              <a:rPr lang="fr-FR" b="1" dirty="0"/>
              <a:t> </a:t>
            </a:r>
            <a:r>
              <a:rPr lang="fr-FR" b="1" dirty="0" err="1"/>
              <a:t>some</a:t>
            </a:r>
            <a:r>
              <a:rPr lang="fr-FR" b="1" dirty="0"/>
              <a:t> </a:t>
            </a:r>
            <a:r>
              <a:rPr lang="fr-FR" b="1" dirty="0" err="1"/>
              <a:t>given</a:t>
            </a:r>
            <a:r>
              <a:rPr lang="fr-FR" b="1" dirty="0"/>
              <a:t> inputs to </a:t>
            </a:r>
            <a:r>
              <a:rPr lang="fr-FR" b="1" dirty="0" err="1"/>
              <a:t>expected</a:t>
            </a:r>
            <a:r>
              <a:rPr lang="fr-FR" b="1" dirty="0"/>
              <a:t> outputs.</a:t>
            </a:r>
          </a:p>
          <a:p>
            <a:r>
              <a:rPr lang="fr-FR" b="1" dirty="0">
                <a:solidFill>
                  <a:srgbClr val="7030A0"/>
                </a:solidFill>
              </a:rPr>
              <a:t>E.g., </a:t>
            </a:r>
            <a:r>
              <a:rPr lang="fr-FR" b="1" dirty="0" err="1">
                <a:solidFill>
                  <a:srgbClr val="7030A0"/>
                </a:solidFill>
              </a:rPr>
              <a:t>what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b="1" dirty="0" err="1">
                <a:solidFill>
                  <a:srgbClr val="7030A0"/>
                </a:solidFill>
              </a:rPr>
              <a:t>is</a:t>
            </a:r>
            <a:r>
              <a:rPr lang="fr-FR" b="1" dirty="0">
                <a:solidFill>
                  <a:srgbClr val="7030A0"/>
                </a:solidFill>
              </a:rPr>
              <a:t> a good </a:t>
            </a:r>
            <a:r>
              <a:rPr lang="fr-FR" b="1" dirty="0" err="1">
                <a:solidFill>
                  <a:srgbClr val="7030A0"/>
                </a:solidFill>
              </a:rPr>
              <a:t>selling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b="1" dirty="0" err="1">
                <a:solidFill>
                  <a:srgbClr val="7030A0"/>
                </a:solidFill>
              </a:rPr>
              <a:t>price</a:t>
            </a:r>
            <a:r>
              <a:rPr lang="fr-FR" b="1" dirty="0">
                <a:solidFill>
                  <a:srgbClr val="7030A0"/>
                </a:solidFill>
              </a:rPr>
              <a:t> for </a:t>
            </a:r>
            <a:r>
              <a:rPr lang="fr-FR" b="1" dirty="0" err="1">
                <a:solidFill>
                  <a:srgbClr val="7030A0"/>
                </a:solidFill>
              </a:rPr>
              <a:t>my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b="1" dirty="0" err="1">
                <a:solidFill>
                  <a:srgbClr val="7030A0"/>
                </a:solidFill>
              </a:rPr>
              <a:t>appartment</a:t>
            </a:r>
            <a:r>
              <a:rPr lang="fr-FR" b="1" dirty="0">
                <a:solidFill>
                  <a:srgbClr val="7030A0"/>
                </a:solidFill>
              </a:rPr>
              <a:t>?</a:t>
            </a:r>
          </a:p>
          <a:p>
            <a:r>
              <a:rPr lang="fr-FR" dirty="0"/>
              <a:t>How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guess</a:t>
            </a:r>
            <a:r>
              <a:rPr lang="fr-FR" dirty="0"/>
              <a:t> the </a:t>
            </a:r>
            <a:r>
              <a:rPr lang="fr-FR" dirty="0" err="1"/>
              <a:t>selling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of an </a:t>
            </a:r>
            <a:r>
              <a:rPr lang="fr-FR" dirty="0" err="1"/>
              <a:t>appartment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(size, location, etc.) and </a:t>
            </a:r>
            <a:r>
              <a:rPr lang="fr-FR" dirty="0" err="1"/>
              <a:t>previous</a:t>
            </a:r>
            <a:r>
              <a:rPr lang="fr-FR" dirty="0"/>
              <a:t> sales?</a:t>
            </a:r>
          </a:p>
          <a:p>
            <a:pPr marL="0" indent="0">
              <a:buNone/>
            </a:pPr>
            <a:r>
              <a:rPr lang="fr-FR" b="1" dirty="0">
                <a:sym typeface="Wingdings" panose="05000000000000000000" pitchFamily="2" charset="2"/>
              </a:rPr>
              <a:t> </a:t>
            </a:r>
            <a:r>
              <a:rPr lang="fr-FR" b="1" dirty="0" err="1">
                <a:sym typeface="Wingdings" panose="05000000000000000000" pitchFamily="2" charset="2"/>
              </a:rPr>
              <a:t>Typical</a:t>
            </a:r>
            <a:r>
              <a:rPr lang="fr-FR" b="1" dirty="0">
                <a:sym typeface="Wingdings" panose="05000000000000000000" pitchFamily="2" charset="2"/>
              </a:rPr>
              <a:t> Machine Learning </a:t>
            </a:r>
            <a:r>
              <a:rPr lang="fr-FR" b="1" dirty="0" err="1">
                <a:sym typeface="Wingdings" panose="05000000000000000000" pitchFamily="2" charset="2"/>
              </a:rPr>
              <a:t>Problems</a:t>
            </a:r>
            <a:r>
              <a:rPr lang="fr-FR" b="1" dirty="0">
                <a:sym typeface="Wingdings" panose="05000000000000000000" pitchFamily="2" charset="2"/>
              </a:rPr>
              <a:t>!</a:t>
            </a:r>
            <a:endParaRPr lang="fr-FR" b="1" dirty="0"/>
          </a:p>
          <a:p>
            <a:endParaRPr lang="fr-FR" dirty="0"/>
          </a:p>
        </p:txBody>
      </p:sp>
      <p:pic>
        <p:nvPicPr>
          <p:cNvPr id="2052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B6F46F7C-7D06-4F1E-91FE-6F09A6E4B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A91BF-E1F7-E9E5-EBE1-51D5DEB7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D679B-9F39-744F-5FC7-F4FE5219B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37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80C4-60DB-6E09-43FB-74235C03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98E55-5E88-863A-E590-8857F1B9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Neural Networks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Neural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Networks</a:t>
            </a:r>
            <a:r>
              <a:rPr lang="en-GB" dirty="0"/>
              <a:t> (</a:t>
            </a:r>
            <a:r>
              <a:rPr lang="en-GB" b="1" dirty="0"/>
              <a:t>NNs</a:t>
            </a:r>
            <a:r>
              <a:rPr lang="en-GB" dirty="0"/>
              <a:t>) are computing systems inspired by the biological neural networks that constitute animal brains.</a:t>
            </a:r>
          </a:p>
          <a:p>
            <a:pPr marL="0" indent="0">
              <a:buNone/>
            </a:pPr>
            <a:r>
              <a:rPr lang="en-GB" dirty="0"/>
              <a:t>NNs are based on a </a:t>
            </a:r>
            <a:r>
              <a:rPr lang="en-GB" b="1" dirty="0"/>
              <a:t>collection of connected units (or nodes) called artificial neurons</a:t>
            </a:r>
            <a:r>
              <a:rPr lang="en-GB" dirty="0"/>
              <a:t>, which are a (loose) model for the neurons in a biological brain.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779FB-09DB-842B-5D47-010A55395A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Each connection, like the synapses in a biological brain, can transmit a signal to other neurons, therefore </a:t>
            </a:r>
            <a:r>
              <a:rPr lang="en-GB" b="1" dirty="0"/>
              <a:t>processing any information given as inputs and producing a final signal as output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3" name="Picture 2" descr="A close up of a spider&#10;&#10;Description automatically generated with low confidence">
            <a:extLst>
              <a:ext uri="{FF2B5EF4-FFF2-40B4-BE49-F238E27FC236}">
                <a16:creationId xmlns:a16="http://schemas.microsoft.com/office/drawing/2014/main" id="{2DD93DF7-B9C7-7900-A89C-6F0DE1F7D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601119"/>
            <a:ext cx="2796590" cy="1862635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B9C9C99-5ADC-5F5B-8E86-A945C88E21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7" r="64395"/>
          <a:stretch/>
        </p:blipFill>
        <p:spPr>
          <a:xfrm>
            <a:off x="9282967" y="4293794"/>
            <a:ext cx="2619863" cy="24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4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80C4-60DB-6E09-43FB-74235C03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98E55-5E88-863A-E590-8857F1B9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Deep Learning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Deep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Learning</a:t>
            </a:r>
            <a:r>
              <a:rPr lang="en-GB" b="1" dirty="0"/>
              <a:t> (DL) </a:t>
            </a:r>
            <a:r>
              <a:rPr lang="en-GB" dirty="0"/>
              <a:t>is a subfield of machine learning, and </a:t>
            </a:r>
            <a:r>
              <a:rPr lang="en-GB" b="1" u="sng" dirty="0"/>
              <a:t>deep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/>
              <a:t>networks</a:t>
            </a:r>
            <a:r>
              <a:rPr lang="en-GB"/>
              <a:t> will typically </a:t>
            </a:r>
            <a:r>
              <a:rPr lang="en-GB" dirty="0"/>
              <a:t>make up the backbone of deep learning algorithms.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number of node layers, </a:t>
            </a:r>
            <a:r>
              <a:rPr lang="en-GB" dirty="0"/>
              <a:t>or</a:t>
            </a:r>
            <a:r>
              <a:rPr lang="en-GB" b="1" dirty="0"/>
              <a:t> depth</a:t>
            </a:r>
            <a:r>
              <a:rPr lang="en-GB" dirty="0"/>
              <a:t>, of neural networks is what distinguishes a </a:t>
            </a:r>
            <a:r>
              <a:rPr lang="en-GB" b="1" u="sng" dirty="0"/>
              <a:t>shallow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 from a </a:t>
            </a:r>
            <a:r>
              <a:rPr lang="en-GB" b="1" u="sng" dirty="0"/>
              <a:t>deep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, which must have more than three.</a:t>
            </a:r>
            <a:endParaRPr lang="en-SG" dirty="0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5E84C124-D1CE-668B-3F41-F4530F8849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50" t="11677"/>
          <a:stretch/>
        </p:blipFill>
        <p:spPr>
          <a:xfrm>
            <a:off x="6955691" y="3856279"/>
            <a:ext cx="4610833" cy="2725739"/>
          </a:xfrm>
          <a:prstGeom prst="rect">
            <a:avLst/>
          </a:prstGeom>
        </p:spPr>
      </p:pic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620C15EF-BF44-3EB9-0304-0411E6CCAF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7" r="58784"/>
          <a:stretch/>
        </p:blipFill>
        <p:spPr>
          <a:xfrm>
            <a:off x="7893783" y="523629"/>
            <a:ext cx="3336925" cy="27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15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80C4-60DB-6E09-43FB-74235C03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AI/ML/NN/DL?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C01C3-BC43-CCB4-739E-04E83EE5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75" y="4563329"/>
            <a:ext cx="4640786" cy="2245942"/>
          </a:xfrm>
          <a:prstGeom prst="rect">
            <a:avLst/>
          </a:prstGeom>
        </p:spPr>
      </p:pic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14978745-F435-EFB2-F0FD-EFBAA9DE25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5937885"/>
              </p:ext>
            </p:extLst>
          </p:nvPr>
        </p:nvGraphicFramePr>
        <p:xfrm>
          <a:off x="683486" y="1810407"/>
          <a:ext cx="2911591" cy="2964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2" descr="RÃ©sultat de recherche d'images pour &quot;keywords behind data science&quot;">
            <a:extLst>
              <a:ext uri="{FF2B5EF4-FFF2-40B4-BE49-F238E27FC236}">
                <a16:creationId xmlns:a16="http://schemas.microsoft.com/office/drawing/2014/main" id="{05C717F0-57FD-6CCB-159B-060DBAC46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067" y="1565912"/>
            <a:ext cx="4995655" cy="247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758C89A2-82AC-E043-4DEC-4A0F9EDC84A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50" t="11677"/>
          <a:stretch/>
        </p:blipFill>
        <p:spPr>
          <a:xfrm>
            <a:off x="8290942" y="4588978"/>
            <a:ext cx="3799213" cy="2245942"/>
          </a:xfrm>
          <a:prstGeom prst="rect">
            <a:avLst/>
          </a:prstGeom>
        </p:spPr>
      </p:pic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9B63E14B-9A42-F774-03CE-08533573C0E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7" r="58784"/>
          <a:stretch/>
        </p:blipFill>
        <p:spPr>
          <a:xfrm>
            <a:off x="5541397" y="4178671"/>
            <a:ext cx="2749545" cy="2245942"/>
          </a:xfrm>
          <a:prstGeom prst="rect">
            <a:avLst/>
          </a:prstGeom>
        </p:spPr>
      </p:pic>
      <p:pic>
        <p:nvPicPr>
          <p:cNvPr id="11" name="Picture 10" descr="A close up of a spider&#10;&#10;Description automatically generated with low confidence">
            <a:extLst>
              <a:ext uri="{FF2B5EF4-FFF2-40B4-BE49-F238E27FC236}">
                <a16:creationId xmlns:a16="http://schemas.microsoft.com/office/drawing/2014/main" id="{136DEE69-FEF1-EC5E-1B2B-B226AC7EED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999" y="1810407"/>
            <a:ext cx="2796590" cy="18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94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vs Unsupervised Learning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0929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Supervised vs.</a:t>
            </a:r>
            <a:br>
              <a:rPr lang="en-GB" b="1" dirty="0">
                <a:solidFill>
                  <a:srgbClr val="00B050"/>
                </a:solidFill>
              </a:rPr>
            </a:br>
            <a:r>
              <a:rPr lang="en-GB" b="1" dirty="0">
                <a:solidFill>
                  <a:srgbClr val="00B050"/>
                </a:solidFill>
              </a:rPr>
              <a:t>Unsupervised Learning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Supervised</a:t>
            </a:r>
            <a:r>
              <a:rPr lang="en-GB" dirty="0"/>
              <a:t> and </a:t>
            </a:r>
            <a:r>
              <a:rPr lang="en-GB" b="1" dirty="0">
                <a:solidFill>
                  <a:srgbClr val="00B050"/>
                </a:solidFill>
              </a:rPr>
              <a:t>Unsupervised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Learning</a:t>
            </a:r>
            <a:r>
              <a:rPr lang="en-GB" dirty="0"/>
              <a:t> are the two techniques of ML. </a:t>
            </a:r>
          </a:p>
          <a:p>
            <a:pPr marL="0" indent="0">
              <a:buNone/>
            </a:pPr>
            <a:r>
              <a:rPr lang="en-GB" dirty="0"/>
              <a:t>The main difference is </a:t>
            </a:r>
            <a:r>
              <a:rPr lang="en-GB" b="1" dirty="0"/>
              <a:t>the need for labelled training data</a:t>
            </a:r>
            <a:r>
              <a:rPr lang="en-GB" dirty="0"/>
              <a:t>:</a:t>
            </a:r>
          </a:p>
          <a:p>
            <a:r>
              <a:rPr lang="en-GB" b="1" dirty="0"/>
              <a:t>Supervised machine learning </a:t>
            </a:r>
            <a:r>
              <a:rPr lang="en-GB" dirty="0"/>
              <a:t>relies on </a:t>
            </a:r>
            <a:r>
              <a:rPr lang="en-GB" b="1" dirty="0"/>
              <a:t>labelled input and output data </a:t>
            </a:r>
            <a:r>
              <a:rPr lang="en-GB" dirty="0"/>
              <a:t>to learn and make predictions,</a:t>
            </a:r>
          </a:p>
          <a:p>
            <a:r>
              <a:rPr lang="en-GB" dirty="0"/>
              <a:t>while </a:t>
            </a:r>
            <a:r>
              <a:rPr lang="en-GB" b="1" dirty="0"/>
              <a:t>unsupervised machine learning does not require labelled data. </a:t>
            </a:r>
            <a:endParaRPr lang="en-SG" b="1" dirty="0"/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D66BDE37-8D5D-471C-64FD-C3EF691B4C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"/>
          <a:stretch/>
        </p:blipFill>
        <p:spPr>
          <a:xfrm>
            <a:off x="7053416" y="1690688"/>
            <a:ext cx="5045354" cy="491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42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Examples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Examples of </a:t>
            </a:r>
            <a:r>
              <a:rPr lang="en-GB" b="1" dirty="0"/>
              <a:t>supervised</a:t>
            </a:r>
            <a:r>
              <a:rPr lang="en-GB" dirty="0"/>
              <a:t> </a:t>
            </a:r>
            <a:r>
              <a:rPr lang="en-GB" b="1" dirty="0"/>
              <a:t>learning:</a:t>
            </a:r>
            <a:r>
              <a:rPr lang="en-GB" dirty="0"/>
              <a:t> spam detection, text classification, predicting the stock market, etc.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6308B0C-B80A-8F5E-64C2-ABCE80C12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94" y="4056605"/>
            <a:ext cx="4419655" cy="2208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242E59-7666-31A4-2AD1-857900B71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8" y="1570786"/>
            <a:ext cx="5486452" cy="47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04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558E-04AA-1E98-7827-BC3AFBCF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vs. Classification (Supervised)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5612-DA1C-B920-F4AC-1A2C33918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Classification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Classification models are used to divide the samples in the dataset into different </a:t>
            </a:r>
            <a:r>
              <a:rPr lang="en-GB" b="1" dirty="0"/>
              <a:t>classes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Classification algorithms are then used to predict/classify </a:t>
            </a:r>
            <a:r>
              <a:rPr lang="en-GB" b="1" dirty="0"/>
              <a:t>discrete or finite number</a:t>
            </a:r>
            <a:r>
              <a:rPr lang="en-GB" dirty="0"/>
              <a:t> </a:t>
            </a:r>
            <a:r>
              <a:rPr lang="en-GB" b="1" dirty="0"/>
              <a:t>values</a:t>
            </a:r>
            <a:r>
              <a:rPr lang="en-GB" dirty="0"/>
              <a:t>, such as Male or Female, True or False, Spam or Not Spam, etc. </a:t>
            </a:r>
          </a:p>
          <a:p>
            <a:pPr marL="0" indent="0">
              <a:buNone/>
            </a:pPr>
            <a:r>
              <a:rPr lang="en-GB" dirty="0"/>
              <a:t>In Classification, the outputs are </a:t>
            </a:r>
            <a:r>
              <a:rPr lang="en-GB" b="1" dirty="0"/>
              <a:t>discrete</a:t>
            </a:r>
            <a:r>
              <a:rPr lang="en-GB" dirty="0"/>
              <a:t> or </a:t>
            </a:r>
            <a:r>
              <a:rPr lang="en-GB" b="1" dirty="0"/>
              <a:t>categorical</a:t>
            </a:r>
            <a:r>
              <a:rPr lang="en-GB" dirty="0"/>
              <a:t> </a:t>
            </a:r>
            <a:r>
              <a:rPr lang="en-GB" b="1" dirty="0"/>
              <a:t>values</a:t>
            </a:r>
            <a:r>
              <a:rPr lang="en-GB" dirty="0"/>
              <a:t>. </a:t>
            </a:r>
          </a:p>
          <a:p>
            <a:endParaRPr lang="en-SG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83C7EF1-C4AC-713C-63B9-4157061F4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35" y="1561202"/>
            <a:ext cx="5697686" cy="2846612"/>
          </a:xfrm>
          <a:prstGeom prst="rect">
            <a:avLst/>
          </a:prstGeom>
        </p:spPr>
      </p:pic>
      <p:pic>
        <p:nvPicPr>
          <p:cNvPr id="5" name="Picture 2" descr="RÃ©sultat de recherche d'images pour &quot;cat image&quot;">
            <a:extLst>
              <a:ext uri="{FF2B5EF4-FFF2-40B4-BE49-F238E27FC236}">
                <a16:creationId xmlns:a16="http://schemas.microsoft.com/office/drawing/2014/main" id="{4E2A5716-3CE5-38A3-F943-C1719D070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436" y="4865588"/>
            <a:ext cx="2217126" cy="147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456F3-5BB4-F009-FF86-42780D6C98A9}"/>
              </a:ext>
            </a:extLst>
          </p:cNvPr>
          <p:cNvSpPr txBox="1"/>
          <p:nvPr/>
        </p:nvSpPr>
        <p:spPr>
          <a:xfrm>
            <a:off x="10501162" y="5419225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a cat!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A42C8F-581A-DDAF-3919-5B9D9687F00C}"/>
              </a:ext>
            </a:extLst>
          </p:cNvPr>
          <p:cNvCxnSpPr>
            <a:endCxn id="6" idx="1"/>
          </p:cNvCxnSpPr>
          <p:nvPr/>
        </p:nvCxnSpPr>
        <p:spPr>
          <a:xfrm>
            <a:off x="9124749" y="5601903"/>
            <a:ext cx="1376413" cy="198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10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558E-04AA-1E98-7827-BC3AFBCF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vs. Classification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5612-DA1C-B920-F4AC-1A2C33918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Regression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Regression models are used to identify the relationships between the input and output variables. </a:t>
            </a:r>
          </a:p>
          <a:p>
            <a:pPr marL="0" indent="0">
              <a:buNone/>
            </a:pPr>
            <a:r>
              <a:rPr lang="en-GB" dirty="0"/>
              <a:t>Regression algorithms are used to </a:t>
            </a:r>
            <a:r>
              <a:rPr lang="en-GB" b="1" dirty="0"/>
              <a:t>predict</a:t>
            </a:r>
            <a:r>
              <a:rPr lang="en-GB" dirty="0"/>
              <a:t> </a:t>
            </a:r>
            <a:r>
              <a:rPr lang="en-GB" b="1" dirty="0"/>
              <a:t>continuous</a:t>
            </a:r>
            <a:r>
              <a:rPr lang="en-GB" dirty="0"/>
              <a:t> </a:t>
            </a:r>
            <a:r>
              <a:rPr lang="en-GB" b="1" dirty="0"/>
              <a:t>values</a:t>
            </a:r>
            <a:r>
              <a:rPr lang="en-GB" dirty="0"/>
              <a:t> such as price, salary, age, etc.</a:t>
            </a:r>
          </a:p>
          <a:p>
            <a:pPr marL="0" indent="0">
              <a:buNone/>
            </a:pPr>
            <a:r>
              <a:rPr lang="en-GB" dirty="0"/>
              <a:t>In regression, the outputs are often </a:t>
            </a:r>
            <a:r>
              <a:rPr lang="en-GB" b="1" dirty="0"/>
              <a:t>continuous</a:t>
            </a:r>
            <a:r>
              <a:rPr lang="en-GB" dirty="0"/>
              <a:t> </a:t>
            </a:r>
            <a:r>
              <a:rPr lang="en-GB" b="1" dirty="0"/>
              <a:t>numerical</a:t>
            </a:r>
            <a:r>
              <a:rPr lang="en-GB" dirty="0"/>
              <a:t> </a:t>
            </a:r>
            <a:r>
              <a:rPr lang="en-GB" b="1" dirty="0"/>
              <a:t>values</a:t>
            </a:r>
            <a:r>
              <a:rPr lang="en-GB" dirty="0"/>
              <a:t>, and not a finite list of possibilities. </a:t>
            </a:r>
          </a:p>
          <a:p>
            <a:endParaRPr lang="en-SG" dirty="0"/>
          </a:p>
        </p:txBody>
      </p:sp>
      <p:pic>
        <p:nvPicPr>
          <p:cNvPr id="5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CCD4D58C-EB87-859D-CDD7-DDBEA8CD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0A3EE8-95B0-834B-B276-6BA2F57BE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A5D5C7-2482-B979-6D00-79594D128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90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Examples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Example: </a:t>
            </a:r>
            <a:r>
              <a:rPr lang="en-GB" dirty="0"/>
              <a:t>predicting the market.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is it a </a:t>
            </a:r>
            <a:r>
              <a:rPr lang="en-GB" b="1" dirty="0"/>
              <a:t>regression</a:t>
            </a:r>
            <a:r>
              <a:rPr lang="en-GB" dirty="0"/>
              <a:t> or a </a:t>
            </a:r>
            <a:r>
              <a:rPr lang="en-GB" b="1" dirty="0"/>
              <a:t>classification</a:t>
            </a:r>
            <a:r>
              <a:rPr lang="en-GB" dirty="0"/>
              <a:t> task?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42E59-7666-31A4-2AD1-857900B7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8" y="1570786"/>
            <a:ext cx="5486452" cy="47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4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Examples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Example: </a:t>
            </a:r>
            <a:r>
              <a:rPr lang="en-GB" dirty="0"/>
              <a:t>predicting the market.</a:t>
            </a:r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is it a </a:t>
            </a:r>
            <a:r>
              <a:rPr lang="en-GB" b="1" dirty="0"/>
              <a:t>regression</a:t>
            </a:r>
            <a:r>
              <a:rPr lang="en-GB" dirty="0"/>
              <a:t> or a </a:t>
            </a:r>
            <a:r>
              <a:rPr lang="en-GB" b="1" dirty="0"/>
              <a:t>classification</a:t>
            </a:r>
            <a:r>
              <a:rPr lang="en-GB" dirty="0"/>
              <a:t> task?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Depends on you approach it.</a:t>
            </a:r>
          </a:p>
          <a:p>
            <a:pPr marL="0" indent="0">
              <a:buNone/>
            </a:pPr>
            <a:r>
              <a:rPr lang="en-GB" dirty="0"/>
              <a:t>If the output we are </a:t>
            </a:r>
            <a:r>
              <a:rPr lang="en-GB" b="1" dirty="0"/>
              <a:t>predicting is the </a:t>
            </a:r>
            <a:r>
              <a:rPr lang="en-GB" b="1" u="sng" dirty="0"/>
              <a:t>value</a:t>
            </a:r>
            <a:r>
              <a:rPr lang="en-GB" b="1" dirty="0"/>
              <a:t> of the stock in the future</a:t>
            </a:r>
            <a:r>
              <a:rPr lang="en-GB" dirty="0"/>
              <a:t>, then it is a </a:t>
            </a:r>
            <a:r>
              <a:rPr lang="en-GB" b="1" dirty="0">
                <a:solidFill>
                  <a:schemeClr val="accent2"/>
                </a:solidFill>
              </a:rPr>
              <a:t>regression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If the plan is to </a:t>
            </a:r>
            <a:r>
              <a:rPr lang="en-GB" b="1" dirty="0"/>
              <a:t>predict whether we should </a:t>
            </a:r>
            <a:r>
              <a:rPr lang="en-GB" b="1" u="sng" dirty="0"/>
              <a:t>buy, sell or hold</a:t>
            </a:r>
            <a:r>
              <a:rPr lang="en-GB" dirty="0"/>
              <a:t>, then it is a </a:t>
            </a:r>
            <a:r>
              <a:rPr lang="en-GB" b="1" dirty="0">
                <a:solidFill>
                  <a:schemeClr val="accent2"/>
                </a:solidFill>
              </a:rPr>
              <a:t>classification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42E59-7666-31A4-2AD1-857900B7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8" y="1570786"/>
            <a:ext cx="5486452" cy="47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3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C151-78BC-FF7A-7302-FF4A4817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 Learning and Supervised/Unsupervised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4BA30B-8195-4633-6744-AE86C2FDF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5267"/>
          </a:xfrm>
        </p:spPr>
        <p:txBody>
          <a:bodyPr>
            <a:normAutofit/>
          </a:bodyPr>
          <a:lstStyle/>
          <a:p>
            <a:pPr algn="ctr"/>
            <a:endParaRPr lang="en-GB" sz="3600" dirty="0"/>
          </a:p>
          <a:p>
            <a:pPr marL="0" indent="0" algn="ctr">
              <a:buNone/>
            </a:pPr>
            <a:r>
              <a:rPr lang="en-SG" sz="3600" dirty="0"/>
              <a:t>While it is possible to use Deep Learning models and Neural Networks to perform both Supervised and Unsupervised tasks…</a:t>
            </a:r>
          </a:p>
          <a:p>
            <a:pPr algn="ctr"/>
            <a:endParaRPr lang="en-SG" sz="3600" dirty="0"/>
          </a:p>
          <a:p>
            <a:pPr marL="0" indent="0" algn="ctr">
              <a:buNone/>
            </a:pPr>
            <a:r>
              <a:rPr lang="en-SG" sz="3600" dirty="0"/>
              <a:t>The vast majority of DL/NN tasks fall in the category of </a:t>
            </a:r>
            <a:r>
              <a:rPr lang="en-SG" sz="3600" b="1" dirty="0"/>
              <a:t>supervised</a:t>
            </a:r>
            <a:r>
              <a:rPr lang="en-SG" sz="3600" dirty="0"/>
              <a:t> </a:t>
            </a:r>
            <a:r>
              <a:rPr lang="en-SG" sz="3600" b="1" dirty="0"/>
              <a:t>learning</a:t>
            </a:r>
            <a:r>
              <a:rPr lang="en-SG" sz="3600" dirty="0"/>
              <a:t>. </a:t>
            </a:r>
          </a:p>
          <a:p>
            <a:pPr marL="0" indent="0" algn="ctr">
              <a:buNone/>
            </a:pPr>
            <a:r>
              <a:rPr lang="en-SG" sz="3600" dirty="0"/>
              <a:t>(And we will therefore mostly focus on that for now)</a:t>
            </a:r>
          </a:p>
        </p:txBody>
      </p:sp>
    </p:spTree>
    <p:extLst>
      <p:ext uri="{BB962C8B-B14F-4D97-AF65-F5344CB8AC3E}">
        <p14:creationId xmlns:p14="http://schemas.microsoft.com/office/powerpoint/2010/main" val="4205168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F3FE-ECE7-5313-37C6-831A7971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of an ML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105B-275A-6368-138C-0B2E6CBEE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01589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Elements of a ML problem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Machine learning problems should be well-defined, i.e. the following elements must be clearly identified: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Task (T)</a:t>
            </a:r>
            <a:r>
              <a:rPr lang="en-GB" dirty="0"/>
              <a:t> at hand,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Inputs (I)</a:t>
            </a:r>
            <a:r>
              <a:rPr lang="en-GB" dirty="0"/>
              <a:t> and </a:t>
            </a:r>
            <a:r>
              <a:rPr lang="en-GB" b="1" dirty="0"/>
              <a:t>Outputs (O),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Model (M)</a:t>
            </a:r>
            <a:r>
              <a:rPr lang="en-GB" dirty="0"/>
              <a:t> definition and its </a:t>
            </a:r>
            <a:r>
              <a:rPr lang="en-GB" b="1" dirty="0"/>
              <a:t>trainable</a:t>
            </a:r>
            <a:r>
              <a:rPr lang="en-GB" dirty="0"/>
              <a:t> </a:t>
            </a:r>
            <a:r>
              <a:rPr lang="en-GB" b="1" dirty="0"/>
              <a:t>parameters (P),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Loss</a:t>
            </a:r>
            <a:r>
              <a:rPr lang="en-GB" dirty="0"/>
              <a:t> </a:t>
            </a:r>
            <a:r>
              <a:rPr lang="en-GB" b="1" dirty="0"/>
              <a:t>(L) </a:t>
            </a:r>
            <a:r>
              <a:rPr lang="en-GB" dirty="0"/>
              <a:t>function to measure the performance of current model on said task and dataset.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31E662FD-58CF-1D67-F7DD-42E536F3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68C2E-4569-1821-8077-FE4128C9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314E6-E4B2-C9CA-C8F7-62A9019D3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7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EEFD-8460-F540-F80C-BEACC2297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471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Our first toy example: </a:t>
            </a:r>
            <a:r>
              <a:rPr lang="en-GB" dirty="0"/>
              <a:t>simplified version of the apartment price prediction.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Task (T)</a:t>
            </a:r>
            <a:r>
              <a:rPr lang="en-GB" dirty="0"/>
              <a:t> at hand:</a:t>
            </a:r>
          </a:p>
          <a:p>
            <a:r>
              <a:rPr lang="en-GB" b="1" dirty="0">
                <a:solidFill>
                  <a:srgbClr val="7030A0"/>
                </a:solidFill>
              </a:rPr>
              <a:t>Predict price of an apartment based on the apartment features.</a:t>
            </a:r>
          </a:p>
          <a:p>
            <a:r>
              <a:rPr lang="en-GB" dirty="0"/>
              <a:t>We will generate a “fake” dataset consisting of apartments with features and selling prices.</a:t>
            </a:r>
          </a:p>
          <a:p>
            <a:r>
              <a:rPr lang="en-GB" dirty="0"/>
              <a:t>It is a </a:t>
            </a:r>
            <a:r>
              <a:rPr lang="en-GB" b="1" dirty="0">
                <a:solidFill>
                  <a:srgbClr val="7030A0"/>
                </a:solidFill>
              </a:rPr>
              <a:t>supervised regression task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endParaRPr lang="en-SG" dirty="0"/>
          </a:p>
        </p:txBody>
      </p:sp>
      <p:pic>
        <p:nvPicPr>
          <p:cNvPr id="5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E79A8FF2-797D-AB75-C449-F1D7351E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866A6C-7EA3-A159-D0EE-01B47AA9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63BDA-2C16-D522-FEAB-CECFC3D0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17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EEFD-8460-F540-F80C-BEACC2297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471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Our first toy example: </a:t>
            </a:r>
            <a:r>
              <a:rPr lang="en-GB" dirty="0"/>
              <a:t>simplified version of the apartment price prediction.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b="1" dirty="0"/>
              <a:t>Inputs (I)</a:t>
            </a:r>
            <a:r>
              <a:rPr lang="en-GB" dirty="0"/>
              <a:t> and </a:t>
            </a:r>
            <a:r>
              <a:rPr lang="en-GB" b="1" dirty="0"/>
              <a:t>Outputs (O):</a:t>
            </a:r>
          </a:p>
          <a:p>
            <a:r>
              <a:rPr lang="en-GB" b="1" dirty="0">
                <a:solidFill>
                  <a:srgbClr val="7030A0"/>
                </a:solidFill>
              </a:rPr>
              <a:t>Inputs</a:t>
            </a:r>
            <a:r>
              <a:rPr lang="en-GB" dirty="0"/>
              <a:t> will be a </a:t>
            </a:r>
            <a:r>
              <a:rPr lang="en-GB" b="1" dirty="0">
                <a:solidFill>
                  <a:srgbClr val="7030A0"/>
                </a:solidFill>
              </a:rPr>
              <a:t>list of apartment features</a:t>
            </a:r>
            <a:r>
              <a:rPr lang="en-GB" dirty="0"/>
              <a:t>, which here will only consist of the </a:t>
            </a:r>
            <a:r>
              <a:rPr lang="en-GB" b="1" dirty="0"/>
              <a:t>surface of the apartment</a:t>
            </a:r>
            <a:r>
              <a:rPr lang="en-GB" dirty="0"/>
              <a:t>, in square meters (sqm).</a:t>
            </a:r>
          </a:p>
          <a:p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Output</a:t>
            </a:r>
            <a:r>
              <a:rPr lang="en-GB" dirty="0"/>
              <a:t> will be the </a:t>
            </a:r>
            <a:r>
              <a:rPr lang="en-GB" b="1" dirty="0">
                <a:solidFill>
                  <a:srgbClr val="7030A0"/>
                </a:solidFill>
              </a:rPr>
              <a:t>selling price </a:t>
            </a:r>
            <a:r>
              <a:rPr lang="en-GB" dirty="0"/>
              <a:t>in millions of SGD (</a:t>
            </a:r>
            <a:r>
              <a:rPr lang="en-GB" dirty="0" err="1"/>
              <a:t>mSGD</a:t>
            </a:r>
            <a:r>
              <a:rPr lang="en-GB" dirty="0"/>
              <a:t>).</a:t>
            </a:r>
            <a:endParaRPr lang="en-GB" b="1" dirty="0"/>
          </a:p>
          <a:p>
            <a:pPr marL="0" indent="0">
              <a:buNone/>
            </a:pPr>
            <a:endParaRPr lang="en-GB" dirty="0"/>
          </a:p>
          <a:p>
            <a:endParaRPr lang="en-SG" dirty="0"/>
          </a:p>
        </p:txBody>
      </p:sp>
      <p:pic>
        <p:nvPicPr>
          <p:cNvPr id="5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E79A8FF2-797D-AB75-C449-F1D7351E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866A6C-7EA3-A159-D0EE-01B47AA9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63BDA-2C16-D522-FEAB-CECFC3D0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20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 (mock dataset)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EEFD-8460-F540-F80C-BEACC2297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3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Have a look at Notebook 1.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We will create a dataset, which uses surfaces as inputs, with values drawn randomly between 40 and 150 sqm.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will assume that the price is randomly generated, using a uniform distribution, with:</a:t>
            </a:r>
          </a:p>
          <a:p>
            <a:r>
              <a:rPr lang="en-GB" dirty="0"/>
              <a:t>Average price being 100000 + 14373 times the surface in sqm,</a:t>
            </a:r>
          </a:p>
          <a:p>
            <a:r>
              <a:rPr lang="en-GB" dirty="0"/>
              <a:t>and a random "variation" of +/- 10% around the average value.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6055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 (mock dataset)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F61CE-0941-BF4D-D808-3D63620F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2813"/>
            <a:ext cx="10784828" cy="462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10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 (mock dataset)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63BE8-B0B6-C784-036F-FF8120F23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674" y="1481977"/>
            <a:ext cx="7482444" cy="5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40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4E316-F969-F6FF-0ABE-8B7D9BA1B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41" y="0"/>
            <a:ext cx="8693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14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40BB-97C7-1060-F5DD-F4A4417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toy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EEFD-8460-F540-F80C-BEACC2297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471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Our first toy example: </a:t>
            </a:r>
            <a:r>
              <a:rPr lang="en-GB" dirty="0"/>
              <a:t>simplified version of the apartment price prediction.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Model (M)</a:t>
            </a:r>
            <a:r>
              <a:rPr lang="en-GB" dirty="0"/>
              <a:t> definition and its </a:t>
            </a:r>
            <a:r>
              <a:rPr lang="en-GB" b="1" dirty="0"/>
              <a:t>trainable</a:t>
            </a:r>
            <a:r>
              <a:rPr lang="en-GB" dirty="0"/>
              <a:t> </a:t>
            </a:r>
            <a:r>
              <a:rPr lang="en-GB" b="1" dirty="0"/>
              <a:t>parameters (P):</a:t>
            </a:r>
          </a:p>
          <a:p>
            <a:r>
              <a:rPr lang="en-GB" dirty="0"/>
              <a:t>Here, our model will consist of a </a:t>
            </a:r>
            <a:r>
              <a:rPr lang="en-GB" b="1" dirty="0">
                <a:solidFill>
                  <a:srgbClr val="7030A0"/>
                </a:solidFill>
              </a:rPr>
              <a:t>linear regression model</a:t>
            </a:r>
            <a:r>
              <a:rPr lang="en-GB" dirty="0"/>
              <a:t>.</a:t>
            </a:r>
          </a:p>
          <a:p>
            <a:endParaRPr lang="en-SG" dirty="0"/>
          </a:p>
        </p:txBody>
      </p:sp>
      <p:pic>
        <p:nvPicPr>
          <p:cNvPr id="5" name="Picture 4" descr="RÃ©sultat de recherche d'images pour &quot;apartment seller agent&quot;">
            <a:extLst>
              <a:ext uri="{FF2B5EF4-FFF2-40B4-BE49-F238E27FC236}">
                <a16:creationId xmlns:a16="http://schemas.microsoft.com/office/drawing/2014/main" id="{E79A8FF2-797D-AB75-C449-F1D7351E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4" y="4840851"/>
            <a:ext cx="2790092" cy="186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866A6C-7EA3-A159-D0EE-01B47AA9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8" y="2017149"/>
            <a:ext cx="4173415" cy="27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63BDA-2C16-D522-FEAB-CECFC3D0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8" y="851300"/>
            <a:ext cx="4630471" cy="10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27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68C2-4970-4C7E-1F52-6140F374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model, the linear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E96C0-465C-7952-04EA-C267AC8BF67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Linear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Linear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dirty="0"/>
                  <a:t> is a model, which </a:t>
                </a:r>
                <a:r>
                  <a:rPr lang="en-GB" b="1" dirty="0"/>
                  <a:t>assumes that there is a linear relationship between inputs and outputs.</a:t>
                </a:r>
              </a:p>
              <a:p>
                <a:pPr marL="0" indent="0">
                  <a:buNone/>
                </a:pPr>
                <a:r>
                  <a:rPr lang="en-GB" dirty="0"/>
                  <a:t>It has </a:t>
                </a:r>
                <a:r>
                  <a:rPr lang="en-GB" b="1" dirty="0"/>
                  <a:t>two trainable parameters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</a:t>
                </a:r>
                <a:r>
                  <a:rPr lang="en-GB" b="1" dirty="0"/>
                  <a:t> </a:t>
                </a:r>
                <a:r>
                  <a:rPr lang="en-GB" dirty="0"/>
                  <a:t>to be freely chosen.</a:t>
                </a:r>
              </a:p>
              <a:p>
                <a:pPr marL="0" indent="0">
                  <a:buNone/>
                </a:pPr>
                <a:r>
                  <a:rPr lang="en-GB" dirty="0"/>
                  <a:t>These will connect any </a:t>
                </a:r>
                <a:r>
                  <a:rPr lang="en-GB" b="1" dirty="0"/>
                  <a:t>input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to its predicted </a:t>
                </a:r>
                <a:r>
                  <a:rPr lang="en-GB" b="1" dirty="0"/>
                  <a:t>output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with the following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≈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DE96C0-465C-7952-04EA-C267AC8BF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D24B3D5-2FA4-6434-2E4A-2829B55C7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749734"/>
            <a:ext cx="6078333" cy="1597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8D44A-AA83-81F2-CBCE-9112156D3D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172"/>
          <a:stretch/>
        </p:blipFill>
        <p:spPr>
          <a:xfrm>
            <a:off x="6595744" y="1552834"/>
            <a:ext cx="4758056" cy="31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73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68C2-4970-4C7E-1F52-6140F374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try different values of (a, b)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3B4344-19C7-806B-06F8-220DD44C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97" y="1556867"/>
            <a:ext cx="9953372" cy="5301133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6165BBB2-AE2F-EB86-BED0-8802CFB1A498}"/>
              </a:ext>
            </a:extLst>
          </p:cNvPr>
          <p:cNvSpPr/>
          <p:nvPr/>
        </p:nvSpPr>
        <p:spPr>
          <a:xfrm>
            <a:off x="1578708" y="2813538"/>
            <a:ext cx="339489" cy="9534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AC416-64EA-9BF7-FA4A-DDDAB54809D4}"/>
              </a:ext>
            </a:extLst>
          </p:cNvPr>
          <p:cNvSpPr/>
          <p:nvPr/>
        </p:nvSpPr>
        <p:spPr>
          <a:xfrm>
            <a:off x="216877" y="3024552"/>
            <a:ext cx="1242646" cy="531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 1</a:t>
            </a:r>
            <a:br>
              <a:rPr lang="en-GB" dirty="0"/>
            </a:br>
            <a:r>
              <a:rPr lang="en-GB" dirty="0"/>
              <a:t>(red)</a:t>
            </a:r>
            <a:endParaRPr lang="en-SG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A2785C3-6185-70A0-12A6-D99A63D185C6}"/>
              </a:ext>
            </a:extLst>
          </p:cNvPr>
          <p:cNvSpPr/>
          <p:nvPr/>
        </p:nvSpPr>
        <p:spPr>
          <a:xfrm>
            <a:off x="1578708" y="3979880"/>
            <a:ext cx="339489" cy="9534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183724-1784-2493-4DBB-A112357F6851}"/>
              </a:ext>
            </a:extLst>
          </p:cNvPr>
          <p:cNvSpPr/>
          <p:nvPr/>
        </p:nvSpPr>
        <p:spPr>
          <a:xfrm>
            <a:off x="216877" y="4190894"/>
            <a:ext cx="1242646" cy="531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 2</a:t>
            </a:r>
          </a:p>
          <a:p>
            <a:pPr algn="ctr"/>
            <a:r>
              <a:rPr lang="en-GB" dirty="0"/>
              <a:t>(green)</a:t>
            </a:r>
            <a:endParaRPr lang="en-SG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AE76E91-B35A-D5E2-50F0-33B923A05BA2}"/>
              </a:ext>
            </a:extLst>
          </p:cNvPr>
          <p:cNvSpPr/>
          <p:nvPr/>
        </p:nvSpPr>
        <p:spPr>
          <a:xfrm>
            <a:off x="1578708" y="5090119"/>
            <a:ext cx="339489" cy="9534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DE596-BC49-CA2A-02C4-23F0AA094E2D}"/>
              </a:ext>
            </a:extLst>
          </p:cNvPr>
          <p:cNvSpPr/>
          <p:nvPr/>
        </p:nvSpPr>
        <p:spPr>
          <a:xfrm>
            <a:off x="216877" y="5301133"/>
            <a:ext cx="1242646" cy="531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 3</a:t>
            </a:r>
          </a:p>
          <a:p>
            <a:pPr algn="ctr"/>
            <a:r>
              <a:rPr lang="en-GB" dirty="0"/>
              <a:t>(black)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7749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1A3B35-4C52-EF50-DF43-43239424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266258"/>
            <a:ext cx="9469171" cy="63254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010053-3709-8C70-9238-AF7D3149AA6C}"/>
              </a:ext>
            </a:extLst>
          </p:cNvPr>
          <p:cNvSpPr txBox="1"/>
          <p:nvPr/>
        </p:nvSpPr>
        <p:spPr>
          <a:xfrm>
            <a:off x="2063421" y="1120675"/>
            <a:ext cx="4298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Which model is the best fit for this task in your opinion?</a:t>
            </a:r>
            <a:br>
              <a:rPr lang="en-GB" sz="2400" b="1" dirty="0">
                <a:solidFill>
                  <a:schemeClr val="accent2"/>
                </a:solidFill>
              </a:rPr>
            </a:br>
            <a:r>
              <a:rPr lang="en-GB" sz="2400" b="1" dirty="0">
                <a:solidFill>
                  <a:schemeClr val="accent2"/>
                </a:solidFill>
              </a:rPr>
              <a:t>(red, green or black?)</a:t>
            </a:r>
          </a:p>
          <a:p>
            <a:pPr algn="ctr"/>
            <a:endParaRPr lang="en-GB" sz="2400" b="1" dirty="0">
              <a:solidFill>
                <a:schemeClr val="accent2"/>
              </a:solidFill>
            </a:endParaRPr>
          </a:p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Why is one better than another?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867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loss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Telling which model is best at a given ML task can prove difficult, especially for close values of its trainable parameters, here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Good news, there is one last element we have not used yet.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GB" b="1" dirty="0"/>
                  <a:t>Loss</a:t>
                </a:r>
                <a:r>
                  <a:rPr lang="en-GB" dirty="0"/>
                  <a:t> </a:t>
                </a:r>
                <a:r>
                  <a:rPr lang="en-GB" b="1" dirty="0"/>
                  <a:t>(L) </a:t>
                </a:r>
                <a:r>
                  <a:rPr lang="en-GB" dirty="0"/>
                  <a:t>function to measure the performance of the current model and its current parameters on said task and dataset.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D88892-9633-DBDC-A0D0-C687B3D62E5D}"/>
              </a:ext>
            </a:extLst>
          </p:cNvPr>
          <p:cNvSpPr txBox="1"/>
          <p:nvPr/>
        </p:nvSpPr>
        <p:spPr>
          <a:xfrm>
            <a:off x="7381870" y="939798"/>
            <a:ext cx="4298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Which model is the best fit for this task in your opinion?</a:t>
            </a:r>
            <a:br>
              <a:rPr lang="en-GB" sz="2400" b="1" dirty="0">
                <a:solidFill>
                  <a:schemeClr val="accent2"/>
                </a:solidFill>
              </a:rPr>
            </a:br>
            <a:r>
              <a:rPr lang="en-GB" sz="2400" b="1" dirty="0">
                <a:solidFill>
                  <a:schemeClr val="accent2"/>
                </a:solidFill>
              </a:rPr>
              <a:t>(red, green or black?)</a:t>
            </a:r>
          </a:p>
          <a:p>
            <a:pPr algn="ctr"/>
            <a:endParaRPr lang="en-GB" sz="2400" b="1" dirty="0">
              <a:solidFill>
                <a:schemeClr val="accent2"/>
              </a:solidFill>
            </a:endParaRPr>
          </a:p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Why is one better than another?</a:t>
            </a:r>
            <a:endParaRPr lang="en-SG" sz="2400" b="1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84584-1719-83C3-BA9E-BC257672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077" y="3248122"/>
            <a:ext cx="5181600" cy="34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55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loss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Loss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GB" dirty="0"/>
                  <a:t>A </a:t>
                </a:r>
                <a:r>
                  <a:rPr lang="en-GB" b="1" dirty="0">
                    <a:solidFill>
                      <a:srgbClr val="00B050"/>
                    </a:solidFill>
                  </a:rPr>
                  <a:t>loss</a:t>
                </a:r>
                <a:r>
                  <a:rPr lang="en-GB" dirty="0"/>
                  <a:t> </a:t>
                </a:r>
                <a:r>
                  <a:rPr lang="en-GB" b="1" dirty="0"/>
                  <a:t>function </a:t>
                </a:r>
                <a:r>
                  <a:rPr lang="en-GB" dirty="0"/>
                  <a:t>(also known as a </a:t>
                </a:r>
                <a:r>
                  <a:rPr lang="en-GB" b="1" dirty="0">
                    <a:solidFill>
                      <a:srgbClr val="00B050"/>
                    </a:solidFill>
                  </a:rPr>
                  <a:t>cost</a:t>
                </a:r>
                <a:r>
                  <a:rPr lang="en-GB" dirty="0"/>
                  <a:t> </a:t>
                </a:r>
                <a:r>
                  <a:rPr lang="en-GB" b="1" dirty="0"/>
                  <a:t>function</a:t>
                </a:r>
                <a:r>
                  <a:rPr lang="en-GB" dirty="0"/>
                  <a:t>) is a mathematical function that measures the difference between the predicted outputs of a model and the true outputs we should be matching.</a:t>
                </a:r>
              </a:p>
              <a:p>
                <a:pPr marL="0" indent="0">
                  <a:buNone/>
                </a:pPr>
                <a:r>
                  <a:rPr lang="en-GB" dirty="0"/>
                  <a:t>It is typically used to:</a:t>
                </a:r>
              </a:p>
              <a:p>
                <a:r>
                  <a:rPr lang="en-GB" b="1" dirty="0"/>
                  <a:t>Evaluate the performance of the model,</a:t>
                </a:r>
              </a:p>
              <a:p>
                <a:r>
                  <a:rPr lang="en-GB" dirty="0"/>
                  <a:t>And more specifically </a:t>
                </a:r>
                <a:r>
                  <a:rPr lang="en-GB" b="1" dirty="0"/>
                  <a:t>evaluate how good our choice of trainable parameters </a:t>
                </a:r>
                <a:r>
                  <a:rPr lang="en-GB" dirty="0"/>
                  <a:t>(here, the parameters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) are at fitting the data.</a:t>
                </a:r>
              </a:p>
              <a:p>
                <a:pPr marL="0" indent="0">
                  <a:buNone/>
                </a:pPr>
                <a:r>
                  <a:rPr lang="en-GB" dirty="0"/>
                  <a:t>More importantly, 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loss</a:t>
                </a:r>
                <a:r>
                  <a:rPr lang="en-GB" dirty="0"/>
                  <a:t> function will later be used to guide the optimization process during </a:t>
                </a:r>
                <a:r>
                  <a:rPr lang="en-GB" b="1" dirty="0">
                    <a:solidFill>
                      <a:srgbClr val="7030A0"/>
                    </a:solidFill>
                  </a:rPr>
                  <a:t>training</a:t>
                </a:r>
                <a:r>
                  <a:rPr lang="en-GB" dirty="0"/>
                  <a:t> (more on this later!).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88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loss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The Mean Square Error loss function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In our linear model, a good loss function we could use consists of the </a:t>
                </a:r>
                <a:r>
                  <a:rPr lang="en-GB" b="1" dirty="0">
                    <a:solidFill>
                      <a:srgbClr val="00B050"/>
                    </a:solidFill>
                  </a:rPr>
                  <a:t>Mean Square Error (MSE) loss function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 MSE is computed by calculating the square difference between: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formed by the model for some given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true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dirty="0"/>
                  <a:t> that we should be matching.</a:t>
                </a:r>
              </a:p>
              <a:p>
                <a:pPr marL="0" indent="0">
                  <a:buNone/>
                </a:pPr>
                <a:r>
                  <a:rPr lang="en-GB" dirty="0"/>
                  <a:t>We then repeat this operation for every sample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, and average those errors together, 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2663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485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loss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01F69F6-3E0F-E38F-484D-3B30241DE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0" dirty="0"/>
                  <a:t>Recall the definition of the MSE loss function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01F69F6-3E0F-E38F-484D-3B30241DE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2077BDC-86D6-5F7D-C01A-29B9F57D8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055" y="4018772"/>
            <a:ext cx="10128745" cy="27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31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C6B1DC-B350-C577-509C-E6AD15AD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266258"/>
            <a:ext cx="9488224" cy="63254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CB8F96-4164-EB2B-649A-BA19BCB86069}"/>
              </a:ext>
            </a:extLst>
          </p:cNvPr>
          <p:cNvSpPr txBox="1"/>
          <p:nvPr/>
        </p:nvSpPr>
        <p:spPr>
          <a:xfrm>
            <a:off x="2021930" y="1120675"/>
            <a:ext cx="4298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Which model is the best fit for this task in your opinion?</a:t>
            </a:r>
            <a:br>
              <a:rPr lang="en-GB" sz="2400" b="1" dirty="0">
                <a:solidFill>
                  <a:schemeClr val="accent2"/>
                </a:solidFill>
              </a:rPr>
            </a:br>
            <a:r>
              <a:rPr lang="en-GB" sz="2400" b="1" dirty="0">
                <a:solidFill>
                  <a:schemeClr val="accent2"/>
                </a:solidFill>
              </a:rPr>
              <a:t>(red, green or black?)</a:t>
            </a:r>
          </a:p>
          <a:p>
            <a:pPr algn="ctr"/>
            <a:endParaRPr lang="en-GB" sz="2400" b="1" dirty="0">
              <a:solidFill>
                <a:schemeClr val="accent2"/>
              </a:solidFill>
            </a:endParaRPr>
          </a:p>
          <a:p>
            <a:pPr algn="ctr"/>
            <a:r>
              <a:rPr lang="en-GB" sz="2400" b="1" dirty="0">
                <a:solidFill>
                  <a:schemeClr val="accent2"/>
                </a:solidFill>
              </a:rPr>
              <a:t>Why is one better than another?</a:t>
            </a:r>
            <a:endParaRPr lang="en-SG" sz="2400" b="1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189FF-04D0-097A-69F9-D5077EE6D0B6}"/>
              </a:ext>
            </a:extLst>
          </p:cNvPr>
          <p:cNvSpPr txBox="1"/>
          <p:nvPr/>
        </p:nvSpPr>
        <p:spPr>
          <a:xfrm>
            <a:off x="6320392" y="4753041"/>
            <a:ext cx="4298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</a:rPr>
              <a:t>Answer: Black model, because it has a lower loss value than the green and red ones!</a:t>
            </a:r>
            <a:endParaRPr lang="en-SG" sz="2400" b="1" dirty="0">
              <a:solidFill>
                <a:schemeClr val="accent2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F1BF25-44AF-96CD-3D22-6DFB8468D505}"/>
              </a:ext>
            </a:extLst>
          </p:cNvPr>
          <p:cNvSpPr/>
          <p:nvPr/>
        </p:nvSpPr>
        <p:spPr>
          <a:xfrm>
            <a:off x="5321030" y="266258"/>
            <a:ext cx="1935804" cy="854417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043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model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63A8-7CB3-9103-18B5-4F57A6F9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Training a model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Training a model </a:t>
            </a:r>
            <a:r>
              <a:rPr lang="en-GB" dirty="0"/>
              <a:t>consists of </a:t>
            </a:r>
            <a:r>
              <a:rPr lang="en-GB" b="1" dirty="0"/>
              <a:t>finding the best values for the trainable parameters of the chosen model</a:t>
            </a:r>
            <a:r>
              <a:rPr lang="en-GB" dirty="0"/>
              <a:t>, for the given task and dataset.</a:t>
            </a:r>
          </a:p>
          <a:p>
            <a:pPr marL="0" indent="0">
              <a:buNone/>
            </a:pPr>
            <a:r>
              <a:rPr lang="en-GB" dirty="0"/>
              <a:t>By best values for the trainable parameters, we mean the values that </a:t>
            </a:r>
            <a:r>
              <a:rPr lang="en-GB" b="1" dirty="0"/>
              <a:t>minimize the chosen loss function</a:t>
            </a:r>
            <a:r>
              <a:rPr lang="en-GB" dirty="0"/>
              <a:t>. It is therefore an optimization problem of some sort!</a:t>
            </a:r>
          </a:p>
          <a:p>
            <a:pPr marL="0" indent="0">
              <a:buNone/>
            </a:pPr>
            <a:r>
              <a:rPr lang="en-GB" dirty="0"/>
              <a:t>Once a minimal value is obtained on the loss function, then we can claim that the “optimal” trainable parameters have been found.</a:t>
            </a:r>
          </a:p>
          <a:p>
            <a:pPr marL="0" indent="0">
              <a:buNone/>
            </a:pPr>
            <a:r>
              <a:rPr lang="en-GB" dirty="0"/>
              <a:t>Or in other words, that the model has been </a:t>
            </a:r>
            <a:r>
              <a:rPr lang="en-GB" b="1" dirty="0">
                <a:solidFill>
                  <a:srgbClr val="00B050"/>
                </a:solidFill>
              </a:rPr>
              <a:t>trained</a:t>
            </a:r>
            <a:r>
              <a:rPr lang="en-GB" dirty="0"/>
              <a:t> to solve its machine learning task.</a:t>
            </a:r>
          </a:p>
          <a:p>
            <a:endParaRPr lang="en-SG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8433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linear regression model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the case of linear regression, training the model consists of solving the following optimization problem.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 algn="ctr">
                  <a:buNone/>
                </a:pPr>
                <a:r>
                  <a:rPr lang="en-GB" dirty="0"/>
                  <a:t>That is, using the explicit formula of the loss function,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916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linear regression model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normal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equation</a:t>
                </a:r>
                <a:r>
                  <a:rPr lang="en-GB" b="1" dirty="0"/>
                  <a:t> for linear regression):</a:t>
                </a:r>
              </a:p>
              <a:p>
                <a:pPr marL="0" indent="0">
                  <a:buNone/>
                </a:pPr>
                <a:r>
                  <a:rPr lang="en-GB" dirty="0"/>
                  <a:t>Solving this optimization problem can be done analytically, as it can be proven that the optimal choice of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 follows the </a:t>
                </a:r>
                <a:r>
                  <a:rPr lang="en-GB" b="1" dirty="0">
                    <a:solidFill>
                      <a:srgbClr val="00B050"/>
                    </a:solidFill>
                  </a:rPr>
                  <a:t>normal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equation</a:t>
                </a:r>
                <a:r>
                  <a:rPr lang="en-GB" dirty="0"/>
                  <a:t>,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fr-FR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br>
                  <a:rPr lang="en-GB" b="0" dirty="0"/>
                </a:br>
                <a:r>
                  <a:rPr lang="en-GB" b="0" i="1" dirty="0"/>
                  <a:t>(Proof in bonus slides)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E63A8-7CB3-9103-18B5-4F57A6F9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1882" b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CC4A7A-9293-F3BF-75E4-32E5E156B9B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629031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lang="fr-FR" dirty="0"/>
                </a:br>
                <a:endParaRPr lang="en-SG" dirty="0"/>
              </a:p>
              <a:p>
                <a:pPr marL="0" indent="0">
                  <a:buNone/>
                </a:pPr>
                <a:br>
                  <a:rPr lang="en-SG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GB" noProof="0" dirty="0"/>
                  <a:t>Finally</a:t>
                </a:r>
                <a:r>
                  <a:rPr lang="fr-F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SG" dirty="0"/>
                  <a:t> denotes the transposed matrix of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its inverse, which is a typical linear algebra operation.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8CC4A7A-9293-F3BF-75E4-32E5E156B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629031" cy="5032374"/>
              </a:xfrm>
              <a:blipFill>
                <a:blip r:embed="rId3"/>
                <a:stretch>
                  <a:fillRect l="-2165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748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4629-7F60-E5FD-B47D-000457F3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linear regression model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FC4885D-D96C-48A4-C98F-2303966A0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b="1" dirty="0"/>
                  <a:t>Normal Equation: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fr-FR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fr-FR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FC4885D-D96C-48A4-C98F-2303966A0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886BF40-48AE-4447-9AED-733BFDD5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650" y="2411852"/>
            <a:ext cx="7623519" cy="444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682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04D3AE-6054-5962-9876-6BD5F58D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271022"/>
            <a:ext cx="9526329" cy="6315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B6E31A-E890-26C8-4B56-79FB68AFF7F3}"/>
              </a:ext>
            </a:extLst>
          </p:cNvPr>
          <p:cNvSpPr txBox="1"/>
          <p:nvPr/>
        </p:nvSpPr>
        <p:spPr>
          <a:xfrm>
            <a:off x="6423029" y="4566429"/>
            <a:ext cx="42984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</a:rPr>
              <a:t>Purple line is the optimal set of parameters for our model on the given task and dataset!</a:t>
            </a:r>
          </a:p>
          <a:p>
            <a:pPr algn="ctr"/>
            <a:r>
              <a:rPr lang="en-GB" sz="2400" b="1" dirty="0">
                <a:solidFill>
                  <a:schemeClr val="accent2"/>
                </a:solidFill>
              </a:rPr>
              <a:t>Black was pretty close!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611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475A-1D2B-A371-BBF5-4CF58182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07062-8C65-24A8-A029-407C69D7B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normal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i="1" dirty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fr-FR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immediately gives the optimal set of parameters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to use for linear regression.</a:t>
                </a:r>
              </a:p>
              <a:p>
                <a:pPr marL="0" indent="0">
                  <a:buNone/>
                </a:pPr>
                <a:r>
                  <a:rPr lang="en-GB" dirty="0"/>
                  <a:t>A few problems when using the normal equation:</a:t>
                </a:r>
              </a:p>
              <a:p>
                <a:r>
                  <a:rPr lang="en-GB" dirty="0"/>
                  <a:t>It can become </a:t>
                </a:r>
                <a:r>
                  <a:rPr lang="en-GB" b="1" dirty="0"/>
                  <a:t>computationally expensive when the number of samples (and/or features) in the dataset are large, and therefore the dimensions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b="1" dirty="0"/>
                  <a:t> are large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In some scenarios, it might even be </a:t>
                </a:r>
                <a:r>
                  <a:rPr lang="en-GB" b="1" dirty="0"/>
                  <a:t>impossible</a:t>
                </a:r>
                <a:r>
                  <a:rPr lang="en-GB" dirty="0"/>
                  <a:t> </a:t>
                </a:r>
                <a:r>
                  <a:rPr lang="en-GB" b="1" dirty="0"/>
                  <a:t>to use when the matrix product of feature variables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1" i="1" dirty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fr-FR" b="1" i="1" dirty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fr-FR" b="1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b="1" dirty="0"/>
                  <a:t> cannot be calculated (because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fr-FR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fr-FR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fr-FR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might not always be invertible)</a:t>
                </a:r>
                <a:r>
                  <a:rPr lang="en-GB" dirty="0"/>
                  <a:t>.</a:t>
                </a:r>
                <a:endParaRPr lang="en-GB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7030A0"/>
                    </a:solidFill>
                  </a:rPr>
                  <a:t>Another problem: More sophisticated models than linear regression will NOT have a normal equation, anyway.</a:t>
                </a:r>
                <a:endParaRPr lang="en-SG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B07062-8C65-24A8-A029-407C69D7B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855" b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41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E4C-272B-C03E-DD88-7571A261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Descent, to the rescue!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88233-A388-8683-C544-050DFB799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9226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Gradient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Descent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Gradient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Descent</a:t>
            </a:r>
            <a:r>
              <a:rPr lang="en-GB" b="1" dirty="0"/>
              <a:t> (GD) </a:t>
            </a:r>
            <a:r>
              <a:rPr lang="en-GB" dirty="0"/>
              <a:t>is an iterative algorithm used to solve optimization problems. </a:t>
            </a:r>
          </a:p>
          <a:p>
            <a:r>
              <a:rPr lang="en-GB" dirty="0"/>
              <a:t>It starts with an initial non-optimal set of parameters for our model.</a:t>
            </a:r>
          </a:p>
          <a:p>
            <a:r>
              <a:rPr lang="en-GB" dirty="0"/>
              <a:t>It then repeatedly updates the parameters in the direction of the negative gradient of the given loss/cost function, until it converges to a local minimum.</a:t>
            </a:r>
          </a:p>
        </p:txBody>
      </p:sp>
      <p:pic>
        <p:nvPicPr>
          <p:cNvPr id="8" name="Picture 7" descr="Chart, surface chart&#10;&#10;Description automatically generated">
            <a:extLst>
              <a:ext uri="{FF2B5EF4-FFF2-40B4-BE49-F238E27FC236}">
                <a16:creationId xmlns:a16="http://schemas.microsoft.com/office/drawing/2014/main" id="{B29F6DF0-27F6-C63D-18AE-44293D1822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0" r="6859"/>
          <a:stretch/>
        </p:blipFill>
        <p:spPr>
          <a:xfrm>
            <a:off x="6497501" y="1825624"/>
            <a:ext cx="5694500" cy="3752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1C582-47CF-4AFA-EA8B-86B2941D6F9A}"/>
              </a:ext>
            </a:extLst>
          </p:cNvPr>
          <p:cNvSpPr txBox="1"/>
          <p:nvPr/>
        </p:nvSpPr>
        <p:spPr>
          <a:xfrm>
            <a:off x="6869723" y="5963138"/>
            <a:ext cx="4986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/>
              <a:t>Forgot about GD?</a:t>
            </a:r>
            <a:br>
              <a:rPr lang="en-GB" sz="2000" i="1" dirty="0"/>
            </a:br>
            <a:r>
              <a:rPr lang="en-GB" sz="2000" i="1" dirty="0"/>
              <a:t>Have a look at your notes from </a:t>
            </a:r>
            <a:r>
              <a:rPr lang="en-SG" sz="2000" i="1" dirty="0"/>
              <a:t>10.013 M&amp;A!</a:t>
            </a:r>
          </a:p>
        </p:txBody>
      </p:sp>
    </p:spTree>
    <p:extLst>
      <p:ext uri="{BB962C8B-B14F-4D97-AF65-F5344CB8AC3E}">
        <p14:creationId xmlns:p14="http://schemas.microsoft.com/office/powerpoint/2010/main" val="1833514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BE4C-272B-C03E-DD88-7571A261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Descent, to the rescue!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51212-91C2-7F91-BA3D-6836564C1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The normal equation has many problems…</a:t>
            </a:r>
          </a:p>
          <a:p>
            <a:r>
              <a:rPr lang="en-GB" dirty="0"/>
              <a:t>But GD, on the other hand can be used to find the optimal solution even when the normal equation is not applicable.</a:t>
            </a:r>
          </a:p>
          <a:p>
            <a:r>
              <a:rPr lang="en-GB" b="1" dirty="0"/>
              <a:t>While sub-optimal, the main advantage of gradient descent is that it can handle very large datasets and it can also be used for non-linear models.</a:t>
            </a:r>
            <a:endParaRPr lang="en-SG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D54EF7-1264-F3B3-C8EE-CAC4D50A8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9226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Gradient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Descent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Gradient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Descent</a:t>
            </a:r>
            <a:r>
              <a:rPr lang="en-GB" b="1" dirty="0"/>
              <a:t> (GD) </a:t>
            </a:r>
            <a:r>
              <a:rPr lang="en-GB" dirty="0"/>
              <a:t>is an iterative algorithm used to solve optimization problems. </a:t>
            </a:r>
          </a:p>
          <a:p>
            <a:r>
              <a:rPr lang="en-GB" dirty="0"/>
              <a:t>It starts with an initial non-optimal set of parameters for our model.</a:t>
            </a:r>
          </a:p>
          <a:p>
            <a:r>
              <a:rPr lang="en-GB" dirty="0"/>
              <a:t>It then repeatedly updates the parameters in the direction of the negative gradient of the given loss/cost function, until it converges to a local minimum.</a:t>
            </a:r>
          </a:p>
        </p:txBody>
      </p:sp>
    </p:spTree>
    <p:extLst>
      <p:ext uri="{BB962C8B-B14F-4D97-AF65-F5344CB8AC3E}">
        <p14:creationId xmlns:p14="http://schemas.microsoft.com/office/powerpoint/2010/main" val="2001651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30F0-6F18-243E-B9AE-1D22EC7C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A551-F210-F013-90A6-9BFF5556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Descent, to the rescue!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A3E7703-6029-1BF1-AAED-1744579D4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Gradient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Descent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50"/>
                    </a:solidFill>
                  </a:rPr>
                  <a:t>Gradient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Descent</a:t>
                </a:r>
                <a:r>
                  <a:rPr lang="en-GB" b="1" dirty="0"/>
                  <a:t> (GD) </a:t>
                </a:r>
                <a:r>
                  <a:rPr lang="en-GB" dirty="0"/>
                  <a:t>aims to solve an optimization problems such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does so by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Initializing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as some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, and a counter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as 0,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Calculating the derivative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and incrementing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by 1,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Repeating operations 2 and 3 until a maximum number of iterations is reached or the values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converge (and no longer change).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A3E7703-6029-1BF1-AAED-1744579D4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6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6344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0C19-90C2-8B32-3357-7B5D9902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GD in Linear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B45AA-E77B-DA7C-3867-37E7BBE08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5821" y="1825625"/>
                <a:ext cx="1128071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the case of Linear Regression, with the MSE loss defined earlier, we have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Technically, we have two decision variables (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) and we are using the loss function as our objective function to minimize, but it works the same!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B45AA-E77B-DA7C-3867-37E7BBE08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5821" y="1825625"/>
                <a:ext cx="11280710" cy="4351338"/>
              </a:xfrm>
              <a:blipFill>
                <a:blip r:embed="rId2"/>
                <a:stretch>
                  <a:fillRect l="-1080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604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0C19-90C2-8B32-3357-7B5D9902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GD in Linear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We can calculate (by hand) the derivatives, with respect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SG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− (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SG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7464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0C19-90C2-8B32-3357-7B5D9902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GD in Linear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gradient descent </a:t>
                </a:r>
                <a:r>
                  <a:rPr lang="en-GB" b="1" dirty="0"/>
                  <a:t>update</a:t>
                </a:r>
                <a:r>
                  <a:rPr lang="en-GB" dirty="0"/>
                  <a:t> </a:t>
                </a:r>
                <a:r>
                  <a:rPr lang="en-GB" b="1" dirty="0"/>
                  <a:t>rules</a:t>
                </a:r>
                <a:r>
                  <a:rPr lang="en-GB" dirty="0"/>
                  <a:t> are therefore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SG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SG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SG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SG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SG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SG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− (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SG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SG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We call parameter </a:t>
                </a:r>
                <a:r>
                  <a:rPr lang="en-GB" b="1" dirty="0"/>
                  <a:t>𝛼</a:t>
                </a:r>
                <a:r>
                  <a:rPr lang="en-GB" dirty="0"/>
                  <a:t> the </a:t>
                </a:r>
                <a:r>
                  <a:rPr lang="en-GB" b="1" dirty="0"/>
                  <a:t>learning</a:t>
                </a:r>
                <a:r>
                  <a:rPr lang="en-GB" dirty="0"/>
                  <a:t> </a:t>
                </a:r>
                <a:r>
                  <a:rPr lang="en-GB" b="1" dirty="0"/>
                  <a:t>rate</a:t>
                </a:r>
                <a:r>
                  <a:rPr lang="en-GB" dirty="0"/>
                  <a:t> for the gradient descent, and this parameter value will have to be decided manually, later. </a:t>
                </a: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381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0C19-90C2-8B32-3357-7B5D9902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GD in Linear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Gradient Descent Linear Regression procedure:</a:t>
                </a:r>
              </a:p>
              <a:p>
                <a:r>
                  <a:rPr lang="en-GB" dirty="0"/>
                  <a:t>We initialize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with some initial values (could be zero, random values, or something else).</a:t>
                </a:r>
              </a:p>
              <a:p>
                <a:r>
                  <a:rPr lang="en-GB" dirty="0"/>
                  <a:t>For a given number of iterations, we will apply the two update rules defined earlier.</a:t>
                </a:r>
              </a:p>
              <a:p>
                <a:r>
                  <a:rPr lang="en-GB" i="1" dirty="0"/>
                  <a:t>(Optionally, we might decide to stop iterating, if we realize that the values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i="1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i="1" dirty="0"/>
                  <a:t> are no longer changing.</a:t>
                </a:r>
                <a:br>
                  <a:rPr lang="en-GB" i="1" dirty="0"/>
                </a:br>
                <a:r>
                  <a:rPr lang="en-GB" i="1" dirty="0"/>
                  <a:t>This is called </a:t>
                </a:r>
                <a:r>
                  <a:rPr lang="en-GB" b="1" i="1" dirty="0">
                    <a:solidFill>
                      <a:srgbClr val="7030A0"/>
                    </a:solidFill>
                  </a:rPr>
                  <a:t>early</a:t>
                </a:r>
                <a:r>
                  <a:rPr lang="en-GB" i="1" dirty="0">
                    <a:solidFill>
                      <a:srgbClr val="7030A0"/>
                    </a:solidFill>
                  </a:rPr>
                  <a:t> </a:t>
                </a:r>
                <a:r>
                  <a:rPr lang="en-GB" b="1" i="1" dirty="0">
                    <a:solidFill>
                      <a:srgbClr val="7030A0"/>
                    </a:solidFill>
                  </a:rPr>
                  <a:t>stopping</a:t>
                </a:r>
                <a:r>
                  <a:rPr lang="en-GB" i="1" dirty="0"/>
                  <a:t>, and is typically implemented by tracking the changes on each iteration.</a:t>
                </a:r>
                <a:br>
                  <a:rPr lang="en-GB" i="1" dirty="0"/>
                </a:br>
                <a:r>
                  <a:rPr lang="en-GB" i="1" dirty="0"/>
                  <a:t>Typically, we could decide to break the GD loop if the changes on both parameters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i="1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i="1" dirty="0"/>
                  <a:t> are less than a given threshold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SG" i="1" dirty="0"/>
                  <a:t>.)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FC8E3E-422C-DDA8-8AEA-BAC629653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0065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20FAE-7F77-06D6-DA57-D58356E3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>
            <a:off x="2250831" y="367323"/>
            <a:ext cx="1547446" cy="3048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7338567" y="398744"/>
            <a:ext cx="323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Initialize a and b as you please.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93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5D0A4-7B2B-7BDF-1C8C-E9C72D6D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>
            <a:off x="2149230" y="797169"/>
            <a:ext cx="1312985" cy="3048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7261054" y="732637"/>
            <a:ext cx="323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Number of samples in dataset.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632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1FB64-478A-B843-25C5-E6EF705D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>
            <a:off x="2399322" y="1047262"/>
            <a:ext cx="4861170" cy="804983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7796086" y="988088"/>
            <a:ext cx="3235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Two possible stopping conditions, change &lt; delta</a:t>
            </a:r>
            <a:br>
              <a:rPr lang="en-GB" b="1" dirty="0">
                <a:solidFill>
                  <a:schemeClr val="accent2"/>
                </a:solidFill>
              </a:rPr>
            </a:br>
            <a:r>
              <a:rPr lang="en-GB" b="1" dirty="0">
                <a:solidFill>
                  <a:schemeClr val="accent2"/>
                </a:solidFill>
              </a:rPr>
              <a:t>or counter &gt; </a:t>
            </a:r>
            <a:r>
              <a:rPr lang="en-GB" b="1" dirty="0" err="1">
                <a:solidFill>
                  <a:schemeClr val="accent2"/>
                </a:solidFill>
              </a:rPr>
              <a:t>max_count</a:t>
            </a:r>
            <a:r>
              <a:rPr lang="en-GB" b="1" dirty="0">
                <a:solidFill>
                  <a:schemeClr val="accent2"/>
                </a:solidFill>
              </a:rPr>
              <a:t>.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618B4C-3D7E-4A8D-719B-D6141BD09102}"/>
              </a:ext>
            </a:extLst>
          </p:cNvPr>
          <p:cNvSpPr/>
          <p:nvPr/>
        </p:nvSpPr>
        <p:spPr>
          <a:xfrm flipV="1">
            <a:off x="2368059" y="2053490"/>
            <a:ext cx="1820985" cy="20319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658F2-791D-2112-EEDF-CC260FD808E1}"/>
              </a:ext>
            </a:extLst>
          </p:cNvPr>
          <p:cNvSpPr/>
          <p:nvPr/>
        </p:nvSpPr>
        <p:spPr>
          <a:xfrm flipV="1">
            <a:off x="2684585" y="5810738"/>
            <a:ext cx="4427415" cy="707284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40935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30C31-913D-2FF6-4924-40A881C2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 flipV="1">
            <a:off x="2446214" y="2644717"/>
            <a:ext cx="6033477" cy="859693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8644295" y="2612898"/>
            <a:ext cx="3235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Update using our</a:t>
            </a:r>
            <a:br>
              <a:rPr lang="en-GB" b="1" dirty="0">
                <a:solidFill>
                  <a:schemeClr val="accent2"/>
                </a:solidFill>
              </a:rPr>
            </a:br>
            <a:r>
              <a:rPr lang="en-GB" b="1" dirty="0">
                <a:solidFill>
                  <a:schemeClr val="accent2"/>
                </a:solidFill>
              </a:rPr>
              <a:t>GD update rules</a:t>
            </a:r>
            <a:br>
              <a:rPr lang="en-GB" b="1" dirty="0">
                <a:solidFill>
                  <a:schemeClr val="accent2"/>
                </a:solidFill>
              </a:rPr>
            </a:br>
            <a:r>
              <a:rPr lang="en-GB" b="1" dirty="0">
                <a:solidFill>
                  <a:schemeClr val="accent2"/>
                </a:solidFill>
              </a:rPr>
              <a:t>from earlier.</a:t>
            </a:r>
          </a:p>
        </p:txBody>
      </p:sp>
    </p:spTree>
    <p:extLst>
      <p:ext uri="{BB962C8B-B14F-4D97-AF65-F5344CB8AC3E}">
        <p14:creationId xmlns:p14="http://schemas.microsoft.com/office/powerpoint/2010/main" val="9379519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BA1E7-3E6C-C13C-DBE5-C0C42E206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>
            <a:off x="2688493" y="3821722"/>
            <a:ext cx="3806092" cy="60960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6877819" y="3664858"/>
            <a:ext cx="3235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Compute change on this iteration (to decide on early stopping if changes become insignificant).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849C4-285E-89EE-A929-63AE33687D78}"/>
              </a:ext>
            </a:extLst>
          </p:cNvPr>
          <p:cNvSpPr/>
          <p:nvPr/>
        </p:nvSpPr>
        <p:spPr>
          <a:xfrm flipV="1">
            <a:off x="2840893" y="2086708"/>
            <a:ext cx="1363784" cy="21101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04594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87A591-A392-428A-EF60-F38DBB3A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 flipV="1">
            <a:off x="2586894" y="4360983"/>
            <a:ext cx="2962030" cy="66430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7261054" y="3429000"/>
            <a:ext cx="32355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Calculate new MSE value using the new parameters of a and b. We also keep track of these loss values by adding them to a list, used for display later.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478039-E7A1-F51E-4DBC-D6C35F4BE739}"/>
              </a:ext>
            </a:extLst>
          </p:cNvPr>
          <p:cNvSpPr/>
          <p:nvPr/>
        </p:nvSpPr>
        <p:spPr>
          <a:xfrm flipV="1">
            <a:off x="2328984" y="1707659"/>
            <a:ext cx="3899877" cy="37904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27475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1AA8D-B839-C230-E56E-4F4F58E88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377" y="0"/>
            <a:ext cx="8801246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7C0750-C98E-E090-7550-A0818F035E30}"/>
              </a:ext>
            </a:extLst>
          </p:cNvPr>
          <p:cNvSpPr/>
          <p:nvPr/>
        </p:nvSpPr>
        <p:spPr>
          <a:xfrm>
            <a:off x="2274278" y="6462149"/>
            <a:ext cx="1867876" cy="25790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B1AF6-3090-2218-738E-B02F4E0E9B29}"/>
              </a:ext>
            </a:extLst>
          </p:cNvPr>
          <p:cNvSpPr txBox="1"/>
          <p:nvPr/>
        </p:nvSpPr>
        <p:spPr>
          <a:xfrm>
            <a:off x="7000749" y="6073726"/>
            <a:ext cx="3626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Return trained parameters and</a:t>
            </a:r>
            <a:br>
              <a:rPr lang="en-GB" b="1" dirty="0">
                <a:solidFill>
                  <a:schemeClr val="accent2"/>
                </a:solidFill>
              </a:rPr>
            </a:br>
            <a:r>
              <a:rPr lang="en-GB" b="1" dirty="0">
                <a:solidFill>
                  <a:schemeClr val="accent2"/>
                </a:solidFill>
              </a:rPr>
              <a:t>loss values list on each iteration.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1955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87949-550A-D0E5-CC85-0CF24E3FC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47" y="695070"/>
            <a:ext cx="11616617" cy="43849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DE5AE8-418A-50BC-4BF6-18437350E28D}"/>
              </a:ext>
            </a:extLst>
          </p:cNvPr>
          <p:cNvSpPr txBox="1"/>
          <p:nvPr/>
        </p:nvSpPr>
        <p:spPr>
          <a:xfrm>
            <a:off x="1197108" y="5252632"/>
            <a:ext cx="10568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Observation: Loss is decreasing over iterations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(which is good news for us!)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85755-D5AE-C8A3-030A-32424C289BD9}"/>
              </a:ext>
            </a:extLst>
          </p:cNvPr>
          <p:cNvSpPr/>
          <p:nvPr/>
        </p:nvSpPr>
        <p:spPr>
          <a:xfrm>
            <a:off x="587829" y="1996751"/>
            <a:ext cx="1520889" cy="24259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73C20-8F6B-B7E5-E527-9EDD6EA3C14C}"/>
              </a:ext>
            </a:extLst>
          </p:cNvPr>
          <p:cNvSpPr/>
          <p:nvPr/>
        </p:nvSpPr>
        <p:spPr>
          <a:xfrm>
            <a:off x="587829" y="2970244"/>
            <a:ext cx="1520889" cy="24259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A0751-6A00-4616-0253-D2AD9DAB9A7B}"/>
              </a:ext>
            </a:extLst>
          </p:cNvPr>
          <p:cNvSpPr/>
          <p:nvPr/>
        </p:nvSpPr>
        <p:spPr>
          <a:xfrm>
            <a:off x="587829" y="3943737"/>
            <a:ext cx="1520889" cy="24259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25401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4C8B15-6006-5D3F-3D0C-729B3BF4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675891"/>
            <a:ext cx="9535856" cy="5506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5AF7FF-0393-1164-480E-3E5CAD9A4570}"/>
              </a:ext>
            </a:extLst>
          </p:cNvPr>
          <p:cNvSpPr txBox="1"/>
          <p:nvPr/>
        </p:nvSpPr>
        <p:spPr>
          <a:xfrm>
            <a:off x="3255862" y="2617386"/>
            <a:ext cx="58661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Observation: Confirmed with a plot.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Loss is decreasing over iterations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(which is good news for us!)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Even seems to converge to a minimum value, corresponding to the optimal set of trainable parameters?</a:t>
            </a:r>
            <a:endParaRPr lang="en-SG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1215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D68B-35F6-3B34-9E39-F210E35E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for optimal parameters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F22B87-451A-08A2-1021-B8B6CA607D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We have generated the dataset ourselves, so we know the optimal values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! (And we can even compute using the normal equation anyway…)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F22B87-451A-08A2-1021-B8B6CA607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3D94AE-5CF8-6DD6-C282-1C1A5565E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4" y="3086527"/>
            <a:ext cx="11114664" cy="355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882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F8E28-4BC0-251C-8E14-8508C555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55" y="0"/>
            <a:ext cx="1032129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A03694-FC87-4F8C-E035-C3C81CBCE66C}"/>
              </a:ext>
            </a:extLst>
          </p:cNvPr>
          <p:cNvSpPr txBox="1"/>
          <p:nvPr/>
        </p:nvSpPr>
        <p:spPr>
          <a:xfrm>
            <a:off x="2096699" y="442402"/>
            <a:ext cx="58661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2"/>
                </a:solidFill>
              </a:rPr>
              <a:t>Observation: Close match,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good enough for us.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(Maybe could get better results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with more iterations of GD?)</a:t>
            </a:r>
            <a:endParaRPr lang="en-SG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958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5830-53E6-084F-C939-FF283C0C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 err="1"/>
              <a:t>Sklearn</a:t>
            </a:r>
            <a:r>
              <a:rPr lang="en-GB" dirty="0"/>
              <a:t> for Linear regression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59CD9-14A1-20FA-6AC6-9BDA7E16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practice, we never implement the linear regression model ourselves (but like many other things in CS, it is a good practice to try </a:t>
            </a:r>
            <a:r>
              <a:rPr lang="en-GB"/>
              <a:t>it once</a:t>
            </a:r>
            <a:r>
              <a:rPr lang="en-GB" dirty="0"/>
              <a:t>!)</a:t>
            </a:r>
          </a:p>
          <a:p>
            <a:r>
              <a:rPr lang="en-SG" dirty="0"/>
              <a:t>It is often better/faster to rely on the </a:t>
            </a:r>
            <a:r>
              <a:rPr lang="en-SG" b="1" dirty="0" err="1"/>
              <a:t>sklearn</a:t>
            </a:r>
            <a:r>
              <a:rPr lang="en-SG" dirty="0"/>
              <a:t> library and use the </a:t>
            </a:r>
            <a:r>
              <a:rPr lang="en-SG" b="1" dirty="0" err="1"/>
              <a:t>LinearRegression</a:t>
            </a:r>
            <a:r>
              <a:rPr lang="en-SG" dirty="0"/>
              <a:t> object!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126B1-C5BF-DC38-9BBC-1FE0F11C3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13" y="3643336"/>
            <a:ext cx="8220355" cy="32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332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5830-53E6-084F-C939-FF283C0C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 using </a:t>
            </a:r>
            <a:r>
              <a:rPr lang="en-GB" dirty="0" err="1"/>
              <a:t>Sklearn</a:t>
            </a:r>
            <a:r>
              <a:rPr lang="en-GB" dirty="0"/>
              <a:t> Linear regression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59CD9-14A1-20FA-6AC6-9BDA7E16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After training, it is also good practice to check if the predictor makes sense, by </a:t>
            </a:r>
            <a:r>
              <a:rPr lang="en-GB" b="1" dirty="0"/>
              <a:t>testing</a:t>
            </a:r>
            <a:r>
              <a:rPr lang="en-GB" dirty="0"/>
              <a:t> it and asking it to predict the price of an apartment it has never seen before.</a:t>
            </a:r>
          </a:p>
          <a:p>
            <a:r>
              <a:rPr lang="en-GB" dirty="0"/>
              <a:t>Confirm the pertinence </a:t>
            </a:r>
            <a:r>
              <a:rPr lang="en-GB"/>
              <a:t>of predicted </a:t>
            </a:r>
            <a:r>
              <a:rPr lang="en-GB" dirty="0"/>
              <a:t>values manually, if possible.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25D5F-2F06-C1E2-91F0-1B6EE4E34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375" y="3585149"/>
            <a:ext cx="8246052" cy="327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BB267-24B9-144C-E4DE-C6D6CD35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call it a break for now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4BD3C-A362-227F-DB67-10CF1E267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continue on the next lecture with </a:t>
            </a:r>
            <a:r>
              <a:rPr lang="en-GB"/>
              <a:t>more ML reminders.</a:t>
            </a:r>
            <a:br>
              <a:rPr lang="en-GB" dirty="0"/>
            </a:br>
            <a:r>
              <a:rPr lang="en-GB" i="1" dirty="0"/>
              <a:t>(Bonus slides after this)</a:t>
            </a:r>
          </a:p>
        </p:txBody>
      </p:sp>
    </p:spTree>
    <p:extLst>
      <p:ext uri="{BB962C8B-B14F-4D97-AF65-F5344CB8AC3E}">
        <p14:creationId xmlns:p14="http://schemas.microsoft.com/office/powerpoint/2010/main" val="42728362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E22-87CF-02A5-3F5F-93789E5D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</a:t>
            </a:r>
            <a:r>
              <a:rPr lang="en-GB" dirty="0" err="1"/>
              <a:t>PyTorch</a:t>
            </a:r>
            <a:r>
              <a:rPr lang="en-GB" dirty="0"/>
              <a:t> and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9174-3E5F-1239-C016-DEB828F2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Check if your GPU is in the list of acceptable GPUs.</a:t>
            </a:r>
            <a:br>
              <a:rPr lang="en-GB" dirty="0"/>
            </a:br>
            <a:r>
              <a:rPr lang="en-GB" dirty="0">
                <a:hlinkClick r:id="rId2"/>
              </a:rPr>
              <a:t>https://developer.nvidia.com/cuda-gpus</a:t>
            </a:r>
            <a:endParaRPr lang="en-GB" dirty="0"/>
          </a:p>
          <a:p>
            <a:r>
              <a:rPr lang="en-GB" dirty="0"/>
              <a:t>If so, install CUDA (check that you CUDA version number matches the one of your </a:t>
            </a:r>
            <a:r>
              <a:rPr lang="en-GB" dirty="0" err="1"/>
              <a:t>PyTorch</a:t>
            </a:r>
            <a:r>
              <a:rPr lang="en-GB" dirty="0"/>
              <a:t> install!)</a:t>
            </a:r>
            <a:br>
              <a:rPr lang="en-GB" dirty="0"/>
            </a:br>
            <a:r>
              <a:rPr lang="en-GB" dirty="0">
                <a:hlinkClick r:id="rId3"/>
              </a:rPr>
              <a:t>https://developer.nvidia.com/cuda-downloads</a:t>
            </a:r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56A8F-215B-9954-5832-294D7883BB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537"/>
          <a:stretch/>
        </p:blipFill>
        <p:spPr>
          <a:xfrm>
            <a:off x="1309396" y="4070932"/>
            <a:ext cx="9573208" cy="27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077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E22-87CF-02A5-3F5F-93789E5D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</a:t>
            </a:r>
            <a:r>
              <a:rPr lang="en-GB" dirty="0" err="1"/>
              <a:t>PyTorch</a:t>
            </a:r>
            <a:r>
              <a:rPr lang="en-GB" dirty="0"/>
              <a:t> and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9174-3E5F-1239-C016-DEB828F2B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370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How to use CUDA with MacOS?</a:t>
            </a:r>
          </a:p>
          <a:p>
            <a:pPr marL="0" indent="0">
              <a:buNone/>
            </a:pPr>
            <a:r>
              <a:rPr lang="en-GB" dirty="0"/>
              <a:t>Efforts are being made to make GPU computing compatible with AMD and MacOS GPUs, but not the best (</a:t>
            </a:r>
            <a:r>
              <a:rPr lang="en-GB" dirty="0" err="1"/>
              <a:t>afaik</a:t>
            </a:r>
            <a:r>
              <a:rPr lang="en-GB" dirty="0"/>
              <a:t>).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56A8F-215B-9954-5832-294D7883BB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9" t="28537" r="37508"/>
          <a:stretch/>
        </p:blipFill>
        <p:spPr>
          <a:xfrm>
            <a:off x="643631" y="3727675"/>
            <a:ext cx="6337040" cy="3120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FAC5A7-ECE5-243C-8714-41366B83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808" y="486282"/>
            <a:ext cx="4628890" cy="619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112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D325-7DF3-3B98-1AA4-FEBDE0B5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Installing </a:t>
            </a:r>
            <a:r>
              <a:rPr lang="en-GB" dirty="0" err="1"/>
              <a:t>PyTorch</a:t>
            </a:r>
            <a:r>
              <a:rPr lang="en-GB" dirty="0"/>
              <a:t> and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90C1D-8429-A9F5-70ED-9C87266E1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Your GPU not in the list of CUDA-enabled GPUs?</a:t>
            </a:r>
          </a:p>
          <a:p>
            <a:pPr marL="0" indent="0">
              <a:buNone/>
            </a:pPr>
            <a:r>
              <a:rPr lang="en-GB" dirty="0"/>
              <a:t>You bought a MacOS laptop?</a:t>
            </a:r>
          </a:p>
          <a:p>
            <a:endParaRPr lang="en-GB" b="1" dirty="0"/>
          </a:p>
          <a:p>
            <a:r>
              <a:rPr lang="en-GB" b="1" dirty="0"/>
              <a:t>Most notebooks can still run on CPU (but they might take significantly longer to run).</a:t>
            </a:r>
            <a:endParaRPr lang="en-GB" dirty="0"/>
          </a:p>
          <a:p>
            <a:r>
              <a:rPr lang="en-GB" dirty="0"/>
              <a:t>Also, always the option of using </a:t>
            </a:r>
            <a:r>
              <a:rPr lang="en-GB" b="1" dirty="0"/>
              <a:t>Google </a:t>
            </a:r>
            <a:r>
              <a:rPr lang="en-GB" b="1" dirty="0" err="1"/>
              <a:t>Colab</a:t>
            </a:r>
            <a:r>
              <a:rPr lang="en-GB" dirty="0"/>
              <a:t>, or create an education account on AWS.</a:t>
            </a:r>
          </a:p>
          <a:p>
            <a:endParaRPr lang="en-SG" dirty="0"/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AA52A89A-5796-289C-7EC1-5AEEB444F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651" y="3610892"/>
            <a:ext cx="4655781" cy="1991640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D647818-47CA-E035-9783-1CE629E2B2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27" b="25839"/>
          <a:stretch/>
        </p:blipFill>
        <p:spPr>
          <a:xfrm>
            <a:off x="7256941" y="5602532"/>
            <a:ext cx="4705228" cy="1148862"/>
          </a:xfrm>
          <a:prstGeom prst="rect">
            <a:avLst/>
          </a:prstGeom>
        </p:spPr>
      </p:pic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F8D0A878-7AD3-C72A-C57F-77A0A74A3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925" y="1733466"/>
            <a:ext cx="5754075" cy="17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00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E2B8-16B2-DFEB-21E8-D5EA9B09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your </a:t>
            </a:r>
            <a:r>
              <a:rPr lang="en-GB" dirty="0" err="1"/>
              <a:t>PyTorch</a:t>
            </a:r>
            <a:r>
              <a:rPr lang="en-GB" dirty="0"/>
              <a:t> and CUDA install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1D2C-4BE4-C6CD-31D7-3F2E182779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/>
              <a:t>Hello World for </a:t>
            </a:r>
            <a:r>
              <a:rPr lang="en-GB" b="1" dirty="0" err="1"/>
              <a:t>PyTorch</a:t>
            </a:r>
            <a:r>
              <a:rPr lang="en-GB" b="1" dirty="0"/>
              <a:t>: </a:t>
            </a:r>
            <a:r>
              <a:rPr lang="en-GB" dirty="0"/>
              <a:t>to check you have </a:t>
            </a:r>
            <a:r>
              <a:rPr lang="en-GB" dirty="0" err="1"/>
              <a:t>PyTorch</a:t>
            </a:r>
            <a:r>
              <a:rPr lang="en-GB" dirty="0"/>
              <a:t> installed correctly. The code below should run and display a tensor.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29EA2-9996-8782-66AE-561B2D472B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Hello World for CUDA: </a:t>
            </a:r>
            <a:r>
              <a:rPr lang="en-GB" dirty="0"/>
              <a:t>to check you have correctly installed CUDA on top of </a:t>
            </a:r>
            <a:r>
              <a:rPr lang="en-GB" dirty="0" err="1"/>
              <a:t>PyTorch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 code below should print </a:t>
            </a:r>
            <a:r>
              <a:rPr lang="en-GB" i="1" dirty="0"/>
              <a:t>True</a:t>
            </a:r>
            <a:r>
              <a:rPr lang="en-GB" dirty="0"/>
              <a:t>, as the output of</a:t>
            </a:r>
            <a:br>
              <a:rPr lang="en-GB" dirty="0"/>
            </a:br>
            <a:r>
              <a:rPr lang="en-GB" i="1" dirty="0" err="1"/>
              <a:t>torch.cuda.is_available</a:t>
            </a:r>
            <a:r>
              <a:rPr lang="en-GB" i="1" dirty="0"/>
              <a:t>()</a:t>
            </a:r>
            <a:endParaRPr lang="en-SG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2BB61-5547-E779-25BC-07029F686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06"/>
          <a:stretch/>
        </p:blipFill>
        <p:spPr>
          <a:xfrm>
            <a:off x="1130375" y="4656724"/>
            <a:ext cx="4928802" cy="20376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21B2A-5B1A-3237-C1A9-541D91EEB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474772"/>
            <a:ext cx="4792785" cy="1947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4A9CDE-B0B1-2295-86F9-490D9AEF34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49" r="74778" b="21063"/>
          <a:stretch/>
        </p:blipFill>
        <p:spPr>
          <a:xfrm>
            <a:off x="1099113" y="3774833"/>
            <a:ext cx="3660456" cy="116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508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6AE3-0783-2504-FB20-97620F12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</a:t>
            </a:r>
            <a:r>
              <a:rPr lang="en-GB" dirty="0" err="1"/>
              <a:t>PyTorch</a:t>
            </a:r>
            <a:r>
              <a:rPr lang="en-GB" dirty="0"/>
              <a:t> 2.0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78C0-BD3C-5BF0-1339-4AFB8229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PyTorch</a:t>
            </a:r>
            <a:r>
              <a:rPr lang="en-GB" b="1" dirty="0"/>
              <a:t> v2.0 </a:t>
            </a:r>
            <a:r>
              <a:rPr lang="en-GB" dirty="0"/>
              <a:t>is the current (latest version released in March 2023).</a:t>
            </a:r>
          </a:p>
          <a:p>
            <a:r>
              <a:rPr lang="en-GB" dirty="0"/>
              <a:t>Should be fully retro-compatible.</a:t>
            </a:r>
          </a:p>
          <a:p>
            <a:r>
              <a:rPr lang="en-SG" dirty="0"/>
              <a:t>Revising and testing notebooks (they were designed last year and tested on v1.13).</a:t>
            </a:r>
          </a:p>
          <a:p>
            <a:r>
              <a:rPr lang="en-SG" dirty="0"/>
              <a:t>Kindly let me know if you have any issues!</a:t>
            </a:r>
          </a:p>
          <a:p>
            <a:r>
              <a:rPr lang="en-SG" dirty="0"/>
              <a:t>Will let you know about new v2.0 features on W13.</a:t>
            </a: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9BAEAF4E-92E3-AB67-5518-51DFC5B50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177923"/>
            <a:ext cx="5947516" cy="311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806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vs Unsupervised Learning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0929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Supervised vs.</a:t>
            </a:r>
            <a:br>
              <a:rPr lang="en-GB" b="1" dirty="0">
                <a:solidFill>
                  <a:srgbClr val="00B050"/>
                </a:solidFill>
              </a:rPr>
            </a:br>
            <a:r>
              <a:rPr lang="en-GB" b="1" dirty="0">
                <a:solidFill>
                  <a:srgbClr val="00B050"/>
                </a:solidFill>
              </a:rPr>
              <a:t>Unsupervised Learning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Supervised</a:t>
            </a:r>
            <a:r>
              <a:rPr lang="en-GB" dirty="0"/>
              <a:t> and </a:t>
            </a:r>
            <a:r>
              <a:rPr lang="en-GB" b="1" dirty="0">
                <a:solidFill>
                  <a:srgbClr val="00B050"/>
                </a:solidFill>
              </a:rPr>
              <a:t>Unsupervised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Learning</a:t>
            </a:r>
            <a:r>
              <a:rPr lang="en-GB" dirty="0"/>
              <a:t> are the two techniques of ML. </a:t>
            </a:r>
          </a:p>
          <a:p>
            <a:pPr marL="0" indent="0">
              <a:buNone/>
            </a:pPr>
            <a:r>
              <a:rPr lang="en-GB" dirty="0"/>
              <a:t>The main difference is </a:t>
            </a:r>
            <a:r>
              <a:rPr lang="en-GB" b="1" dirty="0"/>
              <a:t>the need for labelled training data</a:t>
            </a:r>
            <a:r>
              <a:rPr lang="en-GB" dirty="0"/>
              <a:t>:</a:t>
            </a:r>
          </a:p>
          <a:p>
            <a:r>
              <a:rPr lang="en-GB" dirty="0"/>
              <a:t>Supervised machine learning relies on labelled input and output data to learn and make predictions,</a:t>
            </a:r>
          </a:p>
          <a:p>
            <a:r>
              <a:rPr lang="en-GB" dirty="0"/>
              <a:t>while </a:t>
            </a:r>
            <a:r>
              <a:rPr lang="en-GB" b="1" dirty="0"/>
              <a:t>unsupervised learning does not require labelled data. </a:t>
            </a:r>
            <a:endParaRPr lang="en-SG" b="1" dirty="0"/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D66BDE37-8D5D-471C-64FD-C3EF691B4C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"/>
          <a:stretch/>
        </p:blipFill>
        <p:spPr>
          <a:xfrm>
            <a:off x="7053416" y="1690688"/>
            <a:ext cx="5045354" cy="491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864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Unsupervised Learning Examples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Examples of </a:t>
            </a:r>
            <a:r>
              <a:rPr lang="en-GB" b="1" dirty="0"/>
              <a:t>unsupervised</a:t>
            </a:r>
            <a:r>
              <a:rPr lang="en-GB" dirty="0"/>
              <a:t> </a:t>
            </a:r>
            <a:r>
              <a:rPr lang="en-GB" b="1" dirty="0"/>
              <a:t>learning:</a:t>
            </a:r>
            <a:r>
              <a:rPr lang="en-GB" dirty="0"/>
              <a:t> clustering customers based on their behaviours, segmenting images, and identifying topics in a document.</a:t>
            </a: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36ED8BF8-2120-C8FD-DCA2-31062413F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36" y="1753394"/>
            <a:ext cx="5839904" cy="44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063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06AE-BE85-D05A-4ACC-C983275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Unsupervised Learning Examples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96BC-BC79-7B38-76F4-69E530908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Examples of </a:t>
            </a:r>
            <a:r>
              <a:rPr lang="en-GB" b="1" dirty="0"/>
              <a:t>unsupervised</a:t>
            </a:r>
            <a:r>
              <a:rPr lang="en-GB" dirty="0"/>
              <a:t> </a:t>
            </a:r>
            <a:r>
              <a:rPr lang="en-GB" b="1" dirty="0"/>
              <a:t>learning:</a:t>
            </a:r>
            <a:r>
              <a:rPr lang="en-GB" dirty="0"/>
              <a:t> clustering customers based on their behaviours, segmenting images, and identifying topics in a document.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E8A90A9-AFCF-6C73-BD37-65240509B6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3" t="7023" r="19920" b="5416"/>
          <a:stretch/>
        </p:blipFill>
        <p:spPr>
          <a:xfrm>
            <a:off x="5437809" y="4077469"/>
            <a:ext cx="3057526" cy="2335214"/>
          </a:xfrm>
          <a:prstGeom prst="rect">
            <a:avLst/>
          </a:prstGeom>
        </p:spPr>
      </p:pic>
      <p:pic>
        <p:nvPicPr>
          <p:cNvPr id="7" name="Picture 6" descr="A picture containing text, newspaper&#10;&#10;Description automatically generated">
            <a:extLst>
              <a:ext uri="{FF2B5EF4-FFF2-40B4-BE49-F238E27FC236}">
                <a16:creationId xmlns:a16="http://schemas.microsoft.com/office/drawing/2014/main" id="{9C512BD1-1222-4557-ABF7-4AED91C9B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62" y="173545"/>
            <a:ext cx="3514755" cy="6003417"/>
          </a:xfrm>
          <a:prstGeom prst="rect">
            <a:avLst/>
          </a:prstGeom>
        </p:spPr>
      </p:pic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A04F8E1D-C152-D778-773B-72597F78A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77469"/>
            <a:ext cx="3444554" cy="26517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D5E5241-D153-27CD-95A4-1B2841EB70CE}"/>
              </a:ext>
            </a:extLst>
          </p:cNvPr>
          <p:cNvSpPr/>
          <p:nvPr/>
        </p:nvSpPr>
        <p:spPr>
          <a:xfrm>
            <a:off x="6619935" y="1527048"/>
            <a:ext cx="1527048" cy="2120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Identify topics that seem to appear in those papers and their prominence</a:t>
            </a:r>
            <a:br>
              <a:rPr lang="en-GB" dirty="0"/>
            </a:br>
            <a:endParaRPr lang="en-SG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F5E578C5-72DB-3A99-6C10-BDB3B95E79B1}"/>
              </a:ext>
            </a:extLst>
          </p:cNvPr>
          <p:cNvSpPr/>
          <p:nvPr/>
        </p:nvSpPr>
        <p:spPr>
          <a:xfrm rot="5400000">
            <a:off x="7930023" y="2296052"/>
            <a:ext cx="832104" cy="60829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AF70780-ED8F-B90F-D542-2F5BD4BE423B}"/>
              </a:ext>
            </a:extLst>
          </p:cNvPr>
          <p:cNvSpPr/>
          <p:nvPr/>
        </p:nvSpPr>
        <p:spPr>
          <a:xfrm>
            <a:off x="6979967" y="3506504"/>
            <a:ext cx="832104" cy="60829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2012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ED6E-FA87-673E-629C-5D5FF1BB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Clustering vs. Association (Unsupervised)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0BA0-757A-9C9A-35E1-6BE3FEE6E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Clustering vs. Association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Unsupervised learning can be used for two types of problems: </a:t>
            </a:r>
            <a:r>
              <a:rPr lang="en-GB" b="1" dirty="0">
                <a:solidFill>
                  <a:srgbClr val="00B050"/>
                </a:solidFill>
              </a:rPr>
              <a:t>Clustering</a:t>
            </a:r>
            <a:r>
              <a:rPr lang="en-GB" dirty="0"/>
              <a:t> and </a:t>
            </a:r>
            <a:r>
              <a:rPr lang="en-GB" b="1" dirty="0">
                <a:solidFill>
                  <a:srgbClr val="00B050"/>
                </a:solidFill>
              </a:rPr>
              <a:t>Association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The main difference is that</a:t>
            </a:r>
          </a:p>
          <a:p>
            <a:r>
              <a:rPr lang="en-GB" b="1" dirty="0">
                <a:solidFill>
                  <a:srgbClr val="00B050"/>
                </a:solidFill>
              </a:rPr>
              <a:t>clustering</a:t>
            </a:r>
            <a:r>
              <a:rPr lang="en-GB" dirty="0"/>
              <a:t> </a:t>
            </a:r>
            <a:r>
              <a:rPr lang="en-GB" b="1" dirty="0"/>
              <a:t>groups data based on similarity</a:t>
            </a:r>
            <a:r>
              <a:rPr lang="en-GB" dirty="0"/>
              <a:t>,</a:t>
            </a:r>
          </a:p>
          <a:p>
            <a:r>
              <a:rPr lang="en-GB" dirty="0"/>
              <a:t>while </a:t>
            </a:r>
            <a:r>
              <a:rPr lang="en-GB" b="1" dirty="0">
                <a:solidFill>
                  <a:srgbClr val="00B050"/>
                </a:solidFill>
              </a:rPr>
              <a:t>association</a:t>
            </a:r>
            <a:r>
              <a:rPr lang="en-GB" dirty="0"/>
              <a:t> </a:t>
            </a:r>
            <a:r>
              <a:rPr lang="en-GB" b="1" dirty="0"/>
              <a:t>looks for relationships between variables</a:t>
            </a:r>
            <a:r>
              <a:rPr lang="en-GB" dirty="0"/>
              <a:t>.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28644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ED6E-FA87-673E-629C-5D5FF1BB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Clustering vs. Association (Unsupervised)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0BA0-757A-9C9A-35E1-6BE3FEE6E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Examples of clustering:</a:t>
            </a:r>
          </a:p>
          <a:p>
            <a:r>
              <a:rPr lang="en-GB" dirty="0"/>
              <a:t>Group customers into clusters based on the similarities in their purchasing behaviours, such as their spending habits or types of products they like.</a:t>
            </a:r>
          </a:p>
          <a:p>
            <a:r>
              <a:rPr lang="en-GB" dirty="0"/>
              <a:t>Group the catalogue of movies available on Netflix and identify what movies have in common, so you can later recommend a movie to a user based on what he/she has seen before.</a:t>
            </a:r>
          </a:p>
          <a:p>
            <a:endParaRPr lang="en-GB" dirty="0"/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A27CB252-4B4C-E1ED-CAAD-2AAA60520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36" y="1753394"/>
            <a:ext cx="5839904" cy="44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81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ED6E-FA87-673E-629C-5D5FF1BB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Clustering vs. Association (Unsupervised)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0BA0-757A-9C9A-35E1-6BE3FEE6E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Example of association:</a:t>
            </a:r>
          </a:p>
          <a:p>
            <a:r>
              <a:rPr lang="en-GB" dirty="0"/>
              <a:t>Finding the relationship between customer buying </a:t>
            </a:r>
            <a:r>
              <a:rPr lang="en-GB" dirty="0" err="1"/>
              <a:t>behaviors</a:t>
            </a:r>
            <a:r>
              <a:rPr lang="en-GB" dirty="0"/>
              <a:t> and customer satisfaction.</a:t>
            </a:r>
          </a:p>
          <a:p>
            <a:r>
              <a:rPr lang="en-GB" dirty="0"/>
              <a:t>Association can be used to understand how changes in customer </a:t>
            </a:r>
            <a:r>
              <a:rPr lang="en-GB" dirty="0" err="1"/>
              <a:t>behavior</a:t>
            </a:r>
            <a:r>
              <a:rPr lang="en-GB" dirty="0"/>
              <a:t> impacts customer satisfaction, such as if buying a certain product increases customer satisfaction (or the opposite).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20192A8-D31B-53AD-5AA9-B1D20E18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932" y="1443069"/>
            <a:ext cx="5396334" cy="3048776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5AA3675-E5D5-1061-E2F6-C7DA83FAE6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74" b="29932"/>
          <a:stretch/>
        </p:blipFill>
        <p:spPr>
          <a:xfrm>
            <a:off x="8283247" y="5541796"/>
            <a:ext cx="2085013" cy="785610"/>
          </a:xfrm>
          <a:prstGeom prst="rect">
            <a:avLst/>
          </a:prstGeom>
        </p:spPr>
      </p:pic>
      <p:pic>
        <p:nvPicPr>
          <p:cNvPr id="11" name="Picture 10" descr="A double cheeseburger with lettuce and tomato&#10;&#10;Description automatically generated with medium confidence">
            <a:extLst>
              <a:ext uri="{FF2B5EF4-FFF2-40B4-BE49-F238E27FC236}">
                <a16:creationId xmlns:a16="http://schemas.microsoft.com/office/drawing/2014/main" id="{911E3C98-D937-B0D5-B0AC-C5DC281B04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5" t="12551" r="18921" b="1925"/>
          <a:stretch/>
        </p:blipFill>
        <p:spPr>
          <a:xfrm>
            <a:off x="10659846" y="5157474"/>
            <a:ext cx="1532154" cy="1355975"/>
          </a:xfrm>
          <a:prstGeom prst="rect">
            <a:avLst/>
          </a:prstGeom>
        </p:spPr>
      </p:pic>
      <p:pic>
        <p:nvPicPr>
          <p:cNvPr id="13" name="Picture 12" descr="A hamburger with lettuce and tomato&#10;&#10;Description automatically generated with medium confidence">
            <a:extLst>
              <a:ext uri="{FF2B5EF4-FFF2-40B4-BE49-F238E27FC236}">
                <a16:creationId xmlns:a16="http://schemas.microsoft.com/office/drawing/2014/main" id="{021D15F4-D0D8-C6B1-CE52-B783E8C210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30"/>
          <a:stretch/>
        </p:blipFill>
        <p:spPr>
          <a:xfrm>
            <a:off x="6060230" y="4967541"/>
            <a:ext cx="2015765" cy="1525334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00787DAE-DB70-CD7C-D7C4-BA67EC38098C}"/>
              </a:ext>
            </a:extLst>
          </p:cNvPr>
          <p:cNvSpPr/>
          <p:nvPr/>
        </p:nvSpPr>
        <p:spPr>
          <a:xfrm rot="5400000">
            <a:off x="10059824" y="5713753"/>
            <a:ext cx="623918" cy="39197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3A6CD6A-6CA2-DB56-D846-3FB5CFB50AD9}"/>
              </a:ext>
            </a:extLst>
          </p:cNvPr>
          <p:cNvSpPr/>
          <p:nvPr/>
        </p:nvSpPr>
        <p:spPr>
          <a:xfrm rot="16200000">
            <a:off x="7935057" y="5703158"/>
            <a:ext cx="623918" cy="39197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71468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D84-49CF-5C63-413C-4F8FC4B2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Using the notations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SG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lang="en-GB" b="0" dirty="0"/>
                </a:b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F294D0-D63F-64BD-C8CA-F086C4E339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We have, in matrix form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SG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And, then it follows that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SG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GB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GB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F294D0-D63F-64BD-C8CA-F086C4E33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7405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D84-49CF-5C63-413C-4F8FC4B2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Our loss function, the MSE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, is therefore defined, in matrix format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equivalent to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sSup>
                                    <m:sSupPr>
                                      <m:ctrlPr>
                                        <a:rPr lang="fr-F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fr-FR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8378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D84-49CF-5C63-413C-4F8FC4B2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We then get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Expanding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8884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D84-49CF-5C63-413C-4F8FC4B2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Recall that we are trying to find the solution to optimization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Recognizing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, differentiating our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with respect to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dirty="0"/>
                  <a:t> and equating it to zero gives:</a:t>
                </a:r>
                <a:br>
                  <a:rPr lang="en-SG" dirty="0"/>
                </a:b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𝑋𝑊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9834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D84-49CF-5C63-413C-4F8FC4B2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the 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This is equivalent to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Or,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Assuming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b="1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SG" b="1" dirty="0"/>
                  <a:t> is invertible </a:t>
                </a:r>
                <a:r>
                  <a:rPr lang="en-SG" dirty="0"/>
                  <a:t>(and that might not always be the case based on your dataset!), this finally gives: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dirty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fr-FR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dirty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GB" b="1" i="1" dirty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SG" b="1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913BE-9D0F-C6F5-D2AA-F7829400A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73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4901</Words>
  <Application>Microsoft Office PowerPoint</Application>
  <PresentationFormat>Widescreen</PresentationFormat>
  <Paragraphs>453</Paragraphs>
  <Slides>87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Calibri</vt:lpstr>
      <vt:lpstr>Calibri Light</vt:lpstr>
      <vt:lpstr>Cambria Math</vt:lpstr>
      <vt:lpstr>Wingdings</vt:lpstr>
      <vt:lpstr>Office Theme</vt:lpstr>
      <vt:lpstr> Practice of Deep Learning Course Introduction</vt:lpstr>
      <vt:lpstr>A quick word about instructors</vt:lpstr>
      <vt:lpstr>Objectives of this course</vt:lpstr>
      <vt:lpstr>Skills needed for this course</vt:lpstr>
      <vt:lpstr>The way we teach things</vt:lpstr>
      <vt:lpstr>The way we teach things</vt:lpstr>
      <vt:lpstr>Supporting Textbooks</vt:lpstr>
      <vt:lpstr>Evaluation and grading</vt:lpstr>
      <vt:lpstr>Technical pre-requisites</vt:lpstr>
      <vt:lpstr>Technical pre-requisites</vt:lpstr>
      <vt:lpstr>Installing PyTorch and CUDA</vt:lpstr>
      <vt:lpstr>Practice of Deep Learning Day 1, Part 1/4</vt:lpstr>
      <vt:lpstr>About this lecture</vt:lpstr>
      <vt:lpstr>What is AI/ML/NN/DL?</vt:lpstr>
      <vt:lpstr>What is AI/ML/NN/DL?</vt:lpstr>
      <vt:lpstr>What is AI/ML/NN/DL?</vt:lpstr>
      <vt:lpstr>What is AI/ML/NN/DL?</vt:lpstr>
      <vt:lpstr>What is AI/ML/NN/DL?</vt:lpstr>
      <vt:lpstr>What is AI/ML/NN/DL?</vt:lpstr>
      <vt:lpstr>What is AI/ML/NN/DL?</vt:lpstr>
      <vt:lpstr>What is AI/ML/NN/DL?</vt:lpstr>
      <vt:lpstr>Supervised vs Unsupervised Learning</vt:lpstr>
      <vt:lpstr>Supervised Learning Examples</vt:lpstr>
      <vt:lpstr>Regression vs. Classification (Supervised)</vt:lpstr>
      <vt:lpstr>Regression vs. Classification</vt:lpstr>
      <vt:lpstr>Supervised Learning Examples</vt:lpstr>
      <vt:lpstr>Supervised Learning Examples</vt:lpstr>
      <vt:lpstr>Deep Learning and Supervised/Unsupervised</vt:lpstr>
      <vt:lpstr>Elements of an ML problem</vt:lpstr>
      <vt:lpstr>Our first toy example</vt:lpstr>
      <vt:lpstr>Our first toy example</vt:lpstr>
      <vt:lpstr>Our first toy example (mock dataset)</vt:lpstr>
      <vt:lpstr>Our first toy example (mock dataset)</vt:lpstr>
      <vt:lpstr>Our first toy example (mock dataset)</vt:lpstr>
      <vt:lpstr>PowerPoint Presentation</vt:lpstr>
      <vt:lpstr>Our first toy example</vt:lpstr>
      <vt:lpstr>Our first model, the linear regression</vt:lpstr>
      <vt:lpstr>Let us try different values of (a, b)</vt:lpstr>
      <vt:lpstr>PowerPoint Presentation</vt:lpstr>
      <vt:lpstr>The need for a loss function</vt:lpstr>
      <vt:lpstr>The need for a loss function</vt:lpstr>
      <vt:lpstr>The need for a loss function</vt:lpstr>
      <vt:lpstr>The need for a loss function</vt:lpstr>
      <vt:lpstr>PowerPoint Presentation</vt:lpstr>
      <vt:lpstr>Training a model</vt:lpstr>
      <vt:lpstr>Training a linear regression model</vt:lpstr>
      <vt:lpstr>Training a linear regression model</vt:lpstr>
      <vt:lpstr>Training a linear regression model</vt:lpstr>
      <vt:lpstr>PowerPoint Presentation</vt:lpstr>
      <vt:lpstr>The problem with the normal equation</vt:lpstr>
      <vt:lpstr>Gradient Descent, to the rescue!</vt:lpstr>
      <vt:lpstr>Gradient Descent, to the rescue!</vt:lpstr>
      <vt:lpstr>Gradient Descent, to the rescue!</vt:lpstr>
      <vt:lpstr>GD in Linear Regression</vt:lpstr>
      <vt:lpstr>GD in Linear Regression</vt:lpstr>
      <vt:lpstr>GD in Linear Regression</vt:lpstr>
      <vt:lpstr>GD in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Checking for optimal parameters</vt:lpstr>
      <vt:lpstr>PowerPoint Presentation</vt:lpstr>
      <vt:lpstr>Using Sklearn for Linear regression</vt:lpstr>
      <vt:lpstr>Predicting using Sklearn Linear regression</vt:lpstr>
      <vt:lpstr>Let us call it a break for now</vt:lpstr>
      <vt:lpstr>Installing PyTorch and CUDA</vt:lpstr>
      <vt:lpstr>Installing PyTorch and CUDA</vt:lpstr>
      <vt:lpstr>Installing PyTorch and CUDA</vt:lpstr>
      <vt:lpstr>Checking your PyTorch and CUDA install</vt:lpstr>
      <vt:lpstr>A quick word about PyTorch 2.0</vt:lpstr>
      <vt:lpstr>Supervised vs Unsupervised Learning</vt:lpstr>
      <vt:lpstr>Unsupervised Learning Examples</vt:lpstr>
      <vt:lpstr>Unsupervised Learning Examples</vt:lpstr>
      <vt:lpstr>Clustering vs. Association (Unsupervised)</vt:lpstr>
      <vt:lpstr>Clustering vs. Association (Unsupervised)</vt:lpstr>
      <vt:lpstr>Clustering vs. Association (Unsupervised)</vt:lpstr>
      <vt:lpstr>Proof of the Normal Equation</vt:lpstr>
      <vt:lpstr>Proof of the Normal Equation</vt:lpstr>
      <vt:lpstr>Proof of the Normal Equation</vt:lpstr>
      <vt:lpstr>Proof of the Normal Equation</vt:lpstr>
      <vt:lpstr>Proof of the Normal Equation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2026-03-15T15:01:29Z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