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2"/>
  </p:notesMasterIdLst>
  <p:sldIdLst>
    <p:sldId id="377" r:id="rId2"/>
    <p:sldId id="598" r:id="rId3"/>
    <p:sldId id="395" r:id="rId4"/>
    <p:sldId id="455" r:id="rId5"/>
    <p:sldId id="456" r:id="rId6"/>
    <p:sldId id="457" r:id="rId7"/>
    <p:sldId id="458" r:id="rId8"/>
    <p:sldId id="459" r:id="rId9"/>
    <p:sldId id="460" r:id="rId10"/>
    <p:sldId id="461" r:id="rId11"/>
    <p:sldId id="462" r:id="rId12"/>
    <p:sldId id="433" r:id="rId13"/>
    <p:sldId id="436" r:id="rId14"/>
    <p:sldId id="621" r:id="rId15"/>
    <p:sldId id="622" r:id="rId16"/>
    <p:sldId id="624" r:id="rId17"/>
    <p:sldId id="464" r:id="rId18"/>
    <p:sldId id="463" r:id="rId19"/>
    <p:sldId id="465" r:id="rId20"/>
    <p:sldId id="466" r:id="rId21"/>
    <p:sldId id="392" r:id="rId22"/>
    <p:sldId id="467" r:id="rId23"/>
    <p:sldId id="602" r:id="rId24"/>
    <p:sldId id="393" r:id="rId25"/>
    <p:sldId id="620" r:id="rId26"/>
    <p:sldId id="468" r:id="rId27"/>
    <p:sldId id="469" r:id="rId28"/>
    <p:sldId id="470" r:id="rId29"/>
    <p:sldId id="471" r:id="rId30"/>
    <p:sldId id="394" r:id="rId31"/>
    <p:sldId id="472" r:id="rId32"/>
    <p:sldId id="475" r:id="rId33"/>
    <p:sldId id="473" r:id="rId34"/>
    <p:sldId id="474" r:id="rId35"/>
    <p:sldId id="476" r:id="rId36"/>
    <p:sldId id="625" r:id="rId37"/>
    <p:sldId id="477" r:id="rId38"/>
    <p:sldId id="396" r:id="rId39"/>
    <p:sldId id="478" r:id="rId40"/>
    <p:sldId id="479" r:id="rId41"/>
    <p:sldId id="397" r:id="rId42"/>
    <p:sldId id="626" r:id="rId43"/>
    <p:sldId id="480" r:id="rId44"/>
    <p:sldId id="481" r:id="rId45"/>
    <p:sldId id="482" r:id="rId46"/>
    <p:sldId id="398" r:id="rId47"/>
    <p:sldId id="483" r:id="rId48"/>
    <p:sldId id="484" r:id="rId49"/>
    <p:sldId id="485" r:id="rId50"/>
    <p:sldId id="486" r:id="rId51"/>
    <p:sldId id="573" r:id="rId52"/>
    <p:sldId id="574" r:id="rId53"/>
    <p:sldId id="575" r:id="rId54"/>
    <p:sldId id="579" r:id="rId55"/>
    <p:sldId id="548" r:id="rId56"/>
    <p:sldId id="267" r:id="rId57"/>
    <p:sldId id="570" r:id="rId58"/>
    <p:sldId id="571" r:id="rId59"/>
    <p:sldId id="572" r:id="rId60"/>
    <p:sldId id="623"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598"/>
          </p14:sldIdLst>
        </p14:section>
        <p14:section name="III.4. A custom Convolutional layer" id="{4F5D5FE7-EEA1-488F-9624-7AB9B7A96DDF}">
          <p14:sldIdLst>
            <p14:sldId id="395"/>
            <p14:sldId id="455"/>
            <p14:sldId id="456"/>
            <p14:sldId id="457"/>
            <p14:sldId id="458"/>
            <p14:sldId id="459"/>
            <p14:sldId id="460"/>
            <p14:sldId id="461"/>
          </p14:sldIdLst>
        </p14:section>
        <p14:section name="III.5. Size shenaningans in convolution" id="{B6E6F8D9-2100-4547-8201-AB2E3B18BE01}">
          <p14:sldIdLst>
            <p14:sldId id="462"/>
            <p14:sldId id="433"/>
            <p14:sldId id="436"/>
          </p14:sldIdLst>
        </p14:section>
        <p14:section name="III.6. A quick word on backprop" id="{437D6DCD-48CD-43CF-A038-B546E61553CB}">
          <p14:sldIdLst>
            <p14:sldId id="621"/>
            <p14:sldId id="622"/>
            <p14:sldId id="624"/>
          </p14:sldIdLst>
        </p14:section>
        <p14:section name="IV.1. The Conv2d operation (contd)" id="{BB321F82-88AA-4091-AAED-25D292C2C713}">
          <p14:sldIdLst>
            <p14:sldId id="464"/>
            <p14:sldId id="463"/>
            <p14:sldId id="465"/>
            <p14:sldId id="466"/>
            <p14:sldId id="392"/>
            <p14:sldId id="467"/>
            <p14:sldId id="602"/>
          </p14:sldIdLst>
        </p14:section>
        <p14:section name="IV.2. Our first Convolutional Neural Network" id="{9C9DD7FA-587D-4DE5-B044-57D2E1937761}">
          <p14:sldIdLst>
            <p14:sldId id="393"/>
            <p14:sldId id="620"/>
            <p14:sldId id="468"/>
            <p14:sldId id="469"/>
            <p14:sldId id="470"/>
            <p14:sldId id="471"/>
          </p14:sldIdLst>
        </p14:section>
        <p14:section name="IV.3. Training Linear vs Conv2d NNs" id="{D45A6DEB-5D7B-4467-8A5B-3DE9D5B73242}">
          <p14:sldIdLst>
            <p14:sldId id="394"/>
            <p14:sldId id="472"/>
            <p14:sldId id="475"/>
            <p14:sldId id="473"/>
            <p14:sldId id="474"/>
            <p14:sldId id="476"/>
            <p14:sldId id="625"/>
          </p14:sldIdLst>
        </p14:section>
        <p14:section name="V.1. Pooling layers" id="{D68F9FF9-71E6-4D7D-8EF6-8C75AA75D8D7}">
          <p14:sldIdLst>
            <p14:sldId id="477"/>
            <p14:sldId id="396"/>
            <p14:sldId id="478"/>
            <p14:sldId id="479"/>
          </p14:sldIdLst>
        </p14:section>
        <p14:section name="V.2. Dropout layers" id="{13A4A976-2172-4396-961C-EBD747388954}">
          <p14:sldIdLst>
            <p14:sldId id="397"/>
            <p14:sldId id="626"/>
            <p14:sldId id="480"/>
            <p14:sldId id="481"/>
            <p14:sldId id="482"/>
          </p14:sldIdLst>
        </p14:section>
        <p14:section name="V.3. Batchnorm layers" id="{C8B2508A-426F-4E8F-B886-3194053ADA50}">
          <p14:sldIdLst>
            <p14:sldId id="398"/>
            <p14:sldId id="483"/>
            <p14:sldId id="484"/>
            <p14:sldId id="485"/>
            <p14:sldId id="486"/>
            <p14:sldId id="573"/>
            <p14:sldId id="574"/>
            <p14:sldId id="575"/>
            <p14:sldId id="579"/>
            <p14:sldId id="548"/>
          </p14:sldIdLst>
        </p14:section>
        <p14:section name="References and watchlist" id="{217B8593-1CA5-408D-B198-A5E6ACAB5948}">
          <p14:sldIdLst>
            <p14:sldId id="267"/>
            <p14:sldId id="570"/>
            <p14:sldId id="571"/>
            <p14:sldId id="572"/>
            <p14:sldId id="62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F14C9E-DC78-4093-B05E-EB8DCD40A8F5}" v="11" dt="2026-04-10T02:46:57.6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modSection">
      <pc:chgData name="Matthieu De Mari" userId="dfb708c9-d8dc-439f-9a3b-c772bf4a311c" providerId="ADAL" clId="{81E9B007-0C2C-493E-9B93-55A62C9C1F12}" dt="2026-04-10T02:46:57.619" v="394"/>
      <pc:docMkLst>
        <pc:docMk/>
      </pc:docMkLst>
      <pc:sldChg chg="modSp mod">
        <pc:chgData name="Matthieu De Mari" userId="dfb708c9-d8dc-439f-9a3b-c772bf4a311c" providerId="ADAL" clId="{81E9B007-0C2C-493E-9B93-55A62C9C1F12}" dt="2026-03-15T14:50:14.392" v="291" actId="20577"/>
        <pc:sldMkLst>
          <pc:docMk/>
          <pc:sldMk cId="1040156172" sldId="377"/>
        </pc:sldMkLst>
        <pc:spChg chg="mod">
          <ac:chgData name="Matthieu De Mari" userId="dfb708c9-d8dc-439f-9a3b-c772bf4a311c" providerId="ADAL" clId="{81E9B007-0C2C-493E-9B93-55A62C9C1F12}" dt="2026-03-15T14:50:14.392" v="291" actId="20577"/>
          <ac:spMkLst>
            <pc:docMk/>
            <pc:sldMk cId="1040156172" sldId="377"/>
            <ac:spMk id="2" creationId="{080CEB46-CC16-4D19-8C2C-AEE9471D8168}"/>
          </ac:spMkLst>
        </pc:spChg>
      </pc:sldChg>
      <pc:sldChg chg="modSp mod">
        <pc:chgData name="Matthieu De Mari" userId="dfb708c9-d8dc-439f-9a3b-c772bf4a311c" providerId="ADAL" clId="{81E9B007-0C2C-493E-9B93-55A62C9C1F12}" dt="2026-04-10T02:46:03.173" v="390" actId="14100"/>
        <pc:sldMkLst>
          <pc:docMk/>
          <pc:sldMk cId="3044916529" sldId="460"/>
        </pc:sldMkLst>
        <pc:spChg chg="mod">
          <ac:chgData name="Matthieu De Mari" userId="dfb708c9-d8dc-439f-9a3b-c772bf4a311c" providerId="ADAL" clId="{81E9B007-0C2C-493E-9B93-55A62C9C1F12}" dt="2026-04-10T02:46:03.173" v="390" actId="14100"/>
          <ac:spMkLst>
            <pc:docMk/>
            <pc:sldMk cId="3044916529" sldId="460"/>
            <ac:spMk id="10" creationId="{8409749B-01B7-DA29-8FA1-00767CFB1415}"/>
          </ac:spMkLst>
        </pc:spChg>
      </pc:sldChg>
      <pc:sldChg chg="modSp mod">
        <pc:chgData name="Matthieu De Mari" userId="dfb708c9-d8dc-439f-9a3b-c772bf4a311c" providerId="ADAL" clId="{81E9B007-0C2C-493E-9B93-55A62C9C1F12}" dt="2026-03-27T08:35:15.583" v="382" actId="20577"/>
        <pc:sldMkLst>
          <pc:docMk/>
          <pc:sldMk cId="3195395448" sldId="602"/>
        </pc:sldMkLst>
        <pc:spChg chg="mod">
          <ac:chgData name="Matthieu De Mari" userId="dfb708c9-d8dc-439f-9a3b-c772bf4a311c" providerId="ADAL" clId="{81E9B007-0C2C-493E-9B93-55A62C9C1F12}" dt="2026-03-27T08:35:15.583" v="382" actId="20577"/>
          <ac:spMkLst>
            <pc:docMk/>
            <pc:sldMk cId="3195395448" sldId="602"/>
            <ac:spMk id="3" creationId="{05CE0C93-3C30-8FDD-E264-7A45C291120B}"/>
          </ac:spMkLst>
        </pc:spChg>
      </pc:sldChg>
      <pc:sldChg chg="modSp">
        <pc:chgData name="Matthieu De Mari" userId="dfb708c9-d8dc-439f-9a3b-c772bf4a311c" providerId="ADAL" clId="{81E9B007-0C2C-493E-9B93-55A62C9C1F12}" dt="2026-04-10T02:46:57.619" v="394"/>
        <pc:sldMkLst>
          <pc:docMk/>
          <pc:sldMk cId="1945710229" sldId="621"/>
        </pc:sldMkLst>
        <pc:spChg chg="mod">
          <ac:chgData name="Matthieu De Mari" userId="dfb708c9-d8dc-439f-9a3b-c772bf4a311c" providerId="ADAL" clId="{81E9B007-0C2C-493E-9B93-55A62C9C1F12}" dt="2026-04-10T02:46:57.619" v="394"/>
          <ac:spMkLst>
            <pc:docMk/>
            <pc:sldMk cId="1945710229" sldId="621"/>
            <ac:spMk id="5" creationId="{4220C51B-08F2-1F84-D4EC-61D120C9A7ED}"/>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48960B5-EA27-4CDD-AE8D-AAFDD1FB5630}" type="doc">
      <dgm:prSet loTypeId="urn:microsoft.com/office/officeart/2005/8/layout/bProcess3" loCatId="process" qsTypeId="urn:microsoft.com/office/officeart/2005/8/quickstyle/simple1" qsCatId="simple" csTypeId="urn:microsoft.com/office/officeart/2005/8/colors/accent1_2" csCatId="accent1" phldr="1"/>
      <dgm:spPr/>
    </dgm:pt>
    <dgm:pt modelId="{9C147533-FC69-4E97-95AA-C2A423B09093}">
      <dgm:prSet phldrT="[Text]" custT="1"/>
      <dgm:spPr/>
      <dgm:t>
        <a:bodyPr/>
        <a:lstStyle/>
        <a:p>
          <a:r>
            <a:rPr lang="en-GB" sz="1600" dirty="0"/>
            <a:t>Batch of 256 greyscale MNIST images</a:t>
          </a:r>
          <a:br>
            <a:rPr lang="en-GB" sz="1600" dirty="0"/>
          </a:br>
          <a:r>
            <a:rPr lang="en-GB" sz="1600" dirty="0"/>
            <a:t>(256, 1, 28, 28)</a:t>
          </a:r>
          <a:endParaRPr lang="en-SG" sz="1600" dirty="0"/>
        </a:p>
      </dgm:t>
    </dgm:pt>
    <dgm:pt modelId="{4B6A167F-6E42-4430-87A3-CA01E4B5BFE2}" type="parTrans" cxnId="{CF34ACE0-D274-4A51-9E35-7986C780B607}">
      <dgm:prSet/>
      <dgm:spPr/>
      <dgm:t>
        <a:bodyPr/>
        <a:lstStyle/>
        <a:p>
          <a:endParaRPr lang="en-SG"/>
        </a:p>
      </dgm:t>
    </dgm:pt>
    <dgm:pt modelId="{B4EAE1CE-E921-4251-B72C-37D9FAEF6AB1}" type="sibTrans" cxnId="{CF34ACE0-D274-4A51-9E35-7986C780B607}">
      <dgm:prSet/>
      <dgm:spPr>
        <a:ln w="38100">
          <a:solidFill>
            <a:schemeClr val="tx1"/>
          </a:solidFill>
        </a:ln>
      </dgm:spPr>
      <dgm:t>
        <a:bodyPr/>
        <a:lstStyle/>
        <a:p>
          <a:endParaRPr lang="en-SG"/>
        </a:p>
      </dgm:t>
    </dgm:pt>
    <dgm:pt modelId="{DFC75B04-3FA5-428B-B0AB-E3C2DBDA9589}">
      <dgm:prSet phldrT="[Text]" custT="1"/>
      <dgm:spPr/>
      <dgm:t>
        <a:bodyPr/>
        <a:lstStyle/>
        <a:p>
          <a:r>
            <a:rPr lang="en-GB" sz="1600" dirty="0"/>
            <a:t>First Conv2d, with same padding</a:t>
          </a:r>
          <a:br>
            <a:rPr lang="en-GB" sz="1600" dirty="0"/>
          </a:br>
          <a:r>
            <a:rPr lang="en-GB" sz="1600" dirty="0"/>
            <a:t>(256, 32, 28, 28)  </a:t>
          </a:r>
          <a:endParaRPr lang="en-SG" sz="1600" dirty="0"/>
        </a:p>
      </dgm:t>
    </dgm:pt>
    <dgm:pt modelId="{106EC901-0689-439E-BEE5-45735E3863B0}" type="parTrans" cxnId="{1BFF57B3-A326-448F-81EA-2F1714227CB3}">
      <dgm:prSet/>
      <dgm:spPr/>
      <dgm:t>
        <a:bodyPr/>
        <a:lstStyle/>
        <a:p>
          <a:endParaRPr lang="en-SG"/>
        </a:p>
      </dgm:t>
    </dgm:pt>
    <dgm:pt modelId="{60F44C92-E958-4BC9-91D6-3FE717A8BA9B}" type="sibTrans" cxnId="{1BFF57B3-A326-448F-81EA-2F1714227CB3}">
      <dgm:prSet/>
      <dgm:spPr>
        <a:ln w="38100">
          <a:solidFill>
            <a:schemeClr val="tx1"/>
          </a:solidFill>
        </a:ln>
      </dgm:spPr>
      <dgm:t>
        <a:bodyPr/>
        <a:lstStyle/>
        <a:p>
          <a:endParaRPr lang="en-SG"/>
        </a:p>
      </dgm:t>
    </dgm:pt>
    <dgm:pt modelId="{AB1F4A30-83EB-4900-9DEA-9EC197A59DFB}">
      <dgm:prSet phldrT="[Text]" custT="1"/>
      <dgm:spPr/>
      <dgm:t>
        <a:bodyPr/>
        <a:lstStyle/>
        <a:p>
          <a:r>
            <a:rPr lang="en-GB" sz="1600" dirty="0"/>
            <a:t>Second Conv2d, with same padding</a:t>
          </a:r>
          <a:br>
            <a:rPr lang="en-GB" sz="1600" dirty="0"/>
          </a:br>
          <a:r>
            <a:rPr lang="en-GB" sz="1600" dirty="0"/>
            <a:t>(256, 64, 28, 28)</a:t>
          </a:r>
          <a:endParaRPr lang="en-SG" sz="1600" dirty="0"/>
        </a:p>
      </dgm:t>
    </dgm:pt>
    <dgm:pt modelId="{99F6A028-0B1F-4B65-9E82-0A4E612739A7}" type="parTrans" cxnId="{07891903-F6BC-4A31-93A9-7809EB7D788F}">
      <dgm:prSet/>
      <dgm:spPr/>
      <dgm:t>
        <a:bodyPr/>
        <a:lstStyle/>
        <a:p>
          <a:endParaRPr lang="en-SG"/>
        </a:p>
      </dgm:t>
    </dgm:pt>
    <dgm:pt modelId="{4439BB21-D9C3-494B-9C2B-DCA39B7DB12B}" type="sibTrans" cxnId="{07891903-F6BC-4A31-93A9-7809EB7D788F}">
      <dgm:prSet/>
      <dgm:spPr>
        <a:ln w="38100">
          <a:solidFill>
            <a:schemeClr val="tx1"/>
          </a:solidFill>
        </a:ln>
      </dgm:spPr>
      <dgm:t>
        <a:bodyPr/>
        <a:lstStyle/>
        <a:p>
          <a:endParaRPr lang="en-SG"/>
        </a:p>
      </dgm:t>
    </dgm:pt>
    <dgm:pt modelId="{D9F1A3EE-7420-45D8-B6E8-6284B3A50BD5}">
      <dgm:prSet phldrT="[Text]" custT="1"/>
      <dgm:spPr/>
      <dgm:t>
        <a:bodyPr/>
        <a:lstStyle/>
        <a:p>
          <a:r>
            <a:rPr lang="en-GB" sz="1600" dirty="0"/>
            <a:t>Flatten in 1D vector</a:t>
          </a:r>
          <a:br>
            <a:rPr lang="en-GB" sz="1600" dirty="0"/>
          </a:br>
          <a:r>
            <a:rPr lang="en-GB" sz="1600" dirty="0"/>
            <a:t>(256, 50176)</a:t>
          </a:r>
          <a:endParaRPr lang="en-SG" sz="1600" dirty="0"/>
        </a:p>
      </dgm:t>
    </dgm:pt>
    <dgm:pt modelId="{675950F4-1E22-4D6B-A7B4-ABDD6BD34E34}" type="parTrans" cxnId="{D0D4F5AC-A468-4E57-9345-FC46F6960D28}">
      <dgm:prSet/>
      <dgm:spPr/>
      <dgm:t>
        <a:bodyPr/>
        <a:lstStyle/>
        <a:p>
          <a:endParaRPr lang="en-SG"/>
        </a:p>
      </dgm:t>
    </dgm:pt>
    <dgm:pt modelId="{07196E6B-7CAF-4979-8924-49494AEC5129}" type="sibTrans" cxnId="{D0D4F5AC-A468-4E57-9345-FC46F6960D28}">
      <dgm:prSet/>
      <dgm:spPr>
        <a:ln w="38100">
          <a:solidFill>
            <a:schemeClr val="tx1"/>
          </a:solidFill>
        </a:ln>
      </dgm:spPr>
      <dgm:t>
        <a:bodyPr/>
        <a:lstStyle/>
        <a:p>
          <a:endParaRPr lang="en-SG"/>
        </a:p>
      </dgm:t>
    </dgm:pt>
    <dgm:pt modelId="{F46004D6-3F2B-4CA3-8005-152F3C248427}">
      <dgm:prSet phldrT="[Text]" custT="1"/>
      <dgm:spPr/>
      <dgm:t>
        <a:bodyPr/>
        <a:lstStyle/>
        <a:p>
          <a:r>
            <a:rPr lang="en-GB" sz="1600" dirty="0"/>
            <a:t>First Linear Layer</a:t>
          </a:r>
          <a:br>
            <a:rPr lang="en-GB" sz="1600" dirty="0"/>
          </a:br>
          <a:r>
            <a:rPr lang="en-GB" sz="1600" dirty="0"/>
            <a:t>(256, 128)</a:t>
          </a:r>
          <a:endParaRPr lang="en-SG" sz="1600" dirty="0"/>
        </a:p>
      </dgm:t>
    </dgm:pt>
    <dgm:pt modelId="{48B6ADF7-58EE-4555-A670-4B6721C49CE8}" type="parTrans" cxnId="{7DEB6D0F-A7B4-49D6-8FCC-54A9CE64F374}">
      <dgm:prSet/>
      <dgm:spPr/>
      <dgm:t>
        <a:bodyPr/>
        <a:lstStyle/>
        <a:p>
          <a:endParaRPr lang="en-SG"/>
        </a:p>
      </dgm:t>
    </dgm:pt>
    <dgm:pt modelId="{215F2DBC-81E1-40CB-8A82-A784052478C4}" type="sibTrans" cxnId="{7DEB6D0F-A7B4-49D6-8FCC-54A9CE64F374}">
      <dgm:prSet/>
      <dgm:spPr>
        <a:ln w="38100">
          <a:solidFill>
            <a:schemeClr val="tx1"/>
          </a:solidFill>
        </a:ln>
      </dgm:spPr>
      <dgm:t>
        <a:bodyPr/>
        <a:lstStyle/>
        <a:p>
          <a:endParaRPr lang="en-SG"/>
        </a:p>
      </dgm:t>
    </dgm:pt>
    <dgm:pt modelId="{57861D6D-1358-4AC8-8A73-D4C496A2A626}">
      <dgm:prSet phldrT="[Text]" custT="1"/>
      <dgm:spPr/>
      <dgm:t>
        <a:bodyPr/>
        <a:lstStyle/>
        <a:p>
          <a:r>
            <a:rPr lang="en-GB" sz="1600" dirty="0"/>
            <a:t>Second Linear Layer</a:t>
          </a:r>
          <a:br>
            <a:rPr lang="en-GB" sz="1600" dirty="0"/>
          </a:br>
          <a:r>
            <a:rPr lang="en-GB" sz="1600" dirty="0"/>
            <a:t>(256, 10)</a:t>
          </a:r>
          <a:endParaRPr lang="en-SG" sz="1600" dirty="0"/>
        </a:p>
      </dgm:t>
    </dgm:pt>
    <dgm:pt modelId="{AF4829E4-3FC2-4D57-9ECD-1E6420250744}" type="parTrans" cxnId="{261AD714-1D01-4AE0-979E-AC3783C31F50}">
      <dgm:prSet/>
      <dgm:spPr/>
      <dgm:t>
        <a:bodyPr/>
        <a:lstStyle/>
        <a:p>
          <a:endParaRPr lang="en-SG"/>
        </a:p>
      </dgm:t>
    </dgm:pt>
    <dgm:pt modelId="{48A56396-7BA5-4BE4-B05C-79C55802DAAD}" type="sibTrans" cxnId="{261AD714-1D01-4AE0-979E-AC3783C31F50}">
      <dgm:prSet/>
      <dgm:spPr/>
      <dgm:t>
        <a:bodyPr/>
        <a:lstStyle/>
        <a:p>
          <a:endParaRPr lang="en-SG"/>
        </a:p>
      </dgm:t>
    </dgm:pt>
    <dgm:pt modelId="{591B6513-40C3-4899-BAFF-05E3CB959BA8}" type="pres">
      <dgm:prSet presAssocID="{D48960B5-EA27-4CDD-AE8D-AAFDD1FB5630}" presName="Name0" presStyleCnt="0">
        <dgm:presLayoutVars>
          <dgm:dir/>
          <dgm:resizeHandles val="exact"/>
        </dgm:presLayoutVars>
      </dgm:prSet>
      <dgm:spPr/>
    </dgm:pt>
    <dgm:pt modelId="{A24AB232-64D0-458E-BF4C-CF3B760EE391}" type="pres">
      <dgm:prSet presAssocID="{9C147533-FC69-4E97-95AA-C2A423B09093}" presName="node" presStyleLbl="node1" presStyleIdx="0" presStyleCnt="6">
        <dgm:presLayoutVars>
          <dgm:bulletEnabled val="1"/>
        </dgm:presLayoutVars>
      </dgm:prSet>
      <dgm:spPr/>
    </dgm:pt>
    <dgm:pt modelId="{014C98E3-F1D1-4DA1-9ED1-CF15129404A3}" type="pres">
      <dgm:prSet presAssocID="{B4EAE1CE-E921-4251-B72C-37D9FAEF6AB1}" presName="sibTrans" presStyleLbl="sibTrans1D1" presStyleIdx="0" presStyleCnt="5"/>
      <dgm:spPr/>
    </dgm:pt>
    <dgm:pt modelId="{379CC685-406D-46DC-A95E-8B4341D38462}" type="pres">
      <dgm:prSet presAssocID="{B4EAE1CE-E921-4251-B72C-37D9FAEF6AB1}" presName="connectorText" presStyleLbl="sibTrans1D1" presStyleIdx="0" presStyleCnt="5"/>
      <dgm:spPr/>
    </dgm:pt>
    <dgm:pt modelId="{1387B24E-FF6D-4EC5-9A18-33BC1764BCCA}" type="pres">
      <dgm:prSet presAssocID="{DFC75B04-3FA5-428B-B0AB-E3C2DBDA9589}" presName="node" presStyleLbl="node1" presStyleIdx="1" presStyleCnt="6">
        <dgm:presLayoutVars>
          <dgm:bulletEnabled val="1"/>
        </dgm:presLayoutVars>
      </dgm:prSet>
      <dgm:spPr/>
    </dgm:pt>
    <dgm:pt modelId="{3BA80D82-7EAE-4377-869D-6ECE36D0F0DF}" type="pres">
      <dgm:prSet presAssocID="{60F44C92-E958-4BC9-91D6-3FE717A8BA9B}" presName="sibTrans" presStyleLbl="sibTrans1D1" presStyleIdx="1" presStyleCnt="5"/>
      <dgm:spPr/>
    </dgm:pt>
    <dgm:pt modelId="{362E03DA-4D63-4628-B879-5303FD7AD231}" type="pres">
      <dgm:prSet presAssocID="{60F44C92-E958-4BC9-91D6-3FE717A8BA9B}" presName="connectorText" presStyleLbl="sibTrans1D1" presStyleIdx="1" presStyleCnt="5"/>
      <dgm:spPr/>
    </dgm:pt>
    <dgm:pt modelId="{8B1E5B19-00E8-49B0-81F2-FC70A011EBE2}" type="pres">
      <dgm:prSet presAssocID="{AB1F4A30-83EB-4900-9DEA-9EC197A59DFB}" presName="node" presStyleLbl="node1" presStyleIdx="2" presStyleCnt="6">
        <dgm:presLayoutVars>
          <dgm:bulletEnabled val="1"/>
        </dgm:presLayoutVars>
      </dgm:prSet>
      <dgm:spPr/>
    </dgm:pt>
    <dgm:pt modelId="{0FF0321D-9FC9-440F-B0FA-13DAE2D88AEA}" type="pres">
      <dgm:prSet presAssocID="{4439BB21-D9C3-494B-9C2B-DCA39B7DB12B}" presName="sibTrans" presStyleLbl="sibTrans1D1" presStyleIdx="2" presStyleCnt="5"/>
      <dgm:spPr/>
    </dgm:pt>
    <dgm:pt modelId="{7B8B4B58-A38F-4E4C-9923-62678EC273DC}" type="pres">
      <dgm:prSet presAssocID="{4439BB21-D9C3-494B-9C2B-DCA39B7DB12B}" presName="connectorText" presStyleLbl="sibTrans1D1" presStyleIdx="2" presStyleCnt="5"/>
      <dgm:spPr/>
    </dgm:pt>
    <dgm:pt modelId="{82B3C6AA-DBF0-485E-9FEC-94CF604EF1E4}" type="pres">
      <dgm:prSet presAssocID="{D9F1A3EE-7420-45D8-B6E8-6284B3A50BD5}" presName="node" presStyleLbl="node1" presStyleIdx="3" presStyleCnt="6">
        <dgm:presLayoutVars>
          <dgm:bulletEnabled val="1"/>
        </dgm:presLayoutVars>
      </dgm:prSet>
      <dgm:spPr/>
    </dgm:pt>
    <dgm:pt modelId="{A291BCBF-0286-4C23-AE44-FA69E6361291}" type="pres">
      <dgm:prSet presAssocID="{07196E6B-7CAF-4979-8924-49494AEC5129}" presName="sibTrans" presStyleLbl="sibTrans1D1" presStyleIdx="3" presStyleCnt="5"/>
      <dgm:spPr/>
    </dgm:pt>
    <dgm:pt modelId="{2821E9E0-2330-43A3-8A07-C767251A464F}" type="pres">
      <dgm:prSet presAssocID="{07196E6B-7CAF-4979-8924-49494AEC5129}" presName="connectorText" presStyleLbl="sibTrans1D1" presStyleIdx="3" presStyleCnt="5"/>
      <dgm:spPr/>
    </dgm:pt>
    <dgm:pt modelId="{E6F784CA-0850-490C-8FB6-0D059D6943D6}" type="pres">
      <dgm:prSet presAssocID="{F46004D6-3F2B-4CA3-8005-152F3C248427}" presName="node" presStyleLbl="node1" presStyleIdx="4" presStyleCnt="6">
        <dgm:presLayoutVars>
          <dgm:bulletEnabled val="1"/>
        </dgm:presLayoutVars>
      </dgm:prSet>
      <dgm:spPr/>
    </dgm:pt>
    <dgm:pt modelId="{99144A2E-B314-48BE-B23C-5A61B5C771B1}" type="pres">
      <dgm:prSet presAssocID="{215F2DBC-81E1-40CB-8A82-A784052478C4}" presName="sibTrans" presStyleLbl="sibTrans1D1" presStyleIdx="4" presStyleCnt="5"/>
      <dgm:spPr/>
    </dgm:pt>
    <dgm:pt modelId="{7829B734-0CA2-4EB8-B325-50D51FFCF07D}" type="pres">
      <dgm:prSet presAssocID="{215F2DBC-81E1-40CB-8A82-A784052478C4}" presName="connectorText" presStyleLbl="sibTrans1D1" presStyleIdx="4" presStyleCnt="5"/>
      <dgm:spPr/>
    </dgm:pt>
    <dgm:pt modelId="{DB34B42E-E0CF-42A4-BF8B-9B5B28CAB46C}" type="pres">
      <dgm:prSet presAssocID="{57861D6D-1358-4AC8-8A73-D4C496A2A626}" presName="node" presStyleLbl="node1" presStyleIdx="5" presStyleCnt="6">
        <dgm:presLayoutVars>
          <dgm:bulletEnabled val="1"/>
        </dgm:presLayoutVars>
      </dgm:prSet>
      <dgm:spPr/>
    </dgm:pt>
  </dgm:ptLst>
  <dgm:cxnLst>
    <dgm:cxn modelId="{07891903-F6BC-4A31-93A9-7809EB7D788F}" srcId="{D48960B5-EA27-4CDD-AE8D-AAFDD1FB5630}" destId="{AB1F4A30-83EB-4900-9DEA-9EC197A59DFB}" srcOrd="2" destOrd="0" parTransId="{99F6A028-0B1F-4B65-9E82-0A4E612739A7}" sibTransId="{4439BB21-D9C3-494B-9C2B-DCA39B7DB12B}"/>
    <dgm:cxn modelId="{7DEB6D0F-A7B4-49D6-8FCC-54A9CE64F374}" srcId="{D48960B5-EA27-4CDD-AE8D-AAFDD1FB5630}" destId="{F46004D6-3F2B-4CA3-8005-152F3C248427}" srcOrd="4" destOrd="0" parTransId="{48B6ADF7-58EE-4555-A670-4B6721C49CE8}" sibTransId="{215F2DBC-81E1-40CB-8A82-A784052478C4}"/>
    <dgm:cxn modelId="{261AD714-1D01-4AE0-979E-AC3783C31F50}" srcId="{D48960B5-EA27-4CDD-AE8D-AAFDD1FB5630}" destId="{57861D6D-1358-4AC8-8A73-D4C496A2A626}" srcOrd="5" destOrd="0" parTransId="{AF4829E4-3FC2-4D57-9ECD-1E6420250744}" sibTransId="{48A56396-7BA5-4BE4-B05C-79C55802DAAD}"/>
    <dgm:cxn modelId="{1677801C-B886-4957-B472-F781729BBFF6}" type="presOf" srcId="{B4EAE1CE-E921-4251-B72C-37D9FAEF6AB1}" destId="{379CC685-406D-46DC-A95E-8B4341D38462}" srcOrd="1" destOrd="0" presId="urn:microsoft.com/office/officeart/2005/8/layout/bProcess3"/>
    <dgm:cxn modelId="{23FD281E-B051-4758-B113-F71364BF9ACF}" type="presOf" srcId="{07196E6B-7CAF-4979-8924-49494AEC5129}" destId="{A291BCBF-0286-4C23-AE44-FA69E6361291}" srcOrd="0" destOrd="0" presId="urn:microsoft.com/office/officeart/2005/8/layout/bProcess3"/>
    <dgm:cxn modelId="{70B6D338-2287-4201-8DCD-7F945A0BBC68}" type="presOf" srcId="{DFC75B04-3FA5-428B-B0AB-E3C2DBDA9589}" destId="{1387B24E-FF6D-4EC5-9A18-33BC1764BCCA}" srcOrd="0" destOrd="0" presId="urn:microsoft.com/office/officeart/2005/8/layout/bProcess3"/>
    <dgm:cxn modelId="{08C0F662-B0F1-491E-B40B-11A0F15F375D}" type="presOf" srcId="{AB1F4A30-83EB-4900-9DEA-9EC197A59DFB}" destId="{8B1E5B19-00E8-49B0-81F2-FC70A011EBE2}" srcOrd="0" destOrd="0" presId="urn:microsoft.com/office/officeart/2005/8/layout/bProcess3"/>
    <dgm:cxn modelId="{B743994B-11AD-47C6-A03E-88159EA84F70}" type="presOf" srcId="{60F44C92-E958-4BC9-91D6-3FE717A8BA9B}" destId="{3BA80D82-7EAE-4377-869D-6ECE36D0F0DF}" srcOrd="0" destOrd="0" presId="urn:microsoft.com/office/officeart/2005/8/layout/bProcess3"/>
    <dgm:cxn modelId="{C82A4358-7650-46C8-9CE4-7E5534718FC1}" type="presOf" srcId="{D9F1A3EE-7420-45D8-B6E8-6284B3A50BD5}" destId="{82B3C6AA-DBF0-485E-9FEC-94CF604EF1E4}" srcOrd="0" destOrd="0" presId="urn:microsoft.com/office/officeart/2005/8/layout/bProcess3"/>
    <dgm:cxn modelId="{178D417C-7382-492D-9859-7D13ED5A4F6D}" type="presOf" srcId="{F46004D6-3F2B-4CA3-8005-152F3C248427}" destId="{E6F784CA-0850-490C-8FB6-0D059D6943D6}" srcOrd="0" destOrd="0" presId="urn:microsoft.com/office/officeart/2005/8/layout/bProcess3"/>
    <dgm:cxn modelId="{B989B483-4170-462C-BC80-934A632B585E}" type="presOf" srcId="{07196E6B-7CAF-4979-8924-49494AEC5129}" destId="{2821E9E0-2330-43A3-8A07-C767251A464F}" srcOrd="1" destOrd="0" presId="urn:microsoft.com/office/officeart/2005/8/layout/bProcess3"/>
    <dgm:cxn modelId="{EB758F9A-7B60-4E4C-880D-A33652CFCECA}" type="presOf" srcId="{4439BB21-D9C3-494B-9C2B-DCA39B7DB12B}" destId="{0FF0321D-9FC9-440F-B0FA-13DAE2D88AEA}" srcOrd="0" destOrd="0" presId="urn:microsoft.com/office/officeart/2005/8/layout/bProcess3"/>
    <dgm:cxn modelId="{D3A4989F-C25E-4D5E-9D9F-2CA6BE37FE70}" type="presOf" srcId="{215F2DBC-81E1-40CB-8A82-A784052478C4}" destId="{7829B734-0CA2-4EB8-B325-50D51FFCF07D}" srcOrd="1" destOrd="0" presId="urn:microsoft.com/office/officeart/2005/8/layout/bProcess3"/>
    <dgm:cxn modelId="{D0D4F5AC-A468-4E57-9345-FC46F6960D28}" srcId="{D48960B5-EA27-4CDD-AE8D-AAFDD1FB5630}" destId="{D9F1A3EE-7420-45D8-B6E8-6284B3A50BD5}" srcOrd="3" destOrd="0" parTransId="{675950F4-1E22-4D6B-A7B4-ABDD6BD34E34}" sibTransId="{07196E6B-7CAF-4979-8924-49494AEC5129}"/>
    <dgm:cxn modelId="{1BFF57B3-A326-448F-81EA-2F1714227CB3}" srcId="{D48960B5-EA27-4CDD-AE8D-AAFDD1FB5630}" destId="{DFC75B04-3FA5-428B-B0AB-E3C2DBDA9589}" srcOrd="1" destOrd="0" parTransId="{106EC901-0689-439E-BEE5-45735E3863B0}" sibTransId="{60F44C92-E958-4BC9-91D6-3FE717A8BA9B}"/>
    <dgm:cxn modelId="{50C1D7CB-0C20-4EC9-B5F3-43F3B9384DDC}" type="presOf" srcId="{9C147533-FC69-4E97-95AA-C2A423B09093}" destId="{A24AB232-64D0-458E-BF4C-CF3B760EE391}" srcOrd="0" destOrd="0" presId="urn:microsoft.com/office/officeart/2005/8/layout/bProcess3"/>
    <dgm:cxn modelId="{7217EECB-BB58-4458-AE0C-15300C7403D1}" type="presOf" srcId="{4439BB21-D9C3-494B-9C2B-DCA39B7DB12B}" destId="{7B8B4B58-A38F-4E4C-9923-62678EC273DC}" srcOrd="1" destOrd="0" presId="urn:microsoft.com/office/officeart/2005/8/layout/bProcess3"/>
    <dgm:cxn modelId="{6CB709D0-F038-4BF0-9199-F707CA96FBC3}" type="presOf" srcId="{57861D6D-1358-4AC8-8A73-D4C496A2A626}" destId="{DB34B42E-E0CF-42A4-BF8B-9B5B28CAB46C}" srcOrd="0" destOrd="0" presId="urn:microsoft.com/office/officeart/2005/8/layout/bProcess3"/>
    <dgm:cxn modelId="{82D4E4D8-041F-422B-ACC6-50068E266D31}" type="presOf" srcId="{215F2DBC-81E1-40CB-8A82-A784052478C4}" destId="{99144A2E-B314-48BE-B23C-5A61B5C771B1}" srcOrd="0" destOrd="0" presId="urn:microsoft.com/office/officeart/2005/8/layout/bProcess3"/>
    <dgm:cxn modelId="{181694DF-D317-4511-8503-A7F662034BDD}" type="presOf" srcId="{60F44C92-E958-4BC9-91D6-3FE717A8BA9B}" destId="{362E03DA-4D63-4628-B879-5303FD7AD231}" srcOrd="1" destOrd="0" presId="urn:microsoft.com/office/officeart/2005/8/layout/bProcess3"/>
    <dgm:cxn modelId="{CF34ACE0-D274-4A51-9E35-7986C780B607}" srcId="{D48960B5-EA27-4CDD-AE8D-AAFDD1FB5630}" destId="{9C147533-FC69-4E97-95AA-C2A423B09093}" srcOrd="0" destOrd="0" parTransId="{4B6A167F-6E42-4430-87A3-CA01E4B5BFE2}" sibTransId="{B4EAE1CE-E921-4251-B72C-37D9FAEF6AB1}"/>
    <dgm:cxn modelId="{280446E5-7B05-4706-9331-A1ECC552BD20}" type="presOf" srcId="{D48960B5-EA27-4CDD-AE8D-AAFDD1FB5630}" destId="{591B6513-40C3-4899-BAFF-05E3CB959BA8}" srcOrd="0" destOrd="0" presId="urn:microsoft.com/office/officeart/2005/8/layout/bProcess3"/>
    <dgm:cxn modelId="{ED10AAFA-CDDE-4B7F-8EBA-F605A2B1659E}" type="presOf" srcId="{B4EAE1CE-E921-4251-B72C-37D9FAEF6AB1}" destId="{014C98E3-F1D1-4DA1-9ED1-CF15129404A3}" srcOrd="0" destOrd="0" presId="urn:microsoft.com/office/officeart/2005/8/layout/bProcess3"/>
    <dgm:cxn modelId="{E401D49C-4975-4B7C-ADC7-627A8F90018B}" type="presParOf" srcId="{591B6513-40C3-4899-BAFF-05E3CB959BA8}" destId="{A24AB232-64D0-458E-BF4C-CF3B760EE391}" srcOrd="0" destOrd="0" presId="urn:microsoft.com/office/officeart/2005/8/layout/bProcess3"/>
    <dgm:cxn modelId="{9FA2395B-D41E-41E8-94EE-10587C5C72B9}" type="presParOf" srcId="{591B6513-40C3-4899-BAFF-05E3CB959BA8}" destId="{014C98E3-F1D1-4DA1-9ED1-CF15129404A3}" srcOrd="1" destOrd="0" presId="urn:microsoft.com/office/officeart/2005/8/layout/bProcess3"/>
    <dgm:cxn modelId="{5F8E061E-8DF7-4BBE-8B7D-9B9AF4F68667}" type="presParOf" srcId="{014C98E3-F1D1-4DA1-9ED1-CF15129404A3}" destId="{379CC685-406D-46DC-A95E-8B4341D38462}" srcOrd="0" destOrd="0" presId="urn:microsoft.com/office/officeart/2005/8/layout/bProcess3"/>
    <dgm:cxn modelId="{94F59BBB-5DC9-454E-BD38-0DA4A8B20A42}" type="presParOf" srcId="{591B6513-40C3-4899-BAFF-05E3CB959BA8}" destId="{1387B24E-FF6D-4EC5-9A18-33BC1764BCCA}" srcOrd="2" destOrd="0" presId="urn:microsoft.com/office/officeart/2005/8/layout/bProcess3"/>
    <dgm:cxn modelId="{235AF8E4-58C5-4815-9952-F3A2E0BE60E9}" type="presParOf" srcId="{591B6513-40C3-4899-BAFF-05E3CB959BA8}" destId="{3BA80D82-7EAE-4377-869D-6ECE36D0F0DF}" srcOrd="3" destOrd="0" presId="urn:microsoft.com/office/officeart/2005/8/layout/bProcess3"/>
    <dgm:cxn modelId="{FA769E9B-64E3-4F2B-B227-4D989D7ED423}" type="presParOf" srcId="{3BA80D82-7EAE-4377-869D-6ECE36D0F0DF}" destId="{362E03DA-4D63-4628-B879-5303FD7AD231}" srcOrd="0" destOrd="0" presId="urn:microsoft.com/office/officeart/2005/8/layout/bProcess3"/>
    <dgm:cxn modelId="{33841342-EF6B-4F49-A0CE-DE9A171D74A7}" type="presParOf" srcId="{591B6513-40C3-4899-BAFF-05E3CB959BA8}" destId="{8B1E5B19-00E8-49B0-81F2-FC70A011EBE2}" srcOrd="4" destOrd="0" presId="urn:microsoft.com/office/officeart/2005/8/layout/bProcess3"/>
    <dgm:cxn modelId="{A4518D2D-5441-4340-A858-9BA8E83D03E9}" type="presParOf" srcId="{591B6513-40C3-4899-BAFF-05E3CB959BA8}" destId="{0FF0321D-9FC9-440F-B0FA-13DAE2D88AEA}" srcOrd="5" destOrd="0" presId="urn:microsoft.com/office/officeart/2005/8/layout/bProcess3"/>
    <dgm:cxn modelId="{97EBC9F4-A45E-4FA2-8273-914E71843B2E}" type="presParOf" srcId="{0FF0321D-9FC9-440F-B0FA-13DAE2D88AEA}" destId="{7B8B4B58-A38F-4E4C-9923-62678EC273DC}" srcOrd="0" destOrd="0" presId="urn:microsoft.com/office/officeart/2005/8/layout/bProcess3"/>
    <dgm:cxn modelId="{213A3A34-BC29-40FC-8D14-0B4C54758D08}" type="presParOf" srcId="{591B6513-40C3-4899-BAFF-05E3CB959BA8}" destId="{82B3C6AA-DBF0-485E-9FEC-94CF604EF1E4}" srcOrd="6" destOrd="0" presId="urn:microsoft.com/office/officeart/2005/8/layout/bProcess3"/>
    <dgm:cxn modelId="{D8AF0259-2EA0-4F74-9A6D-BE8D59BDD665}" type="presParOf" srcId="{591B6513-40C3-4899-BAFF-05E3CB959BA8}" destId="{A291BCBF-0286-4C23-AE44-FA69E6361291}" srcOrd="7" destOrd="0" presId="urn:microsoft.com/office/officeart/2005/8/layout/bProcess3"/>
    <dgm:cxn modelId="{7264BD34-309E-49C9-920E-EBC086E64CC2}" type="presParOf" srcId="{A291BCBF-0286-4C23-AE44-FA69E6361291}" destId="{2821E9E0-2330-43A3-8A07-C767251A464F}" srcOrd="0" destOrd="0" presId="urn:microsoft.com/office/officeart/2005/8/layout/bProcess3"/>
    <dgm:cxn modelId="{E39FADFF-0EED-4757-9D7E-EEBF3890BB27}" type="presParOf" srcId="{591B6513-40C3-4899-BAFF-05E3CB959BA8}" destId="{E6F784CA-0850-490C-8FB6-0D059D6943D6}" srcOrd="8" destOrd="0" presId="urn:microsoft.com/office/officeart/2005/8/layout/bProcess3"/>
    <dgm:cxn modelId="{FDC5C64D-1E97-4EDA-A830-28F59FE691CF}" type="presParOf" srcId="{591B6513-40C3-4899-BAFF-05E3CB959BA8}" destId="{99144A2E-B314-48BE-B23C-5A61B5C771B1}" srcOrd="9" destOrd="0" presId="urn:microsoft.com/office/officeart/2005/8/layout/bProcess3"/>
    <dgm:cxn modelId="{0A33FD88-3868-4FDD-9F3F-92861385303B}" type="presParOf" srcId="{99144A2E-B314-48BE-B23C-5A61B5C771B1}" destId="{7829B734-0CA2-4EB8-B325-50D51FFCF07D}" srcOrd="0" destOrd="0" presId="urn:microsoft.com/office/officeart/2005/8/layout/bProcess3"/>
    <dgm:cxn modelId="{0216F6F2-6869-4FE4-BCDF-242A393EE70B}" type="presParOf" srcId="{591B6513-40C3-4899-BAFF-05E3CB959BA8}" destId="{DB34B42E-E0CF-42A4-BF8B-9B5B28CAB46C}" srcOrd="10" destOrd="0" presId="urn:microsoft.com/office/officeart/2005/8/layout/b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C98E3-F1D1-4DA1-9ED1-CF15129404A3}">
      <dsp:nvSpPr>
        <dsp:cNvPr id="0" name=""/>
        <dsp:cNvSpPr/>
      </dsp:nvSpPr>
      <dsp:spPr>
        <a:xfrm>
          <a:off x="3981117" y="757392"/>
          <a:ext cx="584686" cy="91440"/>
        </a:xfrm>
        <a:custGeom>
          <a:avLst/>
          <a:gdLst/>
          <a:ahLst/>
          <a:cxnLst/>
          <a:rect l="0" t="0" r="0" b="0"/>
          <a:pathLst>
            <a:path>
              <a:moveTo>
                <a:pt x="0" y="45720"/>
              </a:moveTo>
              <a:lnTo>
                <a:pt x="584686" y="45720"/>
              </a:lnTo>
            </a:path>
          </a:pathLst>
        </a:custGeom>
        <a:noFill/>
        <a:ln w="38100" cap="flat" cmpd="sng" algn="ctr">
          <a:solidFill>
            <a:schemeClr val="tx1"/>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SG" sz="500" kern="1200"/>
        </a:p>
      </dsp:txBody>
      <dsp:txXfrm>
        <a:off x="4258078" y="800036"/>
        <a:ext cx="30764" cy="6152"/>
      </dsp:txXfrm>
    </dsp:sp>
    <dsp:sp modelId="{A24AB232-64D0-458E-BF4C-CF3B760EE391}">
      <dsp:nvSpPr>
        <dsp:cNvPr id="0" name=""/>
        <dsp:cNvSpPr/>
      </dsp:nvSpPr>
      <dsp:spPr>
        <a:xfrm>
          <a:off x="1307756" y="564"/>
          <a:ext cx="2675160" cy="160509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GB" sz="1600" kern="1200" dirty="0"/>
            <a:t>Batch of 256 greyscale MNIST images</a:t>
          </a:r>
          <a:br>
            <a:rPr lang="en-GB" sz="1600" kern="1200" dirty="0"/>
          </a:br>
          <a:r>
            <a:rPr lang="en-GB" sz="1600" kern="1200" dirty="0"/>
            <a:t>(256, 1, 28, 28)</a:t>
          </a:r>
          <a:endParaRPr lang="en-SG" sz="1600" kern="1200" dirty="0"/>
        </a:p>
      </dsp:txBody>
      <dsp:txXfrm>
        <a:off x="1307756" y="564"/>
        <a:ext cx="2675160" cy="1605096"/>
      </dsp:txXfrm>
    </dsp:sp>
    <dsp:sp modelId="{3BA80D82-7EAE-4377-869D-6ECE36D0F0DF}">
      <dsp:nvSpPr>
        <dsp:cNvPr id="0" name=""/>
        <dsp:cNvSpPr/>
      </dsp:nvSpPr>
      <dsp:spPr>
        <a:xfrm>
          <a:off x="7271564" y="757392"/>
          <a:ext cx="584686" cy="91440"/>
        </a:xfrm>
        <a:custGeom>
          <a:avLst/>
          <a:gdLst/>
          <a:ahLst/>
          <a:cxnLst/>
          <a:rect l="0" t="0" r="0" b="0"/>
          <a:pathLst>
            <a:path>
              <a:moveTo>
                <a:pt x="0" y="45720"/>
              </a:moveTo>
              <a:lnTo>
                <a:pt x="584686" y="45720"/>
              </a:lnTo>
            </a:path>
          </a:pathLst>
        </a:custGeom>
        <a:noFill/>
        <a:ln w="38100" cap="flat" cmpd="sng" algn="ctr">
          <a:solidFill>
            <a:schemeClr val="tx1"/>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SG" sz="500" kern="1200"/>
        </a:p>
      </dsp:txBody>
      <dsp:txXfrm>
        <a:off x="7548526" y="800036"/>
        <a:ext cx="30764" cy="6152"/>
      </dsp:txXfrm>
    </dsp:sp>
    <dsp:sp modelId="{1387B24E-FF6D-4EC5-9A18-33BC1764BCCA}">
      <dsp:nvSpPr>
        <dsp:cNvPr id="0" name=""/>
        <dsp:cNvSpPr/>
      </dsp:nvSpPr>
      <dsp:spPr>
        <a:xfrm>
          <a:off x="4598204" y="564"/>
          <a:ext cx="2675160" cy="160509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GB" sz="1600" kern="1200" dirty="0"/>
            <a:t>First Conv2d, with same padding</a:t>
          </a:r>
          <a:br>
            <a:rPr lang="en-GB" sz="1600" kern="1200" dirty="0"/>
          </a:br>
          <a:r>
            <a:rPr lang="en-GB" sz="1600" kern="1200" dirty="0"/>
            <a:t>(256, 32, 28, 28)  </a:t>
          </a:r>
          <a:endParaRPr lang="en-SG" sz="1600" kern="1200" dirty="0"/>
        </a:p>
      </dsp:txBody>
      <dsp:txXfrm>
        <a:off x="4598204" y="564"/>
        <a:ext cx="2675160" cy="1605096"/>
      </dsp:txXfrm>
    </dsp:sp>
    <dsp:sp modelId="{0FF0321D-9FC9-440F-B0FA-13DAE2D88AEA}">
      <dsp:nvSpPr>
        <dsp:cNvPr id="0" name=""/>
        <dsp:cNvSpPr/>
      </dsp:nvSpPr>
      <dsp:spPr>
        <a:xfrm>
          <a:off x="2645336" y="1603861"/>
          <a:ext cx="6580895" cy="584686"/>
        </a:xfrm>
        <a:custGeom>
          <a:avLst/>
          <a:gdLst/>
          <a:ahLst/>
          <a:cxnLst/>
          <a:rect l="0" t="0" r="0" b="0"/>
          <a:pathLst>
            <a:path>
              <a:moveTo>
                <a:pt x="6580895" y="0"/>
              </a:moveTo>
              <a:lnTo>
                <a:pt x="6580895" y="309443"/>
              </a:lnTo>
              <a:lnTo>
                <a:pt x="0" y="309443"/>
              </a:lnTo>
              <a:lnTo>
                <a:pt x="0" y="584686"/>
              </a:lnTo>
            </a:path>
          </a:pathLst>
        </a:custGeom>
        <a:noFill/>
        <a:ln w="38100" cap="flat" cmpd="sng" algn="ctr">
          <a:solidFill>
            <a:schemeClr val="tx1"/>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SG" sz="500" kern="1200"/>
        </a:p>
      </dsp:txBody>
      <dsp:txXfrm>
        <a:off x="5770544" y="1893128"/>
        <a:ext cx="330479" cy="6152"/>
      </dsp:txXfrm>
    </dsp:sp>
    <dsp:sp modelId="{8B1E5B19-00E8-49B0-81F2-FC70A011EBE2}">
      <dsp:nvSpPr>
        <dsp:cNvPr id="0" name=""/>
        <dsp:cNvSpPr/>
      </dsp:nvSpPr>
      <dsp:spPr>
        <a:xfrm>
          <a:off x="7888651" y="564"/>
          <a:ext cx="2675160" cy="160509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GB" sz="1600" kern="1200" dirty="0"/>
            <a:t>Second Conv2d, with same padding</a:t>
          </a:r>
          <a:br>
            <a:rPr lang="en-GB" sz="1600" kern="1200" dirty="0"/>
          </a:br>
          <a:r>
            <a:rPr lang="en-GB" sz="1600" kern="1200" dirty="0"/>
            <a:t>(256, 64, 28, 28)</a:t>
          </a:r>
          <a:endParaRPr lang="en-SG" sz="1600" kern="1200" dirty="0"/>
        </a:p>
      </dsp:txBody>
      <dsp:txXfrm>
        <a:off x="7888651" y="564"/>
        <a:ext cx="2675160" cy="1605096"/>
      </dsp:txXfrm>
    </dsp:sp>
    <dsp:sp modelId="{A291BCBF-0286-4C23-AE44-FA69E6361291}">
      <dsp:nvSpPr>
        <dsp:cNvPr id="0" name=""/>
        <dsp:cNvSpPr/>
      </dsp:nvSpPr>
      <dsp:spPr>
        <a:xfrm>
          <a:off x="3981117" y="2977776"/>
          <a:ext cx="584686" cy="91440"/>
        </a:xfrm>
        <a:custGeom>
          <a:avLst/>
          <a:gdLst/>
          <a:ahLst/>
          <a:cxnLst/>
          <a:rect l="0" t="0" r="0" b="0"/>
          <a:pathLst>
            <a:path>
              <a:moveTo>
                <a:pt x="0" y="45720"/>
              </a:moveTo>
              <a:lnTo>
                <a:pt x="584686" y="45720"/>
              </a:lnTo>
            </a:path>
          </a:pathLst>
        </a:custGeom>
        <a:noFill/>
        <a:ln w="38100" cap="flat" cmpd="sng" algn="ctr">
          <a:solidFill>
            <a:schemeClr val="tx1"/>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SG" sz="500" kern="1200"/>
        </a:p>
      </dsp:txBody>
      <dsp:txXfrm>
        <a:off x="4258078" y="3020419"/>
        <a:ext cx="30764" cy="6152"/>
      </dsp:txXfrm>
    </dsp:sp>
    <dsp:sp modelId="{82B3C6AA-DBF0-485E-9FEC-94CF604EF1E4}">
      <dsp:nvSpPr>
        <dsp:cNvPr id="0" name=""/>
        <dsp:cNvSpPr/>
      </dsp:nvSpPr>
      <dsp:spPr>
        <a:xfrm>
          <a:off x="1307756" y="2220947"/>
          <a:ext cx="2675160" cy="160509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GB" sz="1600" kern="1200" dirty="0"/>
            <a:t>Flatten in 1D vector</a:t>
          </a:r>
          <a:br>
            <a:rPr lang="en-GB" sz="1600" kern="1200" dirty="0"/>
          </a:br>
          <a:r>
            <a:rPr lang="en-GB" sz="1600" kern="1200" dirty="0"/>
            <a:t>(256, 50176)</a:t>
          </a:r>
          <a:endParaRPr lang="en-SG" sz="1600" kern="1200" dirty="0"/>
        </a:p>
      </dsp:txBody>
      <dsp:txXfrm>
        <a:off x="1307756" y="2220947"/>
        <a:ext cx="2675160" cy="1605096"/>
      </dsp:txXfrm>
    </dsp:sp>
    <dsp:sp modelId="{99144A2E-B314-48BE-B23C-5A61B5C771B1}">
      <dsp:nvSpPr>
        <dsp:cNvPr id="0" name=""/>
        <dsp:cNvSpPr/>
      </dsp:nvSpPr>
      <dsp:spPr>
        <a:xfrm>
          <a:off x="7271564" y="2977776"/>
          <a:ext cx="584686" cy="91440"/>
        </a:xfrm>
        <a:custGeom>
          <a:avLst/>
          <a:gdLst/>
          <a:ahLst/>
          <a:cxnLst/>
          <a:rect l="0" t="0" r="0" b="0"/>
          <a:pathLst>
            <a:path>
              <a:moveTo>
                <a:pt x="0" y="45720"/>
              </a:moveTo>
              <a:lnTo>
                <a:pt x="584686" y="45720"/>
              </a:lnTo>
            </a:path>
          </a:pathLst>
        </a:custGeom>
        <a:noFill/>
        <a:ln w="38100" cap="flat" cmpd="sng" algn="ctr">
          <a:solidFill>
            <a:schemeClr val="tx1"/>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SG" sz="500" kern="1200"/>
        </a:p>
      </dsp:txBody>
      <dsp:txXfrm>
        <a:off x="7548526" y="3020419"/>
        <a:ext cx="30764" cy="6152"/>
      </dsp:txXfrm>
    </dsp:sp>
    <dsp:sp modelId="{E6F784CA-0850-490C-8FB6-0D059D6943D6}">
      <dsp:nvSpPr>
        <dsp:cNvPr id="0" name=""/>
        <dsp:cNvSpPr/>
      </dsp:nvSpPr>
      <dsp:spPr>
        <a:xfrm>
          <a:off x="4598204" y="2220947"/>
          <a:ext cx="2675160" cy="160509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GB" sz="1600" kern="1200" dirty="0"/>
            <a:t>First Linear Layer</a:t>
          </a:r>
          <a:br>
            <a:rPr lang="en-GB" sz="1600" kern="1200" dirty="0"/>
          </a:br>
          <a:r>
            <a:rPr lang="en-GB" sz="1600" kern="1200" dirty="0"/>
            <a:t>(256, 128)</a:t>
          </a:r>
          <a:endParaRPr lang="en-SG" sz="1600" kern="1200" dirty="0"/>
        </a:p>
      </dsp:txBody>
      <dsp:txXfrm>
        <a:off x="4598204" y="2220947"/>
        <a:ext cx="2675160" cy="1605096"/>
      </dsp:txXfrm>
    </dsp:sp>
    <dsp:sp modelId="{DB34B42E-E0CF-42A4-BF8B-9B5B28CAB46C}">
      <dsp:nvSpPr>
        <dsp:cNvPr id="0" name=""/>
        <dsp:cNvSpPr/>
      </dsp:nvSpPr>
      <dsp:spPr>
        <a:xfrm>
          <a:off x="7888651" y="2220947"/>
          <a:ext cx="2675160" cy="160509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GB" sz="1600" kern="1200" dirty="0"/>
            <a:t>Second Linear Layer</a:t>
          </a:r>
          <a:br>
            <a:rPr lang="en-GB" sz="1600" kern="1200" dirty="0"/>
          </a:br>
          <a:r>
            <a:rPr lang="en-GB" sz="1600" kern="1200" dirty="0"/>
            <a:t>(256, 10)</a:t>
          </a:r>
          <a:endParaRPr lang="en-SG" sz="1600" kern="1200" dirty="0"/>
        </a:p>
      </dsp:txBody>
      <dsp:txXfrm>
        <a:off x="7888651" y="2220947"/>
        <a:ext cx="2675160" cy="1605096"/>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10/04/2026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17.png"/><Relationship Id="rId7" Type="http://schemas.openxmlformats.org/officeDocument/2006/relationships/image" Target="../media/image350.png"/><Relationship Id="rId2" Type="http://schemas.openxmlformats.org/officeDocument/2006/relationships/image" Target="../media/image16.png"/><Relationship Id="rId1" Type="http://schemas.openxmlformats.org/officeDocument/2006/relationships/slideLayout" Target="../slideLayouts/slideLayout4.xml"/><Relationship Id="rId5" Type="http://schemas.openxmlformats.org/officeDocument/2006/relationships/image" Target="../media/image70.png"/><Relationship Id="rId4" Type="http://schemas.openxmlformats.org/officeDocument/2006/relationships/image" Target="../media/image18.png"/><Relationship Id="rId9" Type="http://schemas.openxmlformats.org/officeDocument/2006/relationships/image" Target="../media/image370.png"/></Relationships>
</file>

<file path=ppt/slides/_rels/slide13.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image" Target="../media/image67.png"/><Relationship Id="rId1" Type="http://schemas.openxmlformats.org/officeDocument/2006/relationships/slideLayout" Target="../slideLayouts/slideLayout4.xml"/><Relationship Id="rId6" Type="http://schemas.openxmlformats.org/officeDocument/2006/relationships/image" Target="../media/image71.png"/><Relationship Id="rId5" Type="http://schemas.openxmlformats.org/officeDocument/2006/relationships/image" Target="../media/image8.png"/><Relationship Id="rId4" Type="http://schemas.openxmlformats.org/officeDocument/2006/relationships/image" Target="../media/image69.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gi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gi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33.gif"/><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920.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9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nitish2112.github.io/" TargetMode="External"/><Relationship Id="rId2" Type="http://schemas.openxmlformats.org/officeDocument/2006/relationships/hyperlink" Target="https://scholar.google.com/citations?user=s1PgoeUAAAAJ&amp;hl=fr" TargetMode="External"/><Relationship Id="rId1" Type="http://schemas.openxmlformats.org/officeDocument/2006/relationships/slideLayout" Target="../slideLayouts/slideLayout2.xml"/><Relationship Id="rId4" Type="http://schemas.openxmlformats.org/officeDocument/2006/relationships/hyperlink" Target="https://scholar.google.com/citations?user=xegzhJcAAAAJ&amp;hl=fr"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www.cs.toronto.edu/~ilya/" TargetMode="External"/><Relationship Id="rId2" Type="http://schemas.openxmlformats.org/officeDocument/2006/relationships/hyperlink" Target="https://scholar.google.com/citations?user=x04W_mMAAAAJ&amp;hl=en" TargetMode="External"/><Relationship Id="rId1" Type="http://schemas.openxmlformats.org/officeDocument/2006/relationships/slideLayout" Target="../slideLayouts/slideLayout2.xml"/><Relationship Id="rId5" Type="http://schemas.openxmlformats.org/officeDocument/2006/relationships/hyperlink" Target="https://www.cs.cmu.edu/~rsalakhu/" TargetMode="External"/><Relationship Id="rId4" Type="http://schemas.openxmlformats.org/officeDocument/2006/relationships/hyperlink" Target="https://scholar.google.co.uk/citations?user=ITZ1e7MAAAAJ&amp;hl=e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research.google/people/ChristianSzegedy" TargetMode="External"/><Relationship Id="rId2" Type="http://schemas.openxmlformats.org/officeDocument/2006/relationships/hyperlink" Target="https://scholar.google.com/citations?user=3QeF7mAAAAAJ&amp;hl=en" TargetMode="External"/><Relationship Id="rId1" Type="http://schemas.openxmlformats.org/officeDocument/2006/relationships/slideLayout" Target="../slideLayouts/slideLayout2.xml"/><Relationship Id="rId5" Type="http://schemas.openxmlformats.org/officeDocument/2006/relationships/hyperlink" Target="https://research.google/people/SergeyIoffe/" TargetMode="External"/><Relationship Id="rId4" Type="http://schemas.openxmlformats.org/officeDocument/2006/relationships/hyperlink" Target="https://scholar.google.com/citations?user=S5zOyIkAAAAJ&amp;hl=en" TargetMode="External"/></Relationships>
</file>

<file path=ppt/slides/_rels/slide60.xml.rels><?xml version="1.0" encoding="UTF-8" standalone="yes"?>
<Relationships xmlns="http://schemas.openxmlformats.org/package/2006/relationships"><Relationship Id="rId2" Type="http://schemas.openxmlformats.org/officeDocument/2006/relationships/hyperlink" Target="https://towardsdatascience.com/gentle-dive-into-math-behind-convolutional-neural-networks-79a07dd44cf9"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a:bodyPr>
          <a:lstStyle/>
          <a:p>
            <a:r>
              <a:rPr lang="en-US" b="1" dirty="0"/>
              <a:t>Computer Vision in Python</a:t>
            </a:r>
            <a:br>
              <a:rPr lang="en-US" dirty="0"/>
            </a:br>
            <a:r>
              <a:rPr lang="en-US" dirty="0"/>
              <a:t>Day 1, </a:t>
            </a:r>
            <a:r>
              <a:rPr lang="en-US"/>
              <a:t>Part 2/4</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lecture</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4"/>
            <a:ext cx="10515600" cy="5032375"/>
          </a:xfrm>
        </p:spPr>
        <p:txBody>
          <a:bodyPr>
            <a:normAutofit/>
          </a:bodyPr>
          <a:lstStyle/>
          <a:p>
            <a:pPr marL="514350" indent="-514350">
              <a:buFont typeface="+mj-lt"/>
              <a:buAutoNum type="arabicPeriod"/>
            </a:pPr>
            <a:r>
              <a:rPr lang="en-GB" dirty="0"/>
              <a:t>How does convolution apply to </a:t>
            </a:r>
            <a:r>
              <a:rPr lang="en-GB" b="1" dirty="0"/>
              <a:t>higher</a:t>
            </a:r>
            <a:r>
              <a:rPr lang="en-GB" dirty="0"/>
              <a:t> </a:t>
            </a:r>
            <a:r>
              <a:rPr lang="en-GB" b="1" dirty="0"/>
              <a:t>dimensional</a:t>
            </a:r>
            <a:r>
              <a:rPr lang="en-GB" dirty="0"/>
              <a:t> </a:t>
            </a:r>
            <a:r>
              <a:rPr lang="en-GB" b="1" dirty="0"/>
              <a:t>images</a:t>
            </a:r>
            <a:r>
              <a:rPr lang="en-GB" dirty="0"/>
              <a:t>?</a:t>
            </a:r>
          </a:p>
          <a:p>
            <a:pPr marL="514350" indent="-514350">
              <a:buFont typeface="+mj-lt"/>
              <a:buAutoNum type="arabicPeriod"/>
            </a:pPr>
            <a:r>
              <a:rPr lang="en-GB" dirty="0"/>
              <a:t>What is a </a:t>
            </a:r>
            <a:r>
              <a:rPr lang="en-GB" b="1" dirty="0"/>
              <a:t>Convolutional</a:t>
            </a:r>
            <a:r>
              <a:rPr lang="en-GB" dirty="0"/>
              <a:t> </a:t>
            </a:r>
            <a:r>
              <a:rPr lang="en-GB" b="1" dirty="0"/>
              <a:t>Neural</a:t>
            </a:r>
            <a:r>
              <a:rPr lang="en-GB" dirty="0"/>
              <a:t> </a:t>
            </a:r>
            <a:r>
              <a:rPr lang="en-GB" b="1" dirty="0"/>
              <a:t>Network</a:t>
            </a:r>
            <a:r>
              <a:rPr lang="en-GB" dirty="0"/>
              <a:t> (CNN)?</a:t>
            </a:r>
          </a:p>
          <a:p>
            <a:pPr marL="514350" indent="-514350">
              <a:buFont typeface="+mj-lt"/>
              <a:buAutoNum type="arabicPeriod"/>
            </a:pPr>
            <a:r>
              <a:rPr lang="en-GB" dirty="0"/>
              <a:t>What is the </a:t>
            </a:r>
            <a:r>
              <a:rPr lang="en-GB" b="1" dirty="0"/>
              <a:t>intuition</a:t>
            </a:r>
            <a:r>
              <a:rPr lang="en-GB" dirty="0"/>
              <a:t> behind using Convolutional layers in a Convolutional Neural Network?</a:t>
            </a:r>
          </a:p>
          <a:p>
            <a:pPr marL="514350" indent="-514350">
              <a:buFont typeface="+mj-lt"/>
              <a:buAutoNum type="arabicPeriod"/>
            </a:pPr>
            <a:r>
              <a:rPr lang="en-GB" dirty="0"/>
              <a:t>How to </a:t>
            </a:r>
            <a:r>
              <a:rPr lang="en-GB" b="1" dirty="0"/>
              <a:t>train</a:t>
            </a:r>
            <a:r>
              <a:rPr lang="en-GB" dirty="0"/>
              <a:t> our first Convolutional Neural Network on MNIST?</a:t>
            </a:r>
          </a:p>
          <a:p>
            <a:pPr marL="514350" indent="-514350">
              <a:buFont typeface="+mj-lt"/>
              <a:buAutoNum type="arabicPeriod"/>
            </a:pPr>
            <a:r>
              <a:rPr lang="en-GB" dirty="0"/>
              <a:t>What are </a:t>
            </a:r>
            <a:r>
              <a:rPr lang="en-GB" b="1" dirty="0"/>
              <a:t>other typical image processing layers </a:t>
            </a:r>
            <a:r>
              <a:rPr lang="en-GB" dirty="0"/>
              <a:t>in Computer Vision and how are they implemented?</a:t>
            </a:r>
          </a:p>
          <a:p>
            <a:pPr marL="514350" indent="-514350">
              <a:buFont typeface="+mj-lt"/>
              <a:buAutoNum type="arabicPeriod"/>
            </a:pPr>
            <a:r>
              <a:rPr lang="en-GB" dirty="0"/>
              <a:t>What is the </a:t>
            </a:r>
            <a:r>
              <a:rPr lang="en-GB" b="1" dirty="0"/>
              <a:t>pooling layer</a:t>
            </a:r>
            <a:r>
              <a:rPr lang="en-GB" dirty="0"/>
              <a:t>?</a:t>
            </a:r>
          </a:p>
          <a:p>
            <a:pPr marL="514350" indent="-514350">
              <a:buFont typeface="+mj-lt"/>
              <a:buAutoNum type="arabicPeriod"/>
            </a:pPr>
            <a:r>
              <a:rPr lang="en-GB" dirty="0"/>
              <a:t>What is the </a:t>
            </a:r>
            <a:r>
              <a:rPr lang="en-GB" b="1" dirty="0" err="1"/>
              <a:t>batchnorm</a:t>
            </a:r>
            <a:r>
              <a:rPr lang="en-GB" dirty="0"/>
              <a:t> </a:t>
            </a:r>
            <a:r>
              <a:rPr lang="en-GB" b="1" dirty="0"/>
              <a:t>layer</a:t>
            </a:r>
            <a:r>
              <a:rPr lang="en-GB" dirty="0"/>
              <a:t>?</a:t>
            </a:r>
          </a:p>
          <a:p>
            <a:pPr marL="514350" indent="-514350">
              <a:buFont typeface="+mj-lt"/>
              <a:buAutoNum type="arabicPeriod"/>
            </a:pPr>
            <a:r>
              <a:rPr lang="en-GB" dirty="0"/>
              <a:t>What is the </a:t>
            </a:r>
            <a:r>
              <a:rPr lang="en-GB" b="1" dirty="0"/>
              <a:t>dropout</a:t>
            </a:r>
            <a:r>
              <a:rPr lang="en-GB" dirty="0"/>
              <a:t> </a:t>
            </a:r>
            <a:r>
              <a:rPr lang="en-GB" b="1" dirty="0"/>
              <a:t>layer</a:t>
            </a:r>
            <a:r>
              <a:rPr lang="en-GB" dirty="0"/>
              <a:t>?</a:t>
            </a:r>
          </a:p>
          <a:p>
            <a:pPr marL="514350" indent="-514350">
              <a:buFont typeface="+mj-lt"/>
              <a:buAutoNum type="arabicPeriod" startAt="9"/>
            </a:pPr>
            <a:endParaRPr lang="en-GB" dirty="0"/>
          </a:p>
          <a:p>
            <a:pPr marL="514350" indent="-514350">
              <a:buFont typeface="+mj-lt"/>
              <a:buAutoNum type="arabicPeriod" startAt="9"/>
            </a:pPr>
            <a:endParaRPr lang="en-GB" dirty="0"/>
          </a:p>
        </p:txBody>
      </p:sp>
    </p:spTree>
    <p:extLst>
      <p:ext uri="{BB962C8B-B14F-4D97-AF65-F5344CB8AC3E}">
        <p14:creationId xmlns:p14="http://schemas.microsoft.com/office/powerpoint/2010/main" val="877267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E47DB-F37F-76C5-4521-3702447EA589}"/>
              </a:ext>
            </a:extLst>
          </p:cNvPr>
          <p:cNvSpPr>
            <a:spLocks noGrp="1"/>
          </p:cNvSpPr>
          <p:nvPr>
            <p:ph type="title"/>
          </p:nvPr>
        </p:nvSpPr>
        <p:spPr/>
        <p:txBody>
          <a:bodyPr/>
          <a:lstStyle/>
          <a:p>
            <a:r>
              <a:rPr lang="en-GB" dirty="0"/>
              <a:t>Implementing a custom Conv in </a:t>
            </a:r>
            <a:r>
              <a:rPr lang="en-GB" dirty="0" err="1"/>
              <a:t>PyTorch</a:t>
            </a:r>
            <a:endParaRPr lang="en-SG" dirty="0"/>
          </a:p>
        </p:txBody>
      </p:sp>
      <p:pic>
        <p:nvPicPr>
          <p:cNvPr id="5" name="Picture 4">
            <a:extLst>
              <a:ext uri="{FF2B5EF4-FFF2-40B4-BE49-F238E27FC236}">
                <a16:creationId xmlns:a16="http://schemas.microsoft.com/office/drawing/2014/main" id="{F0079DF4-9ADD-055D-9315-6EE2E19D6DFD}"/>
              </a:ext>
            </a:extLst>
          </p:cNvPr>
          <p:cNvPicPr>
            <a:picLocks noChangeAspect="1"/>
          </p:cNvPicPr>
          <p:nvPr/>
        </p:nvPicPr>
        <p:blipFill>
          <a:blip r:embed="rId2"/>
          <a:stretch>
            <a:fillRect/>
          </a:stretch>
        </p:blipFill>
        <p:spPr>
          <a:xfrm>
            <a:off x="1285032" y="1725575"/>
            <a:ext cx="9621936" cy="5132425"/>
          </a:xfrm>
          <a:prstGeom prst="rect">
            <a:avLst/>
          </a:prstGeom>
        </p:spPr>
      </p:pic>
    </p:spTree>
    <p:extLst>
      <p:ext uri="{BB962C8B-B14F-4D97-AF65-F5344CB8AC3E}">
        <p14:creationId xmlns:p14="http://schemas.microsoft.com/office/powerpoint/2010/main" val="3679575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5"/>
            <a:ext cx="3514969" cy="4351338"/>
          </a:xfrm>
        </p:spPr>
        <p:txBody>
          <a:bodyPr/>
          <a:lstStyle/>
          <a:p>
            <a:pPr marL="0" indent="0">
              <a:buNone/>
            </a:pPr>
            <a:endParaRPr lang="en-GB" dirty="0"/>
          </a:p>
          <a:p>
            <a:pPr marL="0" indent="0">
              <a:buNone/>
            </a:pPr>
            <a:r>
              <a:rPr lang="en-GB" dirty="0" err="1"/>
              <a:t>PyTorch</a:t>
            </a:r>
            <a:r>
              <a:rPr lang="en-GB" dirty="0"/>
              <a:t> has a Conv2d function implementing said convolution.</a:t>
            </a:r>
          </a:p>
          <a:p>
            <a:pPr marL="0" indent="0">
              <a:buNone/>
            </a:pPr>
            <a:endParaRPr lang="en-GB" dirty="0"/>
          </a:p>
          <a:p>
            <a:pPr marL="0" indent="0">
              <a:buNone/>
            </a:pPr>
            <a:r>
              <a:rPr lang="en-GB" dirty="0"/>
              <a:t>We will rely on it from now on.</a:t>
            </a:r>
            <a:endParaRPr lang="en-SG" dirty="0"/>
          </a:p>
        </p:txBody>
      </p:sp>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2"/>
          <a:stretch>
            <a:fillRect/>
          </a:stretch>
        </p:blipFill>
        <p:spPr>
          <a:xfrm>
            <a:off x="4671146" y="1510934"/>
            <a:ext cx="7163800" cy="5172797"/>
          </a:xfrm>
          <a:prstGeom prst="rect">
            <a:avLst/>
          </a:prstGeom>
        </p:spPr>
      </p:pic>
      <p:sp>
        <p:nvSpPr>
          <p:cNvPr id="6" name="Rectangle 5">
            <a:extLst>
              <a:ext uri="{FF2B5EF4-FFF2-40B4-BE49-F238E27FC236}">
                <a16:creationId xmlns:a16="http://schemas.microsoft.com/office/drawing/2014/main" id="{A034C048-04F6-E33B-D1B6-11C4870DDC7C}"/>
              </a:ext>
            </a:extLst>
          </p:cNvPr>
          <p:cNvSpPr/>
          <p:nvPr/>
        </p:nvSpPr>
        <p:spPr>
          <a:xfrm>
            <a:off x="5431692" y="3556000"/>
            <a:ext cx="5048740" cy="132556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414156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5"/>
            <a:ext cx="3514969" cy="4351338"/>
          </a:xfrm>
        </p:spPr>
        <p:txBody>
          <a:bodyPr/>
          <a:lstStyle/>
          <a:p>
            <a:pPr marL="0" indent="0">
              <a:buNone/>
            </a:pPr>
            <a:r>
              <a:rPr lang="en-GB" dirty="0"/>
              <a:t>Note, however that this layer has </a:t>
            </a:r>
            <a:r>
              <a:rPr lang="en-GB" b="1" dirty="0"/>
              <a:t>two</a:t>
            </a:r>
            <a:r>
              <a:rPr lang="en-GB" dirty="0"/>
              <a:t> </a:t>
            </a:r>
            <a:r>
              <a:rPr lang="en-GB" b="1" dirty="0"/>
              <a:t>trainable</a:t>
            </a:r>
            <a:r>
              <a:rPr lang="en-GB" dirty="0"/>
              <a:t> </a:t>
            </a:r>
            <a:r>
              <a:rPr lang="en-GB" b="1" dirty="0"/>
              <a:t>parameters</a:t>
            </a:r>
            <a:r>
              <a:rPr lang="en-GB" dirty="0"/>
              <a:t>:</a:t>
            </a:r>
          </a:p>
          <a:p>
            <a:r>
              <a:rPr lang="en-GB" b="1" dirty="0"/>
              <a:t>Weight</a:t>
            </a:r>
            <a:r>
              <a:rPr lang="en-GB" dirty="0"/>
              <a:t> (which is our kernel, whose values will be decided later during training).</a:t>
            </a:r>
          </a:p>
          <a:p>
            <a:r>
              <a:rPr lang="en-GB" b="1" dirty="0"/>
              <a:t>Bias</a:t>
            </a:r>
            <a:r>
              <a:rPr lang="en-GB" dirty="0"/>
              <a:t> (which was not there before?)</a:t>
            </a:r>
            <a:endParaRPr lang="en-SG" dirty="0"/>
          </a:p>
        </p:txBody>
      </p:sp>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2"/>
          <a:stretch>
            <a:fillRect/>
          </a:stretch>
        </p:blipFill>
        <p:spPr>
          <a:xfrm>
            <a:off x="4671146" y="1510934"/>
            <a:ext cx="7163800" cy="5172797"/>
          </a:xfrm>
          <a:prstGeom prst="rect">
            <a:avLst/>
          </a:prstGeom>
        </p:spPr>
      </p:pic>
      <p:sp>
        <p:nvSpPr>
          <p:cNvPr id="4" name="Rectangle 3">
            <a:extLst>
              <a:ext uri="{FF2B5EF4-FFF2-40B4-BE49-F238E27FC236}">
                <a16:creationId xmlns:a16="http://schemas.microsoft.com/office/drawing/2014/main" id="{00B38CB5-45AC-45E1-AA60-51397435DBDA}"/>
              </a:ext>
            </a:extLst>
          </p:cNvPr>
          <p:cNvSpPr/>
          <p:nvPr/>
        </p:nvSpPr>
        <p:spPr>
          <a:xfrm flipV="1">
            <a:off x="5431692" y="4881563"/>
            <a:ext cx="5048740" cy="74551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7252132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4"/>
                <a:ext cx="10515600" cy="5032375"/>
              </a:xfrm>
            </p:spPr>
            <p:txBody>
              <a:bodyPr>
                <a:normAutofit/>
              </a:bodyPr>
              <a:lstStyle/>
              <a:p>
                <a:pPr marL="0" indent="0">
                  <a:buNone/>
                </a:pPr>
                <a:r>
                  <a:rPr lang="en-GB" dirty="0"/>
                  <a:t>Note, however that this layer has </a:t>
                </a:r>
                <a:r>
                  <a:rPr lang="en-GB" b="1" dirty="0"/>
                  <a:t>two</a:t>
                </a:r>
                <a:r>
                  <a:rPr lang="en-GB" dirty="0"/>
                  <a:t> </a:t>
                </a:r>
                <a:r>
                  <a:rPr lang="en-GB" b="1" dirty="0"/>
                  <a:t>trainable</a:t>
                </a:r>
                <a:r>
                  <a:rPr lang="en-GB" dirty="0"/>
                  <a:t> </a:t>
                </a:r>
                <a:r>
                  <a:rPr lang="en-GB" b="1" dirty="0"/>
                  <a:t>parameters</a:t>
                </a:r>
                <a:r>
                  <a:rPr lang="en-GB" dirty="0"/>
                  <a:t>:</a:t>
                </a:r>
              </a:p>
              <a:p>
                <a:r>
                  <a:rPr lang="en-GB" b="1" dirty="0"/>
                  <a:t>Weight</a:t>
                </a:r>
                <a:r>
                  <a:rPr lang="en-GB" dirty="0"/>
                  <a:t> (which is our kernel, whose values will be decided later during training).</a:t>
                </a:r>
              </a:p>
              <a:p>
                <a:r>
                  <a:rPr lang="en-GB" b="1" dirty="0">
                    <a:solidFill>
                      <a:srgbClr val="7030A0"/>
                    </a:solidFill>
                  </a:rPr>
                  <a:t>Bias</a:t>
                </a:r>
                <a:r>
                  <a:rPr lang="en-GB" dirty="0"/>
                  <a:t> (which was not there before?)</a:t>
                </a:r>
              </a:p>
              <a:p>
                <a:pPr marL="0" indent="0">
                  <a:buNone/>
                </a:pPr>
                <a:r>
                  <a:rPr lang="en-GB" dirty="0"/>
                  <a:t>Bias is simply added to our convolution operation, following the intuition of the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 + </m:t>
                    </m:r>
                    <m:r>
                      <a:rPr lang="en-GB" i="1" dirty="0" smtClean="0">
                        <a:latin typeface="Cambria Math" panose="02040503050406030204" pitchFamily="18" charset="0"/>
                      </a:rPr>
                      <m:t>𝑏</m:t>
                    </m:r>
                    <m:r>
                      <a:rPr lang="en-GB" i="1" dirty="0" smtClean="0">
                        <a:latin typeface="Cambria Math" panose="02040503050406030204" pitchFamily="18" charset="0"/>
                      </a:rPr>
                      <m:t> </m:t>
                    </m:r>
                  </m:oMath>
                </a14:m>
                <a:r>
                  <a:rPr lang="en-GB" dirty="0"/>
                  <a:t>operation from earlier.</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r>
                        <a:rPr lang="en-GB" b="0" i="0" smtClean="0">
                          <a:latin typeface="Cambria Math" panose="02040503050406030204" pitchFamily="18" charset="0"/>
                        </a:rPr>
                        <m:t>+</m:t>
                      </m:r>
                      <m:r>
                        <a:rPr lang="en-GB" b="0" i="1" smtClean="0">
                          <a:solidFill>
                            <a:srgbClr val="7030A0"/>
                          </a:solidFill>
                          <a:latin typeface="Cambria Math" panose="02040503050406030204" pitchFamily="18" charset="0"/>
                        </a:rPr>
                        <m:t>𝑏</m:t>
                      </m:r>
                    </m:oMath>
                  </m:oMathPara>
                </a14:m>
                <a:endParaRPr lang="en-SG" i="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2175BBF9-2B9D-B6B6-5581-38942EDE386C}"/>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681"/>
                </a:stretch>
              </a:blipFill>
            </p:spPr>
            <p:txBody>
              <a:bodyPr/>
              <a:lstStyle/>
              <a:p>
                <a:r>
                  <a:rPr lang="en-SG">
                    <a:noFill/>
                  </a:rPr>
                  <a:t> </a:t>
                </a:r>
              </a:p>
            </p:txBody>
          </p:sp>
        </mc:Fallback>
      </mc:AlternateContent>
      <p:cxnSp>
        <p:nvCxnSpPr>
          <p:cNvPr id="7" name="Straight Connector 6">
            <a:extLst>
              <a:ext uri="{FF2B5EF4-FFF2-40B4-BE49-F238E27FC236}">
                <a16:creationId xmlns:a16="http://schemas.microsoft.com/office/drawing/2014/main" id="{B1A294BD-C54E-CB56-3CFE-106FD7CD8D96}"/>
              </a:ext>
            </a:extLst>
          </p:cNvPr>
          <p:cNvCxnSpPr/>
          <p:nvPr/>
        </p:nvCxnSpPr>
        <p:spPr>
          <a:xfrm flipH="1">
            <a:off x="3860801" y="5103446"/>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6894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p:txBody>
              <a:bodyPr>
                <a:normAutofit/>
              </a:bodyPr>
              <a:lstStyle/>
              <a:p>
                <a:pPr marL="0" indent="0">
                  <a:buNone/>
                </a:pPr>
                <a:r>
                  <a:rPr lang="en-GB" dirty="0"/>
                  <a:t>In the </a:t>
                </a:r>
                <a:r>
                  <a:rPr lang="en-GB" dirty="0" err="1"/>
                  <a:t>PyTorch</a:t>
                </a:r>
                <a:r>
                  <a:rPr lang="en-GB" dirty="0"/>
                  <a:t> Conv2d operations, the input images </a:t>
                </a:r>
                <a14:m>
                  <m:oMath xmlns:m="http://schemas.openxmlformats.org/officeDocument/2006/math">
                    <m:r>
                      <a:rPr lang="en-GB" i="1" dirty="0" smtClean="0">
                        <a:latin typeface="Cambria Math" panose="02040503050406030204" pitchFamily="18" charset="0"/>
                      </a:rPr>
                      <m:t>𝑋</m:t>
                    </m:r>
                  </m:oMath>
                </a14:m>
                <a:r>
                  <a:rPr lang="en-GB" dirty="0"/>
                  <a:t> need to be formatted as a 4D tensor of size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𝑠</m:t>
                        </m:r>
                      </m:sub>
                    </m:sSub>
                    <m:r>
                      <a:rPr lang="en-GB" b="0" i="1" smtClean="0">
                        <a:latin typeface="Cambria Math" panose="02040503050406030204" pitchFamily="18" charset="0"/>
                      </a:rPr>
                      <m:t>×</m:t>
                    </m:r>
                    <m:r>
                      <a:rPr lang="en-GB" b="0" i="1" smtClean="0">
                        <a:latin typeface="Cambria Math" panose="02040503050406030204" pitchFamily="18" charset="0"/>
                      </a:rPr>
                      <m:t>𝑐</m:t>
                    </m:r>
                    <m:r>
                      <a:rPr lang="en-GB" b="0" i="1" smtClean="0">
                        <a:latin typeface="Cambria Math" panose="02040503050406030204" pitchFamily="18" charset="0"/>
                      </a:rPr>
                      <m:t>×</m:t>
                    </m:r>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oMath>
                </a14:m>
                <a:r>
                  <a:rPr lang="en-SG" dirty="0"/>
                  <a:t>, with</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𝑠</m:t>
                        </m:r>
                      </m:sub>
                    </m:sSub>
                  </m:oMath>
                </a14:m>
                <a:r>
                  <a:rPr lang="en-GB" b="0" dirty="0"/>
                  <a:t>, the number of samples/images in batch of data </a:t>
                </a:r>
                <a14:m>
                  <m:oMath xmlns:m="http://schemas.openxmlformats.org/officeDocument/2006/math">
                    <m:r>
                      <a:rPr lang="en-GB" b="0" i="1" dirty="0" smtClean="0">
                        <a:latin typeface="Cambria Math" panose="02040503050406030204" pitchFamily="18" charset="0"/>
                      </a:rPr>
                      <m:t>𝑋</m:t>
                    </m:r>
                  </m:oMath>
                </a14:m>
                <a:r>
                  <a:rPr lang="en-GB" b="0" dirty="0">
                    <a:latin typeface="Cambria Math" panose="02040503050406030204" pitchFamily="18" charset="0"/>
                  </a:rPr>
                  <a:t>,</a:t>
                </a:r>
              </a:p>
              <a:p>
                <a14:m>
                  <m:oMath xmlns:m="http://schemas.openxmlformats.org/officeDocument/2006/math">
                    <m:r>
                      <a:rPr lang="en-GB" b="0" i="1" smtClean="0">
                        <a:latin typeface="Cambria Math" panose="02040503050406030204" pitchFamily="18" charset="0"/>
                      </a:rPr>
                      <m:t>𝑐</m:t>
                    </m:r>
                  </m:oMath>
                </a14:m>
                <a:r>
                  <a:rPr lang="en-GB" dirty="0"/>
                  <a:t> , the number of channels in images of batch </a:t>
                </a:r>
                <a14:m>
                  <m:oMath xmlns:m="http://schemas.openxmlformats.org/officeDocument/2006/math">
                    <m:r>
                      <a:rPr lang="en-GB" i="1" dirty="0" smtClean="0">
                        <a:latin typeface="Cambria Math" panose="02040503050406030204" pitchFamily="18" charset="0"/>
                      </a:rPr>
                      <m:t>𝑋</m:t>
                    </m:r>
                  </m:oMath>
                </a14:m>
                <a:r>
                  <a:rPr lang="en-GB" dirty="0"/>
                  <a:t> (e.g. greyscale = 1, RGB = 3),</a:t>
                </a:r>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h</m:t>
                    </m:r>
                  </m:oMath>
                </a14:m>
                <a:r>
                  <a:rPr lang="en-GB" dirty="0"/>
                  <a:t> , the height for images batch of data </a:t>
                </a:r>
                <a14:m>
                  <m:oMath xmlns:m="http://schemas.openxmlformats.org/officeDocument/2006/math">
                    <m:r>
                      <a:rPr lang="en-GB" i="1" dirty="0" smtClean="0">
                        <a:latin typeface="Cambria Math" panose="02040503050406030204" pitchFamily="18" charset="0"/>
                      </a:rPr>
                      <m:t>𝑋</m:t>
                    </m:r>
                  </m:oMath>
                </a14:m>
                <a:r>
                  <a:rPr lang="en-GB" dirty="0"/>
                  <a:t>, </a:t>
                </a:r>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𝑤</m:t>
                    </m:r>
                  </m:oMath>
                </a14:m>
                <a:r>
                  <a:rPr lang="en-GB" dirty="0"/>
                  <a:t> , the width for images batch of data </a:t>
                </a:r>
                <a14:m>
                  <m:oMath xmlns:m="http://schemas.openxmlformats.org/officeDocument/2006/math">
                    <m:r>
                      <a:rPr lang="en-GB" i="1" dirty="0">
                        <a:latin typeface="Cambria Math" panose="02040503050406030204" pitchFamily="18" charset="0"/>
                      </a:rPr>
                      <m:t>𝑋</m:t>
                    </m:r>
                  </m:oMath>
                </a14:m>
                <a:r>
                  <a:rPr lang="en-GB" dirty="0"/>
                  <a:t>.</a:t>
                </a:r>
              </a:p>
              <a:p>
                <a:pPr marL="0" indent="0">
                  <a:buNone/>
                </a:pPr>
                <a:r>
                  <a:rPr lang="en-GB" dirty="0"/>
                  <a:t>Same thing for the kernel</a:t>
                </a:r>
                <a:endParaRPr lang="en-SG" dirty="0"/>
              </a:p>
            </p:txBody>
          </p:sp>
        </mc:Choice>
        <mc:Fallback xmlns="">
          <p:sp>
            <p:nvSpPr>
              <p:cNvPr id="3" name="Content Placeholder 2">
                <a:extLst>
                  <a:ext uri="{FF2B5EF4-FFF2-40B4-BE49-F238E27FC236}">
                    <a16:creationId xmlns:a16="http://schemas.microsoft.com/office/drawing/2014/main" id="{2175BBF9-2B9D-B6B6-5581-38942EDE386C}"/>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17442235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4"/>
                <a:ext cx="3514969" cy="5032375"/>
              </a:xfrm>
            </p:spPr>
            <p:txBody>
              <a:bodyPr/>
              <a:lstStyle/>
              <a:p>
                <a:pPr marL="0" indent="0">
                  <a:buNone/>
                </a:pPr>
                <a:r>
                  <a:rPr lang="en-GB" dirty="0"/>
                  <a:t>This is the reason for reshaping the kernel</a:t>
                </a:r>
              </a:p>
              <a:p>
                <a:r>
                  <a:rPr lang="en-GB" dirty="0"/>
                  <a:t>from a 2D NumPy array of size </a:t>
                </a:r>
                <a14:m>
                  <m:oMath xmlns:m="http://schemas.openxmlformats.org/officeDocument/2006/math">
                    <m:d>
                      <m:dPr>
                        <m:ctrlPr>
                          <a:rPr lang="en-GB" i="1" dirty="0" smtClean="0">
                            <a:latin typeface="Cambria Math" panose="02040503050406030204" pitchFamily="18" charset="0"/>
                          </a:rPr>
                        </m:ctrlPr>
                      </m:dPr>
                      <m:e>
                        <m:r>
                          <a:rPr lang="en-GB" i="1" dirty="0" smtClean="0">
                            <a:latin typeface="Cambria Math" panose="02040503050406030204" pitchFamily="18" charset="0"/>
                          </a:rPr>
                          <m:t>𝑘</m:t>
                        </m:r>
                        <m:r>
                          <a:rPr lang="en-GB" i="1" dirty="0" smtClean="0">
                            <a:latin typeface="Cambria Math" panose="02040503050406030204" pitchFamily="18" charset="0"/>
                          </a:rPr>
                          <m:t>, </m:t>
                        </m:r>
                        <m:r>
                          <a:rPr lang="en-GB" i="1" dirty="0" smtClean="0">
                            <a:latin typeface="Cambria Math" panose="02040503050406030204" pitchFamily="18" charset="0"/>
                          </a:rPr>
                          <m:t>𝑘</m:t>
                        </m:r>
                      </m:e>
                    </m:d>
                  </m:oMath>
                </a14:m>
                <a:r>
                  <a:rPr lang="en-GB" dirty="0"/>
                  <a:t>,</a:t>
                </a:r>
              </a:p>
              <a:p>
                <a:r>
                  <a:rPr lang="en-GB" dirty="0"/>
                  <a:t>to a 4D </a:t>
                </a:r>
                <a:r>
                  <a:rPr lang="en-GB" dirty="0" err="1"/>
                  <a:t>PyTorch</a:t>
                </a:r>
                <a:r>
                  <a:rPr lang="en-GB" dirty="0"/>
                  <a:t> tensor of size </a:t>
                </a:r>
                <a14:m>
                  <m:oMath xmlns:m="http://schemas.openxmlformats.org/officeDocument/2006/math">
                    <m:r>
                      <a:rPr lang="en-GB" i="1" dirty="0" smtClean="0">
                        <a:latin typeface="Cambria Math" panose="02040503050406030204" pitchFamily="18" charset="0"/>
                      </a:rPr>
                      <m:t>(1, 1, </m:t>
                    </m:r>
                    <m:r>
                      <a:rPr lang="en-GB" i="1" dirty="0" smtClean="0">
                        <a:latin typeface="Cambria Math" panose="02040503050406030204" pitchFamily="18" charset="0"/>
                      </a:rPr>
                      <m:t>𝑘</m:t>
                    </m:r>
                    <m:r>
                      <a:rPr lang="en-GB" i="1" dirty="0" smtClean="0">
                        <a:latin typeface="Cambria Math" panose="02040503050406030204" pitchFamily="18" charset="0"/>
                      </a:rPr>
                      <m:t>, </m:t>
                    </m:r>
                    <m:r>
                      <a:rPr lang="en-GB" i="1" dirty="0" smtClean="0">
                        <a:latin typeface="Cambria Math" panose="02040503050406030204" pitchFamily="18" charset="0"/>
                      </a:rPr>
                      <m:t>𝑘</m:t>
                    </m:r>
                    <m:r>
                      <a:rPr lang="en-GB" i="1" dirty="0" smtClean="0">
                        <a:latin typeface="Cambria Math" panose="02040503050406030204" pitchFamily="18" charset="0"/>
                      </a:rPr>
                      <m:t>)</m:t>
                    </m:r>
                  </m:oMath>
                </a14:m>
                <a:r>
                  <a:rPr lang="en-GB" dirty="0"/>
                  <a:t>.</a:t>
                </a:r>
              </a:p>
              <a:p>
                <a:pPr marL="0" indent="0">
                  <a:buNone/>
                </a:pPr>
                <a:r>
                  <a:rPr lang="en-GB" dirty="0"/>
                  <a:t>And eventually flipping the kernel along the last two dimensions.</a:t>
                </a:r>
                <a:endParaRPr lang="en-SG" dirty="0"/>
              </a:p>
            </p:txBody>
          </p:sp>
        </mc:Choice>
        <mc:Fallback xmlns="">
          <p:sp>
            <p:nvSpPr>
              <p:cNvPr id="3" name="Content Placeholder 2">
                <a:extLst>
                  <a:ext uri="{FF2B5EF4-FFF2-40B4-BE49-F238E27FC236}">
                    <a16:creationId xmlns:a16="http://schemas.microsoft.com/office/drawing/2014/main" id="{2175BBF9-2B9D-B6B6-5581-38942EDE386C}"/>
                  </a:ext>
                </a:extLst>
              </p:cNvPr>
              <p:cNvSpPr>
                <a:spLocks noGrp="1" noRot="1" noChangeAspect="1" noMove="1" noResize="1" noEditPoints="1" noAdjustHandles="1" noChangeArrowheads="1" noChangeShapeType="1" noTextEdit="1"/>
              </p:cNvSpPr>
              <p:nvPr>
                <p:ph idx="1"/>
              </p:nvPr>
            </p:nvSpPr>
            <p:spPr>
              <a:xfrm>
                <a:off x="838200" y="1825624"/>
                <a:ext cx="3514969" cy="5032375"/>
              </a:xfrm>
              <a:blipFill>
                <a:blip r:embed="rId2"/>
                <a:stretch>
                  <a:fillRect l="-3646" t="-1937" r="-5382"/>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3"/>
          <a:stretch>
            <a:fillRect/>
          </a:stretch>
        </p:blipFill>
        <p:spPr>
          <a:xfrm>
            <a:off x="4671146" y="1510934"/>
            <a:ext cx="7163800" cy="5172797"/>
          </a:xfrm>
          <a:prstGeom prst="rect">
            <a:avLst/>
          </a:prstGeom>
        </p:spPr>
      </p:pic>
      <p:sp>
        <p:nvSpPr>
          <p:cNvPr id="6" name="Rectangle 5">
            <a:extLst>
              <a:ext uri="{FF2B5EF4-FFF2-40B4-BE49-F238E27FC236}">
                <a16:creationId xmlns:a16="http://schemas.microsoft.com/office/drawing/2014/main" id="{A034C048-04F6-E33B-D1B6-11C4870DDC7C}"/>
              </a:ext>
            </a:extLst>
          </p:cNvPr>
          <p:cNvSpPr/>
          <p:nvPr/>
        </p:nvSpPr>
        <p:spPr>
          <a:xfrm flipV="1">
            <a:off x="5376985" y="1969476"/>
            <a:ext cx="5439507" cy="151618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8620957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1772E-A69F-BBFE-C944-58D9A5EC27C2}"/>
              </a:ext>
            </a:extLst>
          </p:cNvPr>
          <p:cNvSpPr>
            <a:spLocks noGrp="1"/>
          </p:cNvSpPr>
          <p:nvPr>
            <p:ph type="title"/>
          </p:nvPr>
        </p:nvSpPr>
        <p:spPr/>
        <p:txBody>
          <a:bodyPr/>
          <a:lstStyle/>
          <a:p>
            <a:r>
              <a:rPr lang="en-GB" dirty="0"/>
              <a:t>If we use the MNIST </a:t>
            </a:r>
            <a:r>
              <a:rPr lang="en-GB" dirty="0" err="1"/>
              <a:t>dataloader</a:t>
            </a:r>
            <a:r>
              <a:rPr lang="en-GB" dirty="0"/>
              <a:t>…</a:t>
            </a:r>
            <a:endParaRPr lang="en-SG" dirty="0"/>
          </a:p>
        </p:txBody>
      </p:sp>
      <p:pic>
        <p:nvPicPr>
          <p:cNvPr id="5" name="Picture 4">
            <a:extLst>
              <a:ext uri="{FF2B5EF4-FFF2-40B4-BE49-F238E27FC236}">
                <a16:creationId xmlns:a16="http://schemas.microsoft.com/office/drawing/2014/main" id="{D3E3A64A-CDBE-A7F6-399C-2A291357A497}"/>
              </a:ext>
            </a:extLst>
          </p:cNvPr>
          <p:cNvPicPr>
            <a:picLocks noChangeAspect="1"/>
          </p:cNvPicPr>
          <p:nvPr/>
        </p:nvPicPr>
        <p:blipFill>
          <a:blip r:embed="rId2"/>
          <a:stretch>
            <a:fillRect/>
          </a:stretch>
        </p:blipFill>
        <p:spPr>
          <a:xfrm>
            <a:off x="179179" y="1511775"/>
            <a:ext cx="8644960" cy="5346225"/>
          </a:xfrm>
          <a:prstGeom prst="rect">
            <a:avLst/>
          </a:prstGeom>
        </p:spPr>
      </p:pic>
      <p:sp>
        <p:nvSpPr>
          <p:cNvPr id="6" name="Rectangle 5">
            <a:extLst>
              <a:ext uri="{FF2B5EF4-FFF2-40B4-BE49-F238E27FC236}">
                <a16:creationId xmlns:a16="http://schemas.microsoft.com/office/drawing/2014/main" id="{88607F7E-BEEE-211D-EA43-51A013079569}"/>
              </a:ext>
            </a:extLst>
          </p:cNvPr>
          <p:cNvSpPr/>
          <p:nvPr/>
        </p:nvSpPr>
        <p:spPr>
          <a:xfrm flipH="1" flipV="1">
            <a:off x="179179" y="6205415"/>
            <a:ext cx="2423342" cy="21101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E7DA8CA2-80F3-0E1F-7922-05F4B0D3EA0B}"/>
              </a:ext>
            </a:extLst>
          </p:cNvPr>
          <p:cNvSpPr/>
          <p:nvPr/>
        </p:nvSpPr>
        <p:spPr>
          <a:xfrm flipH="1">
            <a:off x="331578" y="2321169"/>
            <a:ext cx="8296603" cy="7737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0286AF76-B785-C227-04FB-D380DF738419}"/>
              </a:ext>
            </a:extLst>
          </p:cNvPr>
          <p:cNvSpPr/>
          <p:nvPr/>
        </p:nvSpPr>
        <p:spPr>
          <a:xfrm flipH="1" flipV="1">
            <a:off x="483978" y="4814276"/>
            <a:ext cx="2610912" cy="21101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409749B-01B7-DA29-8FA1-00767CFB1415}"/>
                  </a:ext>
                </a:extLst>
              </p:cNvPr>
              <p:cNvSpPr txBox="1"/>
              <p:nvPr/>
            </p:nvSpPr>
            <p:spPr>
              <a:xfrm>
                <a:off x="6046581" y="3475448"/>
                <a:ext cx="5661441" cy="2677656"/>
              </a:xfrm>
              <a:prstGeom prst="rect">
                <a:avLst/>
              </a:prstGeom>
              <a:noFill/>
            </p:spPr>
            <p:txBody>
              <a:bodyPr wrap="square" rtlCol="0">
                <a:spAutoFit/>
              </a:bodyPr>
              <a:lstStyle/>
              <a:p>
                <a:r>
                  <a:rPr lang="en-GB" sz="2400" b="1" dirty="0">
                    <a:solidFill>
                      <a:schemeClr val="accent2"/>
                    </a:solidFill>
                  </a:rPr>
                  <a:t>MNIST </a:t>
                </a:r>
                <a:r>
                  <a:rPr lang="en-GB" sz="2400" b="1" dirty="0" err="1">
                    <a:solidFill>
                      <a:schemeClr val="accent2"/>
                    </a:solidFill>
                  </a:rPr>
                  <a:t>dataloader</a:t>
                </a:r>
                <a:r>
                  <a:rPr lang="en-GB" sz="2400" b="1" dirty="0">
                    <a:solidFill>
                      <a:schemeClr val="accent2"/>
                    </a:solidFill>
                  </a:rPr>
                  <a:t> will give batches of data as 4D tensors of shape</a:t>
                </a:r>
                <a:br>
                  <a:rPr lang="en-GB" sz="2400" b="1" dirty="0">
                    <a:solidFill>
                      <a:schemeClr val="accent2"/>
                    </a:solidFill>
                  </a:rPr>
                </a:br>
                <a14:m>
                  <m:oMath xmlns:m="http://schemas.openxmlformats.org/officeDocument/2006/math">
                    <m:sSub>
                      <m:sSubPr>
                        <m:ctrlPr>
                          <a:rPr lang="en-GB" sz="2400" b="1" i="1" smtClean="0">
                            <a:solidFill>
                              <a:schemeClr val="accent2"/>
                            </a:solidFill>
                            <a:latin typeface="Cambria Math" panose="02040503050406030204" pitchFamily="18" charset="0"/>
                          </a:rPr>
                        </m:ctrlPr>
                      </m:sSubPr>
                      <m:e>
                        <m:r>
                          <a:rPr lang="en-GB" sz="2400" b="1" i="1" smtClean="0">
                            <a:solidFill>
                              <a:schemeClr val="accent2"/>
                            </a:solidFill>
                            <a:latin typeface="Cambria Math" panose="02040503050406030204" pitchFamily="18" charset="0"/>
                          </a:rPr>
                          <m:t>𝑵</m:t>
                        </m:r>
                      </m:e>
                      <m:sub>
                        <m:r>
                          <a:rPr lang="en-GB" sz="2400" b="1" i="1" smtClean="0">
                            <a:solidFill>
                              <a:schemeClr val="accent2"/>
                            </a:solidFill>
                            <a:latin typeface="Cambria Math" panose="02040503050406030204" pitchFamily="18" charset="0"/>
                          </a:rPr>
                          <m:t>𝒔</m:t>
                        </m:r>
                      </m:sub>
                    </m:sSub>
                    <m:r>
                      <a:rPr lang="en-GB" sz="2400" b="1" i="1" smtClean="0">
                        <a:solidFill>
                          <a:schemeClr val="accent2"/>
                        </a:solidFill>
                        <a:latin typeface="Cambria Math" panose="02040503050406030204" pitchFamily="18" charset="0"/>
                      </a:rPr>
                      <m:t>×</m:t>
                    </m:r>
                    <m:r>
                      <a:rPr lang="en-GB" sz="2400" b="1" i="1" smtClean="0">
                        <a:solidFill>
                          <a:schemeClr val="accent2"/>
                        </a:solidFill>
                        <a:latin typeface="Cambria Math" panose="02040503050406030204" pitchFamily="18" charset="0"/>
                      </a:rPr>
                      <m:t>𝒄</m:t>
                    </m:r>
                    <m:r>
                      <a:rPr lang="en-GB" sz="2400" b="1" i="1" smtClean="0">
                        <a:solidFill>
                          <a:schemeClr val="accent2"/>
                        </a:solidFill>
                        <a:latin typeface="Cambria Math" panose="02040503050406030204" pitchFamily="18" charset="0"/>
                      </a:rPr>
                      <m:t>×</m:t>
                    </m:r>
                    <m:r>
                      <a:rPr lang="en-GB" sz="2400" b="1" i="1" smtClean="0">
                        <a:solidFill>
                          <a:schemeClr val="accent2"/>
                        </a:solidFill>
                        <a:latin typeface="Cambria Math" panose="02040503050406030204" pitchFamily="18" charset="0"/>
                      </a:rPr>
                      <m:t>𝒉</m:t>
                    </m:r>
                    <m:r>
                      <a:rPr lang="en-GB" sz="2400" b="1" i="1" smtClean="0">
                        <a:solidFill>
                          <a:schemeClr val="accent2"/>
                        </a:solidFill>
                        <a:latin typeface="Cambria Math" panose="02040503050406030204" pitchFamily="18" charset="0"/>
                      </a:rPr>
                      <m:t>×</m:t>
                    </m:r>
                    <m:r>
                      <a:rPr lang="en-GB" sz="2400" b="1" i="1" smtClean="0">
                        <a:solidFill>
                          <a:schemeClr val="accent2"/>
                        </a:solidFill>
                        <a:latin typeface="Cambria Math" panose="02040503050406030204" pitchFamily="18" charset="0"/>
                      </a:rPr>
                      <m:t>𝒘</m:t>
                    </m:r>
                  </m:oMath>
                </a14:m>
                <a:r>
                  <a:rPr lang="en-SG" sz="2400" b="1" dirty="0">
                    <a:solidFill>
                      <a:schemeClr val="accent2"/>
                    </a:solidFill>
                  </a:rPr>
                  <a:t>, with:</a:t>
                </a:r>
              </a:p>
              <a:p>
                <a:pPr marL="342900" indent="-342900">
                  <a:buFont typeface="Arial" panose="020B0604020202020204" pitchFamily="34" charset="0"/>
                  <a:buChar char="•"/>
                </a:pPr>
                <a14:m>
                  <m:oMath xmlns:m="http://schemas.openxmlformats.org/officeDocument/2006/math">
                    <m:sSub>
                      <m:sSubPr>
                        <m:ctrlPr>
                          <a:rPr lang="en-GB" sz="2400" b="1" i="1" smtClean="0">
                            <a:solidFill>
                              <a:schemeClr val="accent2"/>
                            </a:solidFill>
                            <a:latin typeface="Cambria Math" panose="02040503050406030204" pitchFamily="18" charset="0"/>
                          </a:rPr>
                        </m:ctrlPr>
                      </m:sSubPr>
                      <m:e>
                        <m:r>
                          <a:rPr lang="en-GB" sz="2400" b="1" i="1" smtClean="0">
                            <a:solidFill>
                              <a:schemeClr val="accent2"/>
                            </a:solidFill>
                            <a:latin typeface="Cambria Math" panose="02040503050406030204" pitchFamily="18" charset="0"/>
                          </a:rPr>
                          <m:t>𝑵</m:t>
                        </m:r>
                      </m:e>
                      <m:sub>
                        <m:r>
                          <a:rPr lang="en-GB" sz="2400" b="1" i="1" smtClean="0">
                            <a:solidFill>
                              <a:schemeClr val="accent2"/>
                            </a:solidFill>
                            <a:latin typeface="Cambria Math" panose="02040503050406030204" pitchFamily="18" charset="0"/>
                          </a:rPr>
                          <m:t>𝒔</m:t>
                        </m:r>
                      </m:sub>
                    </m:sSub>
                  </m:oMath>
                </a14:m>
                <a:r>
                  <a:rPr lang="en-GB" sz="2400" b="1" dirty="0">
                    <a:solidFill>
                      <a:schemeClr val="accent2"/>
                    </a:solidFill>
                  </a:rPr>
                  <a:t>, being batch size (here, 256 images)</a:t>
                </a:r>
                <a:r>
                  <a:rPr lang="en-GB" sz="2400" b="1" dirty="0">
                    <a:solidFill>
                      <a:schemeClr val="accent2"/>
                    </a:solidFill>
                    <a:latin typeface="Cambria Math" panose="02040503050406030204" pitchFamily="18" charset="0"/>
                  </a:rPr>
                  <a:t>,</a:t>
                </a:r>
              </a:p>
              <a:p>
                <a:pPr marL="342900" indent="-342900">
                  <a:buFont typeface="Arial" panose="020B0604020202020204" pitchFamily="34" charset="0"/>
                  <a:buChar char="•"/>
                </a:pPr>
                <a14:m>
                  <m:oMath xmlns:m="http://schemas.openxmlformats.org/officeDocument/2006/math">
                    <m:r>
                      <a:rPr lang="en-GB" sz="2400" b="1" i="1" smtClean="0">
                        <a:solidFill>
                          <a:schemeClr val="accent2"/>
                        </a:solidFill>
                        <a:latin typeface="Cambria Math" panose="02040503050406030204" pitchFamily="18" charset="0"/>
                      </a:rPr>
                      <m:t>𝒄</m:t>
                    </m:r>
                  </m:oMath>
                </a14:m>
                <a:r>
                  <a:rPr lang="en-GB" sz="2400" b="1" dirty="0">
                    <a:solidFill>
                      <a:schemeClr val="accent2"/>
                    </a:solidFill>
                  </a:rPr>
                  <a:t> , the number of channels (here, 1),</a:t>
                </a:r>
                <a:endParaRPr lang="en-GB" sz="2400" b="1" i="1" dirty="0">
                  <a:solidFill>
                    <a:schemeClr val="accent2"/>
                  </a:solidFill>
                  <a:latin typeface="Cambria Math" panose="02040503050406030204" pitchFamily="18" charset="0"/>
                </a:endParaRPr>
              </a:p>
              <a:p>
                <a:pPr marL="342900" indent="-342900">
                  <a:buFont typeface="Arial" panose="020B0604020202020204" pitchFamily="34" charset="0"/>
                  <a:buChar char="•"/>
                </a:pPr>
                <a14:m>
                  <m:oMath xmlns:m="http://schemas.openxmlformats.org/officeDocument/2006/math">
                    <m:r>
                      <a:rPr lang="en-GB" sz="2400" b="1" i="1" smtClean="0">
                        <a:solidFill>
                          <a:schemeClr val="accent2"/>
                        </a:solidFill>
                        <a:latin typeface="Cambria Math" panose="02040503050406030204" pitchFamily="18" charset="0"/>
                      </a:rPr>
                      <m:t>𝒉</m:t>
                    </m:r>
                  </m:oMath>
                </a14:m>
                <a:r>
                  <a:rPr lang="en-GB" sz="2400" b="1" dirty="0">
                    <a:solidFill>
                      <a:schemeClr val="accent2"/>
                    </a:solidFill>
                  </a:rPr>
                  <a:t> , the height for images (here, 28), </a:t>
                </a:r>
                <a:endParaRPr lang="en-GB" sz="2400" b="1" i="1" dirty="0">
                  <a:solidFill>
                    <a:schemeClr val="accent2"/>
                  </a:solidFill>
                  <a:latin typeface="Cambria Math" panose="02040503050406030204" pitchFamily="18" charset="0"/>
                </a:endParaRPr>
              </a:p>
              <a:p>
                <a:pPr marL="342900" indent="-342900">
                  <a:buFont typeface="Arial" panose="020B0604020202020204" pitchFamily="34" charset="0"/>
                  <a:buChar char="•"/>
                </a:pPr>
                <a14:m>
                  <m:oMath xmlns:m="http://schemas.openxmlformats.org/officeDocument/2006/math">
                    <m:r>
                      <a:rPr lang="en-GB" sz="2400" b="1" i="1" smtClean="0">
                        <a:solidFill>
                          <a:schemeClr val="accent2"/>
                        </a:solidFill>
                        <a:latin typeface="Cambria Math" panose="02040503050406030204" pitchFamily="18" charset="0"/>
                      </a:rPr>
                      <m:t>𝒘</m:t>
                    </m:r>
                  </m:oMath>
                </a14:m>
                <a:r>
                  <a:rPr lang="en-GB" sz="2400" b="1" dirty="0">
                    <a:solidFill>
                      <a:schemeClr val="accent2"/>
                    </a:solidFill>
                  </a:rPr>
                  <a:t> , the height for images (here, 28).</a:t>
                </a:r>
                <a:endParaRPr lang="en-SG" sz="2400" b="1" dirty="0">
                  <a:solidFill>
                    <a:schemeClr val="accent2"/>
                  </a:solidFill>
                </a:endParaRPr>
              </a:p>
            </p:txBody>
          </p:sp>
        </mc:Choice>
        <mc:Fallback>
          <p:sp>
            <p:nvSpPr>
              <p:cNvPr id="10" name="TextBox 9">
                <a:extLst>
                  <a:ext uri="{FF2B5EF4-FFF2-40B4-BE49-F238E27FC236}">
                    <a16:creationId xmlns:a16="http://schemas.microsoft.com/office/drawing/2014/main" id="{8409749B-01B7-DA29-8FA1-00767CFB1415}"/>
                  </a:ext>
                </a:extLst>
              </p:cNvPr>
              <p:cNvSpPr txBox="1">
                <a:spLocks noRot="1" noChangeAspect="1" noMove="1" noResize="1" noEditPoints="1" noAdjustHandles="1" noChangeArrowheads="1" noChangeShapeType="1" noTextEdit="1"/>
              </p:cNvSpPr>
              <p:nvPr/>
            </p:nvSpPr>
            <p:spPr>
              <a:xfrm>
                <a:off x="6046581" y="3475448"/>
                <a:ext cx="5661441" cy="2677656"/>
              </a:xfrm>
              <a:prstGeom prst="rect">
                <a:avLst/>
              </a:prstGeom>
              <a:blipFill>
                <a:blip r:embed="rId3"/>
                <a:stretch>
                  <a:fillRect l="-1722" t="-1822" r="-1399" b="-4328"/>
                </a:stretch>
              </a:blipFill>
            </p:spPr>
            <p:txBody>
              <a:bodyPr/>
              <a:lstStyle/>
              <a:p>
                <a:r>
                  <a:rPr lang="en-GB">
                    <a:noFill/>
                  </a:rPr>
                  <a:t> </a:t>
                </a:r>
              </a:p>
            </p:txBody>
          </p:sp>
        </mc:Fallback>
      </mc:AlternateContent>
    </p:spTree>
    <p:extLst>
      <p:ext uri="{BB962C8B-B14F-4D97-AF65-F5344CB8AC3E}">
        <p14:creationId xmlns:p14="http://schemas.microsoft.com/office/powerpoint/2010/main" val="30449165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1772E-A69F-BBFE-C944-58D9A5EC27C2}"/>
              </a:ext>
            </a:extLst>
          </p:cNvPr>
          <p:cNvSpPr>
            <a:spLocks noGrp="1"/>
          </p:cNvSpPr>
          <p:nvPr>
            <p:ph type="title"/>
          </p:nvPr>
        </p:nvSpPr>
        <p:spPr/>
        <p:txBody>
          <a:bodyPr/>
          <a:lstStyle/>
          <a:p>
            <a:r>
              <a:rPr lang="en-GB" dirty="0"/>
              <a:t>If we use the MNIST </a:t>
            </a:r>
            <a:r>
              <a:rPr lang="en-GB" dirty="0" err="1"/>
              <a:t>dataloader</a:t>
            </a:r>
            <a:r>
              <a:rPr lang="en-GB" dirty="0"/>
              <a:t>…</a:t>
            </a:r>
            <a:endParaRPr lang="en-SG" dirty="0"/>
          </a:p>
        </p:txBody>
      </p:sp>
      <p:pic>
        <p:nvPicPr>
          <p:cNvPr id="5" name="Picture 4">
            <a:extLst>
              <a:ext uri="{FF2B5EF4-FFF2-40B4-BE49-F238E27FC236}">
                <a16:creationId xmlns:a16="http://schemas.microsoft.com/office/drawing/2014/main" id="{D3E3A64A-CDBE-A7F6-399C-2A291357A497}"/>
              </a:ext>
            </a:extLst>
          </p:cNvPr>
          <p:cNvPicPr>
            <a:picLocks noChangeAspect="1"/>
          </p:cNvPicPr>
          <p:nvPr/>
        </p:nvPicPr>
        <p:blipFill>
          <a:blip r:embed="rId2"/>
          <a:stretch>
            <a:fillRect/>
          </a:stretch>
        </p:blipFill>
        <p:spPr>
          <a:xfrm>
            <a:off x="179179" y="1511775"/>
            <a:ext cx="8644960" cy="5346225"/>
          </a:xfrm>
          <a:prstGeom prst="rect">
            <a:avLst/>
          </a:prstGeom>
        </p:spPr>
      </p:pic>
      <p:sp>
        <p:nvSpPr>
          <p:cNvPr id="6" name="Rectangle 5">
            <a:extLst>
              <a:ext uri="{FF2B5EF4-FFF2-40B4-BE49-F238E27FC236}">
                <a16:creationId xmlns:a16="http://schemas.microsoft.com/office/drawing/2014/main" id="{88607F7E-BEEE-211D-EA43-51A013079569}"/>
              </a:ext>
            </a:extLst>
          </p:cNvPr>
          <p:cNvSpPr/>
          <p:nvPr/>
        </p:nvSpPr>
        <p:spPr>
          <a:xfrm flipH="1">
            <a:off x="179179" y="6408615"/>
            <a:ext cx="2423342" cy="37513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409749B-01B7-DA29-8FA1-00767CFB1415}"/>
                  </a:ext>
                </a:extLst>
              </p:cNvPr>
              <p:cNvSpPr txBox="1"/>
              <p:nvPr/>
            </p:nvSpPr>
            <p:spPr>
              <a:xfrm>
                <a:off x="6955692" y="3686464"/>
                <a:ext cx="4270535" cy="2308324"/>
              </a:xfrm>
              <a:prstGeom prst="rect">
                <a:avLst/>
              </a:prstGeom>
              <a:noFill/>
            </p:spPr>
            <p:txBody>
              <a:bodyPr wrap="square" rtlCol="0">
                <a:spAutoFit/>
              </a:bodyPr>
              <a:lstStyle/>
              <a:p>
                <a:r>
                  <a:rPr lang="en-GB" sz="2400" b="1" dirty="0">
                    <a:solidFill>
                      <a:schemeClr val="accent2"/>
                    </a:solidFill>
                  </a:rPr>
                  <a:t>Not using a padding, stride 1, and kernel size is 5.</a:t>
                </a:r>
              </a:p>
              <a:p>
                <a:endParaRPr lang="en-GB" sz="2400" b="1" dirty="0">
                  <a:solidFill>
                    <a:schemeClr val="accent2"/>
                  </a:solidFill>
                </a:endParaRPr>
              </a:p>
              <a:p>
                <a:r>
                  <a:rPr lang="en-GB" sz="2400" b="1" dirty="0">
                    <a:solidFill>
                      <a:schemeClr val="accent2"/>
                    </a:solidFill>
                  </a:rPr>
                  <a:t>Our magic formula from earlier then gives:</a:t>
                </a:r>
              </a:p>
              <a:p>
                <a:pPr/>
                <a14:m>
                  <m:oMathPara xmlns:m="http://schemas.openxmlformats.org/officeDocument/2006/math">
                    <m:oMathParaPr>
                      <m:jc m:val="centerGroup"/>
                    </m:oMathParaPr>
                    <m:oMath xmlns:m="http://schemas.openxmlformats.org/officeDocument/2006/math">
                      <m:r>
                        <a:rPr lang="en-GB" sz="2400" b="1" i="1" dirty="0" smtClean="0">
                          <a:solidFill>
                            <a:schemeClr val="accent2"/>
                          </a:solidFill>
                          <a:latin typeface="Cambria Math" panose="02040503050406030204" pitchFamily="18" charset="0"/>
                        </a:rPr>
                        <m:t>𝟐𝟖</m:t>
                      </m:r>
                      <m:r>
                        <a:rPr lang="en-GB" sz="2400" b="1" i="1" dirty="0" smtClean="0">
                          <a:solidFill>
                            <a:schemeClr val="accent2"/>
                          </a:solidFill>
                          <a:latin typeface="Cambria Math" panose="02040503050406030204" pitchFamily="18" charset="0"/>
                        </a:rPr>
                        <m:t>+ </m:t>
                      </m:r>
                      <m:r>
                        <a:rPr lang="en-GB" sz="2400" b="1" i="1" dirty="0" smtClean="0">
                          <a:solidFill>
                            <a:schemeClr val="accent2"/>
                          </a:solidFill>
                          <a:latin typeface="Cambria Math" panose="02040503050406030204" pitchFamily="18" charset="0"/>
                        </a:rPr>
                        <m:t>𝟐</m:t>
                      </m:r>
                      <m:r>
                        <a:rPr lang="en-GB" sz="2400" b="1" i="1" dirty="0" smtClean="0">
                          <a:solidFill>
                            <a:schemeClr val="accent2"/>
                          </a:solidFill>
                          <a:latin typeface="Cambria Math" panose="02040503050406030204" pitchFamily="18" charset="0"/>
                        </a:rPr>
                        <m:t>×</m:t>
                      </m:r>
                      <m:r>
                        <a:rPr lang="en-GB" sz="2400" b="1" i="1" dirty="0" smtClean="0">
                          <a:solidFill>
                            <a:schemeClr val="accent2"/>
                          </a:solidFill>
                          <a:latin typeface="Cambria Math" panose="02040503050406030204" pitchFamily="18" charset="0"/>
                        </a:rPr>
                        <m:t>𝟎</m:t>
                      </m:r>
                      <m:r>
                        <a:rPr lang="en-GB" sz="2400" b="1" i="1" dirty="0" smtClean="0">
                          <a:solidFill>
                            <a:schemeClr val="accent2"/>
                          </a:solidFill>
                          <a:latin typeface="Cambria Math" panose="02040503050406030204" pitchFamily="18" charset="0"/>
                        </a:rPr>
                        <m:t>−</m:t>
                      </m:r>
                      <m:r>
                        <a:rPr lang="en-GB" sz="2400" b="1" i="1" dirty="0" smtClean="0">
                          <a:solidFill>
                            <a:schemeClr val="accent2"/>
                          </a:solidFill>
                          <a:latin typeface="Cambria Math" panose="02040503050406030204" pitchFamily="18" charset="0"/>
                        </a:rPr>
                        <m:t>𝟓</m:t>
                      </m:r>
                      <m:r>
                        <a:rPr lang="en-GB" sz="2400" b="1" i="1" dirty="0" smtClean="0">
                          <a:solidFill>
                            <a:schemeClr val="accent2"/>
                          </a:solidFill>
                          <a:latin typeface="Cambria Math" panose="02040503050406030204" pitchFamily="18" charset="0"/>
                        </a:rPr>
                        <m:t>+</m:t>
                      </m:r>
                      <m:r>
                        <a:rPr lang="en-GB" sz="2400" b="1" i="1" dirty="0" smtClean="0">
                          <a:solidFill>
                            <a:schemeClr val="accent2"/>
                          </a:solidFill>
                          <a:latin typeface="Cambria Math" panose="02040503050406030204" pitchFamily="18" charset="0"/>
                        </a:rPr>
                        <m:t>𝟏</m:t>
                      </m:r>
                      <m:r>
                        <a:rPr lang="en-GB" sz="2400" b="1" i="1" dirty="0" smtClean="0">
                          <a:solidFill>
                            <a:schemeClr val="accent2"/>
                          </a:solidFill>
                          <a:latin typeface="Cambria Math" panose="02040503050406030204" pitchFamily="18" charset="0"/>
                        </a:rPr>
                        <m:t>=</m:t>
                      </m:r>
                      <m:r>
                        <a:rPr lang="en-GB" sz="2400" b="1" i="1" dirty="0" smtClean="0">
                          <a:solidFill>
                            <a:schemeClr val="accent2"/>
                          </a:solidFill>
                          <a:latin typeface="Cambria Math" panose="02040503050406030204" pitchFamily="18" charset="0"/>
                        </a:rPr>
                        <m:t>𝟐𝟒</m:t>
                      </m:r>
                      <m:r>
                        <a:rPr lang="en-GB" sz="2400" b="1" i="1" dirty="0" smtClean="0">
                          <a:solidFill>
                            <a:schemeClr val="accent2"/>
                          </a:solidFill>
                          <a:latin typeface="Cambria Math" panose="02040503050406030204" pitchFamily="18" charset="0"/>
                        </a:rPr>
                        <m:t>.</m:t>
                      </m:r>
                    </m:oMath>
                  </m:oMathPara>
                </a14:m>
                <a:endParaRPr lang="en-SG" sz="2400" b="1" dirty="0">
                  <a:solidFill>
                    <a:schemeClr val="accent2"/>
                  </a:solidFill>
                </a:endParaRPr>
              </a:p>
            </p:txBody>
          </p:sp>
        </mc:Choice>
        <mc:Fallback xmlns="">
          <p:sp>
            <p:nvSpPr>
              <p:cNvPr id="10" name="TextBox 9">
                <a:extLst>
                  <a:ext uri="{FF2B5EF4-FFF2-40B4-BE49-F238E27FC236}">
                    <a16:creationId xmlns:a16="http://schemas.microsoft.com/office/drawing/2014/main" id="{8409749B-01B7-DA29-8FA1-00767CFB1415}"/>
                  </a:ext>
                </a:extLst>
              </p:cNvPr>
              <p:cNvSpPr txBox="1">
                <a:spLocks noRot="1" noChangeAspect="1" noMove="1" noResize="1" noEditPoints="1" noAdjustHandles="1" noChangeArrowheads="1" noChangeShapeType="1" noTextEdit="1"/>
              </p:cNvSpPr>
              <p:nvPr/>
            </p:nvSpPr>
            <p:spPr>
              <a:xfrm>
                <a:off x="6955692" y="3686464"/>
                <a:ext cx="4270535" cy="2308324"/>
              </a:xfrm>
              <a:prstGeom prst="rect">
                <a:avLst/>
              </a:prstGeom>
              <a:blipFill>
                <a:blip r:embed="rId3"/>
                <a:stretch>
                  <a:fillRect l="-2140" t="-2116" r="-143"/>
                </a:stretch>
              </a:blipFill>
            </p:spPr>
            <p:txBody>
              <a:bodyPr/>
              <a:lstStyle/>
              <a:p>
                <a:r>
                  <a:rPr lang="en-SG">
                    <a:noFill/>
                  </a:rPr>
                  <a:t> </a:t>
                </a:r>
              </a:p>
            </p:txBody>
          </p:sp>
        </mc:Fallback>
      </mc:AlternateContent>
    </p:spTree>
    <p:extLst>
      <p:ext uri="{BB962C8B-B14F-4D97-AF65-F5344CB8AC3E}">
        <p14:creationId xmlns:p14="http://schemas.microsoft.com/office/powerpoint/2010/main" val="38513048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C2997-9D06-F97A-2DF6-237B56E95A3A}"/>
              </a:ext>
            </a:extLst>
          </p:cNvPr>
          <p:cNvSpPr>
            <a:spLocks noGrp="1"/>
          </p:cNvSpPr>
          <p:nvPr>
            <p:ph type="title"/>
          </p:nvPr>
        </p:nvSpPr>
        <p:spPr/>
        <p:txBody>
          <a:bodyPr/>
          <a:lstStyle/>
          <a:p>
            <a:r>
              <a:rPr lang="en-GB" dirty="0"/>
              <a:t>A quick word on higher dimensions</a:t>
            </a:r>
            <a:endParaRPr lang="en-SG" dirty="0"/>
          </a:p>
        </p:txBody>
      </p:sp>
      <p:sp>
        <p:nvSpPr>
          <p:cNvPr id="5" name="Content Placeholder 4">
            <a:extLst>
              <a:ext uri="{FF2B5EF4-FFF2-40B4-BE49-F238E27FC236}">
                <a16:creationId xmlns:a16="http://schemas.microsoft.com/office/drawing/2014/main" id="{ED24B781-3CF2-9CDC-FD11-1AFD10F6670C}"/>
              </a:ext>
            </a:extLst>
          </p:cNvPr>
          <p:cNvSpPr>
            <a:spLocks noGrp="1"/>
          </p:cNvSpPr>
          <p:nvPr>
            <p:ph idx="1"/>
          </p:nvPr>
        </p:nvSpPr>
        <p:spPr/>
        <p:txBody>
          <a:bodyPr/>
          <a:lstStyle/>
          <a:p>
            <a:pPr marL="0" indent="0">
              <a:buNone/>
            </a:pPr>
            <a:r>
              <a:rPr lang="en-GB" dirty="0"/>
              <a:t>So far, we have implemented the convolution operation on images that were greyscale (either our flower image or the MNIST dataset).</a:t>
            </a:r>
          </a:p>
          <a:p>
            <a:pPr marL="0" indent="0">
              <a:buNone/>
            </a:pPr>
            <a:endParaRPr lang="en-GB" dirty="0"/>
          </a:p>
          <a:p>
            <a:pPr marL="0" indent="0" algn="ctr">
              <a:buNone/>
            </a:pPr>
            <a:r>
              <a:rPr lang="en-GB" b="1" dirty="0">
                <a:solidFill>
                  <a:srgbClr val="7030A0"/>
                </a:solidFill>
              </a:rPr>
              <a:t>What happens when playing with higher dimension images, i.e. images that have more than one channel (e.g. RGB)?</a:t>
            </a:r>
            <a:endParaRPr lang="en-SG" b="1" dirty="0">
              <a:solidFill>
                <a:srgbClr val="7030A0"/>
              </a:solidFill>
            </a:endParaRPr>
          </a:p>
        </p:txBody>
      </p:sp>
    </p:spTree>
    <p:extLst>
      <p:ext uri="{BB962C8B-B14F-4D97-AF65-F5344CB8AC3E}">
        <p14:creationId xmlns:p14="http://schemas.microsoft.com/office/powerpoint/2010/main" val="42517850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Convolution on high dim</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8" y="1825624"/>
                <a:ext cx="6747137" cy="5032375"/>
              </a:xfrm>
            </p:spPr>
            <p:txBody>
              <a:bodyPr>
                <a:normAutofit/>
              </a:bodyPr>
              <a:lstStyle/>
              <a:p>
                <a:pPr marL="0" indent="0">
                  <a:buNone/>
                </a:pPr>
                <a:r>
                  <a:rPr lang="en-GB" b="1" dirty="0"/>
                  <a:t>In the case of RGB images</a:t>
                </a:r>
                <a:r>
                  <a:rPr lang="en-GB" dirty="0"/>
                  <a:t>, the resulting matrix </a:t>
                </a:r>
                <a14:m>
                  <m:oMath xmlns:m="http://schemas.openxmlformats.org/officeDocument/2006/math">
                    <m:r>
                      <a:rPr lang="en-GB" i="1" dirty="0" smtClean="0">
                        <a:latin typeface="Cambria Math" panose="02040503050406030204" pitchFamily="18" charset="0"/>
                      </a:rPr>
                      <m:t>𝑌</m:t>
                    </m:r>
                  </m:oMath>
                </a14:m>
                <a:r>
                  <a:rPr lang="en-GB" dirty="0"/>
                  <a:t> is then of size </a:t>
                </a:r>
                <a14:m>
                  <m:oMath xmlns:m="http://schemas.openxmlformats.org/officeDocument/2006/math">
                    <m:r>
                      <a:rPr lang="en-GB" b="0" i="0" smtClean="0">
                        <a:latin typeface="Cambria Math" panose="02040503050406030204" pitchFamily="18" charset="0"/>
                      </a:rPr>
                      <m:t>3</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oMath>
                </a14:m>
                <a:r>
                  <a:rPr lang="en-GB" dirty="0"/>
                  <a:t>.</a:t>
                </a:r>
              </a:p>
              <a:p>
                <a:pPr marL="0" indent="0">
                  <a:buNone/>
                </a:pPr>
                <a:r>
                  <a:rPr lang="en-GB" dirty="0"/>
                  <a:t>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r>
                          <a:rPr lang="en-GB" b="0" i="1" smtClean="0">
                            <a:latin typeface="Cambria Math" panose="02040503050406030204" pitchFamily="18" charset="0"/>
                          </a:rPr>
                          <m:t>, </m:t>
                        </m:r>
                        <m:r>
                          <a:rPr lang="en-GB" b="0" i="1" smtClean="0">
                            <a:latin typeface="Cambria Math" panose="02040503050406030204" pitchFamily="18" charset="0"/>
                          </a:rPr>
                          <m:t>𝑙</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on </a:t>
                </a:r>
                <a:r>
                  <a:rPr lang="en-GB" b="1" dirty="0">
                    <a:solidFill>
                      <a:srgbClr val="7030A0"/>
                    </a:solidFill>
                  </a:rPr>
                  <a:t>each channel separately</a:t>
                </a:r>
                <a:r>
                  <a:rPr lang="en-GB" dirty="0"/>
                  <a:t>.</a:t>
                </a:r>
              </a:p>
              <a:p>
                <a:pPr marL="0" indent="0">
                  <a:buNone/>
                </a:pPr>
                <a:r>
                  <a:rPr lang="en-GB" dirty="0"/>
                  <a:t>We then define pixels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𝑙</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m:t>
                        </m:r>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e>
                    </m:d>
                    <m:r>
                      <a:rPr lang="en-GB" b="0" i="1" smtClean="0">
                        <a:latin typeface="Cambria Math" panose="02040503050406030204" pitchFamily="18" charset="0"/>
                      </a:rPr>
                      <m:t>, ∀</m:t>
                    </m:r>
                    <m:r>
                      <a:rPr lang="en-GB" b="0" i="1" smtClean="0">
                        <a:latin typeface="Cambria Math" panose="02040503050406030204" pitchFamily="18" charset="0"/>
                      </a:rPr>
                      <m:t>𝑙</m:t>
                    </m:r>
                    <m:r>
                      <a:rPr lang="en-GB" b="0" i="1" smtClean="0">
                        <a:latin typeface="Cambria Math" panose="02040503050406030204" pitchFamily="18" charset="0"/>
                      </a:rPr>
                      <m:t>∈[1, 3]</m:t>
                    </m:r>
                  </m:oMath>
                </a14:m>
                <a:r>
                  <a:rPr lang="en-GB" dirty="0"/>
                  <a:t>:</a:t>
                </a: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r>
                            <a:rPr lang="en-GB" b="0" i="1" smtClean="0">
                              <a:latin typeface="Cambria Math" panose="02040503050406030204" pitchFamily="18" charset="0"/>
                            </a:rPr>
                            <m:t>,</m:t>
                          </m:r>
                          <m:r>
                            <a:rPr lang="en-GB" b="1" i="1" smtClean="0">
                              <a:solidFill>
                                <a:srgbClr val="7030A0"/>
                              </a:solidFill>
                              <a:latin typeface="Cambria Math" panose="02040503050406030204" pitchFamily="18" charset="0"/>
                            </a:rPr>
                            <m:t>𝒍</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r>
                                    <a:rPr lang="en-GB" b="1" i="1" smtClean="0">
                                      <a:solidFill>
                                        <a:srgbClr val="7030A0"/>
                                      </a:solidFill>
                                      <a:latin typeface="Cambria Math" panose="02040503050406030204" pitchFamily="18" charset="0"/>
                                    </a:rPr>
                                    <m:t>𝒍</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r>
                        <a:rPr lang="en-GB" b="0" i="0" smtClean="0">
                          <a:latin typeface="Cambria Math" panose="02040503050406030204" pitchFamily="18" charset="0"/>
                        </a:rPr>
                        <m:t>+</m:t>
                      </m:r>
                      <m:r>
                        <a:rPr lang="en-GB" b="0" i="1" smtClean="0">
                          <a:latin typeface="Cambria Math" panose="02040503050406030204" pitchFamily="18" charset="0"/>
                        </a:rPr>
                        <m:t>𝑏</m:t>
                      </m:r>
                    </m:oMath>
                  </m:oMathPara>
                </a14:m>
                <a:endParaRPr lang="en-GB" i="1" dirty="0"/>
              </a:p>
              <a:p>
                <a:pPr marL="0" indent="0">
                  <a:buNone/>
                </a:pPr>
                <a:endParaRPr lang="en-GB" dirty="0"/>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8" y="1825624"/>
                <a:ext cx="6747137" cy="5032375"/>
              </a:xfrm>
              <a:blipFill>
                <a:blip r:embed="rId5"/>
                <a:stretch>
                  <a:fillRect l="-1807" t="-1937"/>
                </a:stretch>
              </a:blipFill>
            </p:spPr>
            <p:txBody>
              <a:bodyPr/>
              <a:lstStyle/>
              <a:p>
                <a:r>
                  <a:rPr lang="en-GB">
                    <a:noFill/>
                  </a:rPr>
                  <a:t> </a:t>
                </a:r>
              </a:p>
            </p:txBody>
          </p:sp>
        </mc:Fallback>
      </mc:AlternateContent>
      <p:graphicFrame>
        <p:nvGraphicFramePr>
          <p:cNvPr id="8" name="Table 6">
            <a:extLst>
              <a:ext uri="{FF2B5EF4-FFF2-40B4-BE49-F238E27FC236}">
                <a16:creationId xmlns:a16="http://schemas.microsoft.com/office/drawing/2014/main" id="{B4ADC432-19E6-7376-529F-00EE51E3EDBB}"/>
              </a:ext>
            </a:extLst>
          </p:cNvPr>
          <p:cNvGraphicFramePr>
            <a:graphicFrameLocks noGrp="1"/>
          </p:cNvGraphicFramePr>
          <p:nvPr/>
        </p:nvGraphicFramePr>
        <p:xfrm>
          <a:off x="8796216" y="6923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12" name="Table 6">
            <a:extLst>
              <a:ext uri="{FF2B5EF4-FFF2-40B4-BE49-F238E27FC236}">
                <a16:creationId xmlns:a16="http://schemas.microsoft.com/office/drawing/2014/main" id="{90050368-65D2-0B27-68D5-8DF322B9A383}"/>
              </a:ext>
            </a:extLst>
          </p:cNvPr>
          <p:cNvGraphicFramePr>
            <a:graphicFrameLocks noGrp="1"/>
          </p:cNvGraphicFramePr>
          <p:nvPr/>
        </p:nvGraphicFramePr>
        <p:xfrm>
          <a:off x="8948616" y="8447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F6B182D1-DB36-D4E6-212F-DFC5376B437D}"/>
                  </a:ext>
                </a:extLst>
              </p:cNvPr>
              <p:cNvGraphicFramePr>
                <a:graphicFrameLocks noGrp="1"/>
              </p:cNvGraphicFramePr>
              <p:nvPr>
                <p:extLst>
                  <p:ext uri="{D42A27DB-BD31-4B8C-83A1-F6EECF244321}">
                    <p14:modId xmlns:p14="http://schemas.microsoft.com/office/powerpoint/2010/main" val="2834626538"/>
                  </p:ext>
                </p:extLst>
              </p:nvPr>
            </p:nvGraphicFramePr>
            <p:xfrm>
              <a:off x="8721970" y="42675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r>
                                  <a:rPr lang="en-GB" b="1" i="1" dirty="0" smtClean="0">
                                    <a:solidFill>
                                      <a:schemeClr val="bg1"/>
                                    </a:solidFill>
                                    <a:latin typeface="Cambria Math" panose="02040503050406030204" pitchFamily="18" charset="0"/>
                                  </a:rPr>
                                  <m:t>…</m:t>
                                </m:r>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16" name="Table 15">
                <a:extLst>
                  <a:ext uri="{FF2B5EF4-FFF2-40B4-BE49-F238E27FC236}">
                    <a16:creationId xmlns:a16="http://schemas.microsoft.com/office/drawing/2014/main" id="{F6B182D1-DB36-D4E6-212F-DFC5376B437D}"/>
                  </a:ext>
                </a:extLst>
              </p:cNvPr>
              <p:cNvGraphicFramePr>
                <a:graphicFrameLocks noGrp="1"/>
              </p:cNvGraphicFramePr>
              <p:nvPr>
                <p:extLst>
                  <p:ext uri="{D42A27DB-BD31-4B8C-83A1-F6EECF244321}">
                    <p14:modId xmlns:p14="http://schemas.microsoft.com/office/powerpoint/2010/main" val="2834626538"/>
                  </p:ext>
                </p:extLst>
              </p:nvPr>
            </p:nvGraphicFramePr>
            <p:xfrm>
              <a:off x="8721970" y="42675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840" t="-4237" r="-200840" b="-202542"/>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1695" t="-205085" r="-102542" b="-1695"/>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7" name="Table 16">
                <a:extLst>
                  <a:ext uri="{FF2B5EF4-FFF2-40B4-BE49-F238E27FC236}">
                    <a16:creationId xmlns:a16="http://schemas.microsoft.com/office/drawing/2014/main" id="{32E669F0-BF99-D397-D034-C69BDD125C0B}"/>
                  </a:ext>
                </a:extLst>
              </p:cNvPr>
              <p:cNvGraphicFramePr>
                <a:graphicFrameLocks noGrp="1"/>
              </p:cNvGraphicFramePr>
              <p:nvPr>
                <p:extLst>
                  <p:ext uri="{D42A27DB-BD31-4B8C-83A1-F6EECF244321}">
                    <p14:modId xmlns:p14="http://schemas.microsoft.com/office/powerpoint/2010/main" val="911319027"/>
                  </p:ext>
                </p:extLst>
              </p:nvPr>
            </p:nvGraphicFramePr>
            <p:xfrm>
              <a:off x="8874370" y="44199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r>
                                  <a:rPr lang="en-GB" b="1" i="1" dirty="0" smtClean="0">
                                    <a:solidFill>
                                      <a:schemeClr val="bg1"/>
                                    </a:solidFill>
                                    <a:latin typeface="Cambria Math" panose="02040503050406030204" pitchFamily="18" charset="0"/>
                                  </a:rPr>
                                  <m:t>…</m:t>
                                </m:r>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17" name="Table 16">
                <a:extLst>
                  <a:ext uri="{FF2B5EF4-FFF2-40B4-BE49-F238E27FC236}">
                    <a16:creationId xmlns:a16="http://schemas.microsoft.com/office/drawing/2014/main" id="{32E669F0-BF99-D397-D034-C69BDD125C0B}"/>
                  </a:ext>
                </a:extLst>
              </p:cNvPr>
              <p:cNvGraphicFramePr>
                <a:graphicFrameLocks noGrp="1"/>
              </p:cNvGraphicFramePr>
              <p:nvPr>
                <p:extLst>
                  <p:ext uri="{D42A27DB-BD31-4B8C-83A1-F6EECF244321}">
                    <p14:modId xmlns:p14="http://schemas.microsoft.com/office/powerpoint/2010/main" val="911319027"/>
                  </p:ext>
                </p:extLst>
              </p:nvPr>
            </p:nvGraphicFramePr>
            <p:xfrm>
              <a:off x="8874370" y="44199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840" t="-4237" r="-200840" b="-202542"/>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1695" t="-205085" r="-102542" b="-1695"/>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8" name="Table 17">
                <a:extLst>
                  <a:ext uri="{FF2B5EF4-FFF2-40B4-BE49-F238E27FC236}">
                    <a16:creationId xmlns:a16="http://schemas.microsoft.com/office/drawing/2014/main" id="{0EB6A70C-5843-CA95-5A27-1A2123C1BB02}"/>
                  </a:ext>
                </a:extLst>
              </p:cNvPr>
              <p:cNvGraphicFramePr>
                <a:graphicFrameLocks noGrp="1"/>
              </p:cNvGraphicFramePr>
              <p:nvPr>
                <p:extLst>
                  <p:ext uri="{D42A27DB-BD31-4B8C-83A1-F6EECF244321}">
                    <p14:modId xmlns:p14="http://schemas.microsoft.com/office/powerpoint/2010/main" val="1151297743"/>
                  </p:ext>
                </p:extLst>
              </p:nvPr>
            </p:nvGraphicFramePr>
            <p:xfrm>
              <a:off x="9026770" y="45723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18" name="Table 17">
                <a:extLst>
                  <a:ext uri="{FF2B5EF4-FFF2-40B4-BE49-F238E27FC236}">
                    <a16:creationId xmlns:a16="http://schemas.microsoft.com/office/drawing/2014/main" id="{0EB6A70C-5843-CA95-5A27-1A2123C1BB02}"/>
                  </a:ext>
                </a:extLst>
              </p:cNvPr>
              <p:cNvGraphicFramePr>
                <a:graphicFrameLocks noGrp="1"/>
              </p:cNvGraphicFramePr>
              <p:nvPr>
                <p:extLst>
                  <p:ext uri="{D42A27DB-BD31-4B8C-83A1-F6EECF244321}">
                    <p14:modId xmlns:p14="http://schemas.microsoft.com/office/powerpoint/2010/main" val="1151297743"/>
                  </p:ext>
                </p:extLst>
              </p:nvPr>
            </p:nvGraphicFramePr>
            <p:xfrm>
              <a:off x="9026770" y="45723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8"/>
                          <a:stretch>
                            <a:fillRect l="-840" t="-4237" r="-200840" b="-202542"/>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8"/>
                          <a:stretch>
                            <a:fillRect l="-101695" t="-205085" r="-102542" b="-1695"/>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p:cxnSp>
        <p:nvCxnSpPr>
          <p:cNvPr id="19" name="Straight Connector 18">
            <a:extLst>
              <a:ext uri="{FF2B5EF4-FFF2-40B4-BE49-F238E27FC236}">
                <a16:creationId xmlns:a16="http://schemas.microsoft.com/office/drawing/2014/main" id="{B51B0BFF-6DB9-2059-B8E4-DC270ED1C84C}"/>
              </a:ext>
            </a:extLst>
          </p:cNvPr>
          <p:cNvCxnSpPr/>
          <p:nvPr/>
        </p:nvCxnSpPr>
        <p:spPr>
          <a:xfrm flipH="1">
            <a:off x="2008555" y="4949092"/>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7F43BFE-78B5-949A-CF63-71B5A721A4D1}"/>
                  </a:ext>
                </a:extLst>
              </p:cNvPr>
              <p:cNvSpPr txBox="1"/>
              <p:nvPr/>
            </p:nvSpPr>
            <p:spPr>
              <a:xfrm>
                <a:off x="179277" y="5949462"/>
                <a:ext cx="7833922" cy="830997"/>
              </a:xfrm>
              <a:prstGeom prst="rect">
                <a:avLst/>
              </a:prstGeom>
              <a:noFill/>
            </p:spPr>
            <p:txBody>
              <a:bodyPr wrap="square" rtlCol="0">
                <a:spAutoFit/>
              </a:bodyPr>
              <a:lstStyle/>
              <a:p>
                <a:r>
                  <a:rPr lang="en-GB" sz="2400" b="1" dirty="0">
                    <a:solidFill>
                      <a:srgbClr val="7030A0"/>
                    </a:solidFill>
                  </a:rPr>
                  <a:t>This operation preserves the original number of channels of original image </a:t>
                </a:r>
                <a14:m>
                  <m:oMath xmlns:m="http://schemas.openxmlformats.org/officeDocument/2006/math">
                    <m:r>
                      <a:rPr lang="en-GB" sz="2400" b="1" i="1" dirty="0" smtClean="0">
                        <a:solidFill>
                          <a:srgbClr val="7030A0"/>
                        </a:solidFill>
                        <a:latin typeface="Cambria Math" panose="02040503050406030204" pitchFamily="18" charset="0"/>
                      </a:rPr>
                      <m:t>𝑿</m:t>
                    </m:r>
                  </m:oMath>
                </a14:m>
                <a:r>
                  <a:rPr lang="en-GB" sz="2400" b="1" dirty="0">
                    <a:solidFill>
                      <a:srgbClr val="7030A0"/>
                    </a:solidFill>
                  </a:rPr>
                  <a:t>, producing a new RGB image </a:t>
                </a:r>
                <a14:m>
                  <m:oMath xmlns:m="http://schemas.openxmlformats.org/officeDocument/2006/math">
                    <m:r>
                      <a:rPr lang="en-GB" sz="2400" b="1" i="1" dirty="0" smtClean="0">
                        <a:solidFill>
                          <a:srgbClr val="7030A0"/>
                        </a:solidFill>
                        <a:latin typeface="Cambria Math" panose="02040503050406030204" pitchFamily="18" charset="0"/>
                      </a:rPr>
                      <m:t>𝒀</m:t>
                    </m:r>
                  </m:oMath>
                </a14:m>
                <a:r>
                  <a:rPr lang="en-GB" sz="2400" b="1" dirty="0">
                    <a:solidFill>
                      <a:srgbClr val="7030A0"/>
                    </a:solidFill>
                  </a:rPr>
                  <a:t> as a result.</a:t>
                </a:r>
                <a:endParaRPr lang="en-SG" sz="2400" b="1" dirty="0">
                  <a:solidFill>
                    <a:srgbClr val="7030A0"/>
                  </a:solidFill>
                </a:endParaRPr>
              </a:p>
            </p:txBody>
          </p:sp>
        </mc:Choice>
        <mc:Fallback xmlns="">
          <p:sp>
            <p:nvSpPr>
              <p:cNvPr id="20" name="TextBox 19">
                <a:extLst>
                  <a:ext uri="{FF2B5EF4-FFF2-40B4-BE49-F238E27FC236}">
                    <a16:creationId xmlns:a16="http://schemas.microsoft.com/office/drawing/2014/main" id="{77F43BFE-78B5-949A-CF63-71B5A721A4D1}"/>
                  </a:ext>
                </a:extLst>
              </p:cNvPr>
              <p:cNvSpPr txBox="1">
                <a:spLocks noRot="1" noChangeAspect="1" noMove="1" noResize="1" noEditPoints="1" noAdjustHandles="1" noChangeArrowheads="1" noChangeShapeType="1" noTextEdit="1"/>
              </p:cNvSpPr>
              <p:nvPr/>
            </p:nvSpPr>
            <p:spPr>
              <a:xfrm>
                <a:off x="179277" y="5949462"/>
                <a:ext cx="7833922" cy="830997"/>
              </a:xfrm>
              <a:prstGeom prst="rect">
                <a:avLst/>
              </a:prstGeom>
              <a:blipFill>
                <a:blip r:embed="rId9"/>
                <a:stretch>
                  <a:fillRect l="-1166" t="-5882" r="-622" b="-16176"/>
                </a:stretch>
              </a:blipFill>
            </p:spPr>
            <p:txBody>
              <a:bodyPr/>
              <a:lstStyle/>
              <a:p>
                <a:r>
                  <a:rPr lang="en-SG">
                    <a:noFill/>
                  </a:rPr>
                  <a:t> </a:t>
                </a:r>
              </a:p>
            </p:txBody>
          </p:sp>
        </mc:Fallback>
      </mc:AlternateContent>
    </p:spTree>
    <p:extLst>
      <p:ext uri="{BB962C8B-B14F-4D97-AF65-F5344CB8AC3E}">
        <p14:creationId xmlns:p14="http://schemas.microsoft.com/office/powerpoint/2010/main" val="7837563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Convolution on high dim</a:t>
            </a:r>
            <a:endParaRPr lang="en-SG" dirty="0"/>
          </a:p>
        </p:txBody>
      </p:sp>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extLst>
              <p:ext uri="{D42A27DB-BD31-4B8C-83A1-F6EECF244321}">
                <p14:modId xmlns:p14="http://schemas.microsoft.com/office/powerpoint/2010/main" val="1112298619"/>
              </p:ext>
            </p:extLst>
          </p:nvPr>
        </p:nvGraphicFramePr>
        <p:xfrm>
          <a:off x="9965595" y="277732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8698517"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8698517"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8698516"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8698516"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8698516"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8698516"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422031" y="1825624"/>
                <a:ext cx="8273079" cy="5032375"/>
              </a:xfrm>
            </p:spPr>
            <p:txBody>
              <a:bodyPr>
                <a:normAutofit/>
              </a:bodyPr>
              <a:lstStyle/>
              <a:p>
                <a:pPr marL="0" indent="0">
                  <a:buNone/>
                </a:pPr>
                <a:r>
                  <a:rPr lang="en-GB" b="1" dirty="0"/>
                  <a:t>More generally, however:</a:t>
                </a:r>
                <a:r>
                  <a:rPr lang="en-GB" dirty="0"/>
                  <a:t> </a:t>
                </a:r>
                <a:r>
                  <a:rPr lang="en-GB" b="1" dirty="0">
                    <a:solidFill>
                      <a:srgbClr val="7030A0"/>
                    </a:solidFill>
                  </a:rPr>
                  <a:t>if you define the kernel </a:t>
                </a:r>
                <a14:m>
                  <m:oMath xmlns:m="http://schemas.openxmlformats.org/officeDocument/2006/math">
                    <m:r>
                      <a:rPr lang="en-GB" b="1" i="1" dirty="0" smtClean="0">
                        <a:solidFill>
                          <a:srgbClr val="7030A0"/>
                        </a:solidFill>
                        <a:latin typeface="Cambria Math" panose="02040503050406030204" pitchFamily="18" charset="0"/>
                      </a:rPr>
                      <m:t>𝑲</m:t>
                    </m:r>
                  </m:oMath>
                </a14:m>
                <a:r>
                  <a:rPr lang="en-GB" b="1" dirty="0">
                    <a:solidFill>
                      <a:srgbClr val="7030A0"/>
                    </a:solidFill>
                  </a:rPr>
                  <a:t> as a tensor with its own number of channels </a:t>
                </a:r>
                <a14:m>
                  <m:oMath xmlns:m="http://schemas.openxmlformats.org/officeDocument/2006/math">
                    <m:sSub>
                      <m:sSubPr>
                        <m:ctrlPr>
                          <a:rPr lang="en-GB" b="1" i="1" smtClean="0">
                            <a:solidFill>
                              <a:srgbClr val="7030A0"/>
                            </a:solidFill>
                            <a:latin typeface="Cambria Math" panose="02040503050406030204" pitchFamily="18" charset="0"/>
                          </a:rPr>
                        </m:ctrlPr>
                      </m:sSubPr>
                      <m:e>
                        <m:r>
                          <a:rPr lang="en-GB" b="1" i="1" smtClean="0">
                            <a:solidFill>
                              <a:srgbClr val="7030A0"/>
                            </a:solidFill>
                            <a:latin typeface="Cambria Math" panose="02040503050406030204" pitchFamily="18" charset="0"/>
                          </a:rPr>
                          <m:t>𝒌</m:t>
                        </m:r>
                      </m:e>
                      <m:sub>
                        <m:r>
                          <a:rPr lang="en-GB" b="1" i="1" smtClean="0">
                            <a:solidFill>
                              <a:srgbClr val="7030A0"/>
                            </a:solidFill>
                            <a:latin typeface="Cambria Math" panose="02040503050406030204" pitchFamily="18" charset="0"/>
                          </a:rPr>
                          <m:t>𝒅</m:t>
                        </m:r>
                      </m:sub>
                    </m:sSub>
                    <m:r>
                      <a:rPr lang="en-GB" b="1">
                        <a:solidFill>
                          <a:srgbClr val="7030A0"/>
                        </a:solidFill>
                        <a:latin typeface="Cambria Math" panose="02040503050406030204" pitchFamily="18" charset="0"/>
                        <a:ea typeface="Cambria Math" panose="02040503050406030204" pitchFamily="18" charset="0"/>
                      </a:rPr>
                      <m:t>≠</m:t>
                    </m:r>
                    <m:r>
                      <a:rPr lang="en-GB" b="1" i="0" smtClean="0">
                        <a:solidFill>
                          <a:srgbClr val="7030A0"/>
                        </a:solidFill>
                        <a:latin typeface="Cambria Math" panose="02040503050406030204" pitchFamily="18" charset="0"/>
                        <a:ea typeface="Cambria Math" panose="02040503050406030204" pitchFamily="18" charset="0"/>
                      </a:rPr>
                      <m:t>𝟏</m:t>
                    </m:r>
                  </m:oMath>
                </a14:m>
                <a:r>
                  <a:rPr lang="en-GB" b="1" dirty="0">
                    <a:solidFill>
                      <a:srgbClr val="7030A0"/>
                    </a:solidFill>
                  </a:rPr>
                  <a:t>…</a:t>
                </a:r>
              </a:p>
              <a:p>
                <a:pPr marL="0" indent="0">
                  <a:buNone/>
                </a:pPr>
                <a:r>
                  <a:rPr lang="en-GB" dirty="0"/>
                  <a:t>We then define pixels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𝑙</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m:t>
                        </m:r>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e>
                    </m:d>
                    <m:r>
                      <a:rPr lang="en-GB" b="0" i="1" smtClean="0">
                        <a:latin typeface="Cambria Math" panose="02040503050406030204" pitchFamily="18" charset="0"/>
                      </a:rPr>
                      <m:t>, ∀</m:t>
                    </m:r>
                    <m:r>
                      <a:rPr lang="en-GB" b="0" i="1" smtClean="0">
                        <a:latin typeface="Cambria Math" panose="02040503050406030204" pitchFamily="18" charset="0"/>
                      </a:rPr>
                      <m:t>𝑙</m:t>
                    </m:r>
                    <m:r>
                      <a:rPr lang="en-GB" b="0" i="1" smtClean="0">
                        <a:latin typeface="Cambria Math" panose="02040503050406030204" pitchFamily="18" charset="0"/>
                      </a:rPr>
                      <m:t>∈[1,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𝑘</m:t>
                        </m:r>
                      </m:e>
                      <m:sub>
                        <m:r>
                          <a:rPr lang="en-GB" b="0" i="1" smtClean="0">
                            <a:latin typeface="Cambria Math" panose="02040503050406030204" pitchFamily="18" charset="0"/>
                          </a:rPr>
                          <m:t>𝑑</m:t>
                        </m:r>
                      </m:sub>
                    </m:sSub>
                    <m:r>
                      <a:rPr lang="en-GB" b="0" i="1" smtClean="0">
                        <a:latin typeface="Cambria Math" panose="02040503050406030204" pitchFamily="18" charset="0"/>
                      </a:rPr>
                      <m:t>]</m:t>
                    </m:r>
                  </m:oMath>
                </a14:m>
                <a:r>
                  <a:rPr lang="en-GB" dirty="0"/>
                  <a:t>:</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r>
                            <a:rPr lang="en-GB" b="0" i="1" smtClean="0">
                              <a:latin typeface="Cambria Math" panose="02040503050406030204" pitchFamily="18" charset="0"/>
                            </a:rPr>
                            <m:t>,</m:t>
                          </m:r>
                          <m:r>
                            <a:rPr lang="en-GB" b="1" i="1" smtClean="0">
                              <a:solidFill>
                                <a:srgbClr val="7030A0"/>
                              </a:solidFill>
                              <a:latin typeface="Cambria Math" panose="02040503050406030204" pitchFamily="18" charset="0"/>
                            </a:rPr>
                            <m:t>𝒍</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b="0" i="1" smtClean="0">
                                      <a:latin typeface="Cambria Math" panose="02040503050406030204" pitchFamily="18" charset="0"/>
                                    </a:rPr>
                                  </m:ctrlPr>
                                </m:naryPr>
                                <m:sub>
                                  <m:sSup>
                                    <m:sSupPr>
                                      <m:ctrlPr>
                                        <a:rPr lang="en-GB" b="0" i="1" smtClean="0">
                                          <a:solidFill>
                                            <a:schemeClr val="accent2">
                                              <a:lumMod val="50000"/>
                                            </a:schemeClr>
                                          </a:solidFill>
                                          <a:latin typeface="Cambria Math" panose="02040503050406030204" pitchFamily="18" charset="0"/>
                                        </a:rPr>
                                      </m:ctrlPr>
                                    </m:sSupPr>
                                    <m:e>
                                      <m:r>
                                        <a:rPr lang="en-GB" b="0" i="1" smtClean="0">
                                          <a:solidFill>
                                            <a:schemeClr val="accent2">
                                              <a:lumMod val="50000"/>
                                            </a:schemeClr>
                                          </a:solidFill>
                                          <a:latin typeface="Cambria Math" panose="02040503050406030204" pitchFamily="18" charset="0"/>
                                        </a:rPr>
                                        <m:t>𝑙</m:t>
                                      </m:r>
                                    </m:e>
                                    <m:sup>
                                      <m:r>
                                        <a:rPr lang="en-GB" b="0" i="1" smtClean="0">
                                          <a:solidFill>
                                            <a:schemeClr val="accent2">
                                              <a:lumMod val="50000"/>
                                            </a:schemeClr>
                                          </a:solidFill>
                                          <a:latin typeface="Cambria Math" panose="02040503050406030204" pitchFamily="18" charset="0"/>
                                        </a:rPr>
                                        <m:t>′</m:t>
                                      </m:r>
                                    </m:sup>
                                  </m:sSup>
                                  <m:r>
                                    <a:rPr lang="en-GB" b="0" i="1" smtClean="0">
                                      <a:latin typeface="Cambria Math" panose="02040503050406030204" pitchFamily="18" charset="0"/>
                                    </a:rPr>
                                    <m:t>=1</m:t>
                                  </m:r>
                                </m:sub>
                                <m:sup>
                                  <m:r>
                                    <a:rPr lang="en-GB" b="0" i="1" smtClean="0">
                                      <a:latin typeface="Cambria Math" panose="02040503050406030204" pitchFamily="18" charset="0"/>
                                    </a:rPr>
                                    <m:t>3</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Sup>
                                        <m:sSupPr>
                                          <m:ctrlPr>
                                            <a:rPr lang="en-GB" b="1" i="1" smtClean="0">
                                              <a:solidFill>
                                                <a:schemeClr val="accent2">
                                                  <a:lumMod val="50000"/>
                                                </a:schemeClr>
                                              </a:solidFill>
                                              <a:latin typeface="Cambria Math" panose="02040503050406030204" pitchFamily="18" charset="0"/>
                                            </a:rPr>
                                          </m:ctrlPr>
                                        </m:sSupPr>
                                        <m:e>
                                          <m:r>
                                            <a:rPr lang="en-GB" b="1" i="1">
                                              <a:solidFill>
                                                <a:schemeClr val="accent2">
                                                  <a:lumMod val="50000"/>
                                                </a:schemeClr>
                                              </a:solidFill>
                                              <a:latin typeface="Cambria Math" panose="02040503050406030204" pitchFamily="18" charset="0"/>
                                            </a:rPr>
                                            <m:t>𝒍</m:t>
                                          </m:r>
                                        </m:e>
                                        <m:sup>
                                          <m:r>
                                            <a:rPr lang="en-GB" b="1" i="1">
                                              <a:solidFill>
                                                <a:schemeClr val="accent2">
                                                  <a:lumMod val="50000"/>
                                                </a:schemeClr>
                                              </a:solidFill>
                                              <a:latin typeface="Cambria Math" panose="02040503050406030204" pitchFamily="18" charset="0"/>
                                            </a:rPr>
                                            <m:t>′</m:t>
                                          </m:r>
                                        </m:sup>
                                      </m:sSup>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m:t>
                                      </m:r>
                                      <m:r>
                                        <a:rPr lang="en-GB" b="1" i="1">
                                          <a:solidFill>
                                            <a:srgbClr val="7030A0"/>
                                          </a:solidFill>
                                          <a:latin typeface="Cambria Math" panose="02040503050406030204" pitchFamily="18" charset="0"/>
                                        </a:rPr>
                                        <m:t>𝒍</m:t>
                                      </m:r>
                                    </m:sub>
                                  </m:sSub>
                                </m:e>
                              </m:nary>
                            </m:e>
                          </m:nary>
                        </m:e>
                      </m:nary>
                      <m:r>
                        <a:rPr lang="en-GB" b="0" i="1" smtClean="0">
                          <a:solidFill>
                            <a:schemeClr val="tx1"/>
                          </a:solidFill>
                          <a:latin typeface="Cambria Math" panose="02040503050406030204" pitchFamily="18" charset="0"/>
                        </a:rPr>
                        <m:t>+</m:t>
                      </m:r>
                      <m:r>
                        <a:rPr lang="en-GB" b="0" i="1" smtClean="0">
                          <a:solidFill>
                            <a:schemeClr val="tx1"/>
                          </a:solidFill>
                          <a:latin typeface="Cambria Math" panose="02040503050406030204" pitchFamily="18" charset="0"/>
                        </a:rPr>
                        <m:t>𝑏</m:t>
                      </m:r>
                    </m:oMath>
                  </m:oMathPara>
                </a14:m>
                <a:endParaRPr lang="en-GB" dirty="0"/>
              </a:p>
              <a:p>
                <a:pPr marL="0" indent="0">
                  <a:buNone/>
                </a:pPr>
                <a:br>
                  <a:rPr lang="en-GB" sz="2800" b="1" dirty="0">
                    <a:solidFill>
                      <a:srgbClr val="7030A0"/>
                    </a:solidFill>
                  </a:rPr>
                </a:br>
                <a:r>
                  <a:rPr lang="en-GB" sz="2800" b="1" dirty="0">
                    <a:solidFill>
                      <a:srgbClr val="7030A0"/>
                    </a:solidFill>
                  </a:rPr>
                  <a:t>This operation will then produce a new image </a:t>
                </a:r>
                <a14:m>
                  <m:oMath xmlns:m="http://schemas.openxmlformats.org/officeDocument/2006/math">
                    <m:r>
                      <a:rPr lang="en-GB" sz="2800" b="1" i="1" dirty="0" smtClean="0">
                        <a:solidFill>
                          <a:srgbClr val="7030A0"/>
                        </a:solidFill>
                        <a:latin typeface="Cambria Math" panose="02040503050406030204" pitchFamily="18" charset="0"/>
                      </a:rPr>
                      <m:t>𝒀</m:t>
                    </m:r>
                  </m:oMath>
                </a14:m>
                <a:r>
                  <a:rPr lang="en-GB" sz="2800" b="1" dirty="0">
                    <a:solidFill>
                      <a:srgbClr val="7030A0"/>
                    </a:solidFill>
                  </a:rPr>
                  <a:t>, whose number of channels matches the one of the kernel </a:t>
                </a:r>
                <a14:m>
                  <m:oMath xmlns:m="http://schemas.openxmlformats.org/officeDocument/2006/math">
                    <m:r>
                      <a:rPr lang="en-GB" sz="2800" b="1" i="1" dirty="0" smtClean="0">
                        <a:solidFill>
                          <a:srgbClr val="7030A0"/>
                        </a:solidFill>
                        <a:latin typeface="Cambria Math" panose="02040503050406030204" pitchFamily="18" charset="0"/>
                      </a:rPr>
                      <m:t>𝑲</m:t>
                    </m:r>
                  </m:oMath>
                </a14:m>
                <a:r>
                  <a:rPr lang="en-GB" sz="2800" b="1" dirty="0">
                    <a:solidFill>
                      <a:srgbClr val="7030A0"/>
                    </a:solidFill>
                  </a:rPr>
                  <a:t>, as a result, i.e. </a:t>
                </a:r>
                <a14:m>
                  <m:oMath xmlns:m="http://schemas.openxmlformats.org/officeDocument/2006/math">
                    <m:sSup>
                      <m:sSupPr>
                        <m:ctrlPr>
                          <a:rPr lang="en-GB" sz="2800" b="1" i="1" smtClean="0">
                            <a:solidFill>
                              <a:srgbClr val="7030A0"/>
                            </a:solidFill>
                            <a:latin typeface="Cambria Math" panose="02040503050406030204" pitchFamily="18" charset="0"/>
                          </a:rPr>
                        </m:ctrlPr>
                      </m:sSupPr>
                      <m:e>
                        <m:sSub>
                          <m:sSubPr>
                            <m:ctrlPr>
                              <a:rPr lang="en-GB" sz="2800" b="1" i="1" smtClean="0">
                                <a:solidFill>
                                  <a:srgbClr val="7030A0"/>
                                </a:solidFill>
                                <a:latin typeface="Cambria Math" panose="02040503050406030204" pitchFamily="18" charset="0"/>
                              </a:rPr>
                            </m:ctrlPr>
                          </m:sSubPr>
                          <m:e>
                            <m:r>
                              <a:rPr lang="en-GB" sz="2800" b="1" i="1" smtClean="0">
                                <a:solidFill>
                                  <a:srgbClr val="7030A0"/>
                                </a:solidFill>
                                <a:latin typeface="Cambria Math" panose="02040503050406030204" pitchFamily="18" charset="0"/>
                              </a:rPr>
                              <m:t>𝒌</m:t>
                            </m:r>
                          </m:e>
                          <m:sub>
                            <m:r>
                              <a:rPr lang="en-GB" sz="2800" b="1" i="1" smtClean="0">
                                <a:solidFill>
                                  <a:srgbClr val="7030A0"/>
                                </a:solidFill>
                                <a:latin typeface="Cambria Math" panose="02040503050406030204" pitchFamily="18" charset="0"/>
                              </a:rPr>
                              <m:t>𝒅</m:t>
                            </m:r>
                          </m:sub>
                        </m:sSub>
                        <m:r>
                          <a:rPr lang="en-GB" sz="2800" b="1" i="1" smtClean="0">
                            <a:solidFill>
                              <a:srgbClr val="7030A0"/>
                            </a:solidFill>
                            <a:latin typeface="Cambria Math" panose="02040503050406030204" pitchFamily="18" charset="0"/>
                          </a:rPr>
                          <m:t>×</m:t>
                        </m:r>
                        <m:r>
                          <a:rPr lang="en-GB" sz="2800" b="1" i="1" smtClean="0">
                            <a:solidFill>
                              <a:srgbClr val="7030A0"/>
                            </a:solidFill>
                            <a:latin typeface="Cambria Math" panose="02040503050406030204" pitchFamily="18" charset="0"/>
                          </a:rPr>
                          <m:t>𝒉</m:t>
                        </m:r>
                      </m:e>
                      <m:sup>
                        <m:r>
                          <a:rPr lang="en-GB" sz="2800" b="1" i="1" smtClean="0">
                            <a:solidFill>
                              <a:srgbClr val="7030A0"/>
                            </a:solidFill>
                            <a:latin typeface="Cambria Math" panose="02040503050406030204" pitchFamily="18" charset="0"/>
                          </a:rPr>
                          <m:t>′</m:t>
                        </m:r>
                      </m:sup>
                    </m:sSup>
                    <m:r>
                      <a:rPr lang="en-GB" sz="2800" b="1" i="1" smtClean="0">
                        <a:solidFill>
                          <a:srgbClr val="7030A0"/>
                        </a:solidFill>
                        <a:latin typeface="Cambria Math" panose="02040503050406030204" pitchFamily="18" charset="0"/>
                      </a:rPr>
                      <m:t>×</m:t>
                    </m:r>
                    <m:sSup>
                      <m:sSupPr>
                        <m:ctrlPr>
                          <a:rPr lang="en-GB" sz="2800" b="1" i="1" smtClean="0">
                            <a:solidFill>
                              <a:srgbClr val="7030A0"/>
                            </a:solidFill>
                            <a:latin typeface="Cambria Math" panose="02040503050406030204" pitchFamily="18" charset="0"/>
                          </a:rPr>
                        </m:ctrlPr>
                      </m:sSupPr>
                      <m:e>
                        <m:r>
                          <a:rPr lang="en-GB" sz="2800" b="1" i="1" smtClean="0">
                            <a:solidFill>
                              <a:srgbClr val="7030A0"/>
                            </a:solidFill>
                            <a:latin typeface="Cambria Math" panose="02040503050406030204" pitchFamily="18" charset="0"/>
                          </a:rPr>
                          <m:t>𝒘</m:t>
                        </m:r>
                      </m:e>
                      <m:sup>
                        <m:r>
                          <a:rPr lang="en-GB" sz="2800" b="1" i="1" smtClean="0">
                            <a:solidFill>
                              <a:srgbClr val="7030A0"/>
                            </a:solidFill>
                            <a:latin typeface="Cambria Math" panose="02040503050406030204" pitchFamily="18" charset="0"/>
                          </a:rPr>
                          <m:t>′</m:t>
                        </m:r>
                      </m:sup>
                    </m:sSup>
                  </m:oMath>
                </a14:m>
                <a:r>
                  <a:rPr lang="en-GB" sz="2800" b="1" dirty="0">
                    <a:solidFill>
                      <a:srgbClr val="7030A0"/>
                    </a:solidFill>
                  </a:rPr>
                  <a:t>.</a:t>
                </a:r>
                <a:endParaRPr lang="en-SG" sz="2800" b="1" dirty="0">
                  <a:solidFill>
                    <a:srgbClr val="7030A0"/>
                  </a:solidFill>
                </a:endParaRPr>
              </a:p>
              <a:p>
                <a:pPr marL="0" indent="0">
                  <a:buNone/>
                </a:pPr>
                <a:endParaRPr lang="en-GB" dirty="0"/>
              </a:p>
              <a:p>
                <a:pPr marL="0" indent="0">
                  <a:buNone/>
                </a:pPr>
                <a:endParaRPr lang="en-GB" dirty="0"/>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422031" y="1825624"/>
                <a:ext cx="8273079" cy="5032375"/>
              </a:xfrm>
              <a:blipFill>
                <a:blip r:embed="rId5"/>
                <a:stretch>
                  <a:fillRect l="-1474" t="-1937" r="-1916" b="-1453"/>
                </a:stretch>
              </a:blipFill>
            </p:spPr>
            <p:txBody>
              <a:bodyPr/>
              <a:lstStyle/>
              <a:p>
                <a:r>
                  <a:rPr lang="en-GB">
                    <a:noFill/>
                  </a:rPr>
                  <a:t> </a:t>
                </a:r>
              </a:p>
            </p:txBody>
          </p:sp>
        </mc:Fallback>
      </mc:AlternateContent>
      <p:graphicFrame>
        <p:nvGraphicFramePr>
          <p:cNvPr id="3" name="Table 7">
            <a:extLst>
              <a:ext uri="{FF2B5EF4-FFF2-40B4-BE49-F238E27FC236}">
                <a16:creationId xmlns:a16="http://schemas.microsoft.com/office/drawing/2014/main" id="{6219EBA1-B698-F905-B5BD-9CD5BEEEAF23}"/>
              </a:ext>
            </a:extLst>
          </p:cNvPr>
          <p:cNvGraphicFramePr>
            <a:graphicFrameLocks noGrp="1"/>
          </p:cNvGraphicFramePr>
          <p:nvPr>
            <p:extLst>
              <p:ext uri="{D42A27DB-BD31-4B8C-83A1-F6EECF244321}">
                <p14:modId xmlns:p14="http://schemas.microsoft.com/office/powerpoint/2010/main" val="1338779965"/>
              </p:ext>
            </p:extLst>
          </p:nvPr>
        </p:nvGraphicFramePr>
        <p:xfrm>
          <a:off x="10117995" y="292972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p:graphicFrame>
        <p:nvGraphicFramePr>
          <p:cNvPr id="8" name="Table 7">
            <a:extLst>
              <a:ext uri="{FF2B5EF4-FFF2-40B4-BE49-F238E27FC236}">
                <a16:creationId xmlns:a16="http://schemas.microsoft.com/office/drawing/2014/main" id="{56A2D50D-6A9F-20B4-8AEB-0CDEE6F2CB49}"/>
              </a:ext>
            </a:extLst>
          </p:cNvPr>
          <p:cNvGraphicFramePr>
            <a:graphicFrameLocks noGrp="1"/>
          </p:cNvGraphicFramePr>
          <p:nvPr>
            <p:extLst>
              <p:ext uri="{D42A27DB-BD31-4B8C-83A1-F6EECF244321}">
                <p14:modId xmlns:p14="http://schemas.microsoft.com/office/powerpoint/2010/main" val="3706022577"/>
              </p:ext>
            </p:extLst>
          </p:nvPr>
        </p:nvGraphicFramePr>
        <p:xfrm>
          <a:off x="10270395" y="308212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195A8F7E-5BA0-44D2-7844-E9B36A8BCFFD}"/>
                  </a:ext>
                </a:extLst>
              </p:cNvPr>
              <p:cNvGraphicFramePr>
                <a:graphicFrameLocks noGrp="1"/>
              </p:cNvGraphicFramePr>
              <p:nvPr>
                <p:extLst>
                  <p:ext uri="{D42A27DB-BD31-4B8C-83A1-F6EECF244321}">
                    <p14:modId xmlns:p14="http://schemas.microsoft.com/office/powerpoint/2010/main" val="1758959926"/>
                  </p:ext>
                </p:extLst>
              </p:nvPr>
            </p:nvGraphicFramePr>
            <p:xfrm>
              <a:off x="9628549" y="42675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r>
                                  <a:rPr lang="en-GB" b="1" i="1" dirty="0" smtClean="0">
                                    <a:solidFill>
                                      <a:schemeClr val="bg1"/>
                                    </a:solidFill>
                                    <a:latin typeface="Cambria Math" panose="02040503050406030204" pitchFamily="18" charset="0"/>
                                  </a:rPr>
                                  <m:t>…</m:t>
                                </m:r>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12" name="Table 11">
                <a:extLst>
                  <a:ext uri="{FF2B5EF4-FFF2-40B4-BE49-F238E27FC236}">
                    <a16:creationId xmlns:a16="http://schemas.microsoft.com/office/drawing/2014/main" id="{195A8F7E-5BA0-44D2-7844-E9B36A8BCFFD}"/>
                  </a:ext>
                </a:extLst>
              </p:cNvPr>
              <p:cNvGraphicFramePr>
                <a:graphicFrameLocks noGrp="1"/>
              </p:cNvGraphicFramePr>
              <p:nvPr>
                <p:extLst>
                  <p:ext uri="{D42A27DB-BD31-4B8C-83A1-F6EECF244321}">
                    <p14:modId xmlns:p14="http://schemas.microsoft.com/office/powerpoint/2010/main" val="1758959926"/>
                  </p:ext>
                </p:extLst>
              </p:nvPr>
            </p:nvGraphicFramePr>
            <p:xfrm>
              <a:off x="9628549" y="42675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7" t="-4237" r="-202542" b="-202542"/>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0000" t="-205085" r="-100840" b="-1695"/>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3" name="Table 12">
                <a:extLst>
                  <a:ext uri="{FF2B5EF4-FFF2-40B4-BE49-F238E27FC236}">
                    <a16:creationId xmlns:a16="http://schemas.microsoft.com/office/drawing/2014/main" id="{2DE49D1C-E296-F89E-9C88-772B1F925EA2}"/>
                  </a:ext>
                </a:extLst>
              </p:cNvPr>
              <p:cNvGraphicFramePr>
                <a:graphicFrameLocks noGrp="1"/>
              </p:cNvGraphicFramePr>
              <p:nvPr>
                <p:extLst>
                  <p:ext uri="{D42A27DB-BD31-4B8C-83A1-F6EECF244321}">
                    <p14:modId xmlns:p14="http://schemas.microsoft.com/office/powerpoint/2010/main" val="2109078516"/>
                  </p:ext>
                </p:extLst>
              </p:nvPr>
            </p:nvGraphicFramePr>
            <p:xfrm>
              <a:off x="9780949" y="44199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r>
                                  <a:rPr lang="en-GB" b="1" i="1" dirty="0" smtClean="0">
                                    <a:solidFill>
                                      <a:schemeClr val="bg1"/>
                                    </a:solidFill>
                                    <a:latin typeface="Cambria Math" panose="02040503050406030204" pitchFamily="18" charset="0"/>
                                  </a:rPr>
                                  <m:t>…</m:t>
                                </m:r>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13" name="Table 12">
                <a:extLst>
                  <a:ext uri="{FF2B5EF4-FFF2-40B4-BE49-F238E27FC236}">
                    <a16:creationId xmlns:a16="http://schemas.microsoft.com/office/drawing/2014/main" id="{2DE49D1C-E296-F89E-9C88-772B1F925EA2}"/>
                  </a:ext>
                </a:extLst>
              </p:cNvPr>
              <p:cNvGraphicFramePr>
                <a:graphicFrameLocks noGrp="1"/>
              </p:cNvGraphicFramePr>
              <p:nvPr>
                <p:extLst>
                  <p:ext uri="{D42A27DB-BD31-4B8C-83A1-F6EECF244321}">
                    <p14:modId xmlns:p14="http://schemas.microsoft.com/office/powerpoint/2010/main" val="2109078516"/>
                  </p:ext>
                </p:extLst>
              </p:nvPr>
            </p:nvGraphicFramePr>
            <p:xfrm>
              <a:off x="9780949" y="44199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7" t="-4237" r="-202542" b="-202542"/>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0000" t="-205085" r="-100840" b="-1695"/>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F9430867-B503-BE41-208C-9327D2EE94D1}"/>
                  </a:ext>
                </a:extLst>
              </p:cNvPr>
              <p:cNvGraphicFramePr>
                <a:graphicFrameLocks noGrp="1"/>
              </p:cNvGraphicFramePr>
              <p:nvPr>
                <p:extLst>
                  <p:ext uri="{D42A27DB-BD31-4B8C-83A1-F6EECF244321}">
                    <p14:modId xmlns:p14="http://schemas.microsoft.com/office/powerpoint/2010/main" val="3609899288"/>
                  </p:ext>
                </p:extLst>
              </p:nvPr>
            </p:nvGraphicFramePr>
            <p:xfrm>
              <a:off x="9933349" y="45723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15" name="Table 14">
                <a:extLst>
                  <a:ext uri="{FF2B5EF4-FFF2-40B4-BE49-F238E27FC236}">
                    <a16:creationId xmlns:a16="http://schemas.microsoft.com/office/drawing/2014/main" id="{F9430867-B503-BE41-208C-9327D2EE94D1}"/>
                  </a:ext>
                </a:extLst>
              </p:cNvPr>
              <p:cNvGraphicFramePr>
                <a:graphicFrameLocks noGrp="1"/>
              </p:cNvGraphicFramePr>
              <p:nvPr>
                <p:extLst>
                  <p:ext uri="{D42A27DB-BD31-4B8C-83A1-F6EECF244321}">
                    <p14:modId xmlns:p14="http://schemas.microsoft.com/office/powerpoint/2010/main" val="3609899288"/>
                  </p:ext>
                </p:extLst>
              </p:nvPr>
            </p:nvGraphicFramePr>
            <p:xfrm>
              <a:off x="9933349" y="4572391"/>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847" t="-4237" r="-202542" b="-202542"/>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0000" t="-205085" r="-100840" b="-1695"/>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p:graphicFrame>
        <p:nvGraphicFramePr>
          <p:cNvPr id="16" name="Table 6">
            <a:extLst>
              <a:ext uri="{FF2B5EF4-FFF2-40B4-BE49-F238E27FC236}">
                <a16:creationId xmlns:a16="http://schemas.microsoft.com/office/drawing/2014/main" id="{FFD8AF59-CDA0-66B3-1FB5-FA546C44ECF1}"/>
              </a:ext>
            </a:extLst>
          </p:cNvPr>
          <p:cNvGraphicFramePr>
            <a:graphicFrameLocks noGrp="1"/>
          </p:cNvGraphicFramePr>
          <p:nvPr>
            <p:extLst>
              <p:ext uri="{D42A27DB-BD31-4B8C-83A1-F6EECF244321}">
                <p14:modId xmlns:p14="http://schemas.microsoft.com/office/powerpoint/2010/main" val="823440262"/>
              </p:ext>
            </p:extLst>
          </p:nvPr>
        </p:nvGraphicFramePr>
        <p:xfrm>
          <a:off x="9550395"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17" name="Table 6">
            <a:extLst>
              <a:ext uri="{FF2B5EF4-FFF2-40B4-BE49-F238E27FC236}">
                <a16:creationId xmlns:a16="http://schemas.microsoft.com/office/drawing/2014/main" id="{911B0CF0-88A7-6870-62E9-2BCD3482A058}"/>
              </a:ext>
            </a:extLst>
          </p:cNvPr>
          <p:cNvGraphicFramePr>
            <a:graphicFrameLocks noGrp="1"/>
          </p:cNvGraphicFramePr>
          <p:nvPr>
            <p:extLst>
              <p:ext uri="{D42A27DB-BD31-4B8C-83A1-F6EECF244321}">
                <p14:modId xmlns:p14="http://schemas.microsoft.com/office/powerpoint/2010/main" val="1788680412"/>
              </p:ext>
            </p:extLst>
          </p:nvPr>
        </p:nvGraphicFramePr>
        <p:xfrm>
          <a:off x="9702795" y="6923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18" name="Table 6">
            <a:extLst>
              <a:ext uri="{FF2B5EF4-FFF2-40B4-BE49-F238E27FC236}">
                <a16:creationId xmlns:a16="http://schemas.microsoft.com/office/drawing/2014/main" id="{69BF603D-FBBB-16AB-A035-11424DD39641}"/>
              </a:ext>
            </a:extLst>
          </p:cNvPr>
          <p:cNvGraphicFramePr>
            <a:graphicFrameLocks noGrp="1"/>
          </p:cNvGraphicFramePr>
          <p:nvPr>
            <p:extLst>
              <p:ext uri="{D42A27DB-BD31-4B8C-83A1-F6EECF244321}">
                <p14:modId xmlns:p14="http://schemas.microsoft.com/office/powerpoint/2010/main" val="2482588212"/>
              </p:ext>
            </p:extLst>
          </p:nvPr>
        </p:nvGraphicFramePr>
        <p:xfrm>
          <a:off x="9855195" y="8447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cxnSp>
        <p:nvCxnSpPr>
          <p:cNvPr id="19" name="Straight Connector 18">
            <a:extLst>
              <a:ext uri="{FF2B5EF4-FFF2-40B4-BE49-F238E27FC236}">
                <a16:creationId xmlns:a16="http://schemas.microsoft.com/office/drawing/2014/main" id="{9025CF45-F279-88E2-9637-2A6C70964C8C}"/>
              </a:ext>
            </a:extLst>
          </p:cNvPr>
          <p:cNvCxnSpPr/>
          <p:nvPr/>
        </p:nvCxnSpPr>
        <p:spPr>
          <a:xfrm flipH="1">
            <a:off x="1916215" y="4027007"/>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747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91FFF-F088-B4C6-2F99-136DC910275B}"/>
              </a:ext>
            </a:extLst>
          </p:cNvPr>
          <p:cNvSpPr>
            <a:spLocks noGrp="1"/>
          </p:cNvSpPr>
          <p:nvPr>
            <p:ph type="title"/>
          </p:nvPr>
        </p:nvSpPr>
        <p:spPr/>
        <p:txBody>
          <a:bodyPr/>
          <a:lstStyle/>
          <a:p>
            <a:r>
              <a:rPr lang="en-GB" dirty="0"/>
              <a:t>A quick word on backprop</a:t>
            </a:r>
            <a:endParaRPr lang="en-SG" dirty="0"/>
          </a:p>
        </p:txBody>
      </p:sp>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4220C51B-08F2-1F84-D4EC-61D120C9A7ED}"/>
                  </a:ext>
                </a:extLst>
              </p:cNvPr>
              <p:cNvSpPr>
                <a:spLocks noGrp="1"/>
              </p:cNvSpPr>
              <p:nvPr>
                <p:ph idx="1"/>
              </p:nvPr>
            </p:nvSpPr>
            <p:spPr>
              <a:xfrm>
                <a:off x="838200" y="1825624"/>
                <a:ext cx="10515600" cy="5032375"/>
              </a:xfrm>
            </p:spPr>
            <p:txBody>
              <a:bodyPr>
                <a:normAutofit/>
              </a:bodyPr>
              <a:lstStyle/>
              <a:p>
                <a:pPr marL="0" indent="0">
                  <a:buNone/>
                </a:pPr>
                <a:r>
                  <a:rPr lang="en-GB" dirty="0"/>
                  <a:t>At the end of the day, the </a:t>
                </a:r>
                <a:r>
                  <a:rPr lang="en-GB" b="1" dirty="0"/>
                  <a:t>Convolution operation consists of a “weird” matrix multiplication</a:t>
                </a:r>
                <a:r>
                  <a:rPr lang="en-GB" dirty="0"/>
                  <a:t> between some inputs </a:t>
                </a:r>
                <a14:m>
                  <m:oMath xmlns:m="http://schemas.openxmlformats.org/officeDocument/2006/math">
                    <m:r>
                      <a:rPr lang="en-GB" i="1" dirty="0" smtClean="0">
                        <a:latin typeface="Cambria Math" panose="02040503050406030204" pitchFamily="18" charset="0"/>
                      </a:rPr>
                      <m:t>𝑋</m:t>
                    </m:r>
                  </m:oMath>
                </a14:m>
                <a:r>
                  <a:rPr lang="en-GB" dirty="0"/>
                  <a:t> and a kernel matrix </a:t>
                </a:r>
                <a14:m>
                  <m:oMath xmlns:m="http://schemas.openxmlformats.org/officeDocument/2006/math">
                    <m:r>
                      <a:rPr lang="en-GB" i="1" dirty="0" smtClean="0">
                        <a:latin typeface="Cambria Math" panose="02040503050406030204" pitchFamily="18" charset="0"/>
                      </a:rPr>
                      <m:t>𝐾</m:t>
                    </m:r>
                  </m:oMath>
                </a14:m>
                <a:r>
                  <a:rPr lang="en-GB" dirty="0"/>
                  <a:t>, and some bias </a:t>
                </a:r>
                <a14:m>
                  <m:oMath xmlns:m="http://schemas.openxmlformats.org/officeDocument/2006/math">
                    <m:r>
                      <a:rPr lang="en-GB" i="1" dirty="0" smtClean="0">
                        <a:latin typeface="Cambria Math" panose="02040503050406030204" pitchFamily="18" charset="0"/>
                      </a:rPr>
                      <m:t>𝑏</m:t>
                    </m:r>
                  </m:oMath>
                </a14:m>
                <a:r>
                  <a:rPr lang="en-GB" dirty="0"/>
                  <a:t>. Those parameters are trainable.</a:t>
                </a:r>
              </a:p>
              <a:p>
                <a:pPr marL="0" indent="0">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r>
                            <a:rPr lang="en-GB" b="0" i="1" smtClean="0">
                              <a:latin typeface="Cambria Math" panose="02040503050406030204" pitchFamily="18" charset="0"/>
                            </a:rPr>
                            <m:t>,</m:t>
                          </m:r>
                          <m:r>
                            <a:rPr lang="en-GB" b="1" i="1" smtClean="0">
                              <a:solidFill>
                                <a:srgbClr val="7030A0"/>
                              </a:solidFill>
                              <a:latin typeface="Cambria Math" panose="02040503050406030204" pitchFamily="18" charset="0"/>
                            </a:rPr>
                            <m:t>𝒍</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r>
                                    <a:rPr lang="en-GB" b="1" i="1" smtClean="0">
                                      <a:solidFill>
                                        <a:srgbClr val="7030A0"/>
                                      </a:solidFill>
                                      <a:latin typeface="Cambria Math" panose="02040503050406030204" pitchFamily="18" charset="0"/>
                                    </a:rPr>
                                    <m:t>𝒍</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r>
                        <a:rPr lang="en-GB" b="0" i="0" smtClean="0">
                          <a:latin typeface="Cambria Math" panose="02040503050406030204" pitchFamily="18" charset="0"/>
                        </a:rPr>
                        <m:t>+</m:t>
                      </m:r>
                      <m:r>
                        <a:rPr lang="en-GB" b="0" i="1" smtClean="0">
                          <a:latin typeface="Cambria Math" panose="02040503050406030204" pitchFamily="18" charset="0"/>
                        </a:rPr>
                        <m:t>𝑏</m:t>
                      </m:r>
                    </m:oMath>
                  </m:oMathPara>
                </a14:m>
                <a:endParaRPr lang="en-GB" i="1" dirty="0"/>
              </a:p>
              <a:p>
                <a:endParaRPr lang="en-GB" dirty="0"/>
              </a:p>
              <a:p>
                <a:r>
                  <a:rPr lang="en-GB" dirty="0"/>
                  <a:t>And that is good news!</a:t>
                </a:r>
              </a:p>
              <a:p>
                <a:r>
                  <a:rPr lang="en-GB" dirty="0"/>
                  <a:t>This means, </a:t>
                </a:r>
                <a:r>
                  <a:rPr lang="en-GB" b="1" dirty="0"/>
                  <a:t>differentiation</a:t>
                </a:r>
                <a:r>
                  <a:rPr lang="en-GB" dirty="0"/>
                  <a:t> and </a:t>
                </a:r>
                <a:r>
                  <a:rPr lang="en-GB" b="1" dirty="0"/>
                  <a:t>backprop</a:t>
                </a:r>
                <a:r>
                  <a:rPr lang="en-GB" dirty="0"/>
                  <a:t> can be easily calculated!</a:t>
                </a:r>
                <a:br>
                  <a:rPr lang="en-GB" dirty="0"/>
                </a:br>
                <a:r>
                  <a:rPr lang="en-GB" dirty="0"/>
                  <a:t>(out-of-scope, because quite cumbersome)</a:t>
                </a:r>
              </a:p>
              <a:p>
                <a:endParaRPr lang="en-SG" dirty="0"/>
              </a:p>
            </p:txBody>
          </p:sp>
        </mc:Choice>
        <mc:Fallback>
          <p:sp>
            <p:nvSpPr>
              <p:cNvPr id="5" name="Content Placeholder 4">
                <a:extLst>
                  <a:ext uri="{FF2B5EF4-FFF2-40B4-BE49-F238E27FC236}">
                    <a16:creationId xmlns:a16="http://schemas.microsoft.com/office/drawing/2014/main" id="{4220C51B-08F2-1F84-D4EC-61D120C9A7ED}"/>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464"/>
                </a:stretch>
              </a:blipFill>
            </p:spPr>
            <p:txBody>
              <a:bodyPr/>
              <a:lstStyle/>
              <a:p>
                <a:r>
                  <a:rPr lang="en-GB">
                    <a:noFill/>
                  </a:rPr>
                  <a:t> </a:t>
                </a:r>
              </a:p>
            </p:txBody>
          </p:sp>
        </mc:Fallback>
      </mc:AlternateContent>
    </p:spTree>
    <p:extLst>
      <p:ext uri="{BB962C8B-B14F-4D97-AF65-F5344CB8AC3E}">
        <p14:creationId xmlns:p14="http://schemas.microsoft.com/office/powerpoint/2010/main" val="1945710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91FFF-F088-B4C6-2F99-136DC910275B}"/>
              </a:ext>
            </a:extLst>
          </p:cNvPr>
          <p:cNvSpPr>
            <a:spLocks noGrp="1"/>
          </p:cNvSpPr>
          <p:nvPr>
            <p:ph type="title"/>
          </p:nvPr>
        </p:nvSpPr>
        <p:spPr>
          <a:xfrm>
            <a:off x="393290" y="217640"/>
            <a:ext cx="11552903" cy="1325563"/>
          </a:xfrm>
        </p:spPr>
        <p:txBody>
          <a:bodyPr/>
          <a:lstStyle/>
          <a:p>
            <a:r>
              <a:rPr lang="en-GB" dirty="0"/>
              <a:t>How to backprop in Conv (annoying, but possible)</a:t>
            </a:r>
            <a:endParaRPr lang="en-SG" dirty="0"/>
          </a:p>
        </p:txBody>
      </p:sp>
      <p:pic>
        <p:nvPicPr>
          <p:cNvPr id="7" name="Picture 6" descr="A screenshot of a computer screen&#10;&#10;Description automatically generated">
            <a:extLst>
              <a:ext uri="{FF2B5EF4-FFF2-40B4-BE49-F238E27FC236}">
                <a16:creationId xmlns:a16="http://schemas.microsoft.com/office/drawing/2014/main" id="{CD39AE8A-F3FD-4EE6-F49B-D8F41992EEA2}"/>
              </a:ext>
            </a:extLst>
          </p:cNvPr>
          <p:cNvPicPr>
            <a:picLocks noChangeAspect="1"/>
          </p:cNvPicPr>
          <p:nvPr/>
        </p:nvPicPr>
        <p:blipFill rotWithShape="1">
          <a:blip r:embed="rId2">
            <a:extLst>
              <a:ext uri="{28A0092B-C50C-407E-A947-70E740481C1C}">
                <a14:useLocalDpi xmlns:a14="http://schemas.microsoft.com/office/drawing/2010/main" val="0"/>
              </a:ext>
            </a:extLst>
          </a:blip>
          <a:srcRect t="27146"/>
          <a:stretch/>
        </p:blipFill>
        <p:spPr>
          <a:xfrm>
            <a:off x="838200" y="1543203"/>
            <a:ext cx="10515600" cy="5092971"/>
          </a:xfrm>
          <a:prstGeom prst="rect">
            <a:avLst/>
          </a:prstGeom>
        </p:spPr>
      </p:pic>
    </p:spTree>
    <p:extLst>
      <p:ext uri="{BB962C8B-B14F-4D97-AF65-F5344CB8AC3E}">
        <p14:creationId xmlns:p14="http://schemas.microsoft.com/office/powerpoint/2010/main" val="23701753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5B8E5-8D62-E514-9099-776C6566EF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789B24-D5AC-7E37-37BA-49AFBEB465F7}"/>
              </a:ext>
            </a:extLst>
          </p:cNvPr>
          <p:cNvSpPr>
            <a:spLocks noGrp="1"/>
          </p:cNvSpPr>
          <p:nvPr>
            <p:ph type="title"/>
          </p:nvPr>
        </p:nvSpPr>
        <p:spPr>
          <a:xfrm>
            <a:off x="393290" y="217640"/>
            <a:ext cx="11552903" cy="1325563"/>
          </a:xfrm>
        </p:spPr>
        <p:txBody>
          <a:bodyPr/>
          <a:lstStyle/>
          <a:p>
            <a:r>
              <a:rPr lang="en-GB" dirty="0"/>
              <a:t>How to backprop in Conv (annoying, but possible)</a:t>
            </a:r>
            <a:endParaRPr lang="en-SG" dirty="0"/>
          </a:p>
        </p:txBody>
      </p:sp>
      <p:pic>
        <p:nvPicPr>
          <p:cNvPr id="7" name="Picture 6" descr="A screenshot of a computer screen&#10;&#10;Description automatically generated">
            <a:extLst>
              <a:ext uri="{FF2B5EF4-FFF2-40B4-BE49-F238E27FC236}">
                <a16:creationId xmlns:a16="http://schemas.microsoft.com/office/drawing/2014/main" id="{D0748356-97D4-9387-4A7E-D13C22312528}"/>
              </a:ext>
            </a:extLst>
          </p:cNvPr>
          <p:cNvPicPr>
            <a:picLocks noChangeAspect="1"/>
          </p:cNvPicPr>
          <p:nvPr/>
        </p:nvPicPr>
        <p:blipFill rotWithShape="1">
          <a:blip r:embed="rId2">
            <a:alphaModFix amt="20000"/>
            <a:extLst>
              <a:ext uri="{28A0092B-C50C-407E-A947-70E740481C1C}">
                <a14:useLocalDpi xmlns:a14="http://schemas.microsoft.com/office/drawing/2010/main" val="0"/>
              </a:ext>
            </a:extLst>
          </a:blip>
          <a:srcRect t="27146"/>
          <a:stretch/>
        </p:blipFill>
        <p:spPr>
          <a:xfrm>
            <a:off x="838200" y="1543203"/>
            <a:ext cx="10515600" cy="5092971"/>
          </a:xfrm>
          <a:prstGeom prst="rect">
            <a:avLst/>
          </a:prstGeom>
        </p:spPr>
      </p:pic>
      <p:sp>
        <p:nvSpPr>
          <p:cNvPr id="3" name="TextBox 2">
            <a:extLst>
              <a:ext uri="{FF2B5EF4-FFF2-40B4-BE49-F238E27FC236}">
                <a16:creationId xmlns:a16="http://schemas.microsoft.com/office/drawing/2014/main" id="{9AC525E9-6FE0-3314-FAE4-11C2B868A0AC}"/>
              </a:ext>
            </a:extLst>
          </p:cNvPr>
          <p:cNvSpPr txBox="1"/>
          <p:nvPr/>
        </p:nvSpPr>
        <p:spPr>
          <a:xfrm rot="20838378">
            <a:off x="1356852" y="1834291"/>
            <a:ext cx="9144000" cy="4154984"/>
          </a:xfrm>
          <a:prstGeom prst="rect">
            <a:avLst/>
          </a:prstGeom>
          <a:noFill/>
        </p:spPr>
        <p:txBody>
          <a:bodyPr wrap="square" rtlCol="0">
            <a:spAutoFit/>
          </a:bodyPr>
          <a:lstStyle/>
          <a:p>
            <a:pPr algn="ctr"/>
            <a:r>
              <a:rPr lang="en-GB" sz="6600" b="1" dirty="0">
                <a:ln w="22225">
                  <a:solidFill>
                    <a:schemeClr val="tx1"/>
                  </a:solidFill>
                  <a:prstDash val="solid"/>
                </a:ln>
                <a:solidFill>
                  <a:srgbClr val="0070C0"/>
                </a:solidFill>
              </a:rPr>
              <a:t>Not implementing the backprop for convolution (although we would be capable of doing it)!</a:t>
            </a:r>
          </a:p>
        </p:txBody>
      </p:sp>
    </p:spTree>
    <p:extLst>
      <p:ext uri="{BB962C8B-B14F-4D97-AF65-F5344CB8AC3E}">
        <p14:creationId xmlns:p14="http://schemas.microsoft.com/office/powerpoint/2010/main" val="317740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BCA40-0921-359F-E945-D951F00C7B85}"/>
              </a:ext>
            </a:extLst>
          </p:cNvPr>
          <p:cNvSpPr>
            <a:spLocks noGrp="1"/>
          </p:cNvSpPr>
          <p:nvPr>
            <p:ph type="title"/>
          </p:nvPr>
        </p:nvSpPr>
        <p:spPr/>
        <p:txBody>
          <a:bodyPr/>
          <a:lstStyle/>
          <a:p>
            <a:r>
              <a:rPr lang="en-GB" dirty="0"/>
              <a:t>Conv2d layer</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8C45A1D-09E3-EE79-0E0B-AFCEAA2C1AAA}"/>
                  </a:ext>
                </a:extLst>
              </p:cNvPr>
              <p:cNvSpPr>
                <a:spLocks noGrp="1"/>
              </p:cNvSpPr>
              <p:nvPr>
                <p:ph idx="1"/>
              </p:nvPr>
            </p:nvSpPr>
            <p:spPr/>
            <p:txBody>
              <a:bodyPr/>
              <a:lstStyle/>
              <a:p>
                <a:pPr marL="0" indent="0">
                  <a:buNone/>
                </a:pPr>
                <a:r>
                  <a:rPr lang="en-GB" b="1" dirty="0"/>
                  <a:t>Definition (the </a:t>
                </a:r>
                <a:r>
                  <a:rPr lang="en-GB" b="1" dirty="0">
                    <a:solidFill>
                      <a:srgbClr val="00B050"/>
                    </a:solidFill>
                  </a:rPr>
                  <a:t>Conv2d</a:t>
                </a:r>
                <a:r>
                  <a:rPr lang="en-GB" b="1" dirty="0"/>
                  <a:t> layer):</a:t>
                </a:r>
              </a:p>
              <a:p>
                <a:pPr marL="0" indent="0">
                  <a:buNone/>
                </a:pPr>
                <a:r>
                  <a:rPr lang="en-SG" dirty="0"/>
                  <a:t>The </a:t>
                </a:r>
                <a:r>
                  <a:rPr lang="en-SG" b="1" dirty="0">
                    <a:solidFill>
                      <a:srgbClr val="00B050"/>
                    </a:solidFill>
                  </a:rPr>
                  <a:t>Conv2d</a:t>
                </a:r>
                <a:r>
                  <a:rPr lang="en-SG" dirty="0"/>
                  <a:t> </a:t>
                </a:r>
                <a:r>
                  <a:rPr lang="en-SG" b="1" dirty="0"/>
                  <a:t>layer</a:t>
                </a:r>
                <a:r>
                  <a:rPr lang="en-SG" dirty="0"/>
                  <a:t> is </a:t>
                </a:r>
                <a:r>
                  <a:rPr lang="en-SG" dirty="0" err="1"/>
                  <a:t>PyTorch’s</a:t>
                </a:r>
                <a:r>
                  <a:rPr lang="en-SG" dirty="0"/>
                  <a:t> implementation of the convolution operation we have seen earlier.</a:t>
                </a:r>
              </a:p>
              <a:p>
                <a:pPr marL="0" indent="0">
                  <a:buNone/>
                </a:pPr>
                <a:r>
                  <a:rPr lang="en-SG" dirty="0"/>
                  <a:t>The first two integer values correspond to the number of channels of input images </a:t>
                </a:r>
                <a14:m>
                  <m:oMath xmlns:m="http://schemas.openxmlformats.org/officeDocument/2006/math">
                    <m:r>
                      <a:rPr lang="en-SG" i="1" dirty="0" smtClean="0">
                        <a:latin typeface="Cambria Math" panose="02040503050406030204" pitchFamily="18" charset="0"/>
                      </a:rPr>
                      <m:t>𝑋</m:t>
                    </m:r>
                  </m:oMath>
                </a14:m>
                <a:r>
                  <a:rPr lang="en-SG" dirty="0"/>
                  <a:t> and the number of channels in kernel.</a:t>
                </a:r>
              </a:p>
              <a:p>
                <a:pPr marL="0" indent="0">
                  <a:buNone/>
                </a:pPr>
                <a:r>
                  <a:rPr lang="en-SG" dirty="0"/>
                  <a:t>The convolution  layer below then expects grayscale images </a:t>
                </a:r>
                <a14:m>
                  <m:oMath xmlns:m="http://schemas.openxmlformats.org/officeDocument/2006/math">
                    <m:r>
                      <a:rPr lang="en-SG" i="1" dirty="0" smtClean="0">
                        <a:latin typeface="Cambria Math" panose="02040503050406030204" pitchFamily="18" charset="0"/>
                      </a:rPr>
                      <m:t>𝑋</m:t>
                    </m:r>
                  </m:oMath>
                </a14:m>
                <a:r>
                  <a:rPr lang="en-SG" dirty="0"/>
                  <a:t> with only one channel and will produce images </a:t>
                </a:r>
                <a14:m>
                  <m:oMath xmlns:m="http://schemas.openxmlformats.org/officeDocument/2006/math">
                    <m:r>
                      <a:rPr lang="en-SG" i="1" dirty="0" smtClean="0">
                        <a:latin typeface="Cambria Math" panose="02040503050406030204" pitchFamily="18" charset="0"/>
                      </a:rPr>
                      <m:t>𝑌</m:t>
                    </m:r>
                  </m:oMath>
                </a14:m>
                <a:r>
                  <a:rPr lang="en-SG" dirty="0"/>
                  <a:t> with 32 channels.</a:t>
                </a:r>
              </a:p>
              <a:p>
                <a:pPr marL="0" indent="0" algn="ctr">
                  <a:buNone/>
                </a:pPr>
                <a:r>
                  <a:rPr lang="en-SG" b="1" dirty="0">
                    <a:solidFill>
                      <a:srgbClr val="7030A0"/>
                    </a:solidFill>
                    <a:sym typeface="Wingdings" panose="05000000000000000000" pitchFamily="2" charset="2"/>
                  </a:rPr>
                  <a:t> What is this image with 32 channels?</a:t>
                </a:r>
                <a:endParaRPr lang="en-SG" b="1" dirty="0">
                  <a:solidFill>
                    <a:srgbClr val="7030A0"/>
                  </a:solidFill>
                </a:endParaRPr>
              </a:p>
            </p:txBody>
          </p:sp>
        </mc:Choice>
        <mc:Fallback xmlns="">
          <p:sp>
            <p:nvSpPr>
              <p:cNvPr id="3" name="Content Placeholder 2">
                <a:extLst>
                  <a:ext uri="{FF2B5EF4-FFF2-40B4-BE49-F238E27FC236}">
                    <a16:creationId xmlns:a16="http://schemas.microsoft.com/office/drawing/2014/main" id="{28C45A1D-09E3-EE79-0E0B-AFCEAA2C1AAA}"/>
                  </a:ext>
                </a:extLst>
              </p:cNvPr>
              <p:cNvSpPr>
                <a:spLocks noGrp="1" noRot="1" noChangeAspect="1" noMove="1" noResize="1" noEditPoints="1" noAdjustHandles="1" noChangeArrowheads="1" noChangeShapeType="1" noTextEdit="1"/>
              </p:cNvSpPr>
              <p:nvPr>
                <p:ph idx="1"/>
              </p:nvPr>
            </p:nvSpPr>
            <p:spPr>
              <a:blipFill>
                <a:blip r:embed="rId2"/>
                <a:stretch>
                  <a:fillRect l="-1217" t="-2241" r="-1739"/>
                </a:stretch>
              </a:blipFill>
            </p:spPr>
            <p:txBody>
              <a:bodyPr/>
              <a:lstStyle/>
              <a:p>
                <a:r>
                  <a:rPr lang="en-SG">
                    <a:noFill/>
                  </a:rPr>
                  <a:t> </a:t>
                </a:r>
              </a:p>
            </p:txBody>
          </p:sp>
        </mc:Fallback>
      </mc:AlternateContent>
      <p:pic>
        <p:nvPicPr>
          <p:cNvPr id="5" name="Picture 4">
            <a:extLst>
              <a:ext uri="{FF2B5EF4-FFF2-40B4-BE49-F238E27FC236}">
                <a16:creationId xmlns:a16="http://schemas.microsoft.com/office/drawing/2014/main" id="{EC0DF93D-CC48-72BD-2451-2FDCF29CA14F}"/>
              </a:ext>
            </a:extLst>
          </p:cNvPr>
          <p:cNvPicPr>
            <a:picLocks noChangeAspect="1"/>
          </p:cNvPicPr>
          <p:nvPr/>
        </p:nvPicPr>
        <p:blipFill rotWithShape="1">
          <a:blip r:embed="rId3"/>
          <a:srcRect l="25995" t="70933" b="16779"/>
          <a:stretch/>
        </p:blipFill>
        <p:spPr>
          <a:xfrm>
            <a:off x="1230616" y="6000580"/>
            <a:ext cx="9730768" cy="352766"/>
          </a:xfrm>
          <a:prstGeom prst="rect">
            <a:avLst/>
          </a:prstGeom>
        </p:spPr>
      </p:pic>
    </p:spTree>
    <p:extLst>
      <p:ext uri="{BB962C8B-B14F-4D97-AF65-F5344CB8AC3E}">
        <p14:creationId xmlns:p14="http://schemas.microsoft.com/office/powerpoint/2010/main" val="1182956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708AA-FAAF-D1FD-F6AB-AF57B42E6859}"/>
              </a:ext>
            </a:extLst>
          </p:cNvPr>
          <p:cNvSpPr>
            <a:spLocks noGrp="1"/>
          </p:cNvSpPr>
          <p:nvPr>
            <p:ph type="title"/>
          </p:nvPr>
        </p:nvSpPr>
        <p:spPr/>
        <p:txBody>
          <a:bodyPr/>
          <a:lstStyle/>
          <a:p>
            <a:r>
              <a:rPr lang="en-GB" dirty="0"/>
              <a:t>Convolution on high dim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CE0C93-3C30-8FDD-E264-7A45C291120B}"/>
                  </a:ext>
                </a:extLst>
              </p:cNvPr>
              <p:cNvSpPr>
                <a:spLocks noGrp="1"/>
              </p:cNvSpPr>
              <p:nvPr>
                <p:ph idx="1"/>
              </p:nvPr>
            </p:nvSpPr>
            <p:spPr/>
            <p:txBody>
              <a:bodyPr>
                <a:normAutofit/>
              </a:bodyPr>
              <a:lstStyle/>
              <a:p>
                <a:pPr marL="0" indent="0" algn="ctr">
                  <a:buNone/>
                </a:pPr>
                <a:r>
                  <a:rPr lang="en-SG" b="1" dirty="0">
                    <a:solidFill>
                      <a:srgbClr val="7030A0"/>
                    </a:solidFill>
                    <a:sym typeface="Wingdings" panose="05000000000000000000" pitchFamily="2" charset="2"/>
                  </a:rPr>
                  <a:t> What is this image with 32 channels?</a:t>
                </a:r>
                <a:endParaRPr lang="en-SG" b="1" dirty="0">
                  <a:solidFill>
                    <a:srgbClr val="7030A0"/>
                  </a:solidFill>
                </a:endParaRPr>
              </a:p>
              <a:p>
                <a:r>
                  <a:rPr lang="en-GB" dirty="0"/>
                  <a:t>We could visualize that as 32 convolutions operations on our grayscale images </a:t>
                </a:r>
                <a14:m>
                  <m:oMath xmlns:m="http://schemas.openxmlformats.org/officeDocument/2006/math">
                    <m:r>
                      <a:rPr lang="en-GB" i="1" dirty="0" smtClean="0">
                        <a:latin typeface="Cambria Math" panose="02040503050406030204" pitchFamily="18" charset="0"/>
                      </a:rPr>
                      <m:t>𝑋</m:t>
                    </m:r>
                  </m:oMath>
                </a14:m>
                <a:r>
                  <a:rPr lang="en-GB" dirty="0"/>
                  <a:t>, being run on parallel with 32 different kernels.</a:t>
                </a:r>
              </a:p>
              <a:p>
                <a:r>
                  <a:rPr lang="en-GB" dirty="0"/>
                  <a:t>Kernels could correspond to different operations (blur, sharpen, edge detection, etc.).</a:t>
                </a:r>
              </a:p>
              <a:p>
                <a:endParaRPr lang="en-GB" dirty="0"/>
              </a:p>
              <a:p>
                <a:endParaRPr lang="en-GB" dirty="0"/>
              </a:p>
              <a:p>
                <a:endParaRPr lang="en-SG" dirty="0"/>
              </a:p>
            </p:txBody>
          </p:sp>
        </mc:Choice>
        <mc:Fallback xmlns="">
          <p:sp>
            <p:nvSpPr>
              <p:cNvPr id="3" name="Content Placeholder 2">
                <a:extLst>
                  <a:ext uri="{FF2B5EF4-FFF2-40B4-BE49-F238E27FC236}">
                    <a16:creationId xmlns:a16="http://schemas.microsoft.com/office/drawing/2014/main" id="{05CE0C93-3C30-8FDD-E264-7A45C291120B}"/>
                  </a:ext>
                </a:extLst>
              </p:cNvPr>
              <p:cNvSpPr>
                <a:spLocks noGrp="1" noRot="1" noChangeAspect="1" noMove="1" noResize="1" noEditPoints="1" noAdjustHandles="1" noChangeArrowheads="1" noChangeShapeType="1" noTextEdit="1"/>
              </p:cNvSpPr>
              <p:nvPr>
                <p:ph idx="1"/>
              </p:nvPr>
            </p:nvSpPr>
            <p:spPr>
              <a:blipFill>
                <a:blip r:embed="rId2"/>
                <a:stretch>
                  <a:fillRect l="-1043" t="-2661" r="-522"/>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1BDA6510-F5F1-BCF2-8199-3EE3597961DE}"/>
              </a:ext>
            </a:extLst>
          </p:cNvPr>
          <p:cNvPicPr>
            <a:picLocks noChangeAspect="1"/>
          </p:cNvPicPr>
          <p:nvPr/>
        </p:nvPicPr>
        <p:blipFill rotWithShape="1">
          <a:blip r:embed="rId3"/>
          <a:srcRect l="25995" t="70933" b="16779"/>
          <a:stretch/>
        </p:blipFill>
        <p:spPr>
          <a:xfrm>
            <a:off x="1230616" y="6000580"/>
            <a:ext cx="9730768" cy="352766"/>
          </a:xfrm>
          <a:prstGeom prst="rect">
            <a:avLst/>
          </a:prstGeom>
        </p:spPr>
      </p:pic>
    </p:spTree>
    <p:extLst>
      <p:ext uri="{BB962C8B-B14F-4D97-AF65-F5344CB8AC3E}">
        <p14:creationId xmlns:p14="http://schemas.microsoft.com/office/powerpoint/2010/main" val="29166280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708AA-FAAF-D1FD-F6AB-AF57B42E6859}"/>
              </a:ext>
            </a:extLst>
          </p:cNvPr>
          <p:cNvSpPr>
            <a:spLocks noGrp="1"/>
          </p:cNvSpPr>
          <p:nvPr>
            <p:ph type="title"/>
          </p:nvPr>
        </p:nvSpPr>
        <p:spPr/>
        <p:txBody>
          <a:bodyPr/>
          <a:lstStyle/>
          <a:p>
            <a:r>
              <a:rPr lang="en-GB" dirty="0"/>
              <a:t>Chaining convolutions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CE0C93-3C30-8FDD-E264-7A45C291120B}"/>
                  </a:ext>
                </a:extLst>
              </p:cNvPr>
              <p:cNvSpPr>
                <a:spLocks noGrp="1"/>
              </p:cNvSpPr>
              <p:nvPr>
                <p:ph idx="1"/>
              </p:nvPr>
            </p:nvSpPr>
            <p:spPr/>
            <p:txBody>
              <a:bodyPr>
                <a:normAutofit/>
              </a:bodyPr>
              <a:lstStyle/>
              <a:p>
                <a:pPr marL="0" indent="0" algn="ctr">
                  <a:buNone/>
                </a:pPr>
                <a:r>
                  <a:rPr lang="en-SG" b="1" dirty="0">
                    <a:solidFill>
                      <a:srgbClr val="7030A0"/>
                    </a:solidFill>
                    <a:sym typeface="Wingdings" panose="05000000000000000000" pitchFamily="2" charset="2"/>
                  </a:rPr>
                  <a:t> What is this image with 32 channels?</a:t>
                </a:r>
                <a:endParaRPr lang="en-SG" b="1" dirty="0">
                  <a:solidFill>
                    <a:srgbClr val="7030A0"/>
                  </a:solidFill>
                </a:endParaRPr>
              </a:p>
              <a:p>
                <a:r>
                  <a:rPr lang="en-GB" dirty="0"/>
                  <a:t>We could visualize that as 32 convolutions operations on our grayscale images </a:t>
                </a:r>
                <a14:m>
                  <m:oMath xmlns:m="http://schemas.openxmlformats.org/officeDocument/2006/math">
                    <m:r>
                      <a:rPr lang="en-GB" i="1" dirty="0" smtClean="0">
                        <a:latin typeface="Cambria Math" panose="02040503050406030204" pitchFamily="18" charset="0"/>
                      </a:rPr>
                      <m:t>𝑋</m:t>
                    </m:r>
                  </m:oMath>
                </a14:m>
                <a:r>
                  <a:rPr lang="en-GB" dirty="0"/>
                  <a:t>, being run on parallel with 32 different kernels.</a:t>
                </a:r>
              </a:p>
              <a:p>
                <a:r>
                  <a:rPr lang="en-GB" dirty="0"/>
                  <a:t>Kernels could correspond to different operations (blur, sharpen, edge detection, etc.).</a:t>
                </a:r>
              </a:p>
              <a:p>
                <a:r>
                  <a:rPr lang="en-GB" dirty="0"/>
                  <a:t>Eventually chaining several convolutions, will lead to combining operations together.</a:t>
                </a:r>
              </a:p>
              <a:p>
                <a:endParaRPr lang="en-GB" dirty="0"/>
              </a:p>
              <a:p>
                <a:endParaRPr lang="en-GB" dirty="0"/>
              </a:p>
              <a:p>
                <a:endParaRPr lang="en-SG" dirty="0"/>
              </a:p>
            </p:txBody>
          </p:sp>
        </mc:Choice>
        <mc:Fallback xmlns="">
          <p:sp>
            <p:nvSpPr>
              <p:cNvPr id="3" name="Content Placeholder 2">
                <a:extLst>
                  <a:ext uri="{FF2B5EF4-FFF2-40B4-BE49-F238E27FC236}">
                    <a16:creationId xmlns:a16="http://schemas.microsoft.com/office/drawing/2014/main" id="{05CE0C93-3C30-8FDD-E264-7A45C291120B}"/>
                  </a:ext>
                </a:extLst>
              </p:cNvPr>
              <p:cNvSpPr>
                <a:spLocks noGrp="1" noRot="1" noChangeAspect="1" noMove="1" noResize="1" noEditPoints="1" noAdjustHandles="1" noChangeArrowheads="1" noChangeShapeType="1" noTextEdit="1"/>
              </p:cNvSpPr>
              <p:nvPr>
                <p:ph idx="1"/>
              </p:nvPr>
            </p:nvSpPr>
            <p:spPr>
              <a:blipFill>
                <a:blip r:embed="rId2"/>
                <a:stretch>
                  <a:fillRect l="-1043" t="-2661" r="-522"/>
                </a:stretch>
              </a:blipFill>
            </p:spPr>
            <p:txBody>
              <a:bodyPr/>
              <a:lstStyle/>
              <a:p>
                <a:r>
                  <a:rPr lang="en-SG">
                    <a:noFill/>
                  </a:rPr>
                  <a:t> </a:t>
                </a:r>
              </a:p>
            </p:txBody>
          </p:sp>
        </mc:Fallback>
      </mc:AlternateContent>
      <p:pic>
        <p:nvPicPr>
          <p:cNvPr id="5" name="Picture 4">
            <a:extLst>
              <a:ext uri="{FF2B5EF4-FFF2-40B4-BE49-F238E27FC236}">
                <a16:creationId xmlns:a16="http://schemas.microsoft.com/office/drawing/2014/main" id="{6F02F9E3-681F-B342-E79C-4B4C7677EFEE}"/>
              </a:ext>
            </a:extLst>
          </p:cNvPr>
          <p:cNvPicPr>
            <a:picLocks noChangeAspect="1"/>
          </p:cNvPicPr>
          <p:nvPr/>
        </p:nvPicPr>
        <p:blipFill>
          <a:blip r:embed="rId3"/>
          <a:stretch>
            <a:fillRect/>
          </a:stretch>
        </p:blipFill>
        <p:spPr>
          <a:xfrm>
            <a:off x="1388819" y="6017738"/>
            <a:ext cx="9414362" cy="840262"/>
          </a:xfrm>
          <a:prstGeom prst="rect">
            <a:avLst/>
          </a:prstGeom>
        </p:spPr>
      </p:pic>
    </p:spTree>
    <p:extLst>
      <p:ext uri="{BB962C8B-B14F-4D97-AF65-F5344CB8AC3E}">
        <p14:creationId xmlns:p14="http://schemas.microsoft.com/office/powerpoint/2010/main" val="28559270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708AA-FAAF-D1FD-F6AB-AF57B42E6859}"/>
              </a:ext>
            </a:extLst>
          </p:cNvPr>
          <p:cNvSpPr>
            <a:spLocks noGrp="1"/>
          </p:cNvSpPr>
          <p:nvPr>
            <p:ph type="title"/>
          </p:nvPr>
        </p:nvSpPr>
        <p:spPr/>
        <p:txBody>
          <a:bodyPr/>
          <a:lstStyle/>
          <a:p>
            <a:r>
              <a:rPr lang="en-GB" dirty="0"/>
              <a:t>Chaining convolutions</a:t>
            </a:r>
            <a:endParaRPr lang="en-SG" dirty="0"/>
          </a:p>
        </p:txBody>
      </p:sp>
      <p:sp>
        <p:nvSpPr>
          <p:cNvPr id="3" name="Content Placeholder 2">
            <a:extLst>
              <a:ext uri="{FF2B5EF4-FFF2-40B4-BE49-F238E27FC236}">
                <a16:creationId xmlns:a16="http://schemas.microsoft.com/office/drawing/2014/main" id="{05CE0C93-3C30-8FDD-E264-7A45C291120B}"/>
              </a:ext>
            </a:extLst>
          </p:cNvPr>
          <p:cNvSpPr>
            <a:spLocks noGrp="1"/>
          </p:cNvSpPr>
          <p:nvPr>
            <p:ph idx="1"/>
          </p:nvPr>
        </p:nvSpPr>
        <p:spPr/>
        <p:txBody>
          <a:bodyPr>
            <a:normAutofit/>
          </a:bodyPr>
          <a:lstStyle/>
          <a:p>
            <a:r>
              <a:rPr lang="en-GB" b="1" dirty="0"/>
              <a:t>For instance: </a:t>
            </a:r>
            <a:r>
              <a:rPr lang="en-GB" dirty="0"/>
              <a:t>recognizing a cat ear = two edge detections, then combined to recognize a triangular shape or some sort?</a:t>
            </a:r>
          </a:p>
          <a:p>
            <a:endParaRPr lang="en-GB" dirty="0"/>
          </a:p>
          <a:p>
            <a:endParaRPr lang="en-GB" dirty="0"/>
          </a:p>
          <a:p>
            <a:endParaRPr lang="en-SG" dirty="0"/>
          </a:p>
        </p:txBody>
      </p:sp>
      <p:pic>
        <p:nvPicPr>
          <p:cNvPr id="4" name="Picture 2" descr="RÃ©sultat de recherche d'images pour &quot;cat image&quot;">
            <a:extLst>
              <a:ext uri="{FF2B5EF4-FFF2-40B4-BE49-F238E27FC236}">
                <a16:creationId xmlns:a16="http://schemas.microsoft.com/office/drawing/2014/main" id="{AE20D33F-CC9F-6CC2-BAF5-10478AC7C852}"/>
              </a:ext>
            </a:extLst>
          </p:cNvPr>
          <p:cNvPicPr>
            <a:picLocks noChangeAspect="1" noChangeArrowheads="1"/>
          </p:cNvPicPr>
          <p:nvPr/>
        </p:nvPicPr>
        <p:blipFill>
          <a:blip r:embed="rId2">
            <a:alphaModFix amt="70000"/>
            <a:extLst>
              <a:ext uri="{28A0092B-C50C-407E-A947-70E740481C1C}">
                <a14:useLocalDpi xmlns:a14="http://schemas.microsoft.com/office/drawing/2010/main" val="0"/>
              </a:ext>
            </a:extLst>
          </a:blip>
          <a:srcRect/>
          <a:stretch>
            <a:fillRect/>
          </a:stretch>
        </p:blipFill>
        <p:spPr bwMode="auto">
          <a:xfrm>
            <a:off x="3150211" y="2934209"/>
            <a:ext cx="5891578" cy="3923791"/>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EE65C6D6-0023-5032-28ED-95DD2C9FFD83}"/>
              </a:ext>
            </a:extLst>
          </p:cNvPr>
          <p:cNvCxnSpPr>
            <a:cxnSpLocks/>
          </p:cNvCxnSpPr>
          <p:nvPr/>
        </p:nvCxnSpPr>
        <p:spPr>
          <a:xfrm>
            <a:off x="4446954" y="3227754"/>
            <a:ext cx="890954" cy="617415"/>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3228C7-2793-4725-BE31-E09E28BD1343}"/>
              </a:ext>
            </a:extLst>
          </p:cNvPr>
          <p:cNvCxnSpPr>
            <a:cxnSpLocks/>
          </p:cNvCxnSpPr>
          <p:nvPr/>
        </p:nvCxnSpPr>
        <p:spPr>
          <a:xfrm>
            <a:off x="4118708" y="3429000"/>
            <a:ext cx="328246" cy="527660"/>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0563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FA464-E542-D7F8-48C5-A93F2A418B58}"/>
              </a:ext>
            </a:extLst>
          </p:cNvPr>
          <p:cNvSpPr>
            <a:spLocks noGrp="1"/>
          </p:cNvSpPr>
          <p:nvPr>
            <p:ph type="title"/>
          </p:nvPr>
        </p:nvSpPr>
        <p:spPr/>
        <p:txBody>
          <a:bodyPr/>
          <a:lstStyle/>
          <a:p>
            <a:r>
              <a:rPr lang="en-GB" dirty="0"/>
              <a:t>The core idea behind CNN</a:t>
            </a:r>
            <a:endParaRPr lang="en-SG" dirty="0"/>
          </a:p>
        </p:txBody>
      </p:sp>
      <p:sp>
        <p:nvSpPr>
          <p:cNvPr id="3" name="Content Placeholder 2">
            <a:extLst>
              <a:ext uri="{FF2B5EF4-FFF2-40B4-BE49-F238E27FC236}">
                <a16:creationId xmlns:a16="http://schemas.microsoft.com/office/drawing/2014/main" id="{40DC6577-83D8-3375-62A7-E5DCC4AE380C}"/>
              </a:ext>
            </a:extLst>
          </p:cNvPr>
          <p:cNvSpPr>
            <a:spLocks noGrp="1"/>
          </p:cNvSpPr>
          <p:nvPr>
            <p:ph idx="1"/>
          </p:nvPr>
        </p:nvSpPr>
        <p:spPr>
          <a:xfrm>
            <a:off x="838200" y="1825624"/>
            <a:ext cx="10400071" cy="5032375"/>
          </a:xfrm>
        </p:spPr>
        <p:txBody>
          <a:bodyPr>
            <a:normAutofit/>
          </a:bodyPr>
          <a:lstStyle/>
          <a:p>
            <a:pPr marL="0" indent="0">
              <a:buNone/>
            </a:pPr>
            <a:r>
              <a:rPr lang="en-GB" b="1" dirty="0"/>
              <a:t>Definition (</a:t>
            </a:r>
            <a:r>
              <a:rPr lang="en-GB" b="1" dirty="0">
                <a:solidFill>
                  <a:srgbClr val="00B050"/>
                </a:solidFill>
              </a:rPr>
              <a:t>Convolutional Neural Networks</a:t>
            </a:r>
            <a:r>
              <a:rPr lang="en-GB" b="1" dirty="0"/>
              <a:t>):</a:t>
            </a:r>
          </a:p>
          <a:p>
            <a:pPr marL="0" indent="0">
              <a:buNone/>
            </a:pPr>
            <a:r>
              <a:rPr lang="en-SG" dirty="0"/>
              <a:t>Introduced in [</a:t>
            </a:r>
            <a:r>
              <a:rPr lang="en-US" dirty="0"/>
              <a:t>LeCun1998</a:t>
            </a:r>
            <a:r>
              <a:rPr lang="en-SG" dirty="0"/>
              <a:t>], </a:t>
            </a:r>
            <a:r>
              <a:rPr lang="en-SG" b="1" dirty="0">
                <a:solidFill>
                  <a:srgbClr val="00B050"/>
                </a:solidFill>
              </a:rPr>
              <a:t>Convolutional</a:t>
            </a:r>
            <a:r>
              <a:rPr lang="en-SG" b="1" dirty="0"/>
              <a:t> </a:t>
            </a:r>
            <a:r>
              <a:rPr lang="en-SG" b="1" dirty="0">
                <a:solidFill>
                  <a:srgbClr val="00B050"/>
                </a:solidFill>
              </a:rPr>
              <a:t>Neural</a:t>
            </a:r>
            <a:r>
              <a:rPr lang="en-SG" b="1" dirty="0"/>
              <a:t> </a:t>
            </a:r>
            <a:r>
              <a:rPr lang="en-SG" b="1" dirty="0">
                <a:solidFill>
                  <a:srgbClr val="00B050"/>
                </a:solidFill>
              </a:rPr>
              <a:t>Networks</a:t>
            </a:r>
            <a:r>
              <a:rPr lang="en-SG" dirty="0"/>
              <a:t> (or </a:t>
            </a:r>
            <a:r>
              <a:rPr lang="en-SG" b="1" dirty="0"/>
              <a:t>CNNs</a:t>
            </a:r>
            <a:r>
              <a:rPr lang="en-SG" dirty="0"/>
              <a:t> in short) are Neural Networks which integrate convolutions as the processing operations to be used on input images, in place of the Linear ones.</a:t>
            </a:r>
          </a:p>
          <a:p>
            <a:pPr marL="0" indent="0">
              <a:buNone/>
            </a:pPr>
            <a:r>
              <a:rPr lang="en-SG" dirty="0"/>
              <a:t>Training a CNN is then equivalent to </a:t>
            </a:r>
            <a:r>
              <a:rPr lang="en-SG" b="1" dirty="0"/>
              <a:t>letting the Neural Network decide on which kernels values</a:t>
            </a:r>
            <a:r>
              <a:rPr lang="en-SG" dirty="0"/>
              <a:t> (and therefore which image processing operations) to use in the convolution operations run in both parallel and sequence.</a:t>
            </a:r>
          </a:p>
        </p:txBody>
      </p:sp>
    </p:spTree>
    <p:extLst>
      <p:ext uri="{BB962C8B-B14F-4D97-AF65-F5344CB8AC3E}">
        <p14:creationId xmlns:p14="http://schemas.microsoft.com/office/powerpoint/2010/main" val="18574528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FA464-E542-D7F8-48C5-A93F2A418B58}"/>
              </a:ext>
            </a:extLst>
          </p:cNvPr>
          <p:cNvSpPr>
            <a:spLocks noGrp="1"/>
          </p:cNvSpPr>
          <p:nvPr>
            <p:ph type="title"/>
          </p:nvPr>
        </p:nvSpPr>
        <p:spPr/>
        <p:txBody>
          <a:bodyPr/>
          <a:lstStyle/>
          <a:p>
            <a:r>
              <a:rPr lang="en-GB" dirty="0"/>
              <a:t>Training a CNN</a:t>
            </a:r>
            <a:endParaRPr lang="en-SG" dirty="0"/>
          </a:p>
        </p:txBody>
      </p:sp>
      <p:sp>
        <p:nvSpPr>
          <p:cNvPr id="3" name="Content Placeholder 2">
            <a:extLst>
              <a:ext uri="{FF2B5EF4-FFF2-40B4-BE49-F238E27FC236}">
                <a16:creationId xmlns:a16="http://schemas.microsoft.com/office/drawing/2014/main" id="{40DC6577-83D8-3375-62A7-E5DCC4AE380C}"/>
              </a:ext>
            </a:extLst>
          </p:cNvPr>
          <p:cNvSpPr>
            <a:spLocks noGrp="1"/>
          </p:cNvSpPr>
          <p:nvPr>
            <p:ph idx="1"/>
          </p:nvPr>
        </p:nvSpPr>
        <p:spPr>
          <a:xfrm>
            <a:off x="838200" y="1825624"/>
            <a:ext cx="10515600" cy="5032375"/>
          </a:xfrm>
        </p:spPr>
        <p:txBody>
          <a:bodyPr>
            <a:normAutofit/>
          </a:bodyPr>
          <a:lstStyle/>
          <a:p>
            <a:pPr marL="0" indent="0">
              <a:buNone/>
            </a:pPr>
            <a:r>
              <a:rPr lang="en-SG" dirty="0"/>
              <a:t>CNNs have shown much better performance at processing images data types, compared to Neural Networks implementing Linear operations.</a:t>
            </a:r>
          </a:p>
          <a:p>
            <a:r>
              <a:rPr lang="en-SG" dirty="0"/>
              <a:t>For this reason, </a:t>
            </a:r>
            <a:r>
              <a:rPr lang="en-SG" b="1" dirty="0"/>
              <a:t>Convolutions (and CNNs) are indeed the preferred processing method when inputs are images.</a:t>
            </a:r>
          </a:p>
          <a:p>
            <a:endParaRPr lang="en-SG" dirty="0"/>
          </a:p>
          <a:p>
            <a:pPr marL="0" indent="0">
              <a:buNone/>
            </a:pPr>
            <a:r>
              <a:rPr lang="en-SG" dirty="0">
                <a:solidFill>
                  <a:srgbClr val="FF0000"/>
                </a:solidFill>
              </a:rPr>
              <a:t>In addition, as the convolution is “just another weird matrix multiplication of some sort”, this means that </a:t>
            </a:r>
            <a:r>
              <a:rPr lang="en-SG" b="1" dirty="0">
                <a:solidFill>
                  <a:srgbClr val="FF0000"/>
                </a:solidFill>
              </a:rPr>
              <a:t>the trainable parameters (weight/kernel and bias) </a:t>
            </a:r>
            <a:r>
              <a:rPr lang="en-SG" dirty="0">
                <a:solidFill>
                  <a:srgbClr val="FF0000"/>
                </a:solidFill>
              </a:rPr>
              <a:t>could be trained </a:t>
            </a:r>
            <a:r>
              <a:rPr lang="en-SG" b="1" dirty="0">
                <a:solidFill>
                  <a:srgbClr val="FF0000"/>
                </a:solidFill>
              </a:rPr>
              <a:t>using the same backpropagation as earlier</a:t>
            </a:r>
            <a:r>
              <a:rPr lang="en-SG" dirty="0">
                <a:solidFill>
                  <a:srgbClr val="FF0000"/>
                </a:solidFill>
              </a:rPr>
              <a:t>!</a:t>
            </a:r>
          </a:p>
          <a:p>
            <a:r>
              <a:rPr lang="en-SG" i="1" dirty="0"/>
              <a:t>(We will however not implement it and rely on </a:t>
            </a:r>
            <a:r>
              <a:rPr lang="en-SG" i="1" dirty="0" err="1"/>
              <a:t>autograd</a:t>
            </a:r>
            <a:r>
              <a:rPr lang="en-SG" i="1" dirty="0"/>
              <a:t>!)</a:t>
            </a:r>
          </a:p>
        </p:txBody>
      </p:sp>
    </p:spTree>
    <p:extLst>
      <p:ext uri="{BB962C8B-B14F-4D97-AF65-F5344CB8AC3E}">
        <p14:creationId xmlns:p14="http://schemas.microsoft.com/office/powerpoint/2010/main" val="14427300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708AA-FAAF-D1FD-F6AB-AF57B42E6859}"/>
              </a:ext>
            </a:extLst>
          </p:cNvPr>
          <p:cNvSpPr>
            <a:spLocks noGrp="1"/>
          </p:cNvSpPr>
          <p:nvPr>
            <p:ph type="title"/>
          </p:nvPr>
        </p:nvSpPr>
        <p:spPr/>
        <p:txBody>
          <a:bodyPr/>
          <a:lstStyle/>
          <a:p>
            <a:r>
              <a:rPr lang="en-GB" dirty="0"/>
              <a:t>Chaining convolutions</a:t>
            </a:r>
            <a:endParaRPr lang="en-SG" dirty="0"/>
          </a:p>
        </p:txBody>
      </p:sp>
      <p:sp>
        <p:nvSpPr>
          <p:cNvPr id="3" name="Content Placeholder 2">
            <a:extLst>
              <a:ext uri="{FF2B5EF4-FFF2-40B4-BE49-F238E27FC236}">
                <a16:creationId xmlns:a16="http://schemas.microsoft.com/office/drawing/2014/main" id="{05CE0C93-3C30-8FDD-E264-7A45C291120B}"/>
              </a:ext>
            </a:extLst>
          </p:cNvPr>
          <p:cNvSpPr>
            <a:spLocks noGrp="1"/>
          </p:cNvSpPr>
          <p:nvPr>
            <p:ph idx="1"/>
          </p:nvPr>
        </p:nvSpPr>
        <p:spPr/>
        <p:txBody>
          <a:bodyPr>
            <a:normAutofit/>
          </a:bodyPr>
          <a:lstStyle/>
          <a:p>
            <a:r>
              <a:rPr lang="en-GB" b="1" dirty="0"/>
              <a:t>Explainability of CNNs: </a:t>
            </a:r>
            <a:r>
              <a:rPr lang="en-GB" dirty="0"/>
              <a:t>Many papers show that the first layers of the CNN are typically implementing basic shapes and </a:t>
            </a:r>
            <a:r>
              <a:rPr lang="en-GB" dirty="0" err="1"/>
              <a:t>colors</a:t>
            </a:r>
            <a:r>
              <a:rPr lang="en-GB" dirty="0"/>
              <a:t> detection, whereas deeper layers are progressively recognizing more and more sophisticated patterns, by </a:t>
            </a:r>
            <a:r>
              <a:rPr lang="en-GB"/>
              <a:t>recombining information.</a:t>
            </a:r>
            <a:r>
              <a:rPr lang="en-GB" b="1"/>
              <a:t> </a:t>
            </a:r>
            <a:endParaRPr lang="en-GB" dirty="0"/>
          </a:p>
          <a:p>
            <a:endParaRPr lang="en-GB" dirty="0"/>
          </a:p>
          <a:p>
            <a:endParaRPr lang="en-GB" dirty="0"/>
          </a:p>
          <a:p>
            <a:endParaRPr lang="en-SG" dirty="0"/>
          </a:p>
        </p:txBody>
      </p:sp>
      <p:pic>
        <p:nvPicPr>
          <p:cNvPr id="6" name="Picture 5">
            <a:extLst>
              <a:ext uri="{FF2B5EF4-FFF2-40B4-BE49-F238E27FC236}">
                <a16:creationId xmlns:a16="http://schemas.microsoft.com/office/drawing/2014/main" id="{542682E7-4760-0440-FD5B-D7E969C2ECE6}"/>
              </a:ext>
            </a:extLst>
          </p:cNvPr>
          <p:cNvPicPr>
            <a:picLocks noChangeAspect="1"/>
          </p:cNvPicPr>
          <p:nvPr/>
        </p:nvPicPr>
        <p:blipFill>
          <a:blip r:embed="rId2"/>
          <a:stretch>
            <a:fillRect/>
          </a:stretch>
        </p:blipFill>
        <p:spPr>
          <a:xfrm>
            <a:off x="119185" y="3719474"/>
            <a:ext cx="3819769" cy="2523309"/>
          </a:xfrm>
          <a:prstGeom prst="rect">
            <a:avLst/>
          </a:prstGeom>
        </p:spPr>
      </p:pic>
      <p:pic>
        <p:nvPicPr>
          <p:cNvPr id="10" name="Picture 9">
            <a:extLst>
              <a:ext uri="{FF2B5EF4-FFF2-40B4-BE49-F238E27FC236}">
                <a16:creationId xmlns:a16="http://schemas.microsoft.com/office/drawing/2014/main" id="{BE6AD98E-B700-90F8-52FC-5B8641CF6373}"/>
              </a:ext>
            </a:extLst>
          </p:cNvPr>
          <p:cNvPicPr>
            <a:picLocks noChangeAspect="1"/>
          </p:cNvPicPr>
          <p:nvPr/>
        </p:nvPicPr>
        <p:blipFill>
          <a:blip r:embed="rId3"/>
          <a:stretch>
            <a:fillRect/>
          </a:stretch>
        </p:blipFill>
        <p:spPr>
          <a:xfrm>
            <a:off x="4203517" y="3742919"/>
            <a:ext cx="3784965" cy="2523309"/>
          </a:xfrm>
          <a:prstGeom prst="rect">
            <a:avLst/>
          </a:prstGeom>
        </p:spPr>
      </p:pic>
      <p:pic>
        <p:nvPicPr>
          <p:cNvPr id="12" name="Picture 11">
            <a:extLst>
              <a:ext uri="{FF2B5EF4-FFF2-40B4-BE49-F238E27FC236}">
                <a16:creationId xmlns:a16="http://schemas.microsoft.com/office/drawing/2014/main" id="{32EFE76C-6FAF-6A34-B831-AD1DF445403E}"/>
              </a:ext>
            </a:extLst>
          </p:cNvPr>
          <p:cNvPicPr>
            <a:picLocks noChangeAspect="1"/>
          </p:cNvPicPr>
          <p:nvPr/>
        </p:nvPicPr>
        <p:blipFill>
          <a:blip r:embed="rId4"/>
          <a:stretch>
            <a:fillRect/>
          </a:stretch>
        </p:blipFill>
        <p:spPr>
          <a:xfrm>
            <a:off x="8260861" y="3742919"/>
            <a:ext cx="3819886" cy="2523308"/>
          </a:xfrm>
          <a:prstGeom prst="rect">
            <a:avLst/>
          </a:prstGeom>
        </p:spPr>
      </p:pic>
    </p:spTree>
    <p:extLst>
      <p:ext uri="{BB962C8B-B14F-4D97-AF65-F5344CB8AC3E}">
        <p14:creationId xmlns:p14="http://schemas.microsoft.com/office/powerpoint/2010/main" val="3195395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FC736-DAE7-1FB0-3232-9B9C6D629003}"/>
              </a:ext>
            </a:extLst>
          </p:cNvPr>
          <p:cNvSpPr>
            <a:spLocks noGrp="1"/>
          </p:cNvSpPr>
          <p:nvPr>
            <p:ph type="title"/>
          </p:nvPr>
        </p:nvSpPr>
        <p:spPr/>
        <p:txBody>
          <a:bodyPr/>
          <a:lstStyle/>
          <a:p>
            <a:r>
              <a:rPr lang="en-GB" dirty="0"/>
              <a:t>Our first CNN on MNIST</a:t>
            </a:r>
            <a:endParaRPr lang="en-SG" dirty="0"/>
          </a:p>
        </p:txBody>
      </p:sp>
      <p:sp>
        <p:nvSpPr>
          <p:cNvPr id="3" name="Content Placeholder 2">
            <a:extLst>
              <a:ext uri="{FF2B5EF4-FFF2-40B4-BE49-F238E27FC236}">
                <a16:creationId xmlns:a16="http://schemas.microsoft.com/office/drawing/2014/main" id="{313B7EB5-F765-3D3B-960C-4F947814B167}"/>
              </a:ext>
            </a:extLst>
          </p:cNvPr>
          <p:cNvSpPr>
            <a:spLocks noGrp="1"/>
          </p:cNvSpPr>
          <p:nvPr>
            <p:ph idx="1"/>
          </p:nvPr>
        </p:nvSpPr>
        <p:spPr>
          <a:xfrm>
            <a:off x="838200" y="1825624"/>
            <a:ext cx="10515600" cy="5032375"/>
          </a:xfrm>
        </p:spPr>
        <p:txBody>
          <a:bodyPr>
            <a:normAutofit/>
          </a:bodyPr>
          <a:lstStyle/>
          <a:p>
            <a:pPr marL="0" indent="0">
              <a:buNone/>
            </a:pPr>
            <a:r>
              <a:rPr lang="en-GB" dirty="0"/>
              <a:t>Using previous concepts and intuitions, we will therefore build our first Convolutional Neural Network (CNN).</a:t>
            </a:r>
          </a:p>
          <a:p>
            <a:r>
              <a:rPr lang="en-GB" dirty="0"/>
              <a:t>This network will have the same logic as the previous DNN from last week, but it will </a:t>
            </a:r>
            <a:r>
              <a:rPr lang="en-GB" b="1" dirty="0"/>
              <a:t>replace the first few Linear layers with Conv2d operations instead</a:t>
            </a:r>
            <a:r>
              <a:rPr lang="en-GB" dirty="0"/>
              <a:t>. </a:t>
            </a:r>
          </a:p>
          <a:p>
            <a:r>
              <a:rPr lang="en-GB" dirty="0"/>
              <a:t>By doing so, we are hoping that </a:t>
            </a:r>
            <a:r>
              <a:rPr lang="en-GB" b="1" dirty="0"/>
              <a:t>the CNN will be able to figure out which kernel values (and image processing operations) to use</a:t>
            </a:r>
            <a:r>
              <a:rPr lang="en-GB" dirty="0"/>
              <a:t>, for the MNIST classification task.</a:t>
            </a:r>
          </a:p>
        </p:txBody>
      </p:sp>
    </p:spTree>
    <p:extLst>
      <p:ext uri="{BB962C8B-B14F-4D97-AF65-F5344CB8AC3E}">
        <p14:creationId xmlns:p14="http://schemas.microsoft.com/office/powerpoint/2010/main" val="34400245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FC736-DAE7-1FB0-3232-9B9C6D629003}"/>
              </a:ext>
            </a:extLst>
          </p:cNvPr>
          <p:cNvSpPr>
            <a:spLocks noGrp="1"/>
          </p:cNvSpPr>
          <p:nvPr>
            <p:ph type="title"/>
          </p:nvPr>
        </p:nvSpPr>
        <p:spPr/>
        <p:txBody>
          <a:bodyPr/>
          <a:lstStyle/>
          <a:p>
            <a:r>
              <a:rPr lang="en-GB" dirty="0"/>
              <a:t>Our first CNN on MNIST</a:t>
            </a:r>
            <a:endParaRPr lang="en-SG" dirty="0"/>
          </a:p>
        </p:txBody>
      </p:sp>
      <p:sp>
        <p:nvSpPr>
          <p:cNvPr id="3" name="Content Placeholder 2">
            <a:extLst>
              <a:ext uri="{FF2B5EF4-FFF2-40B4-BE49-F238E27FC236}">
                <a16:creationId xmlns:a16="http://schemas.microsoft.com/office/drawing/2014/main" id="{313B7EB5-F765-3D3B-960C-4F947814B167}"/>
              </a:ext>
            </a:extLst>
          </p:cNvPr>
          <p:cNvSpPr>
            <a:spLocks noGrp="1"/>
          </p:cNvSpPr>
          <p:nvPr>
            <p:ph idx="1"/>
          </p:nvPr>
        </p:nvSpPr>
        <p:spPr>
          <a:xfrm>
            <a:off x="838200" y="1825624"/>
            <a:ext cx="10515600" cy="5032375"/>
          </a:xfrm>
        </p:spPr>
        <p:txBody>
          <a:bodyPr>
            <a:normAutofit/>
          </a:bodyPr>
          <a:lstStyle/>
          <a:p>
            <a:pPr marL="0" indent="0">
              <a:buNone/>
            </a:pPr>
            <a:r>
              <a:rPr lang="en-GB" dirty="0"/>
              <a:t>We will therefore build our first Convolutional Neural Network (CNN).</a:t>
            </a:r>
          </a:p>
          <a:p>
            <a:r>
              <a:rPr lang="en-GB" dirty="0"/>
              <a:t>The </a:t>
            </a:r>
            <a:r>
              <a:rPr lang="en-GB" b="1" dirty="0"/>
              <a:t>final layers must however consist of Linear layers</a:t>
            </a:r>
            <a:r>
              <a:rPr lang="en-GB" dirty="0"/>
              <a:t>, whose purpose is to eventually produce a 1D vector of 10 values, consisting of the probabilities for each MNIST class.</a:t>
            </a:r>
          </a:p>
          <a:p>
            <a:r>
              <a:rPr lang="en-GB" dirty="0"/>
              <a:t>Between the last Conv2d (which produces a 2D image) and the first fully connected vector (which expects a 1D vector), we will implement a </a:t>
            </a:r>
            <a:r>
              <a:rPr lang="en-GB" b="1" dirty="0"/>
              <a:t>flattening</a:t>
            </a:r>
            <a:r>
              <a:rPr lang="en-GB" dirty="0"/>
              <a:t> of the image, as before.</a:t>
            </a:r>
            <a:endParaRPr lang="en-SG" dirty="0"/>
          </a:p>
        </p:txBody>
      </p:sp>
    </p:spTree>
    <p:extLst>
      <p:ext uri="{BB962C8B-B14F-4D97-AF65-F5344CB8AC3E}">
        <p14:creationId xmlns:p14="http://schemas.microsoft.com/office/powerpoint/2010/main" val="9605218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FC736-DAE7-1FB0-3232-9B9C6D629003}"/>
              </a:ext>
            </a:extLst>
          </p:cNvPr>
          <p:cNvSpPr>
            <a:spLocks noGrp="1"/>
          </p:cNvSpPr>
          <p:nvPr>
            <p:ph type="title"/>
          </p:nvPr>
        </p:nvSpPr>
        <p:spPr/>
        <p:txBody>
          <a:bodyPr/>
          <a:lstStyle/>
          <a:p>
            <a:r>
              <a:rPr lang="en-GB" dirty="0"/>
              <a:t>Our first CNN on MNIST</a:t>
            </a:r>
            <a:endParaRPr lang="en-SG" dirty="0"/>
          </a:p>
        </p:txBody>
      </p:sp>
      <p:sp>
        <p:nvSpPr>
          <p:cNvPr id="8" name="Content Placeholder 7">
            <a:extLst>
              <a:ext uri="{FF2B5EF4-FFF2-40B4-BE49-F238E27FC236}">
                <a16:creationId xmlns:a16="http://schemas.microsoft.com/office/drawing/2014/main" id="{B76E9C89-2A25-36ED-66F3-DE7260657594}"/>
              </a:ext>
            </a:extLst>
          </p:cNvPr>
          <p:cNvSpPr>
            <a:spLocks noGrp="1"/>
          </p:cNvSpPr>
          <p:nvPr>
            <p:ph idx="1"/>
          </p:nvPr>
        </p:nvSpPr>
        <p:spPr/>
        <p:txBody>
          <a:bodyPr/>
          <a:lstStyle/>
          <a:p>
            <a:pPr marL="0" indent="0">
              <a:buNone/>
            </a:pPr>
            <a:r>
              <a:rPr lang="en-GB" b="1" dirty="0"/>
              <a:t>Our CNN: </a:t>
            </a:r>
            <a:r>
              <a:rPr lang="en-GB" dirty="0"/>
              <a:t>2 Conv2d layers + Flatten + 2 Linear layers</a:t>
            </a:r>
            <a:endParaRPr lang="en-SG" dirty="0"/>
          </a:p>
        </p:txBody>
      </p:sp>
      <p:graphicFrame>
        <p:nvGraphicFramePr>
          <p:cNvPr id="9" name="Diagram 8">
            <a:extLst>
              <a:ext uri="{FF2B5EF4-FFF2-40B4-BE49-F238E27FC236}">
                <a16:creationId xmlns:a16="http://schemas.microsoft.com/office/drawing/2014/main" id="{B78A3F9D-34CE-9E5C-499C-81A82B92F7F2}"/>
              </a:ext>
            </a:extLst>
          </p:cNvPr>
          <p:cNvGraphicFramePr/>
          <p:nvPr>
            <p:extLst>
              <p:ext uri="{D42A27DB-BD31-4B8C-83A1-F6EECF244321}">
                <p14:modId xmlns:p14="http://schemas.microsoft.com/office/powerpoint/2010/main" val="2378489584"/>
              </p:ext>
            </p:extLst>
          </p:nvPr>
        </p:nvGraphicFramePr>
        <p:xfrm>
          <a:off x="140677" y="2485291"/>
          <a:ext cx="11871569" cy="382660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563962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FC736-DAE7-1FB0-3232-9B9C6D629003}"/>
              </a:ext>
            </a:extLst>
          </p:cNvPr>
          <p:cNvSpPr>
            <a:spLocks noGrp="1"/>
          </p:cNvSpPr>
          <p:nvPr>
            <p:ph type="title"/>
          </p:nvPr>
        </p:nvSpPr>
        <p:spPr/>
        <p:txBody>
          <a:bodyPr/>
          <a:lstStyle/>
          <a:p>
            <a:r>
              <a:rPr lang="en-GB" dirty="0"/>
              <a:t>Our first CNN on MNIST</a:t>
            </a:r>
            <a:endParaRPr lang="en-SG" dirty="0"/>
          </a:p>
        </p:txBody>
      </p:sp>
      <p:sp>
        <p:nvSpPr>
          <p:cNvPr id="8" name="Content Placeholder 7">
            <a:extLst>
              <a:ext uri="{FF2B5EF4-FFF2-40B4-BE49-F238E27FC236}">
                <a16:creationId xmlns:a16="http://schemas.microsoft.com/office/drawing/2014/main" id="{B76E9C89-2A25-36ED-66F3-DE7260657594}"/>
              </a:ext>
            </a:extLst>
          </p:cNvPr>
          <p:cNvSpPr>
            <a:spLocks noGrp="1"/>
          </p:cNvSpPr>
          <p:nvPr>
            <p:ph idx="1"/>
          </p:nvPr>
        </p:nvSpPr>
        <p:spPr/>
        <p:txBody>
          <a:bodyPr/>
          <a:lstStyle/>
          <a:p>
            <a:pPr marL="0" indent="0">
              <a:buNone/>
            </a:pPr>
            <a:r>
              <a:rPr lang="en-GB" b="1" dirty="0"/>
              <a:t>Our CNN: </a:t>
            </a:r>
            <a:r>
              <a:rPr lang="en-GB" dirty="0"/>
              <a:t>2 Conv2d layers + Flatten + 2 Linear layers</a:t>
            </a:r>
            <a:endParaRPr lang="en-SG" dirty="0"/>
          </a:p>
        </p:txBody>
      </p:sp>
      <p:pic>
        <p:nvPicPr>
          <p:cNvPr id="7" name="Picture 6">
            <a:extLst>
              <a:ext uri="{FF2B5EF4-FFF2-40B4-BE49-F238E27FC236}">
                <a16:creationId xmlns:a16="http://schemas.microsoft.com/office/drawing/2014/main" id="{C10F4518-96E1-462A-8DA7-65DE3DBAF4E5}"/>
              </a:ext>
            </a:extLst>
          </p:cNvPr>
          <p:cNvPicPr>
            <a:picLocks noChangeAspect="1"/>
          </p:cNvPicPr>
          <p:nvPr/>
        </p:nvPicPr>
        <p:blipFill>
          <a:blip r:embed="rId2"/>
          <a:stretch>
            <a:fillRect/>
          </a:stretch>
        </p:blipFill>
        <p:spPr>
          <a:xfrm>
            <a:off x="330199" y="2550380"/>
            <a:ext cx="11730845" cy="3826974"/>
          </a:xfrm>
          <a:prstGeom prst="rect">
            <a:avLst/>
          </a:prstGeom>
        </p:spPr>
      </p:pic>
    </p:spTree>
    <p:extLst>
      <p:ext uri="{BB962C8B-B14F-4D97-AF65-F5344CB8AC3E}">
        <p14:creationId xmlns:p14="http://schemas.microsoft.com/office/powerpoint/2010/main" val="24517019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FC736-DAE7-1FB0-3232-9B9C6D629003}"/>
              </a:ext>
            </a:extLst>
          </p:cNvPr>
          <p:cNvSpPr>
            <a:spLocks noGrp="1"/>
          </p:cNvSpPr>
          <p:nvPr>
            <p:ph type="title"/>
          </p:nvPr>
        </p:nvSpPr>
        <p:spPr/>
        <p:txBody>
          <a:bodyPr/>
          <a:lstStyle/>
          <a:p>
            <a:r>
              <a:rPr lang="en-GB" dirty="0"/>
              <a:t>Our first CNN on MNIST</a:t>
            </a:r>
            <a:endParaRPr lang="en-SG" dirty="0"/>
          </a:p>
        </p:txBody>
      </p:sp>
      <p:sp>
        <p:nvSpPr>
          <p:cNvPr id="8" name="Content Placeholder 7">
            <a:extLst>
              <a:ext uri="{FF2B5EF4-FFF2-40B4-BE49-F238E27FC236}">
                <a16:creationId xmlns:a16="http://schemas.microsoft.com/office/drawing/2014/main" id="{B76E9C89-2A25-36ED-66F3-DE7260657594}"/>
              </a:ext>
            </a:extLst>
          </p:cNvPr>
          <p:cNvSpPr>
            <a:spLocks noGrp="1"/>
          </p:cNvSpPr>
          <p:nvPr>
            <p:ph sz="half" idx="1"/>
          </p:nvPr>
        </p:nvSpPr>
        <p:spPr>
          <a:xfrm>
            <a:off x="838200" y="1825624"/>
            <a:ext cx="5181600" cy="5032375"/>
          </a:xfrm>
        </p:spPr>
        <p:txBody>
          <a:bodyPr/>
          <a:lstStyle/>
          <a:p>
            <a:pPr marL="0" indent="0">
              <a:buNone/>
            </a:pPr>
            <a:r>
              <a:rPr lang="en-GB" b="1" dirty="0"/>
              <a:t>Our CNN: </a:t>
            </a:r>
            <a:r>
              <a:rPr lang="en-GB" dirty="0"/>
              <a:t>2 Conv2d layers + Flatten + 2 Linear layers</a:t>
            </a:r>
          </a:p>
          <a:p>
            <a:r>
              <a:rPr lang="en-GB" dirty="0"/>
              <a:t>Define the sequence of operations in the forward method as before.</a:t>
            </a:r>
          </a:p>
          <a:p>
            <a:r>
              <a:rPr lang="en-GB" b="1" dirty="0"/>
              <a:t>Good practice: </a:t>
            </a:r>
            <a:r>
              <a:rPr lang="en-GB" dirty="0"/>
              <a:t>We will print the shape of each layer output to confirm sizes produced by each layer.</a:t>
            </a:r>
          </a:p>
          <a:p>
            <a:r>
              <a:rPr lang="en-GB" dirty="0"/>
              <a:t>Also, </a:t>
            </a:r>
            <a:r>
              <a:rPr lang="en-GB" dirty="0" err="1"/>
              <a:t>ReLU</a:t>
            </a:r>
            <a:r>
              <a:rPr lang="en-GB" dirty="0"/>
              <a:t> seems to work well as an activation with images (NFL!).</a:t>
            </a:r>
          </a:p>
          <a:p>
            <a:endParaRPr lang="en-SG" dirty="0"/>
          </a:p>
        </p:txBody>
      </p:sp>
      <p:pic>
        <p:nvPicPr>
          <p:cNvPr id="5" name="Picture 4">
            <a:extLst>
              <a:ext uri="{FF2B5EF4-FFF2-40B4-BE49-F238E27FC236}">
                <a16:creationId xmlns:a16="http://schemas.microsoft.com/office/drawing/2014/main" id="{FF7F602B-48AB-9361-0845-2BA75EFF3120}"/>
              </a:ext>
            </a:extLst>
          </p:cNvPr>
          <p:cNvPicPr>
            <a:picLocks noChangeAspect="1"/>
          </p:cNvPicPr>
          <p:nvPr/>
        </p:nvPicPr>
        <p:blipFill>
          <a:blip r:embed="rId2"/>
          <a:stretch>
            <a:fillRect/>
          </a:stretch>
        </p:blipFill>
        <p:spPr>
          <a:xfrm>
            <a:off x="6447623" y="623496"/>
            <a:ext cx="5744377" cy="5611008"/>
          </a:xfrm>
          <a:prstGeom prst="rect">
            <a:avLst/>
          </a:prstGeom>
        </p:spPr>
      </p:pic>
    </p:spTree>
    <p:extLst>
      <p:ext uri="{BB962C8B-B14F-4D97-AF65-F5344CB8AC3E}">
        <p14:creationId xmlns:p14="http://schemas.microsoft.com/office/powerpoint/2010/main" val="42922805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FC736-DAE7-1FB0-3232-9B9C6D629003}"/>
              </a:ext>
            </a:extLst>
          </p:cNvPr>
          <p:cNvSpPr>
            <a:spLocks noGrp="1"/>
          </p:cNvSpPr>
          <p:nvPr>
            <p:ph type="title"/>
          </p:nvPr>
        </p:nvSpPr>
        <p:spPr/>
        <p:txBody>
          <a:bodyPr/>
          <a:lstStyle/>
          <a:p>
            <a:r>
              <a:rPr lang="en-GB" dirty="0"/>
              <a:t>Our first CNN on MNIST</a:t>
            </a:r>
            <a:endParaRPr lang="en-SG" dirty="0"/>
          </a:p>
        </p:txBody>
      </p:sp>
      <p:sp>
        <p:nvSpPr>
          <p:cNvPr id="8" name="Content Placeholder 7">
            <a:extLst>
              <a:ext uri="{FF2B5EF4-FFF2-40B4-BE49-F238E27FC236}">
                <a16:creationId xmlns:a16="http://schemas.microsoft.com/office/drawing/2014/main" id="{B76E9C89-2A25-36ED-66F3-DE7260657594}"/>
              </a:ext>
            </a:extLst>
          </p:cNvPr>
          <p:cNvSpPr>
            <a:spLocks noGrp="1"/>
          </p:cNvSpPr>
          <p:nvPr>
            <p:ph sz="half" idx="1"/>
          </p:nvPr>
        </p:nvSpPr>
        <p:spPr>
          <a:xfrm>
            <a:off x="838200" y="1825624"/>
            <a:ext cx="10970846" cy="5032375"/>
          </a:xfrm>
        </p:spPr>
        <p:txBody>
          <a:bodyPr/>
          <a:lstStyle/>
          <a:p>
            <a:pPr marL="0" indent="0">
              <a:buNone/>
            </a:pPr>
            <a:r>
              <a:rPr lang="en-GB" b="1" dirty="0"/>
              <a:t>Good practice: </a:t>
            </a:r>
            <a:r>
              <a:rPr lang="en-GB" dirty="0"/>
              <a:t>We will show the modules/layers in our CNN, and print the shape of each layer output to confirm sizes produced by each layer.</a:t>
            </a:r>
          </a:p>
          <a:p>
            <a:endParaRPr lang="en-SG" dirty="0"/>
          </a:p>
        </p:txBody>
      </p:sp>
      <p:pic>
        <p:nvPicPr>
          <p:cNvPr id="4" name="Picture 3">
            <a:extLst>
              <a:ext uri="{FF2B5EF4-FFF2-40B4-BE49-F238E27FC236}">
                <a16:creationId xmlns:a16="http://schemas.microsoft.com/office/drawing/2014/main" id="{304386BA-237E-9592-67C8-7C5B03629212}"/>
              </a:ext>
            </a:extLst>
          </p:cNvPr>
          <p:cNvPicPr>
            <a:picLocks noChangeAspect="1"/>
          </p:cNvPicPr>
          <p:nvPr/>
        </p:nvPicPr>
        <p:blipFill>
          <a:blip r:embed="rId2"/>
          <a:stretch>
            <a:fillRect/>
          </a:stretch>
        </p:blipFill>
        <p:spPr>
          <a:xfrm>
            <a:off x="382954" y="2780731"/>
            <a:ext cx="6773220" cy="4077269"/>
          </a:xfrm>
          <a:prstGeom prst="rect">
            <a:avLst/>
          </a:prstGeom>
        </p:spPr>
      </p:pic>
      <p:pic>
        <p:nvPicPr>
          <p:cNvPr id="6" name="Picture 5">
            <a:extLst>
              <a:ext uri="{FF2B5EF4-FFF2-40B4-BE49-F238E27FC236}">
                <a16:creationId xmlns:a16="http://schemas.microsoft.com/office/drawing/2014/main" id="{AF2E281F-1EA1-328E-DF9C-E1EE24431E75}"/>
              </a:ext>
            </a:extLst>
          </p:cNvPr>
          <p:cNvPicPr>
            <a:picLocks noChangeAspect="1"/>
          </p:cNvPicPr>
          <p:nvPr/>
        </p:nvPicPr>
        <p:blipFill rotWithShape="1">
          <a:blip r:embed="rId3"/>
          <a:srcRect l="9810" r="10076"/>
          <a:stretch/>
        </p:blipFill>
        <p:spPr>
          <a:xfrm>
            <a:off x="6323622" y="4437902"/>
            <a:ext cx="5587023" cy="2251802"/>
          </a:xfrm>
          <a:prstGeom prst="rect">
            <a:avLst/>
          </a:prstGeom>
        </p:spPr>
      </p:pic>
    </p:spTree>
    <p:extLst>
      <p:ext uri="{BB962C8B-B14F-4D97-AF65-F5344CB8AC3E}">
        <p14:creationId xmlns:p14="http://schemas.microsoft.com/office/powerpoint/2010/main" val="26123262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455CF-71AD-8708-D45D-C57DB522E9CE}"/>
              </a:ext>
            </a:extLst>
          </p:cNvPr>
          <p:cNvSpPr>
            <a:spLocks noGrp="1"/>
          </p:cNvSpPr>
          <p:nvPr>
            <p:ph type="title"/>
          </p:nvPr>
        </p:nvSpPr>
        <p:spPr/>
        <p:txBody>
          <a:bodyPr/>
          <a:lstStyle/>
          <a:p>
            <a:r>
              <a:rPr lang="en-GB" dirty="0"/>
              <a:t>Writing a trainer function for CNNs</a:t>
            </a:r>
            <a:endParaRPr lang="en-SG" dirty="0"/>
          </a:p>
        </p:txBody>
      </p:sp>
      <p:sp>
        <p:nvSpPr>
          <p:cNvPr id="3" name="Content Placeholder 2">
            <a:extLst>
              <a:ext uri="{FF2B5EF4-FFF2-40B4-BE49-F238E27FC236}">
                <a16:creationId xmlns:a16="http://schemas.microsoft.com/office/drawing/2014/main" id="{16F36D4B-4B16-4684-970A-631B83A376BD}"/>
              </a:ext>
            </a:extLst>
          </p:cNvPr>
          <p:cNvSpPr>
            <a:spLocks noGrp="1"/>
          </p:cNvSpPr>
          <p:nvPr>
            <p:ph idx="1"/>
          </p:nvPr>
        </p:nvSpPr>
        <p:spPr>
          <a:xfrm>
            <a:off x="838200" y="1825624"/>
            <a:ext cx="10515600" cy="5032375"/>
          </a:xfrm>
        </p:spPr>
        <p:txBody>
          <a:bodyPr>
            <a:normAutofit/>
          </a:bodyPr>
          <a:lstStyle/>
          <a:p>
            <a:pPr marL="0" indent="0">
              <a:buNone/>
            </a:pPr>
            <a:r>
              <a:rPr lang="en-GB" dirty="0"/>
              <a:t>As before, we need a </a:t>
            </a:r>
            <a:r>
              <a:rPr lang="en-GB" b="1" dirty="0"/>
              <a:t>trainer</a:t>
            </a:r>
            <a:r>
              <a:rPr lang="en-GB" dirty="0"/>
              <a:t> and </a:t>
            </a:r>
            <a:r>
              <a:rPr lang="en-GB" b="1" dirty="0"/>
              <a:t>evaluation</a:t>
            </a:r>
            <a:r>
              <a:rPr lang="en-GB" dirty="0"/>
              <a:t> </a:t>
            </a:r>
            <a:r>
              <a:rPr lang="en-GB" b="1" dirty="0"/>
              <a:t>function</a:t>
            </a:r>
            <a:r>
              <a:rPr lang="en-GB" dirty="0"/>
              <a:t> for our Convolution Neural Network model.</a:t>
            </a:r>
          </a:p>
          <a:p>
            <a:r>
              <a:rPr lang="en-GB" dirty="0"/>
              <a:t>We will be using a </a:t>
            </a:r>
            <a:r>
              <a:rPr lang="en-GB" b="1" dirty="0"/>
              <a:t>stochastic</a:t>
            </a:r>
            <a:r>
              <a:rPr lang="en-GB" dirty="0"/>
              <a:t> </a:t>
            </a:r>
            <a:r>
              <a:rPr lang="en-GB" b="1" dirty="0"/>
              <a:t>mini-batch</a:t>
            </a:r>
            <a:r>
              <a:rPr lang="en-GB" dirty="0"/>
              <a:t> </a:t>
            </a:r>
            <a:r>
              <a:rPr lang="en-GB" b="1" dirty="0"/>
              <a:t>Adam</a:t>
            </a:r>
            <a:r>
              <a:rPr lang="en-GB" dirty="0"/>
              <a:t> </a:t>
            </a:r>
            <a:r>
              <a:rPr lang="en-GB" b="1" dirty="0"/>
              <a:t>optimizer</a:t>
            </a:r>
            <a:r>
              <a:rPr lang="en-GB" dirty="0"/>
              <a:t>, like before.</a:t>
            </a:r>
          </a:p>
          <a:p>
            <a:r>
              <a:rPr lang="en-GB" b="1" dirty="0"/>
              <a:t>Loss</a:t>
            </a:r>
            <a:r>
              <a:rPr lang="en-GB" dirty="0"/>
              <a:t> is </a:t>
            </a:r>
            <a:r>
              <a:rPr lang="en-GB" b="1" dirty="0"/>
              <a:t>cross-entropy</a:t>
            </a:r>
            <a:r>
              <a:rPr lang="en-GB" dirty="0"/>
              <a:t>, like before.</a:t>
            </a:r>
          </a:p>
          <a:p>
            <a:r>
              <a:rPr lang="en-GB" dirty="0"/>
              <a:t>We will keep track of the </a:t>
            </a:r>
            <a:r>
              <a:rPr lang="en-GB" b="1" dirty="0"/>
              <a:t>train/test losses</a:t>
            </a:r>
            <a:r>
              <a:rPr lang="en-GB" dirty="0"/>
              <a:t>, </a:t>
            </a:r>
            <a:r>
              <a:rPr lang="en-GB" b="1" dirty="0"/>
              <a:t>train/ test accuracies</a:t>
            </a:r>
            <a:r>
              <a:rPr lang="en-GB" dirty="0"/>
              <a:t>, and display them in training performance curves later.</a:t>
            </a:r>
          </a:p>
          <a:p>
            <a:r>
              <a:rPr lang="en-GB" dirty="0"/>
              <a:t>Over a given number of iterations, using the power of the </a:t>
            </a:r>
            <a:r>
              <a:rPr lang="en-GB" b="1" dirty="0"/>
              <a:t>backward()</a:t>
            </a:r>
            <a:r>
              <a:rPr lang="en-GB" dirty="0"/>
              <a:t> and </a:t>
            </a:r>
            <a:r>
              <a:rPr lang="en-GB" b="1" dirty="0" err="1"/>
              <a:t>optimizer.step</a:t>
            </a:r>
            <a:r>
              <a:rPr lang="en-GB" b="1" dirty="0"/>
              <a:t>() </a:t>
            </a:r>
            <a:r>
              <a:rPr lang="en-GB" dirty="0"/>
              <a:t>methods to update parameters automatically for us in all the Conv2d and Linear layers.</a:t>
            </a:r>
          </a:p>
          <a:p>
            <a:r>
              <a:rPr lang="en-GB" dirty="0"/>
              <a:t>We will then set the model on </a:t>
            </a:r>
            <a:r>
              <a:rPr lang="en-GB" b="1" dirty="0"/>
              <a:t>eval</a:t>
            </a:r>
            <a:r>
              <a:rPr lang="en-GB" dirty="0"/>
              <a:t> </a:t>
            </a:r>
            <a:r>
              <a:rPr lang="en-GB" b="1" dirty="0"/>
              <a:t>mode</a:t>
            </a:r>
            <a:r>
              <a:rPr lang="en-GB" dirty="0"/>
              <a:t> and </a:t>
            </a:r>
            <a:r>
              <a:rPr lang="en-GB" b="1" dirty="0"/>
              <a:t>compute</a:t>
            </a:r>
            <a:r>
              <a:rPr lang="en-GB" dirty="0"/>
              <a:t> </a:t>
            </a:r>
            <a:r>
              <a:rPr lang="en-GB" b="1" dirty="0"/>
              <a:t>losses</a:t>
            </a:r>
            <a:r>
              <a:rPr lang="en-GB" dirty="0"/>
              <a:t> and </a:t>
            </a:r>
            <a:r>
              <a:rPr lang="en-GB" b="1" dirty="0"/>
              <a:t>accuracies</a:t>
            </a:r>
            <a:r>
              <a:rPr lang="en-GB" dirty="0"/>
              <a:t> on the testing set, one final time.</a:t>
            </a:r>
            <a:endParaRPr lang="en-SG" dirty="0"/>
          </a:p>
        </p:txBody>
      </p:sp>
    </p:spTree>
    <p:extLst>
      <p:ext uri="{BB962C8B-B14F-4D97-AF65-F5344CB8AC3E}">
        <p14:creationId xmlns:p14="http://schemas.microsoft.com/office/powerpoint/2010/main" val="32199086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CD7068-DD13-4039-8D83-92798A5033C4}"/>
              </a:ext>
            </a:extLst>
          </p:cNvPr>
          <p:cNvPicPr>
            <a:picLocks noChangeAspect="1"/>
          </p:cNvPicPr>
          <p:nvPr/>
        </p:nvPicPr>
        <p:blipFill rotWithShape="1">
          <a:blip r:embed="rId2"/>
          <a:srcRect b="75374"/>
          <a:stretch/>
        </p:blipFill>
        <p:spPr>
          <a:xfrm>
            <a:off x="275797" y="3284375"/>
            <a:ext cx="11640405" cy="2425960"/>
          </a:xfrm>
          <a:prstGeom prst="rect">
            <a:avLst/>
          </a:prstGeom>
        </p:spPr>
      </p:pic>
      <p:sp>
        <p:nvSpPr>
          <p:cNvPr id="6" name="Title 3">
            <a:extLst>
              <a:ext uri="{FF2B5EF4-FFF2-40B4-BE49-F238E27FC236}">
                <a16:creationId xmlns:a16="http://schemas.microsoft.com/office/drawing/2014/main" id="{9AF326D4-9153-F62E-B304-57258E18EA63}"/>
              </a:ext>
            </a:extLst>
          </p:cNvPr>
          <p:cNvSpPr>
            <a:spLocks noGrp="1"/>
          </p:cNvSpPr>
          <p:nvPr>
            <p:ph type="title"/>
          </p:nvPr>
        </p:nvSpPr>
        <p:spPr>
          <a:xfrm>
            <a:off x="838200" y="365125"/>
            <a:ext cx="10515600" cy="1325563"/>
          </a:xfrm>
        </p:spPr>
        <p:txBody>
          <a:bodyPr/>
          <a:lstStyle/>
          <a:p>
            <a:r>
              <a:rPr lang="en-GB" dirty="0"/>
              <a:t>Trainer/Eval function (setup)</a:t>
            </a:r>
            <a:endParaRPr lang="en-SG" dirty="0"/>
          </a:p>
        </p:txBody>
      </p:sp>
    </p:spTree>
    <p:extLst>
      <p:ext uri="{BB962C8B-B14F-4D97-AF65-F5344CB8AC3E}">
        <p14:creationId xmlns:p14="http://schemas.microsoft.com/office/powerpoint/2010/main" val="26210948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CD7068-DD13-4039-8D83-92798A5033C4}"/>
              </a:ext>
            </a:extLst>
          </p:cNvPr>
          <p:cNvPicPr>
            <a:picLocks noChangeAspect="1"/>
          </p:cNvPicPr>
          <p:nvPr/>
        </p:nvPicPr>
        <p:blipFill rotWithShape="1">
          <a:blip r:embed="rId2"/>
          <a:srcRect t="25578"/>
          <a:stretch/>
        </p:blipFill>
        <p:spPr>
          <a:xfrm>
            <a:off x="1768491" y="1406799"/>
            <a:ext cx="8655018" cy="5451201"/>
          </a:xfrm>
          <a:prstGeom prst="rect">
            <a:avLst/>
          </a:prstGeom>
        </p:spPr>
      </p:pic>
      <p:sp>
        <p:nvSpPr>
          <p:cNvPr id="2" name="Title 3">
            <a:extLst>
              <a:ext uri="{FF2B5EF4-FFF2-40B4-BE49-F238E27FC236}">
                <a16:creationId xmlns:a16="http://schemas.microsoft.com/office/drawing/2014/main" id="{D9665F82-3DB6-4511-BD6D-A6636C7CFF11}"/>
              </a:ext>
            </a:extLst>
          </p:cNvPr>
          <p:cNvSpPr>
            <a:spLocks noGrp="1"/>
          </p:cNvSpPr>
          <p:nvPr>
            <p:ph type="title"/>
          </p:nvPr>
        </p:nvSpPr>
        <p:spPr>
          <a:xfrm>
            <a:off x="838200" y="365125"/>
            <a:ext cx="10515600" cy="1325563"/>
          </a:xfrm>
        </p:spPr>
        <p:txBody>
          <a:bodyPr/>
          <a:lstStyle/>
          <a:p>
            <a:r>
              <a:rPr lang="en-GB" dirty="0"/>
              <a:t>Trainer/Eval function (training part)</a:t>
            </a:r>
            <a:endParaRPr lang="en-SG" dirty="0"/>
          </a:p>
        </p:txBody>
      </p:sp>
    </p:spTree>
    <p:extLst>
      <p:ext uri="{BB962C8B-B14F-4D97-AF65-F5344CB8AC3E}">
        <p14:creationId xmlns:p14="http://schemas.microsoft.com/office/powerpoint/2010/main" val="1807438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E4971AE-1540-A394-8640-C6FB621B65BB}"/>
              </a:ext>
            </a:extLst>
          </p:cNvPr>
          <p:cNvPicPr>
            <a:picLocks noChangeAspect="1"/>
          </p:cNvPicPr>
          <p:nvPr/>
        </p:nvPicPr>
        <p:blipFill>
          <a:blip r:embed="rId2"/>
          <a:stretch>
            <a:fillRect/>
          </a:stretch>
        </p:blipFill>
        <p:spPr>
          <a:xfrm>
            <a:off x="1697352" y="1467243"/>
            <a:ext cx="8797295" cy="5390757"/>
          </a:xfrm>
          <a:prstGeom prst="rect">
            <a:avLst/>
          </a:prstGeom>
        </p:spPr>
      </p:pic>
      <p:sp>
        <p:nvSpPr>
          <p:cNvPr id="4" name="Title 3">
            <a:extLst>
              <a:ext uri="{FF2B5EF4-FFF2-40B4-BE49-F238E27FC236}">
                <a16:creationId xmlns:a16="http://schemas.microsoft.com/office/drawing/2014/main" id="{CDFB504E-99A3-AFCC-4B64-A7F389907A97}"/>
              </a:ext>
            </a:extLst>
          </p:cNvPr>
          <p:cNvSpPr>
            <a:spLocks noGrp="1"/>
          </p:cNvSpPr>
          <p:nvPr>
            <p:ph type="title"/>
          </p:nvPr>
        </p:nvSpPr>
        <p:spPr/>
        <p:txBody>
          <a:bodyPr/>
          <a:lstStyle/>
          <a:p>
            <a:r>
              <a:rPr lang="en-GB" dirty="0"/>
              <a:t>Trainer/Eval function (evaluation part)</a:t>
            </a:r>
            <a:endParaRPr lang="en-SG" dirty="0"/>
          </a:p>
        </p:txBody>
      </p:sp>
    </p:spTree>
    <p:extLst>
      <p:ext uri="{BB962C8B-B14F-4D97-AF65-F5344CB8AC3E}">
        <p14:creationId xmlns:p14="http://schemas.microsoft.com/office/powerpoint/2010/main" val="8662992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AE11869-55A5-3E14-84EF-BBB14A3A6973}"/>
              </a:ext>
            </a:extLst>
          </p:cNvPr>
          <p:cNvPicPr>
            <a:picLocks noChangeAspect="1"/>
          </p:cNvPicPr>
          <p:nvPr/>
        </p:nvPicPr>
        <p:blipFill>
          <a:blip r:embed="rId2"/>
          <a:stretch>
            <a:fillRect/>
          </a:stretch>
        </p:blipFill>
        <p:spPr>
          <a:xfrm>
            <a:off x="2056836" y="1751887"/>
            <a:ext cx="8078327" cy="5106113"/>
          </a:xfrm>
          <a:prstGeom prst="rect">
            <a:avLst/>
          </a:prstGeom>
        </p:spPr>
      </p:pic>
      <p:sp>
        <p:nvSpPr>
          <p:cNvPr id="5" name="Title 3">
            <a:extLst>
              <a:ext uri="{FF2B5EF4-FFF2-40B4-BE49-F238E27FC236}">
                <a16:creationId xmlns:a16="http://schemas.microsoft.com/office/drawing/2014/main" id="{20FD1900-4A52-979B-6A96-05E9DE05A76C}"/>
              </a:ext>
            </a:extLst>
          </p:cNvPr>
          <p:cNvSpPr>
            <a:spLocks noGrp="1"/>
          </p:cNvSpPr>
          <p:nvPr>
            <p:ph type="title"/>
          </p:nvPr>
        </p:nvSpPr>
        <p:spPr>
          <a:xfrm>
            <a:off x="838200" y="365125"/>
            <a:ext cx="10515600" cy="1325563"/>
          </a:xfrm>
        </p:spPr>
        <p:txBody>
          <a:bodyPr/>
          <a:lstStyle/>
          <a:p>
            <a:r>
              <a:rPr lang="en-GB" dirty="0"/>
              <a:t>Trainer/Eval function (running)</a:t>
            </a:r>
            <a:endParaRPr lang="en-SG" dirty="0"/>
          </a:p>
        </p:txBody>
      </p:sp>
    </p:spTree>
    <p:extLst>
      <p:ext uri="{BB962C8B-B14F-4D97-AF65-F5344CB8AC3E}">
        <p14:creationId xmlns:p14="http://schemas.microsoft.com/office/powerpoint/2010/main" val="29955983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20FD1900-4A52-979B-6A96-05E9DE05A76C}"/>
              </a:ext>
            </a:extLst>
          </p:cNvPr>
          <p:cNvSpPr>
            <a:spLocks noGrp="1"/>
          </p:cNvSpPr>
          <p:nvPr>
            <p:ph type="title"/>
          </p:nvPr>
        </p:nvSpPr>
        <p:spPr/>
        <p:txBody>
          <a:bodyPr/>
          <a:lstStyle/>
          <a:p>
            <a:r>
              <a:rPr lang="en-GB" dirty="0"/>
              <a:t>Trainer/Eval function (running)</a:t>
            </a:r>
            <a:endParaRPr lang="en-SG" dirty="0"/>
          </a:p>
        </p:txBody>
      </p:sp>
      <p:sp>
        <p:nvSpPr>
          <p:cNvPr id="6" name="Content Placeholder 5">
            <a:extLst>
              <a:ext uri="{FF2B5EF4-FFF2-40B4-BE49-F238E27FC236}">
                <a16:creationId xmlns:a16="http://schemas.microsoft.com/office/drawing/2014/main" id="{BE9DD2F5-E7EC-2CDC-E0AB-04E5B4F29EE0}"/>
              </a:ext>
            </a:extLst>
          </p:cNvPr>
          <p:cNvSpPr>
            <a:spLocks noGrp="1"/>
          </p:cNvSpPr>
          <p:nvPr>
            <p:ph idx="1"/>
          </p:nvPr>
        </p:nvSpPr>
        <p:spPr/>
        <p:txBody>
          <a:bodyPr/>
          <a:lstStyle/>
          <a:p>
            <a:pPr marL="0" indent="0">
              <a:buNone/>
            </a:pPr>
            <a:r>
              <a:rPr lang="en-GB" dirty="0"/>
              <a:t>In </a:t>
            </a:r>
            <a:r>
              <a:rPr lang="en-GB" u="sng" dirty="0"/>
              <a:t>only three iterations</a:t>
            </a:r>
            <a:r>
              <a:rPr lang="en-GB" dirty="0"/>
              <a:t>, we have managed to achieve a higher accuracy than the equivalent Linear model with more layers that we have trained last week for almost 1000 iterations…!</a:t>
            </a:r>
          </a:p>
          <a:p>
            <a:r>
              <a:rPr lang="en-GB" dirty="0"/>
              <a:t>Confirmed!</a:t>
            </a:r>
          </a:p>
          <a:p>
            <a:r>
              <a:rPr lang="en-GB" b="1" dirty="0"/>
              <a:t>CNNs and Convolution operations are indeed better than Linear operations when it comes to processing images!</a:t>
            </a:r>
            <a:endParaRPr lang="en-SG" b="1" dirty="0"/>
          </a:p>
        </p:txBody>
      </p:sp>
      <p:pic>
        <p:nvPicPr>
          <p:cNvPr id="8" name="Picture 7">
            <a:extLst>
              <a:ext uri="{FF2B5EF4-FFF2-40B4-BE49-F238E27FC236}">
                <a16:creationId xmlns:a16="http://schemas.microsoft.com/office/drawing/2014/main" id="{D21558AE-F271-EC04-E7AF-89A41910953E}"/>
              </a:ext>
            </a:extLst>
          </p:cNvPr>
          <p:cNvPicPr>
            <a:picLocks noChangeAspect="1"/>
          </p:cNvPicPr>
          <p:nvPr/>
        </p:nvPicPr>
        <p:blipFill>
          <a:blip r:embed="rId2"/>
          <a:stretch>
            <a:fillRect/>
          </a:stretch>
        </p:blipFill>
        <p:spPr>
          <a:xfrm>
            <a:off x="2061266" y="4670005"/>
            <a:ext cx="8069468" cy="1992614"/>
          </a:xfrm>
          <a:prstGeom prst="rect">
            <a:avLst/>
          </a:prstGeom>
        </p:spPr>
      </p:pic>
    </p:spTree>
    <p:extLst>
      <p:ext uri="{BB962C8B-B14F-4D97-AF65-F5344CB8AC3E}">
        <p14:creationId xmlns:p14="http://schemas.microsoft.com/office/powerpoint/2010/main" val="29274337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EE0CE-A53A-3FBF-E43D-147BDF5A3F33}"/>
              </a:ext>
            </a:extLst>
          </p:cNvPr>
          <p:cNvSpPr>
            <a:spLocks noGrp="1"/>
          </p:cNvSpPr>
          <p:nvPr>
            <p:ph type="title"/>
          </p:nvPr>
        </p:nvSpPr>
        <p:spPr/>
        <p:txBody>
          <a:bodyPr/>
          <a:lstStyle/>
          <a:p>
            <a:r>
              <a:rPr lang="en-GB" dirty="0"/>
              <a:t>Congratulations, you just recreated what Yann LeCun did in 1989 when he created CNNs!</a:t>
            </a:r>
          </a:p>
        </p:txBody>
      </p:sp>
      <p:pic>
        <p:nvPicPr>
          <p:cNvPr id="4" name="YTDown.com_YouTube_Convolutional-Network-Demo-from-1989_Media_FwFduRA_L6Q_001_480p">
            <a:hlinkClick r:id="" action="ppaction://media"/>
            <a:extLst>
              <a:ext uri="{FF2B5EF4-FFF2-40B4-BE49-F238E27FC236}">
                <a16:creationId xmlns:a16="http://schemas.microsoft.com/office/drawing/2014/main" id="{8226E2AD-2587-78AA-2C98-0065E2368D75}"/>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981325" y="1765232"/>
            <a:ext cx="6229350" cy="4572000"/>
          </a:xfrm>
          <a:prstGeom prst="rect">
            <a:avLst/>
          </a:prstGeom>
        </p:spPr>
      </p:pic>
    </p:spTree>
    <p:extLst>
      <p:ext uri="{BB962C8B-B14F-4D97-AF65-F5344CB8AC3E}">
        <p14:creationId xmlns:p14="http://schemas.microsoft.com/office/powerpoint/2010/main" val="357520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130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51DB7-D060-9E0F-23D9-3277F27F61CF}"/>
              </a:ext>
            </a:extLst>
          </p:cNvPr>
          <p:cNvSpPr>
            <a:spLocks noGrp="1"/>
          </p:cNvSpPr>
          <p:nvPr>
            <p:ph type="title"/>
          </p:nvPr>
        </p:nvSpPr>
        <p:spPr/>
        <p:txBody>
          <a:bodyPr/>
          <a:lstStyle/>
          <a:p>
            <a:r>
              <a:rPr lang="en-GB" dirty="0"/>
              <a:t>Pooling layers</a:t>
            </a:r>
            <a:endParaRPr lang="en-SG" dirty="0"/>
          </a:p>
        </p:txBody>
      </p:sp>
      <p:sp>
        <p:nvSpPr>
          <p:cNvPr id="4" name="Content Placeholder 3">
            <a:extLst>
              <a:ext uri="{FF2B5EF4-FFF2-40B4-BE49-F238E27FC236}">
                <a16:creationId xmlns:a16="http://schemas.microsoft.com/office/drawing/2014/main" id="{FDF3F34C-DA95-0066-3D84-7D0C7F5E3EF0}"/>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pooling</a:t>
            </a:r>
            <a:r>
              <a:rPr lang="en-GB" b="1" dirty="0"/>
              <a:t> layers):</a:t>
            </a:r>
          </a:p>
          <a:p>
            <a:pPr marL="0" indent="0">
              <a:buNone/>
            </a:pPr>
            <a:r>
              <a:rPr lang="en-GB" dirty="0"/>
              <a:t>A </a:t>
            </a:r>
            <a:r>
              <a:rPr lang="en-GB" b="1" dirty="0">
                <a:solidFill>
                  <a:srgbClr val="00B050"/>
                </a:solidFill>
              </a:rPr>
              <a:t>pooling</a:t>
            </a:r>
            <a:r>
              <a:rPr lang="en-GB" dirty="0"/>
              <a:t> </a:t>
            </a:r>
            <a:r>
              <a:rPr lang="en-GB" b="1" dirty="0"/>
              <a:t>layer</a:t>
            </a:r>
            <a:r>
              <a:rPr lang="en-GB" dirty="0"/>
              <a:t> in a CNN is a </a:t>
            </a:r>
            <a:r>
              <a:rPr lang="en-GB" b="1" dirty="0"/>
              <a:t>down-sampling</a:t>
            </a:r>
            <a:r>
              <a:rPr lang="en-GB" dirty="0"/>
              <a:t> </a:t>
            </a:r>
            <a:r>
              <a:rPr lang="en-GB" b="1" dirty="0"/>
              <a:t>operation</a:t>
            </a:r>
            <a:r>
              <a:rPr lang="en-GB" dirty="0"/>
              <a:t> that strongly reduces the spatial dimensions (</a:t>
            </a:r>
            <a:r>
              <a:rPr lang="en-GB" b="1" dirty="0"/>
              <a:t>width</a:t>
            </a:r>
            <a:r>
              <a:rPr lang="en-GB" dirty="0"/>
              <a:t> and </a:t>
            </a:r>
            <a:r>
              <a:rPr lang="en-GB" b="1" dirty="0"/>
              <a:t>height</a:t>
            </a:r>
            <a:r>
              <a:rPr lang="en-GB" dirty="0"/>
              <a:t>) of the successive images or feature maps, while retaining the important information. </a:t>
            </a:r>
          </a:p>
          <a:p>
            <a:pPr marL="0" indent="0">
              <a:buNone/>
            </a:pPr>
            <a:r>
              <a:rPr lang="en-GB" dirty="0"/>
              <a:t>The purpose of pooling is to reduce the computation and memory required by the network, as well as to increase the invariance of the features with respect to small translations (from the same paper, [LeCun1998]).</a:t>
            </a:r>
          </a:p>
          <a:p>
            <a:pPr marL="0" indent="0">
              <a:buNone/>
            </a:pPr>
            <a:r>
              <a:rPr lang="en-GB" b="1" dirty="0"/>
              <a:t>A pooling layer, like the flattening operation, does not have any trainable parameters, and is therefore </a:t>
            </a:r>
            <a:r>
              <a:rPr lang="en-GB" b="1" u="sng" dirty="0"/>
              <a:t>not a trainable layer</a:t>
            </a:r>
            <a:r>
              <a:rPr lang="en-GB" b="1" dirty="0"/>
              <a:t>.</a:t>
            </a:r>
          </a:p>
          <a:p>
            <a:pPr marL="0" indent="0">
              <a:buNone/>
            </a:pPr>
            <a:endParaRPr lang="en-SG" dirty="0"/>
          </a:p>
        </p:txBody>
      </p:sp>
    </p:spTree>
    <p:extLst>
      <p:ext uri="{BB962C8B-B14F-4D97-AF65-F5344CB8AC3E}">
        <p14:creationId xmlns:p14="http://schemas.microsoft.com/office/powerpoint/2010/main" val="2215052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51DB7-D060-9E0F-23D9-3277F27F61CF}"/>
              </a:ext>
            </a:extLst>
          </p:cNvPr>
          <p:cNvSpPr>
            <a:spLocks noGrp="1"/>
          </p:cNvSpPr>
          <p:nvPr>
            <p:ph type="title"/>
          </p:nvPr>
        </p:nvSpPr>
        <p:spPr/>
        <p:txBody>
          <a:bodyPr/>
          <a:lstStyle/>
          <a:p>
            <a:r>
              <a:rPr lang="en-GB" dirty="0"/>
              <a:t>Types of pooling layers</a:t>
            </a:r>
            <a:endParaRPr lang="en-SG" dirty="0"/>
          </a:p>
        </p:txBody>
      </p:sp>
      <p:sp>
        <p:nvSpPr>
          <p:cNvPr id="4" name="Content Placeholder 3">
            <a:extLst>
              <a:ext uri="{FF2B5EF4-FFF2-40B4-BE49-F238E27FC236}">
                <a16:creationId xmlns:a16="http://schemas.microsoft.com/office/drawing/2014/main" id="{FDF3F34C-DA95-0066-3D84-7D0C7F5E3EF0}"/>
              </a:ext>
            </a:extLst>
          </p:cNvPr>
          <p:cNvSpPr>
            <a:spLocks noGrp="1"/>
          </p:cNvSpPr>
          <p:nvPr>
            <p:ph sz="half" idx="1"/>
          </p:nvPr>
        </p:nvSpPr>
        <p:spPr>
          <a:xfrm>
            <a:off x="838200" y="1825624"/>
            <a:ext cx="5181600" cy="5032375"/>
          </a:xfrm>
        </p:spPr>
        <p:txBody>
          <a:bodyPr>
            <a:normAutofit/>
          </a:bodyPr>
          <a:lstStyle/>
          <a:p>
            <a:pPr marL="0" indent="0">
              <a:buNone/>
            </a:pPr>
            <a:r>
              <a:rPr lang="en-GB" dirty="0"/>
              <a:t>In </a:t>
            </a:r>
            <a:r>
              <a:rPr lang="en-GB" dirty="0" err="1"/>
              <a:t>PyTorch</a:t>
            </a:r>
            <a:r>
              <a:rPr lang="en-GB" dirty="0"/>
              <a:t>, there are different types of </a:t>
            </a:r>
            <a:r>
              <a:rPr lang="en-GB" b="1" dirty="0"/>
              <a:t>pooling</a:t>
            </a:r>
            <a:r>
              <a:rPr lang="en-GB" dirty="0"/>
              <a:t> </a:t>
            </a:r>
            <a:r>
              <a:rPr lang="en-GB" b="1" dirty="0"/>
              <a:t>layers</a:t>
            </a:r>
            <a:r>
              <a:rPr lang="en-GB" dirty="0"/>
              <a:t>, all worth trying, including:</a:t>
            </a:r>
          </a:p>
          <a:p>
            <a:r>
              <a:rPr lang="en-GB" b="1" dirty="0"/>
              <a:t>Max pooling: </a:t>
            </a:r>
            <a:r>
              <a:rPr lang="en-GB" dirty="0"/>
              <a:t>Selects the maximum value from the window,</a:t>
            </a:r>
          </a:p>
          <a:p>
            <a:r>
              <a:rPr lang="en-GB" b="1" dirty="0"/>
              <a:t>Average pooling: </a:t>
            </a:r>
            <a:r>
              <a:rPr lang="en-GB" dirty="0"/>
              <a:t>Takes the average of all values,</a:t>
            </a:r>
          </a:p>
          <a:p>
            <a:r>
              <a:rPr lang="en-GB" b="1" dirty="0"/>
              <a:t>Sum pooling:</a:t>
            </a:r>
            <a:r>
              <a:rPr lang="en-GB" dirty="0"/>
              <a:t> Takes the sum of all values in the window.</a:t>
            </a:r>
          </a:p>
          <a:p>
            <a:r>
              <a:rPr lang="en-GB" dirty="0"/>
              <a:t>Etc.</a:t>
            </a:r>
            <a:endParaRPr lang="en-SG" dirty="0"/>
          </a:p>
        </p:txBody>
      </p:sp>
      <p:pic>
        <p:nvPicPr>
          <p:cNvPr id="7" name="Picture 6">
            <a:extLst>
              <a:ext uri="{FF2B5EF4-FFF2-40B4-BE49-F238E27FC236}">
                <a16:creationId xmlns:a16="http://schemas.microsoft.com/office/drawing/2014/main" id="{E09EF14C-52BA-E9A9-B187-FBB4019EDF45}"/>
              </a:ext>
            </a:extLst>
          </p:cNvPr>
          <p:cNvPicPr>
            <a:picLocks noChangeAspect="1"/>
          </p:cNvPicPr>
          <p:nvPr/>
        </p:nvPicPr>
        <p:blipFill>
          <a:blip r:embed="rId2"/>
          <a:stretch>
            <a:fillRect/>
          </a:stretch>
        </p:blipFill>
        <p:spPr>
          <a:xfrm>
            <a:off x="6536383" y="1709965"/>
            <a:ext cx="5539811" cy="4540966"/>
          </a:xfrm>
          <a:prstGeom prst="rect">
            <a:avLst/>
          </a:prstGeom>
        </p:spPr>
      </p:pic>
    </p:spTree>
    <p:extLst>
      <p:ext uri="{BB962C8B-B14F-4D97-AF65-F5344CB8AC3E}">
        <p14:creationId xmlns:p14="http://schemas.microsoft.com/office/powerpoint/2010/main" val="2467534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51DB7-D060-9E0F-23D9-3277F27F61CF}"/>
              </a:ext>
            </a:extLst>
          </p:cNvPr>
          <p:cNvSpPr>
            <a:spLocks noGrp="1"/>
          </p:cNvSpPr>
          <p:nvPr>
            <p:ph type="title"/>
          </p:nvPr>
        </p:nvSpPr>
        <p:spPr/>
        <p:txBody>
          <a:bodyPr/>
          <a:lstStyle/>
          <a:p>
            <a:r>
              <a:rPr lang="en-GB" dirty="0"/>
              <a:t>Types of pooling layers</a:t>
            </a:r>
            <a:endParaRPr lang="en-SG" dirty="0"/>
          </a:p>
        </p:txBody>
      </p:sp>
      <p:pic>
        <p:nvPicPr>
          <p:cNvPr id="8" name="Picture 7">
            <a:extLst>
              <a:ext uri="{FF2B5EF4-FFF2-40B4-BE49-F238E27FC236}">
                <a16:creationId xmlns:a16="http://schemas.microsoft.com/office/drawing/2014/main" id="{80B257CB-AB82-AC10-7275-994F68C3DA49}"/>
              </a:ext>
            </a:extLst>
          </p:cNvPr>
          <p:cNvPicPr>
            <a:picLocks noChangeAspect="1"/>
          </p:cNvPicPr>
          <p:nvPr/>
        </p:nvPicPr>
        <p:blipFill>
          <a:blip r:embed="rId2"/>
          <a:stretch>
            <a:fillRect/>
          </a:stretch>
        </p:blipFill>
        <p:spPr>
          <a:xfrm>
            <a:off x="2533153" y="1656624"/>
            <a:ext cx="7125694" cy="5201376"/>
          </a:xfrm>
          <a:prstGeom prst="rect">
            <a:avLst/>
          </a:prstGeom>
        </p:spPr>
      </p:pic>
    </p:spTree>
    <p:extLst>
      <p:ext uri="{BB962C8B-B14F-4D97-AF65-F5344CB8AC3E}">
        <p14:creationId xmlns:p14="http://schemas.microsoft.com/office/powerpoint/2010/main" val="37092700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C1EDEC7-9446-8017-9EFE-D75DAB43312A}"/>
              </a:ext>
            </a:extLst>
          </p:cNvPr>
          <p:cNvPicPr>
            <a:picLocks noChangeAspect="1"/>
          </p:cNvPicPr>
          <p:nvPr/>
        </p:nvPicPr>
        <p:blipFill>
          <a:blip r:embed="rId2"/>
          <a:stretch>
            <a:fillRect/>
          </a:stretch>
        </p:blipFill>
        <p:spPr>
          <a:xfrm>
            <a:off x="1347537" y="0"/>
            <a:ext cx="9496926" cy="6858000"/>
          </a:xfrm>
          <a:prstGeom prst="rect">
            <a:avLst/>
          </a:prstGeom>
        </p:spPr>
      </p:pic>
    </p:spTree>
    <p:extLst>
      <p:ext uri="{BB962C8B-B14F-4D97-AF65-F5344CB8AC3E}">
        <p14:creationId xmlns:p14="http://schemas.microsoft.com/office/powerpoint/2010/main" val="35447321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8756A-5566-0A50-E7E2-F55271C4ECD6}"/>
              </a:ext>
            </a:extLst>
          </p:cNvPr>
          <p:cNvSpPr>
            <a:spLocks noGrp="1"/>
          </p:cNvSpPr>
          <p:nvPr>
            <p:ph type="title"/>
          </p:nvPr>
        </p:nvSpPr>
        <p:spPr/>
        <p:txBody>
          <a:bodyPr/>
          <a:lstStyle/>
          <a:p>
            <a:r>
              <a:rPr lang="en-GB" dirty="0"/>
              <a:t>Dropout layers</a:t>
            </a:r>
            <a:endParaRPr lang="en-SG" dirty="0"/>
          </a:p>
        </p:txBody>
      </p:sp>
      <p:sp>
        <p:nvSpPr>
          <p:cNvPr id="3" name="Content Placeholder 2">
            <a:extLst>
              <a:ext uri="{FF2B5EF4-FFF2-40B4-BE49-F238E27FC236}">
                <a16:creationId xmlns:a16="http://schemas.microsoft.com/office/drawing/2014/main" id="{AC29D42A-AD61-CF6B-9049-62DF5C6EFDB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dropout</a:t>
            </a:r>
            <a:r>
              <a:rPr lang="en-GB" b="1" dirty="0"/>
              <a:t> layers):</a:t>
            </a:r>
          </a:p>
          <a:p>
            <a:pPr marL="0" indent="0">
              <a:buNone/>
            </a:pPr>
            <a:r>
              <a:rPr lang="en-GB" dirty="0"/>
              <a:t>Introduced in [</a:t>
            </a:r>
            <a:r>
              <a:rPr lang="en-SG" dirty="0"/>
              <a:t>Srivastava2014</a:t>
            </a:r>
            <a:r>
              <a:rPr lang="en-GB" dirty="0"/>
              <a:t>], the </a:t>
            </a:r>
            <a:r>
              <a:rPr lang="en-GB" b="1" dirty="0">
                <a:solidFill>
                  <a:srgbClr val="00B050"/>
                </a:solidFill>
              </a:rPr>
              <a:t>dropout</a:t>
            </a:r>
            <a:r>
              <a:rPr lang="en-GB" dirty="0"/>
              <a:t> </a:t>
            </a:r>
            <a:r>
              <a:rPr lang="en-GB" b="1" dirty="0"/>
              <a:t>layer</a:t>
            </a:r>
            <a:r>
              <a:rPr lang="en-GB" dirty="0"/>
              <a:t> is a </a:t>
            </a:r>
            <a:r>
              <a:rPr lang="en-GB" b="1" dirty="0"/>
              <a:t>regularization technique </a:t>
            </a:r>
            <a:r>
              <a:rPr lang="en-GB" dirty="0"/>
              <a:t>used in deep learning to </a:t>
            </a:r>
            <a:r>
              <a:rPr lang="en-GB" b="1" dirty="0"/>
              <a:t>prevent overfitting.</a:t>
            </a:r>
          </a:p>
          <a:p>
            <a:pPr marL="0" indent="0">
              <a:buNone/>
            </a:pPr>
            <a:r>
              <a:rPr lang="en-GB" dirty="0"/>
              <a:t>The dropout layer </a:t>
            </a:r>
            <a:r>
              <a:rPr lang="en-GB" b="1" dirty="0"/>
              <a:t>randomly drops out, or sets to zero, some of the neurons </a:t>
            </a:r>
            <a:r>
              <a:rPr lang="en-GB" dirty="0"/>
              <a:t>in the network </a:t>
            </a:r>
            <a:r>
              <a:rPr lang="en-GB" b="1" u="sng" dirty="0"/>
              <a:t>during each training iteration</a:t>
            </a:r>
            <a:r>
              <a:rPr lang="en-GB" dirty="0"/>
              <a:t>.</a:t>
            </a:r>
          </a:p>
        </p:txBody>
      </p:sp>
      <p:pic>
        <p:nvPicPr>
          <p:cNvPr id="6" name="Picture 5">
            <a:extLst>
              <a:ext uri="{FF2B5EF4-FFF2-40B4-BE49-F238E27FC236}">
                <a16:creationId xmlns:a16="http://schemas.microsoft.com/office/drawing/2014/main" id="{6976419B-EE2F-201B-7EA8-97F6B6EF7937}"/>
              </a:ext>
            </a:extLst>
          </p:cNvPr>
          <p:cNvPicPr>
            <a:picLocks noChangeAspect="1"/>
          </p:cNvPicPr>
          <p:nvPr/>
        </p:nvPicPr>
        <p:blipFill>
          <a:blip r:embed="rId2"/>
          <a:stretch>
            <a:fillRect/>
          </a:stretch>
        </p:blipFill>
        <p:spPr>
          <a:xfrm>
            <a:off x="6275753" y="2305359"/>
            <a:ext cx="5728677" cy="2924012"/>
          </a:xfrm>
          <a:prstGeom prst="rect">
            <a:avLst/>
          </a:prstGeom>
        </p:spPr>
      </p:pic>
    </p:spTree>
    <p:extLst>
      <p:ext uri="{BB962C8B-B14F-4D97-AF65-F5344CB8AC3E}">
        <p14:creationId xmlns:p14="http://schemas.microsoft.com/office/powerpoint/2010/main" val="3901590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68066-7BC0-67F0-CA5D-13F8A7BC6B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ED5DD7-8338-6353-B0F1-67ABC5260D56}"/>
              </a:ext>
            </a:extLst>
          </p:cNvPr>
          <p:cNvSpPr>
            <a:spLocks noGrp="1"/>
          </p:cNvSpPr>
          <p:nvPr>
            <p:ph type="title"/>
          </p:nvPr>
        </p:nvSpPr>
        <p:spPr/>
        <p:txBody>
          <a:bodyPr/>
          <a:lstStyle/>
          <a:p>
            <a:r>
              <a:rPr lang="en-GB" dirty="0"/>
              <a:t>Dropout layers</a:t>
            </a:r>
            <a:endParaRPr lang="en-SG" dirty="0"/>
          </a:p>
        </p:txBody>
      </p:sp>
      <p:sp>
        <p:nvSpPr>
          <p:cNvPr id="3" name="Content Placeholder 2">
            <a:extLst>
              <a:ext uri="{FF2B5EF4-FFF2-40B4-BE49-F238E27FC236}">
                <a16:creationId xmlns:a16="http://schemas.microsoft.com/office/drawing/2014/main" id="{1BEA9FA8-CBE3-4B67-51A7-1A00545B6FD1}"/>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dropout</a:t>
            </a:r>
            <a:r>
              <a:rPr lang="en-GB" b="1" dirty="0"/>
              <a:t> layers):</a:t>
            </a:r>
          </a:p>
          <a:p>
            <a:pPr marL="0" indent="0">
              <a:buNone/>
            </a:pPr>
            <a:r>
              <a:rPr lang="en-GB" dirty="0"/>
              <a:t>Introduced in [</a:t>
            </a:r>
            <a:r>
              <a:rPr lang="en-SG" dirty="0"/>
              <a:t>Srivastava2014</a:t>
            </a:r>
            <a:r>
              <a:rPr lang="en-GB" dirty="0"/>
              <a:t>], the </a:t>
            </a:r>
            <a:r>
              <a:rPr lang="en-GB" b="1" dirty="0">
                <a:solidFill>
                  <a:srgbClr val="00B050"/>
                </a:solidFill>
              </a:rPr>
              <a:t>dropout</a:t>
            </a:r>
            <a:r>
              <a:rPr lang="en-GB" dirty="0"/>
              <a:t> </a:t>
            </a:r>
            <a:r>
              <a:rPr lang="en-GB" b="1" dirty="0"/>
              <a:t>layer</a:t>
            </a:r>
            <a:r>
              <a:rPr lang="en-GB" dirty="0"/>
              <a:t> is a </a:t>
            </a:r>
            <a:r>
              <a:rPr lang="en-GB" b="1" dirty="0"/>
              <a:t>regularization technique </a:t>
            </a:r>
            <a:r>
              <a:rPr lang="en-GB" dirty="0"/>
              <a:t>used in deep learning to </a:t>
            </a:r>
            <a:r>
              <a:rPr lang="en-GB" b="1" dirty="0"/>
              <a:t>prevent overfitting.</a:t>
            </a:r>
          </a:p>
          <a:p>
            <a:pPr marL="0" indent="0">
              <a:buNone/>
            </a:pPr>
            <a:r>
              <a:rPr lang="en-GB" dirty="0"/>
              <a:t>The dropout layer </a:t>
            </a:r>
            <a:r>
              <a:rPr lang="en-GB" b="1" dirty="0"/>
              <a:t>randomly drops out, or sets to zero, some of the neurons </a:t>
            </a:r>
            <a:r>
              <a:rPr lang="en-GB" dirty="0"/>
              <a:t>in the network </a:t>
            </a:r>
            <a:r>
              <a:rPr lang="en-GB" b="1" u="sng" dirty="0"/>
              <a:t>during each training iteration</a:t>
            </a:r>
            <a:r>
              <a:rPr lang="en-GB" dirty="0"/>
              <a:t>.</a:t>
            </a:r>
          </a:p>
        </p:txBody>
      </p:sp>
      <p:pic>
        <p:nvPicPr>
          <p:cNvPr id="6" name="Picture 5">
            <a:extLst>
              <a:ext uri="{FF2B5EF4-FFF2-40B4-BE49-F238E27FC236}">
                <a16:creationId xmlns:a16="http://schemas.microsoft.com/office/drawing/2014/main" id="{4B16F830-6E98-E6C8-0B92-9365A79BBCD3}"/>
              </a:ext>
            </a:extLst>
          </p:cNvPr>
          <p:cNvPicPr>
            <a:picLocks noChangeAspect="1"/>
          </p:cNvPicPr>
          <p:nvPr/>
        </p:nvPicPr>
        <p:blipFill>
          <a:blip r:embed="rId2"/>
          <a:stretch>
            <a:fillRect/>
          </a:stretch>
        </p:blipFill>
        <p:spPr>
          <a:xfrm>
            <a:off x="6275753" y="2305359"/>
            <a:ext cx="5728677" cy="2924012"/>
          </a:xfrm>
          <a:prstGeom prst="rect">
            <a:avLst/>
          </a:prstGeom>
        </p:spPr>
      </p:pic>
      <p:pic>
        <p:nvPicPr>
          <p:cNvPr id="5" name="Picture 4">
            <a:extLst>
              <a:ext uri="{FF2B5EF4-FFF2-40B4-BE49-F238E27FC236}">
                <a16:creationId xmlns:a16="http://schemas.microsoft.com/office/drawing/2014/main" id="{D68BE7EC-1EA4-B6C9-EE21-56A600983E42}"/>
              </a:ext>
            </a:extLst>
          </p:cNvPr>
          <p:cNvPicPr>
            <a:picLocks noChangeAspect="1"/>
          </p:cNvPicPr>
          <p:nvPr/>
        </p:nvPicPr>
        <p:blipFill>
          <a:blip r:embed="rId3">
            <a:extLst>
              <a:ext uri="{28A0092B-C50C-407E-A947-70E740481C1C}">
                <a14:useLocalDpi xmlns:a14="http://schemas.microsoft.com/office/drawing/2010/main" val="0"/>
              </a:ext>
            </a:extLst>
          </a:blip>
          <a:srcRect l="16371" t="19007" r="16253" b="16454"/>
          <a:stretch>
            <a:fillRect/>
          </a:stretch>
        </p:blipFill>
        <p:spPr>
          <a:xfrm>
            <a:off x="6786663" y="575900"/>
            <a:ext cx="4941651" cy="5916975"/>
          </a:xfrm>
          <a:prstGeom prst="rect">
            <a:avLst/>
          </a:prstGeom>
        </p:spPr>
      </p:pic>
    </p:spTree>
    <p:extLst>
      <p:ext uri="{BB962C8B-B14F-4D97-AF65-F5344CB8AC3E}">
        <p14:creationId xmlns:p14="http://schemas.microsoft.com/office/powerpoint/2010/main" val="1362205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8756A-5566-0A50-E7E2-F55271C4ECD6}"/>
              </a:ext>
            </a:extLst>
          </p:cNvPr>
          <p:cNvSpPr>
            <a:spLocks noGrp="1"/>
          </p:cNvSpPr>
          <p:nvPr>
            <p:ph type="title"/>
          </p:nvPr>
        </p:nvSpPr>
        <p:spPr/>
        <p:txBody>
          <a:bodyPr/>
          <a:lstStyle/>
          <a:p>
            <a:r>
              <a:rPr lang="en-GB" dirty="0"/>
              <a:t>Dropout layers</a:t>
            </a:r>
            <a:endParaRPr lang="en-SG" dirty="0"/>
          </a:p>
        </p:txBody>
      </p:sp>
      <p:sp>
        <p:nvSpPr>
          <p:cNvPr id="3" name="Content Placeholder 2">
            <a:extLst>
              <a:ext uri="{FF2B5EF4-FFF2-40B4-BE49-F238E27FC236}">
                <a16:creationId xmlns:a16="http://schemas.microsoft.com/office/drawing/2014/main" id="{AC29D42A-AD61-CF6B-9049-62DF5C6EFDB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dropout</a:t>
            </a:r>
            <a:r>
              <a:rPr lang="en-GB" b="1" dirty="0"/>
              <a:t> layers):</a:t>
            </a:r>
          </a:p>
          <a:p>
            <a:pPr marL="0" indent="0">
              <a:buNone/>
            </a:pPr>
            <a:r>
              <a:rPr lang="en-GB" dirty="0"/>
              <a:t>Introduced in [</a:t>
            </a:r>
            <a:r>
              <a:rPr lang="en-SG" dirty="0"/>
              <a:t>Srivastava2014</a:t>
            </a:r>
            <a:r>
              <a:rPr lang="en-GB" dirty="0"/>
              <a:t>], the </a:t>
            </a:r>
            <a:r>
              <a:rPr lang="en-GB" b="1" dirty="0">
                <a:solidFill>
                  <a:srgbClr val="00B050"/>
                </a:solidFill>
              </a:rPr>
              <a:t>dropout</a:t>
            </a:r>
            <a:r>
              <a:rPr lang="en-GB" dirty="0"/>
              <a:t> </a:t>
            </a:r>
            <a:r>
              <a:rPr lang="en-GB" b="1" dirty="0"/>
              <a:t>layer</a:t>
            </a:r>
            <a:r>
              <a:rPr lang="en-GB" dirty="0"/>
              <a:t> is a </a:t>
            </a:r>
            <a:r>
              <a:rPr lang="en-GB" b="1" dirty="0"/>
              <a:t>regularization technique </a:t>
            </a:r>
            <a:r>
              <a:rPr lang="en-GB" dirty="0"/>
              <a:t>used in deep learning to </a:t>
            </a:r>
            <a:r>
              <a:rPr lang="en-GB" b="1" dirty="0"/>
              <a:t>prevent overfitting.</a:t>
            </a:r>
          </a:p>
          <a:p>
            <a:pPr marL="0" indent="0">
              <a:buNone/>
            </a:pPr>
            <a:r>
              <a:rPr lang="en-GB" dirty="0"/>
              <a:t>The dropout layer </a:t>
            </a:r>
            <a:r>
              <a:rPr lang="en-GB" b="1" dirty="0"/>
              <a:t>randomly drops out, or sets to zero, some of the neurons </a:t>
            </a:r>
            <a:r>
              <a:rPr lang="en-GB" dirty="0"/>
              <a:t>in the network </a:t>
            </a:r>
            <a:r>
              <a:rPr lang="en-GB" b="1" u="sng" dirty="0"/>
              <a:t>during each training iteration</a:t>
            </a:r>
            <a:r>
              <a:rPr lang="en-GB" dirty="0"/>
              <a:t>.</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678DAC5-6799-70E6-2A67-94217EEE692B}"/>
                  </a:ext>
                </a:extLst>
              </p:cNvPr>
              <p:cNvSpPr>
                <a:spLocks noGrp="1"/>
              </p:cNvSpPr>
              <p:nvPr>
                <p:ph sz="half" idx="2"/>
              </p:nvPr>
            </p:nvSpPr>
            <p:spPr>
              <a:xfrm>
                <a:off x="6172200" y="1825625"/>
                <a:ext cx="5181600" cy="5032374"/>
              </a:xfrm>
            </p:spPr>
            <p:txBody>
              <a:bodyPr>
                <a:normAutofit/>
              </a:bodyPr>
              <a:lstStyle/>
              <a:p>
                <a:pPr marL="0" indent="0">
                  <a:buNone/>
                </a:pPr>
                <a:r>
                  <a:rPr lang="en-GB" dirty="0"/>
                  <a:t>In </a:t>
                </a:r>
                <a:r>
                  <a:rPr lang="en-GB" dirty="0" err="1"/>
                  <a:t>PyTorch</a:t>
                </a:r>
                <a:r>
                  <a:rPr lang="en-GB" dirty="0"/>
                  <a:t>, dropout is applied using the </a:t>
                </a:r>
                <a:r>
                  <a:rPr lang="en-GB" b="1" dirty="0" err="1"/>
                  <a:t>nn.Dropout</a:t>
                </a:r>
                <a:r>
                  <a:rPr lang="en-GB" dirty="0"/>
                  <a:t> module, and it is typically inserted</a:t>
                </a:r>
              </a:p>
              <a:p>
                <a:r>
                  <a:rPr lang="en-GB" b="1" dirty="0"/>
                  <a:t>after a linear or convolutional layer</a:t>
                </a:r>
                <a:r>
                  <a:rPr lang="en-GB" dirty="0"/>
                  <a:t>,</a:t>
                </a:r>
              </a:p>
              <a:p>
                <a:r>
                  <a:rPr lang="en-GB"/>
                  <a:t>and </a:t>
                </a:r>
                <a:r>
                  <a:rPr lang="en-GB" b="1"/>
                  <a:t>before/after </a:t>
                </a:r>
                <a:r>
                  <a:rPr lang="en-GB" b="1" dirty="0"/>
                  <a:t>a non-linear activation </a:t>
                </a:r>
                <a:r>
                  <a:rPr lang="en-GB" dirty="0"/>
                  <a:t>function.</a:t>
                </a:r>
              </a:p>
              <a:p>
                <a:pPr marL="0" indent="0">
                  <a:buNone/>
                </a:pPr>
                <a:r>
                  <a:rPr lang="en-GB" dirty="0"/>
                  <a:t>The </a:t>
                </a:r>
                <a:r>
                  <a:rPr lang="en-GB" dirty="0" err="1"/>
                  <a:t>nn.Dropout</a:t>
                </a:r>
                <a:r>
                  <a:rPr lang="en-GB" dirty="0"/>
                  <a:t> takes one argument: the probability </a:t>
                </a:r>
                <a14:m>
                  <m:oMath xmlns:m="http://schemas.openxmlformats.org/officeDocument/2006/math">
                    <m:r>
                      <a:rPr lang="en-GB" i="1" dirty="0" smtClean="0">
                        <a:latin typeface="Cambria Math" panose="02040503050406030204" pitchFamily="18" charset="0"/>
                      </a:rPr>
                      <m:t>𝑝</m:t>
                    </m:r>
                  </m:oMath>
                </a14:m>
                <a:r>
                  <a:rPr lang="en-GB" dirty="0"/>
                  <a:t> of an element to be zeroed.</a:t>
                </a:r>
              </a:p>
            </p:txBody>
          </p:sp>
        </mc:Choice>
        <mc:Fallback xmlns="">
          <p:sp>
            <p:nvSpPr>
              <p:cNvPr id="4" name="Content Placeholder 3">
                <a:extLst>
                  <a:ext uri="{FF2B5EF4-FFF2-40B4-BE49-F238E27FC236}">
                    <a16:creationId xmlns:a16="http://schemas.microsoft.com/office/drawing/2014/main" id="{2678DAC5-6799-70E6-2A67-94217EEE692B}"/>
                  </a:ext>
                </a:extLst>
              </p:cNvPr>
              <p:cNvSpPr>
                <a:spLocks noGrp="1" noRot="1" noChangeAspect="1" noMove="1" noResize="1" noEditPoints="1" noAdjustHandles="1" noChangeArrowheads="1" noChangeShapeType="1" noTextEdit="1"/>
              </p:cNvSpPr>
              <p:nvPr>
                <p:ph sz="half" idx="2"/>
              </p:nvPr>
            </p:nvSpPr>
            <p:spPr>
              <a:xfrm>
                <a:off x="6172200" y="1825625"/>
                <a:ext cx="5181600" cy="5032374"/>
              </a:xfrm>
              <a:blipFill>
                <a:blip r:embed="rId2"/>
                <a:stretch>
                  <a:fillRect l="-2471" t="-1937" r="-118"/>
                </a:stretch>
              </a:blipFill>
            </p:spPr>
            <p:txBody>
              <a:bodyPr/>
              <a:lstStyle/>
              <a:p>
                <a:r>
                  <a:rPr lang="en-SG">
                    <a:noFill/>
                  </a:rPr>
                  <a:t> </a:t>
                </a:r>
              </a:p>
            </p:txBody>
          </p:sp>
        </mc:Fallback>
      </mc:AlternateContent>
    </p:spTree>
    <p:extLst>
      <p:ext uri="{BB962C8B-B14F-4D97-AF65-F5344CB8AC3E}">
        <p14:creationId xmlns:p14="http://schemas.microsoft.com/office/powerpoint/2010/main" val="15509902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8756A-5566-0A50-E7E2-F55271C4ECD6}"/>
              </a:ext>
            </a:extLst>
          </p:cNvPr>
          <p:cNvSpPr>
            <a:spLocks noGrp="1"/>
          </p:cNvSpPr>
          <p:nvPr>
            <p:ph type="title"/>
          </p:nvPr>
        </p:nvSpPr>
        <p:spPr/>
        <p:txBody>
          <a:bodyPr/>
          <a:lstStyle/>
          <a:p>
            <a:r>
              <a:rPr lang="en-GB" dirty="0"/>
              <a:t>Dropout layers</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91AD9745-9985-68F2-4A13-964E7F54E6E8}"/>
                  </a:ext>
                </a:extLst>
              </p:cNvPr>
              <p:cNvSpPr>
                <a:spLocks noGrp="1"/>
              </p:cNvSpPr>
              <p:nvPr>
                <p:ph sz="half" idx="1"/>
              </p:nvPr>
            </p:nvSpPr>
            <p:spPr>
              <a:xfrm>
                <a:off x="838200" y="1825624"/>
                <a:ext cx="5181600" cy="5032375"/>
              </a:xfrm>
            </p:spPr>
            <p:txBody>
              <a:bodyPr>
                <a:normAutofit/>
              </a:bodyPr>
              <a:lstStyle/>
              <a:p>
                <a:pPr marL="0" indent="0">
                  <a:buNone/>
                </a:pPr>
                <a:r>
                  <a:rPr lang="en-GB" dirty="0"/>
                  <a:t>E.g. using </a:t>
                </a:r>
                <a14:m>
                  <m:oMath xmlns:m="http://schemas.openxmlformats.org/officeDocument/2006/math">
                    <m:r>
                      <a:rPr lang="en-GB" i="1" dirty="0" smtClean="0">
                        <a:latin typeface="Cambria Math" panose="02040503050406030204" pitchFamily="18" charset="0"/>
                      </a:rPr>
                      <m:t>𝑝</m:t>
                    </m:r>
                    <m:r>
                      <a:rPr lang="en-GB" i="1" dirty="0" smtClean="0">
                        <a:latin typeface="Cambria Math" panose="02040503050406030204" pitchFamily="18" charset="0"/>
                      </a:rPr>
                      <m:t> = 0.5</m:t>
                    </m:r>
                  </m:oMath>
                </a14:m>
                <a:r>
                  <a:rPr lang="en-GB" dirty="0"/>
                  <a:t> means that during the forward pass, half of the neurons will be set to zero.</a:t>
                </a:r>
              </a:p>
              <a:p>
                <a:pPr marL="0" indent="0">
                  <a:buNone/>
                </a:pPr>
                <a:r>
                  <a:rPr lang="en-GB" dirty="0"/>
                  <a:t>The Dropout layer is </a:t>
                </a:r>
                <a:r>
                  <a:rPr lang="en-GB" b="1" u="sng" dirty="0"/>
                  <a:t>not trainable </a:t>
                </a:r>
                <a:r>
                  <a:rPr lang="en-GB" dirty="0"/>
                  <a:t>as the parameter </a:t>
                </a:r>
                <a14:m>
                  <m:oMath xmlns:m="http://schemas.openxmlformats.org/officeDocument/2006/math">
                    <m:r>
                      <a:rPr lang="en-GB" i="1" dirty="0" smtClean="0">
                        <a:latin typeface="Cambria Math" panose="02040503050406030204" pitchFamily="18" charset="0"/>
                      </a:rPr>
                      <m:t>𝑝</m:t>
                    </m:r>
                  </m:oMath>
                </a14:m>
                <a:r>
                  <a:rPr lang="en-GB" dirty="0"/>
                  <a:t> is to be manually decided, usually with a value between 0.1 and 0.5.</a:t>
                </a:r>
              </a:p>
              <a:p>
                <a:pPr marL="0" indent="0">
                  <a:buNone/>
                </a:pPr>
                <a:r>
                  <a:rPr lang="en-GB" dirty="0"/>
                  <a:t>It is therefore </a:t>
                </a:r>
                <a:r>
                  <a:rPr lang="en-GB" b="1" dirty="0"/>
                  <a:t>another hyperparameter </a:t>
                </a:r>
                <a:r>
                  <a:rPr lang="en-GB" dirty="0"/>
                  <a:t>to take into account!</a:t>
                </a:r>
              </a:p>
            </p:txBody>
          </p:sp>
        </mc:Choice>
        <mc:Fallback xmlns="">
          <p:sp>
            <p:nvSpPr>
              <p:cNvPr id="6" name="Content Placeholder 5">
                <a:extLst>
                  <a:ext uri="{FF2B5EF4-FFF2-40B4-BE49-F238E27FC236}">
                    <a16:creationId xmlns:a16="http://schemas.microsoft.com/office/drawing/2014/main" id="{91AD9745-9985-68F2-4A13-964E7F54E6E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118"/>
                </a:stretch>
              </a:blipFill>
            </p:spPr>
            <p:txBody>
              <a:bodyPr/>
              <a:lstStyle/>
              <a:p>
                <a:r>
                  <a:rPr lang="en-SG">
                    <a:noFill/>
                  </a:rPr>
                  <a:t> </a:t>
                </a:r>
              </a:p>
            </p:txBody>
          </p:sp>
        </mc:Fallback>
      </mc:AlternateContent>
      <p:pic>
        <p:nvPicPr>
          <p:cNvPr id="9" name="Picture 8">
            <a:extLst>
              <a:ext uri="{FF2B5EF4-FFF2-40B4-BE49-F238E27FC236}">
                <a16:creationId xmlns:a16="http://schemas.microsoft.com/office/drawing/2014/main" id="{BCA88F6A-712F-8F28-36A9-982294DD9709}"/>
              </a:ext>
            </a:extLst>
          </p:cNvPr>
          <p:cNvPicPr>
            <a:picLocks noChangeAspect="1"/>
          </p:cNvPicPr>
          <p:nvPr/>
        </p:nvPicPr>
        <p:blipFill>
          <a:blip r:embed="rId3"/>
          <a:stretch>
            <a:fillRect/>
          </a:stretch>
        </p:blipFill>
        <p:spPr>
          <a:xfrm>
            <a:off x="6275753" y="2305359"/>
            <a:ext cx="5728677" cy="2924012"/>
          </a:xfrm>
          <a:prstGeom prst="rect">
            <a:avLst/>
          </a:prstGeom>
        </p:spPr>
      </p:pic>
    </p:spTree>
    <p:extLst>
      <p:ext uri="{BB962C8B-B14F-4D97-AF65-F5344CB8AC3E}">
        <p14:creationId xmlns:p14="http://schemas.microsoft.com/office/powerpoint/2010/main" val="4125455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1AD9745-9985-68F2-4A13-964E7F54E6E8}"/>
              </a:ext>
            </a:extLst>
          </p:cNvPr>
          <p:cNvSpPr>
            <a:spLocks noGrp="1"/>
          </p:cNvSpPr>
          <p:nvPr>
            <p:ph sz="half" idx="1"/>
          </p:nvPr>
        </p:nvSpPr>
        <p:spPr/>
        <p:txBody>
          <a:bodyPr>
            <a:normAutofit/>
          </a:bodyPr>
          <a:lstStyle/>
          <a:p>
            <a:r>
              <a:rPr lang="en-GB" dirty="0"/>
              <a:t>During </a:t>
            </a:r>
            <a:r>
              <a:rPr lang="en-GB" b="1" dirty="0"/>
              <a:t>training</a:t>
            </a:r>
            <a:r>
              <a:rPr lang="en-GB" dirty="0"/>
              <a:t> </a:t>
            </a:r>
            <a:r>
              <a:rPr lang="en-GB" b="1" dirty="0"/>
              <a:t>mode</a:t>
            </a:r>
            <a:r>
              <a:rPr lang="en-GB" dirty="0"/>
              <a:t> (i.e. when model is set to </a:t>
            </a:r>
            <a:r>
              <a:rPr lang="en-GB" b="1" dirty="0"/>
              <a:t>train()</a:t>
            </a:r>
            <a:r>
              <a:rPr lang="en-GB" dirty="0"/>
              <a:t> mode), the dropout layer </a:t>
            </a:r>
            <a:r>
              <a:rPr lang="en-GB" b="1" dirty="0"/>
              <a:t>randomly drops out a specified portion of the neurons</a:t>
            </a:r>
            <a:r>
              <a:rPr lang="en-GB" dirty="0"/>
              <a:t>, as said earlier.</a:t>
            </a:r>
          </a:p>
          <a:p>
            <a:endParaRPr lang="en-GB" dirty="0"/>
          </a:p>
        </p:txBody>
      </p:sp>
      <p:sp>
        <p:nvSpPr>
          <p:cNvPr id="3" name="Content Placeholder 2">
            <a:extLst>
              <a:ext uri="{FF2B5EF4-FFF2-40B4-BE49-F238E27FC236}">
                <a16:creationId xmlns:a16="http://schemas.microsoft.com/office/drawing/2014/main" id="{4B49853B-301F-52DB-A070-4EEB403D5E03}"/>
              </a:ext>
            </a:extLst>
          </p:cNvPr>
          <p:cNvSpPr>
            <a:spLocks noGrp="1"/>
          </p:cNvSpPr>
          <p:nvPr>
            <p:ph sz="half" idx="2"/>
          </p:nvPr>
        </p:nvSpPr>
        <p:spPr/>
        <p:txBody>
          <a:bodyPr/>
          <a:lstStyle/>
          <a:p>
            <a:r>
              <a:rPr lang="en-GB" dirty="0"/>
              <a:t>During </a:t>
            </a:r>
            <a:r>
              <a:rPr lang="en-GB" b="1" dirty="0"/>
              <a:t>evaluation mode</a:t>
            </a:r>
            <a:r>
              <a:rPr lang="en-GB" dirty="0"/>
              <a:t> (i.e. when model is set to </a:t>
            </a:r>
            <a:r>
              <a:rPr lang="en-GB" b="1" dirty="0"/>
              <a:t>eval()</a:t>
            </a:r>
            <a:r>
              <a:rPr lang="en-GB" dirty="0"/>
              <a:t> mode), it does </a:t>
            </a:r>
            <a:r>
              <a:rPr lang="en-GB" b="1" u="sng" dirty="0"/>
              <a:t>not drop out any neurons</a:t>
            </a:r>
            <a:r>
              <a:rPr lang="en-GB" dirty="0"/>
              <a:t> anymore. Instead, it passes all activations from the previous layer to the next layer in the network, in an attempt to maximize performance on the test set.</a:t>
            </a:r>
            <a:endParaRPr lang="en-SG" dirty="0"/>
          </a:p>
        </p:txBody>
      </p:sp>
      <p:pic>
        <p:nvPicPr>
          <p:cNvPr id="9" name="Picture 8">
            <a:extLst>
              <a:ext uri="{FF2B5EF4-FFF2-40B4-BE49-F238E27FC236}">
                <a16:creationId xmlns:a16="http://schemas.microsoft.com/office/drawing/2014/main" id="{BCA88F6A-712F-8F28-36A9-982294DD9709}"/>
              </a:ext>
            </a:extLst>
          </p:cNvPr>
          <p:cNvPicPr>
            <a:picLocks noChangeAspect="1"/>
          </p:cNvPicPr>
          <p:nvPr/>
        </p:nvPicPr>
        <p:blipFill>
          <a:blip r:embed="rId2"/>
          <a:stretch>
            <a:fillRect/>
          </a:stretch>
        </p:blipFill>
        <p:spPr>
          <a:xfrm>
            <a:off x="592015" y="4314416"/>
            <a:ext cx="4712678" cy="2405429"/>
          </a:xfrm>
          <a:prstGeom prst="rect">
            <a:avLst/>
          </a:prstGeom>
        </p:spPr>
      </p:pic>
      <p:sp>
        <p:nvSpPr>
          <p:cNvPr id="7" name="TextBox 6">
            <a:extLst>
              <a:ext uri="{FF2B5EF4-FFF2-40B4-BE49-F238E27FC236}">
                <a16:creationId xmlns:a16="http://schemas.microsoft.com/office/drawing/2014/main" id="{D7D9439E-9DA4-F057-8F84-62ECFEA79A17}"/>
              </a:ext>
            </a:extLst>
          </p:cNvPr>
          <p:cNvSpPr txBox="1"/>
          <p:nvPr/>
        </p:nvSpPr>
        <p:spPr>
          <a:xfrm>
            <a:off x="230554" y="590245"/>
            <a:ext cx="11730892" cy="1384995"/>
          </a:xfrm>
          <a:prstGeom prst="rect">
            <a:avLst/>
          </a:prstGeom>
          <a:noFill/>
        </p:spPr>
        <p:txBody>
          <a:bodyPr wrap="square" rtlCol="0">
            <a:spAutoFit/>
          </a:bodyPr>
          <a:lstStyle/>
          <a:p>
            <a:pPr algn="ctr"/>
            <a:r>
              <a:rPr lang="en-GB" sz="2800" b="1" dirty="0"/>
              <a:t>A very important note, however:</a:t>
            </a:r>
            <a:br>
              <a:rPr lang="en-GB" sz="2800" b="1" dirty="0"/>
            </a:br>
            <a:r>
              <a:rPr lang="en-GB" sz="2800" dirty="0"/>
              <a:t>Dropout is the first operation we see to have </a:t>
            </a:r>
            <a:r>
              <a:rPr lang="en-GB" sz="2800" b="1" dirty="0">
                <a:solidFill>
                  <a:srgbClr val="FF0000"/>
                </a:solidFill>
              </a:rPr>
              <a:t>two different behaviours</a:t>
            </a:r>
            <a:r>
              <a:rPr lang="en-GB" sz="2800" dirty="0"/>
              <a:t>.</a:t>
            </a:r>
          </a:p>
          <a:p>
            <a:pPr algn="ctr"/>
            <a:endParaRPr lang="en-SG" sz="2800" dirty="0"/>
          </a:p>
        </p:txBody>
      </p:sp>
    </p:spTree>
    <p:extLst>
      <p:ext uri="{BB962C8B-B14F-4D97-AF65-F5344CB8AC3E}">
        <p14:creationId xmlns:p14="http://schemas.microsoft.com/office/powerpoint/2010/main" val="37810022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BC67E-2228-E6F4-C5F7-E77022D3DA7B}"/>
              </a:ext>
            </a:extLst>
          </p:cNvPr>
          <p:cNvSpPr>
            <a:spLocks noGrp="1"/>
          </p:cNvSpPr>
          <p:nvPr>
            <p:ph type="title"/>
          </p:nvPr>
        </p:nvSpPr>
        <p:spPr/>
        <p:txBody>
          <a:bodyPr/>
          <a:lstStyle/>
          <a:p>
            <a:r>
              <a:rPr lang="en-GB" dirty="0" err="1"/>
              <a:t>Batchnorm</a:t>
            </a:r>
            <a:r>
              <a:rPr lang="en-GB" dirty="0"/>
              <a:t> layer</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B237BA-D9E1-8FE9-7AEC-8679DEFB92DB}"/>
                  </a:ext>
                </a:extLst>
              </p:cNvPr>
              <p:cNvSpPr>
                <a:spLocks noGrp="1"/>
              </p:cNvSpPr>
              <p:nvPr>
                <p:ph idx="1"/>
              </p:nvPr>
            </p:nvSpPr>
            <p:spPr>
              <a:xfrm>
                <a:off x="838200" y="1825624"/>
                <a:ext cx="10515600" cy="5032375"/>
              </a:xfrm>
            </p:spPr>
            <p:txBody>
              <a:bodyPr/>
              <a:lstStyle/>
              <a:p>
                <a:pPr marL="0" indent="0">
                  <a:buNone/>
                </a:pPr>
                <a:r>
                  <a:rPr lang="en-GB" b="1" dirty="0"/>
                  <a:t>Definition (the </a:t>
                </a:r>
                <a:r>
                  <a:rPr lang="en-GB" b="1" dirty="0" err="1">
                    <a:solidFill>
                      <a:srgbClr val="00B050"/>
                    </a:solidFill>
                  </a:rPr>
                  <a:t>batchnorm</a:t>
                </a:r>
                <a:r>
                  <a:rPr lang="en-GB" b="1" dirty="0"/>
                  <a:t> layer): </a:t>
                </a:r>
              </a:p>
              <a:p>
                <a:pPr marL="0" indent="0">
                  <a:buNone/>
                </a:pPr>
                <a:r>
                  <a:rPr lang="en-GB" b="1" dirty="0"/>
                  <a:t>Batch</a:t>
                </a:r>
                <a:r>
                  <a:rPr lang="en-GB" dirty="0"/>
                  <a:t> </a:t>
                </a:r>
                <a:r>
                  <a:rPr lang="en-GB" b="1" dirty="0"/>
                  <a:t>normalization</a:t>
                </a:r>
                <a:r>
                  <a:rPr lang="en-GB" dirty="0"/>
                  <a:t> (or </a:t>
                </a:r>
                <a:r>
                  <a:rPr lang="en-GB" b="1" dirty="0" err="1">
                    <a:solidFill>
                      <a:srgbClr val="00B050"/>
                    </a:solidFill>
                  </a:rPr>
                  <a:t>batchnorm</a:t>
                </a:r>
                <a:r>
                  <a:rPr lang="en-GB" dirty="0"/>
                  <a:t>) is a technique used to improve the stability and performance of neural networks. It </a:t>
                </a:r>
                <a:r>
                  <a:rPr lang="en-GB"/>
                  <a:t>was presumably introduced </a:t>
                </a:r>
                <a:r>
                  <a:rPr lang="en-GB" dirty="0"/>
                  <a:t>in [Ioffe2015].</a:t>
                </a:r>
              </a:p>
              <a:p>
                <a:pPr marL="0" indent="0">
                  <a:buNone/>
                </a:pPr>
                <a:r>
                  <a:rPr lang="en-GB" dirty="0"/>
                  <a:t>It </a:t>
                </a:r>
                <a:r>
                  <a:rPr lang="en-GB" b="1" dirty="0"/>
                  <a:t>normalizes</a:t>
                </a:r>
                <a:r>
                  <a:rPr lang="en-GB" dirty="0"/>
                  <a:t> </a:t>
                </a:r>
                <a:r>
                  <a:rPr lang="en-GB" b="1" dirty="0"/>
                  <a:t>the</a:t>
                </a:r>
                <a:r>
                  <a:rPr lang="en-GB" dirty="0"/>
                  <a:t> </a:t>
                </a:r>
                <a:r>
                  <a:rPr lang="en-GB" b="1" dirty="0"/>
                  <a:t>activations</a:t>
                </a:r>
                <a:r>
                  <a:rPr lang="en-GB" dirty="0"/>
                  <a:t> produced by each layer for each mini-batch. The purpose of </a:t>
                </a:r>
                <a:r>
                  <a:rPr lang="en-GB" dirty="0" err="1"/>
                  <a:t>batchnorm</a:t>
                </a:r>
                <a:r>
                  <a:rPr lang="en-GB" dirty="0"/>
                  <a:t> is to reduce internal covariate shift, which refers to the change in the distribution of network activations due to the change in network parameters during training.</a:t>
                </a:r>
              </a:p>
              <a:p>
                <a:pPr marL="0" indent="0">
                  <a:buNone/>
                </a:pPr>
                <a:r>
                  <a:rPr lang="en-GB" dirty="0"/>
                  <a:t>This can make the training process faster and more stable.</a:t>
                </a:r>
              </a:p>
              <a:p>
                <a:pPr marL="0" indent="0">
                  <a:buNone/>
                </a:pPr>
                <a14:m>
                  <m:oMath xmlns:m="http://schemas.openxmlformats.org/officeDocument/2006/math">
                    <m:r>
                      <a:rPr lang="en-GB" b="0" i="1" smtClean="0">
                        <a:latin typeface="Cambria Math" panose="02040503050406030204" pitchFamily="18" charset="0"/>
                      </a:rPr>
                      <m:t>≈</m:t>
                    </m:r>
                  </m:oMath>
                </a14:m>
                <a:r>
                  <a:rPr lang="en-GB" b="1" dirty="0"/>
                  <a:t> Reuses the same intuition as to why inputs in datasets should be normalized, but applies it to the inputs of all layers in network.</a:t>
                </a:r>
                <a:endParaRPr lang="en-SG" b="1" dirty="0"/>
              </a:p>
            </p:txBody>
          </p:sp>
        </mc:Choice>
        <mc:Fallback xmlns="">
          <p:sp>
            <p:nvSpPr>
              <p:cNvPr id="3" name="Content Placeholder 2">
                <a:extLst>
                  <a:ext uri="{FF2B5EF4-FFF2-40B4-BE49-F238E27FC236}">
                    <a16:creationId xmlns:a16="http://schemas.microsoft.com/office/drawing/2014/main" id="{D8B237BA-D9E1-8FE9-7AEC-8679DEFB92D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3922723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BC67E-2228-E6F4-C5F7-E77022D3DA7B}"/>
              </a:ext>
            </a:extLst>
          </p:cNvPr>
          <p:cNvSpPr>
            <a:spLocks noGrp="1"/>
          </p:cNvSpPr>
          <p:nvPr>
            <p:ph type="title"/>
          </p:nvPr>
        </p:nvSpPr>
        <p:spPr/>
        <p:txBody>
          <a:bodyPr/>
          <a:lstStyle/>
          <a:p>
            <a:r>
              <a:rPr lang="en-GB" dirty="0" err="1"/>
              <a:t>Batchnorm</a:t>
            </a:r>
            <a:r>
              <a:rPr lang="en-GB" dirty="0"/>
              <a:t> layer</a:t>
            </a:r>
            <a:endParaRPr lang="en-SG" dirty="0"/>
          </a:p>
        </p:txBody>
      </p:sp>
      <p:sp>
        <p:nvSpPr>
          <p:cNvPr id="3" name="Content Placeholder 2">
            <a:extLst>
              <a:ext uri="{FF2B5EF4-FFF2-40B4-BE49-F238E27FC236}">
                <a16:creationId xmlns:a16="http://schemas.microsoft.com/office/drawing/2014/main" id="{D8B237BA-D9E1-8FE9-7AEC-8679DEFB92DB}"/>
              </a:ext>
            </a:extLst>
          </p:cNvPr>
          <p:cNvSpPr>
            <a:spLocks noGrp="1"/>
          </p:cNvSpPr>
          <p:nvPr>
            <p:ph idx="1"/>
          </p:nvPr>
        </p:nvSpPr>
        <p:spPr>
          <a:xfrm>
            <a:off x="838200" y="1825624"/>
            <a:ext cx="10515600" cy="5032375"/>
          </a:xfrm>
        </p:spPr>
        <p:txBody>
          <a:bodyPr>
            <a:normAutofit/>
          </a:bodyPr>
          <a:lstStyle/>
          <a:p>
            <a:pPr marL="0" indent="0">
              <a:buNone/>
            </a:pPr>
            <a:r>
              <a:rPr lang="en-GB" dirty="0"/>
              <a:t>In </a:t>
            </a:r>
            <a:r>
              <a:rPr lang="en-GB" dirty="0" err="1"/>
              <a:t>PyTorch</a:t>
            </a:r>
            <a:r>
              <a:rPr lang="en-GB" dirty="0"/>
              <a:t>, </a:t>
            </a:r>
            <a:r>
              <a:rPr lang="en-GB" b="1" dirty="0" err="1"/>
              <a:t>batchnorm</a:t>
            </a:r>
            <a:r>
              <a:rPr lang="en-GB" dirty="0"/>
              <a:t> can be applied to a layer using the </a:t>
            </a:r>
            <a:r>
              <a:rPr lang="en-GB" b="1" dirty="0"/>
              <a:t>nn.BatchNorm2d </a:t>
            </a:r>
            <a:r>
              <a:rPr lang="en-GB" dirty="0"/>
              <a:t>or </a:t>
            </a:r>
            <a:r>
              <a:rPr lang="en-GB" b="1" dirty="0"/>
              <a:t>nn.BatchNorm1d </a:t>
            </a:r>
            <a:r>
              <a:rPr lang="en-GB" dirty="0"/>
              <a:t>module, depending on whether the data is 1D shaped (output of a linear layer) or 2D shaped (e.g. image output of a Convolutional layer)</a:t>
            </a:r>
          </a:p>
          <a:p>
            <a:pPr marL="0" indent="0">
              <a:buNone/>
            </a:pPr>
            <a:r>
              <a:rPr lang="en-GB" dirty="0"/>
              <a:t>Like the dropout, the module should be inserted</a:t>
            </a:r>
          </a:p>
          <a:p>
            <a:r>
              <a:rPr lang="en-GB" b="1" dirty="0"/>
              <a:t>after a linear </a:t>
            </a:r>
            <a:r>
              <a:rPr lang="en-GB" dirty="0"/>
              <a:t>or </a:t>
            </a:r>
            <a:r>
              <a:rPr lang="en-GB" b="1" dirty="0"/>
              <a:t>convolutional</a:t>
            </a:r>
            <a:r>
              <a:rPr lang="en-GB" dirty="0"/>
              <a:t> </a:t>
            </a:r>
            <a:r>
              <a:rPr lang="en-GB" b="1" dirty="0"/>
              <a:t>layer</a:t>
            </a:r>
            <a:r>
              <a:rPr lang="en-GB" dirty="0"/>
              <a:t> in the network,</a:t>
            </a:r>
          </a:p>
          <a:p>
            <a:r>
              <a:rPr lang="en-GB" dirty="0"/>
              <a:t>and </a:t>
            </a:r>
            <a:r>
              <a:rPr lang="en-GB" b="1" dirty="0"/>
              <a:t>before the non-linear activation function</a:t>
            </a:r>
            <a:r>
              <a:rPr lang="en-GB" dirty="0"/>
              <a:t>.</a:t>
            </a:r>
          </a:p>
          <a:p>
            <a:endParaRPr lang="en-GB" dirty="0"/>
          </a:p>
          <a:p>
            <a:pPr marL="0" indent="0">
              <a:buNone/>
            </a:pPr>
            <a:r>
              <a:rPr lang="en-GB" dirty="0"/>
              <a:t>The </a:t>
            </a:r>
            <a:r>
              <a:rPr lang="en-GB" dirty="0" err="1"/>
              <a:t>batchnorm</a:t>
            </a:r>
            <a:r>
              <a:rPr lang="en-GB" dirty="0"/>
              <a:t> layer takes one argument: the number of channels in the output of the previous layer.</a:t>
            </a:r>
          </a:p>
        </p:txBody>
      </p:sp>
    </p:spTree>
    <p:extLst>
      <p:ext uri="{BB962C8B-B14F-4D97-AF65-F5344CB8AC3E}">
        <p14:creationId xmlns:p14="http://schemas.microsoft.com/office/powerpoint/2010/main" val="4570340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0585B-6215-5005-63CD-9EBDB34A1ADC}"/>
              </a:ext>
            </a:extLst>
          </p:cNvPr>
          <p:cNvSpPr>
            <a:spLocks noGrp="1"/>
          </p:cNvSpPr>
          <p:nvPr>
            <p:ph type="title"/>
          </p:nvPr>
        </p:nvSpPr>
        <p:spPr/>
        <p:txBody>
          <a:bodyPr/>
          <a:lstStyle/>
          <a:p>
            <a:r>
              <a:rPr lang="en-GB" dirty="0"/>
              <a:t>Normalization in </a:t>
            </a:r>
            <a:r>
              <a:rPr lang="en-GB" dirty="0" err="1"/>
              <a:t>BatchNorm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16C7E8-41D8-6D1A-5A49-0DBCEDA7B33F}"/>
                  </a:ext>
                </a:extLst>
              </p:cNvPr>
              <p:cNvSpPr>
                <a:spLocks noGrp="1"/>
              </p:cNvSpPr>
              <p:nvPr>
                <p:ph idx="1"/>
              </p:nvPr>
            </p:nvSpPr>
            <p:spPr>
              <a:xfrm>
                <a:off x="838200" y="1825624"/>
                <a:ext cx="10515600" cy="5032375"/>
              </a:xfrm>
            </p:spPr>
            <p:txBody>
              <a:bodyPr>
                <a:normAutofit/>
              </a:bodyPr>
              <a:lstStyle/>
              <a:p>
                <a:pPr marL="0" indent="0">
                  <a:buNone/>
                </a:pPr>
                <a:r>
                  <a:rPr lang="en-GB" dirty="0"/>
                  <a:t>The equation for batch normalization (</a:t>
                </a:r>
                <a:r>
                  <a:rPr lang="en-GB" dirty="0" err="1"/>
                  <a:t>batchnorm</a:t>
                </a:r>
                <a:r>
                  <a:rPr lang="en-GB" dirty="0"/>
                  <a:t>) is as follows:</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𝑦</m:t>
                      </m:r>
                      <m:r>
                        <a:rPr lang="en-GB"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i="1" dirty="0" smtClean="0">
                              <a:latin typeface="Cambria Math" panose="02040503050406030204" pitchFamily="18" charset="0"/>
                            </a:rPr>
                            <m:t>𝛾</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𝑥</m:t>
                              </m:r>
                              <m:r>
                                <a:rPr lang="en-GB" i="1" dirty="0" smtClean="0">
                                  <a:latin typeface="Cambria Math" panose="02040503050406030204" pitchFamily="18" charset="0"/>
                                </a:rPr>
                                <m:t> − </m:t>
                              </m:r>
                              <m:r>
                                <a:rPr lang="en-GB" i="1" dirty="0" smtClean="0">
                                  <a:latin typeface="Cambria Math" panose="02040503050406030204" pitchFamily="18" charset="0"/>
                                </a:rPr>
                                <m:t>𝜇</m:t>
                              </m:r>
                            </m:e>
                          </m:d>
                        </m:num>
                        <m:den>
                          <m:r>
                            <a:rPr lang="en-GB" i="1" dirty="0" smtClean="0">
                              <a:latin typeface="Cambria Math" panose="02040503050406030204" pitchFamily="18" charset="0"/>
                            </a:rPr>
                            <m:t>𝜎</m:t>
                          </m:r>
                        </m:den>
                      </m:f>
                      <m:r>
                        <a:rPr lang="en-GB" i="1" dirty="0" smtClean="0">
                          <a:latin typeface="Cambria Math" panose="02040503050406030204" pitchFamily="18" charset="0"/>
                        </a:rPr>
                        <m:t> + </m:t>
                      </m:r>
                      <m:r>
                        <a:rPr lang="en-GB" i="1" dirty="0" smtClean="0">
                          <a:latin typeface="Cambria Math" panose="02040503050406030204" pitchFamily="18" charset="0"/>
                        </a:rPr>
                        <m:t>𝛽</m:t>
                      </m:r>
                    </m:oMath>
                  </m:oMathPara>
                </a14:m>
                <a:endParaRPr lang="en-GB" dirty="0"/>
              </a:p>
              <a:p>
                <a:pPr marL="0" indent="0">
                  <a:buNone/>
                </a:pPr>
                <a:r>
                  <a:rPr lang="en-GB" dirty="0"/>
                  <a:t>Where:</a:t>
                </a:r>
              </a:p>
              <a:p>
                <a14:m>
                  <m:oMath xmlns:m="http://schemas.openxmlformats.org/officeDocument/2006/math">
                    <m:r>
                      <a:rPr lang="en-GB" i="1" dirty="0" smtClean="0">
                        <a:latin typeface="Cambria Math" panose="02040503050406030204" pitchFamily="18" charset="0"/>
                      </a:rPr>
                      <m:t>𝑥</m:t>
                    </m:r>
                  </m:oMath>
                </a14:m>
                <a:r>
                  <a:rPr lang="en-GB" dirty="0"/>
                  <a:t> (resp. </a:t>
                </a:r>
                <a14:m>
                  <m:oMath xmlns:m="http://schemas.openxmlformats.org/officeDocument/2006/math">
                    <m:r>
                      <a:rPr lang="en-GB" i="1" dirty="0" smtClean="0">
                        <a:latin typeface="Cambria Math" panose="02040503050406030204" pitchFamily="18" charset="0"/>
                      </a:rPr>
                      <m:t>𝑦</m:t>
                    </m:r>
                  </m:oMath>
                </a14:m>
                <a:r>
                  <a:rPr lang="en-GB" dirty="0"/>
                  <a:t>) is the </a:t>
                </a:r>
                <a:r>
                  <a:rPr lang="en-GB" b="1" dirty="0"/>
                  <a:t>input (resp. output)</a:t>
                </a:r>
                <a:r>
                  <a:rPr lang="en-GB" dirty="0"/>
                  <a:t> </a:t>
                </a:r>
                <a:r>
                  <a:rPr lang="en-GB" b="1" dirty="0"/>
                  <a:t>to</a:t>
                </a:r>
                <a:r>
                  <a:rPr lang="en-GB" dirty="0"/>
                  <a:t> </a:t>
                </a:r>
                <a:r>
                  <a:rPr lang="en-GB" b="1" dirty="0"/>
                  <a:t>the</a:t>
                </a:r>
                <a:r>
                  <a:rPr lang="en-GB" dirty="0"/>
                  <a:t> </a:t>
                </a:r>
                <a:r>
                  <a:rPr lang="en-GB" dirty="0" err="1"/>
                  <a:t>batchnorm</a:t>
                </a:r>
                <a:r>
                  <a:rPr lang="en-GB" dirty="0"/>
                  <a:t> layer,</a:t>
                </a:r>
              </a:p>
              <a:p>
                <a14:m>
                  <m:oMath xmlns:m="http://schemas.openxmlformats.org/officeDocument/2006/math">
                    <m:r>
                      <a:rPr lang="en-GB" i="1" dirty="0" smtClean="0">
                        <a:latin typeface="Cambria Math" panose="02040503050406030204" pitchFamily="18" charset="0"/>
                      </a:rPr>
                      <m:t>𝜇</m:t>
                    </m:r>
                  </m:oMath>
                </a14:m>
                <a:r>
                  <a:rPr lang="en-GB" dirty="0"/>
                  <a:t> and </a:t>
                </a:r>
                <a14:m>
                  <m:oMath xmlns:m="http://schemas.openxmlformats.org/officeDocument/2006/math">
                    <m:r>
                      <a:rPr lang="en-GB" i="1" dirty="0" smtClean="0">
                        <a:latin typeface="Cambria Math" panose="02040503050406030204" pitchFamily="18" charset="0"/>
                      </a:rPr>
                      <m:t>𝜎</m:t>
                    </m:r>
                  </m:oMath>
                </a14:m>
                <a:r>
                  <a:rPr lang="en-GB" dirty="0"/>
                  <a:t> are the </a:t>
                </a:r>
                <a:r>
                  <a:rPr lang="en-GB" b="1" dirty="0"/>
                  <a:t>mean</a:t>
                </a:r>
                <a:r>
                  <a:rPr lang="en-GB" dirty="0"/>
                  <a:t> and </a:t>
                </a:r>
                <a:r>
                  <a:rPr lang="en-GB" b="1" dirty="0"/>
                  <a:t>standard</a:t>
                </a:r>
                <a:r>
                  <a:rPr lang="en-GB" dirty="0"/>
                  <a:t> deviation of the batch, respectively, and are calculated separately for each feature dimension in the input batch </a:t>
                </a:r>
                <a14:m>
                  <m:oMath xmlns:m="http://schemas.openxmlformats.org/officeDocument/2006/math">
                    <m:r>
                      <a:rPr lang="en-GB" i="1" dirty="0">
                        <a:latin typeface="Cambria Math" panose="02040503050406030204" pitchFamily="18" charset="0"/>
                      </a:rPr>
                      <m:t>𝑥</m:t>
                    </m:r>
                  </m:oMath>
                </a14:m>
                <a:r>
                  <a:rPr lang="en-GB" dirty="0"/>
                  <a:t>.</a:t>
                </a:r>
              </a:p>
              <a:p>
                <a14:m>
                  <m:oMath xmlns:m="http://schemas.openxmlformats.org/officeDocument/2006/math">
                    <m:r>
                      <a:rPr lang="en-GB" i="1" dirty="0" smtClean="0">
                        <a:latin typeface="Cambria Math" panose="02040503050406030204" pitchFamily="18" charset="0"/>
                      </a:rPr>
                      <m:t>𝛾</m:t>
                    </m:r>
                  </m:oMath>
                </a14:m>
                <a:r>
                  <a:rPr lang="en-GB" dirty="0"/>
                  <a:t> and </a:t>
                </a:r>
                <a14:m>
                  <m:oMath xmlns:m="http://schemas.openxmlformats.org/officeDocument/2006/math">
                    <m:r>
                      <a:rPr lang="en-GB" i="1" dirty="0" smtClean="0">
                        <a:latin typeface="Cambria Math" panose="02040503050406030204" pitchFamily="18" charset="0"/>
                      </a:rPr>
                      <m:t>𝛽</m:t>
                    </m:r>
                  </m:oMath>
                </a14:m>
                <a:r>
                  <a:rPr lang="en-GB" dirty="0"/>
                  <a:t> are </a:t>
                </a:r>
                <a:r>
                  <a:rPr lang="en-GB" b="1" dirty="0"/>
                  <a:t>trainable</a:t>
                </a:r>
                <a:r>
                  <a:rPr lang="en-GB" dirty="0"/>
                  <a:t> </a:t>
                </a:r>
                <a:r>
                  <a:rPr lang="en-GB" b="1" dirty="0"/>
                  <a:t>parameters</a:t>
                </a:r>
                <a:r>
                  <a:rPr lang="en-GB" dirty="0"/>
                  <a:t> for the </a:t>
                </a:r>
                <a:r>
                  <a:rPr lang="en-GB" dirty="0" err="1"/>
                  <a:t>batchnorm</a:t>
                </a:r>
                <a:r>
                  <a:rPr lang="en-GB" dirty="0"/>
                  <a:t> layer, also known as </a:t>
                </a:r>
                <a:r>
                  <a:rPr lang="en-GB" b="1" dirty="0"/>
                  <a:t>scale</a:t>
                </a:r>
                <a:r>
                  <a:rPr lang="en-GB" dirty="0"/>
                  <a:t> and </a:t>
                </a:r>
                <a:r>
                  <a:rPr lang="en-GB" b="1" dirty="0"/>
                  <a:t>shift</a:t>
                </a:r>
                <a:r>
                  <a:rPr lang="en-GB" dirty="0"/>
                  <a:t> parameters.</a:t>
                </a:r>
              </a:p>
              <a:p>
                <a:pPr marL="0" indent="0">
                  <a:buNone/>
                </a:pPr>
                <a:endParaRPr lang="en-SG" dirty="0"/>
              </a:p>
            </p:txBody>
          </p:sp>
        </mc:Choice>
        <mc:Fallback xmlns="">
          <p:sp>
            <p:nvSpPr>
              <p:cNvPr id="3" name="Content Placeholder 2">
                <a:extLst>
                  <a:ext uri="{FF2B5EF4-FFF2-40B4-BE49-F238E27FC236}">
                    <a16:creationId xmlns:a16="http://schemas.microsoft.com/office/drawing/2014/main" id="{5016C7E8-41D8-6D1A-5A49-0DBCEDA7B33F}"/>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449"/>
                </a:stretch>
              </a:blipFill>
            </p:spPr>
            <p:txBody>
              <a:bodyPr/>
              <a:lstStyle/>
              <a:p>
                <a:r>
                  <a:rPr lang="en-SG">
                    <a:noFill/>
                  </a:rPr>
                  <a:t> </a:t>
                </a:r>
              </a:p>
            </p:txBody>
          </p:sp>
        </mc:Fallback>
      </mc:AlternateContent>
    </p:spTree>
    <p:extLst>
      <p:ext uri="{BB962C8B-B14F-4D97-AF65-F5344CB8AC3E}">
        <p14:creationId xmlns:p14="http://schemas.microsoft.com/office/powerpoint/2010/main" val="179243324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0585B-6215-5005-63CD-9EBDB34A1ADC}"/>
              </a:ext>
            </a:extLst>
          </p:cNvPr>
          <p:cNvSpPr>
            <a:spLocks noGrp="1"/>
          </p:cNvSpPr>
          <p:nvPr>
            <p:ph type="title"/>
          </p:nvPr>
        </p:nvSpPr>
        <p:spPr/>
        <p:txBody>
          <a:bodyPr/>
          <a:lstStyle/>
          <a:p>
            <a:r>
              <a:rPr lang="en-GB" dirty="0"/>
              <a:t>Normalization in </a:t>
            </a:r>
            <a:r>
              <a:rPr lang="en-GB" dirty="0" err="1"/>
              <a:t>BatchNorm</a:t>
            </a:r>
            <a:endParaRPr lang="en-SG" dirty="0"/>
          </a:p>
        </p:txBody>
      </p:sp>
      <p:pic>
        <p:nvPicPr>
          <p:cNvPr id="7" name="Picture 6">
            <a:extLst>
              <a:ext uri="{FF2B5EF4-FFF2-40B4-BE49-F238E27FC236}">
                <a16:creationId xmlns:a16="http://schemas.microsoft.com/office/drawing/2014/main" id="{4C910683-847B-935D-6D54-79CB3B071D87}"/>
              </a:ext>
            </a:extLst>
          </p:cNvPr>
          <p:cNvPicPr>
            <a:picLocks noChangeAspect="1"/>
          </p:cNvPicPr>
          <p:nvPr/>
        </p:nvPicPr>
        <p:blipFill>
          <a:blip r:embed="rId2"/>
          <a:stretch>
            <a:fillRect/>
          </a:stretch>
        </p:blipFill>
        <p:spPr>
          <a:xfrm>
            <a:off x="2615929" y="2037743"/>
            <a:ext cx="6960142" cy="4820257"/>
          </a:xfrm>
          <a:prstGeom prst="rect">
            <a:avLst/>
          </a:prstGeom>
        </p:spPr>
      </p:pic>
    </p:spTree>
    <p:extLst>
      <p:ext uri="{BB962C8B-B14F-4D97-AF65-F5344CB8AC3E}">
        <p14:creationId xmlns:p14="http://schemas.microsoft.com/office/powerpoint/2010/main" val="40806280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9BEC2-3F15-8B34-C40C-A90E11225D57}"/>
              </a:ext>
            </a:extLst>
          </p:cNvPr>
          <p:cNvSpPr>
            <a:spLocks noGrp="1"/>
          </p:cNvSpPr>
          <p:nvPr>
            <p:ph type="title"/>
          </p:nvPr>
        </p:nvSpPr>
        <p:spPr/>
        <p:txBody>
          <a:bodyPr/>
          <a:lstStyle/>
          <a:p>
            <a:r>
              <a:rPr lang="en-GB" dirty="0"/>
              <a:t>About </a:t>
            </a:r>
            <a:r>
              <a:rPr lang="en-GB" dirty="0" err="1"/>
              <a:t>BatchNorm</a:t>
            </a:r>
            <a:r>
              <a:rPr lang="en-GB" dirty="0"/>
              <a:t> behaviours</a:t>
            </a:r>
            <a:endParaRPr lang="en-SG" dirty="0"/>
          </a:p>
        </p:txBody>
      </p:sp>
      <p:sp>
        <p:nvSpPr>
          <p:cNvPr id="3" name="Content Placeholder 2">
            <a:extLst>
              <a:ext uri="{FF2B5EF4-FFF2-40B4-BE49-F238E27FC236}">
                <a16:creationId xmlns:a16="http://schemas.microsoft.com/office/drawing/2014/main" id="{1060D7F7-899C-F9B9-A77B-F0DD2563CDAC}"/>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Important: </a:t>
            </a:r>
            <a:r>
              <a:rPr lang="en-GB" dirty="0" err="1"/>
              <a:t>BatchNorm</a:t>
            </a:r>
            <a:r>
              <a:rPr lang="en-GB" dirty="0"/>
              <a:t>, just like Dropout </a:t>
            </a:r>
            <a:r>
              <a:rPr lang="en-GB" b="1" dirty="0"/>
              <a:t>has two different behaviours in train and eval modes</a:t>
            </a:r>
            <a:r>
              <a:rPr lang="en-GB" dirty="0"/>
              <a:t>. </a:t>
            </a:r>
          </a:p>
          <a:p>
            <a:r>
              <a:rPr lang="en-GB" dirty="0"/>
              <a:t>When the network is in </a:t>
            </a:r>
            <a:r>
              <a:rPr lang="en-GB" b="1" dirty="0"/>
              <a:t>training</a:t>
            </a:r>
            <a:r>
              <a:rPr lang="en-GB" dirty="0"/>
              <a:t> </a:t>
            </a:r>
            <a:r>
              <a:rPr lang="en-GB" b="1" dirty="0"/>
              <a:t>mode</a:t>
            </a:r>
            <a:r>
              <a:rPr lang="en-GB" dirty="0"/>
              <a:t>, the batch normalization layer updates its mean and variance estimates based on the current mini-batch of data.</a:t>
            </a:r>
            <a:br>
              <a:rPr lang="en-GB" dirty="0"/>
            </a:br>
            <a:br>
              <a:rPr lang="en-GB" dirty="0"/>
            </a:br>
            <a:r>
              <a:rPr lang="en-GB" dirty="0"/>
              <a:t>During the forward pass, it applies the normalization based on these mean and variance estimates.</a:t>
            </a:r>
          </a:p>
          <a:p>
            <a:endParaRPr lang="en-SG" dirty="0"/>
          </a:p>
        </p:txBody>
      </p:sp>
      <p:sp>
        <p:nvSpPr>
          <p:cNvPr id="4" name="Content Placeholder 3">
            <a:extLst>
              <a:ext uri="{FF2B5EF4-FFF2-40B4-BE49-F238E27FC236}">
                <a16:creationId xmlns:a16="http://schemas.microsoft.com/office/drawing/2014/main" id="{110EBC3D-CDEB-3DFC-71FC-B76D2D5D5EB4}"/>
              </a:ext>
            </a:extLst>
          </p:cNvPr>
          <p:cNvSpPr>
            <a:spLocks noGrp="1"/>
          </p:cNvSpPr>
          <p:nvPr>
            <p:ph sz="half" idx="2"/>
          </p:nvPr>
        </p:nvSpPr>
        <p:spPr>
          <a:xfrm>
            <a:off x="6172200" y="1825624"/>
            <a:ext cx="5181600" cy="5032375"/>
          </a:xfrm>
        </p:spPr>
        <p:txBody>
          <a:bodyPr>
            <a:normAutofit lnSpcReduction="10000"/>
          </a:bodyPr>
          <a:lstStyle/>
          <a:p>
            <a:r>
              <a:rPr lang="en-GB" dirty="0"/>
              <a:t>When the network is in </a:t>
            </a:r>
            <a:r>
              <a:rPr lang="en-GB" b="1" dirty="0"/>
              <a:t>evaluation</a:t>
            </a:r>
            <a:r>
              <a:rPr lang="en-GB" dirty="0"/>
              <a:t> </a:t>
            </a:r>
            <a:r>
              <a:rPr lang="en-GB" b="1" dirty="0"/>
              <a:t>mode</a:t>
            </a:r>
            <a:r>
              <a:rPr lang="en-GB" dirty="0"/>
              <a:t>, the batch normalization layer </a:t>
            </a:r>
            <a:r>
              <a:rPr lang="en-GB" b="1" dirty="0"/>
              <a:t>uses the mean and variance estimates previously calculated during training to normalize the activations</a:t>
            </a:r>
            <a:r>
              <a:rPr lang="en-GB" dirty="0"/>
              <a:t>.</a:t>
            </a:r>
            <a:br>
              <a:rPr lang="en-GB" dirty="0"/>
            </a:br>
            <a:br>
              <a:rPr lang="en-GB" dirty="0"/>
            </a:br>
            <a:r>
              <a:rPr lang="en-GB" dirty="0"/>
              <a:t>This ensures that the activations are normalized in the same way during training and evaluation.</a:t>
            </a:r>
          </a:p>
          <a:p>
            <a:endParaRPr lang="en-SG" dirty="0"/>
          </a:p>
        </p:txBody>
      </p:sp>
    </p:spTree>
    <p:extLst>
      <p:ext uri="{BB962C8B-B14F-4D97-AF65-F5344CB8AC3E}">
        <p14:creationId xmlns:p14="http://schemas.microsoft.com/office/powerpoint/2010/main" val="15160848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199" y="1825625"/>
            <a:ext cx="10694437" cy="4351338"/>
          </a:xfrm>
        </p:spPr>
        <p:txBody>
          <a:bodyPr/>
          <a:lstStyle/>
          <a:p>
            <a:pPr marL="0" indent="0">
              <a:buNone/>
            </a:pPr>
            <a:r>
              <a:rPr lang="en-GB" dirty="0"/>
              <a:t>Let us first define </a:t>
            </a:r>
            <a:r>
              <a:rPr lang="en-GB" dirty="0" err="1"/>
              <a:t>BatchNorm</a:t>
            </a:r>
            <a:r>
              <a:rPr lang="en-GB" dirty="0"/>
              <a:t>, dropout and </a:t>
            </a:r>
            <a:r>
              <a:rPr lang="en-GB" dirty="0" err="1"/>
              <a:t>MaxPool</a:t>
            </a:r>
            <a:r>
              <a:rPr lang="en-GB" dirty="0"/>
              <a:t> layers in __</a:t>
            </a:r>
            <a:r>
              <a:rPr lang="en-GB" dirty="0" err="1"/>
              <a:t>init</a:t>
            </a:r>
            <a:r>
              <a:rPr lang="en-GB" dirty="0"/>
              <a:t>__.</a:t>
            </a:r>
          </a:p>
          <a:p>
            <a:pPr marL="0" indent="0">
              <a:buNone/>
            </a:pPr>
            <a:r>
              <a:rPr lang="en-GB" dirty="0"/>
              <a:t>Arbitrarily fixing the dropout probabilities (should be hyperparameter?).</a:t>
            </a:r>
            <a:endParaRPr lang="en-SG" dirty="0"/>
          </a:p>
        </p:txBody>
      </p:sp>
      <p:pic>
        <p:nvPicPr>
          <p:cNvPr id="9" name="Picture 8">
            <a:extLst>
              <a:ext uri="{FF2B5EF4-FFF2-40B4-BE49-F238E27FC236}">
                <a16:creationId xmlns:a16="http://schemas.microsoft.com/office/drawing/2014/main" id="{71683B4A-4342-174A-AB1E-88B9946AB02A}"/>
              </a:ext>
            </a:extLst>
          </p:cNvPr>
          <p:cNvPicPr>
            <a:picLocks noChangeAspect="1"/>
          </p:cNvPicPr>
          <p:nvPr/>
        </p:nvPicPr>
        <p:blipFill>
          <a:blip r:embed="rId2"/>
          <a:stretch>
            <a:fillRect/>
          </a:stretch>
        </p:blipFill>
        <p:spPr>
          <a:xfrm>
            <a:off x="2190205" y="2990310"/>
            <a:ext cx="7811590" cy="3867690"/>
          </a:xfrm>
          <a:prstGeom prst="rect">
            <a:avLst/>
          </a:prstGeom>
        </p:spPr>
      </p:pic>
    </p:spTree>
    <p:extLst>
      <p:ext uri="{BB962C8B-B14F-4D97-AF65-F5344CB8AC3E}">
        <p14:creationId xmlns:p14="http://schemas.microsoft.com/office/powerpoint/2010/main" val="39438503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200" y="1825624"/>
            <a:ext cx="3313922" cy="5032375"/>
          </a:xfrm>
        </p:spPr>
        <p:txBody>
          <a:bodyPr>
            <a:normAutofit/>
          </a:bodyPr>
          <a:lstStyle/>
          <a:p>
            <a:r>
              <a:rPr lang="en-GB" dirty="0"/>
              <a:t>Using each layer in correct sequence of the forward() method.</a:t>
            </a:r>
          </a:p>
          <a:p>
            <a:r>
              <a:rPr lang="en-GB" dirty="0"/>
              <a:t>Also, one </a:t>
            </a:r>
            <a:r>
              <a:rPr lang="en-GB" dirty="0" err="1"/>
              <a:t>MaxPool</a:t>
            </a:r>
            <a:r>
              <a:rPr lang="en-GB" dirty="0"/>
              <a:t> layer after last Conv2d.</a:t>
            </a:r>
          </a:p>
          <a:p>
            <a:r>
              <a:rPr lang="en-GB" dirty="0"/>
              <a:t>Note: 64*14*14 instead of the previous 64*28*28 in Flatten due to </a:t>
            </a:r>
            <a:r>
              <a:rPr lang="en-GB" dirty="0" err="1"/>
              <a:t>MaxPool</a:t>
            </a:r>
            <a:r>
              <a:rPr lang="en-GB" dirty="0"/>
              <a:t>.</a:t>
            </a:r>
            <a:endParaRPr lang="en-SG" dirty="0"/>
          </a:p>
        </p:txBody>
      </p:sp>
      <p:pic>
        <p:nvPicPr>
          <p:cNvPr id="8" name="Picture 7">
            <a:extLst>
              <a:ext uri="{FF2B5EF4-FFF2-40B4-BE49-F238E27FC236}">
                <a16:creationId xmlns:a16="http://schemas.microsoft.com/office/drawing/2014/main" id="{C2AA7A77-4EC2-8245-7851-68E0CAFCB265}"/>
              </a:ext>
            </a:extLst>
          </p:cNvPr>
          <p:cNvPicPr>
            <a:picLocks noChangeAspect="1"/>
          </p:cNvPicPr>
          <p:nvPr/>
        </p:nvPicPr>
        <p:blipFill>
          <a:blip r:embed="rId2"/>
          <a:stretch>
            <a:fillRect/>
          </a:stretch>
        </p:blipFill>
        <p:spPr>
          <a:xfrm>
            <a:off x="4343357" y="1690688"/>
            <a:ext cx="7573432" cy="4582164"/>
          </a:xfrm>
          <a:prstGeom prst="rect">
            <a:avLst/>
          </a:prstGeom>
        </p:spPr>
      </p:pic>
    </p:spTree>
    <p:extLst>
      <p:ext uri="{BB962C8B-B14F-4D97-AF65-F5344CB8AC3E}">
        <p14:creationId xmlns:p14="http://schemas.microsoft.com/office/powerpoint/2010/main" val="42694706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pic>
        <p:nvPicPr>
          <p:cNvPr id="6" name="Picture 5">
            <a:extLst>
              <a:ext uri="{FF2B5EF4-FFF2-40B4-BE49-F238E27FC236}">
                <a16:creationId xmlns:a16="http://schemas.microsoft.com/office/drawing/2014/main" id="{1C6E88CD-6681-F70E-7816-03838B8DC273}"/>
              </a:ext>
            </a:extLst>
          </p:cNvPr>
          <p:cNvPicPr>
            <a:picLocks noChangeAspect="1"/>
          </p:cNvPicPr>
          <p:nvPr/>
        </p:nvPicPr>
        <p:blipFill>
          <a:blip r:embed="rId2"/>
          <a:stretch>
            <a:fillRect/>
          </a:stretch>
        </p:blipFill>
        <p:spPr>
          <a:xfrm>
            <a:off x="1301943" y="1564455"/>
            <a:ext cx="9588114" cy="5293545"/>
          </a:xfrm>
          <a:prstGeom prst="rect">
            <a:avLst/>
          </a:prstGeom>
        </p:spPr>
      </p:pic>
    </p:spTree>
    <p:extLst>
      <p:ext uri="{BB962C8B-B14F-4D97-AF65-F5344CB8AC3E}">
        <p14:creationId xmlns:p14="http://schemas.microsoft.com/office/powerpoint/2010/main" val="4011344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20A25-8EDB-722F-3B1B-6D6AFF11C334}"/>
              </a:ext>
            </a:extLst>
          </p:cNvPr>
          <p:cNvSpPr>
            <a:spLocks noGrp="1"/>
          </p:cNvSpPr>
          <p:nvPr>
            <p:ph type="title"/>
          </p:nvPr>
        </p:nvSpPr>
        <p:spPr/>
        <p:txBody>
          <a:bodyPr/>
          <a:lstStyle/>
          <a:p>
            <a:r>
              <a:rPr lang="en-GB" dirty="0"/>
              <a:t>A final note</a:t>
            </a:r>
            <a:endParaRPr lang="en-SG" dirty="0"/>
          </a:p>
        </p:txBody>
      </p:sp>
      <p:sp>
        <p:nvSpPr>
          <p:cNvPr id="3" name="Content Placeholder 2">
            <a:extLst>
              <a:ext uri="{FF2B5EF4-FFF2-40B4-BE49-F238E27FC236}">
                <a16:creationId xmlns:a16="http://schemas.microsoft.com/office/drawing/2014/main" id="{A0FBECCB-32B1-3CF0-906B-6B0252C87D40}"/>
              </a:ext>
            </a:extLst>
          </p:cNvPr>
          <p:cNvSpPr>
            <a:spLocks noGrp="1"/>
          </p:cNvSpPr>
          <p:nvPr>
            <p:ph idx="1"/>
          </p:nvPr>
        </p:nvSpPr>
        <p:spPr/>
        <p:txBody>
          <a:bodyPr/>
          <a:lstStyle/>
          <a:p>
            <a:pPr marL="0" indent="0">
              <a:buNone/>
            </a:pPr>
            <a:r>
              <a:rPr lang="en-GB" dirty="0"/>
              <a:t>The Dropout, </a:t>
            </a:r>
            <a:r>
              <a:rPr lang="en-GB" dirty="0" err="1"/>
              <a:t>BatchNorm</a:t>
            </a:r>
            <a:r>
              <a:rPr lang="en-GB" dirty="0"/>
              <a:t> and Pooling layers have been introduced in the Computer Vision field.</a:t>
            </a:r>
          </a:p>
          <a:p>
            <a:pPr marL="0" indent="0">
              <a:buNone/>
            </a:pPr>
            <a:endParaRPr lang="en-GB" dirty="0"/>
          </a:p>
          <a:p>
            <a:pPr marL="0" indent="0">
              <a:buNone/>
            </a:pPr>
            <a:r>
              <a:rPr lang="en-GB" dirty="0"/>
              <a:t>However, these days, every other field of Deep Learning (e.g. Natural Language Processing) is reusing them in their own models.</a:t>
            </a:r>
          </a:p>
          <a:p>
            <a:pPr marL="0" indent="0">
              <a:buNone/>
            </a:pPr>
            <a:endParaRPr lang="en-SG" dirty="0"/>
          </a:p>
          <a:p>
            <a:pPr marL="0" indent="0">
              <a:buNone/>
            </a:pPr>
            <a:r>
              <a:rPr lang="en-SG" b="1" dirty="0"/>
              <a:t>Important lesson: </a:t>
            </a:r>
            <a:r>
              <a:rPr lang="en-SG" dirty="0"/>
              <a:t>you might not necessarily be interested in Computer Vision, but you should still consider learning about it, as many intuitions and tools could be reused in other problems.</a:t>
            </a:r>
            <a:endParaRPr lang="en-GB" dirty="0"/>
          </a:p>
        </p:txBody>
      </p:sp>
    </p:spTree>
    <p:extLst>
      <p:ext uri="{BB962C8B-B14F-4D97-AF65-F5344CB8AC3E}">
        <p14:creationId xmlns:p14="http://schemas.microsoft.com/office/powerpoint/2010/main" val="25403007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a break for now</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We will continue on the next lecture with a discussion about Fundamental Computer Vision Models and the important insights </a:t>
            </a:r>
            <a:r>
              <a:rPr lang="en-GB"/>
              <a:t>they brought</a:t>
            </a:r>
            <a:endParaRPr lang="en-GB" i="1" dirty="0"/>
          </a:p>
        </p:txBody>
      </p:sp>
    </p:spTree>
    <p:extLst>
      <p:ext uri="{BB962C8B-B14F-4D97-AF65-F5344CB8AC3E}">
        <p14:creationId xmlns:p14="http://schemas.microsoft.com/office/powerpoint/2010/main" val="42728362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US" dirty="0"/>
              <a:t>[LeCun1998] </a:t>
            </a:r>
            <a:r>
              <a:rPr lang="en-GB" dirty="0"/>
              <a:t>Y. </a:t>
            </a:r>
            <a:r>
              <a:rPr lang="en-GB" b="1" dirty="0" err="1">
                <a:solidFill>
                  <a:schemeClr val="accent2">
                    <a:lumMod val="50000"/>
                  </a:schemeClr>
                </a:solidFill>
              </a:rPr>
              <a:t>LeCun</a:t>
            </a:r>
            <a:r>
              <a:rPr lang="en-GB" dirty="0"/>
              <a:t>, L. </a:t>
            </a:r>
            <a:r>
              <a:rPr lang="en-GB" b="1" dirty="0" err="1">
                <a:solidFill>
                  <a:schemeClr val="accent2">
                    <a:lumMod val="50000"/>
                  </a:schemeClr>
                </a:solidFill>
              </a:rPr>
              <a:t>Bottou</a:t>
            </a:r>
            <a:r>
              <a:rPr lang="en-GB" dirty="0"/>
              <a:t>, Y. </a:t>
            </a:r>
            <a:r>
              <a:rPr lang="en-GB" b="1" dirty="0" err="1">
                <a:solidFill>
                  <a:schemeClr val="accent2">
                    <a:lumMod val="50000"/>
                  </a:schemeClr>
                </a:solidFill>
              </a:rPr>
              <a:t>Bengio</a:t>
            </a:r>
            <a:r>
              <a:rPr lang="en-GB" dirty="0"/>
              <a:t>, and P. </a:t>
            </a:r>
            <a:r>
              <a:rPr lang="en-GB" b="1" dirty="0">
                <a:solidFill>
                  <a:schemeClr val="accent2">
                    <a:lumMod val="50000"/>
                  </a:schemeClr>
                </a:solidFill>
              </a:rPr>
              <a:t>Haffner</a:t>
            </a:r>
            <a:r>
              <a:rPr lang="en-GB" dirty="0"/>
              <a:t>, “Gradient-Based Learning Applied to Document Recognition”, 1998.</a:t>
            </a:r>
          </a:p>
          <a:p>
            <a:r>
              <a:rPr lang="en-SG" dirty="0"/>
              <a:t>[Srivastava2014] N. </a:t>
            </a:r>
            <a:r>
              <a:rPr lang="en-SG" b="1" dirty="0">
                <a:solidFill>
                  <a:schemeClr val="accent2">
                    <a:lumMod val="50000"/>
                  </a:schemeClr>
                </a:solidFill>
              </a:rPr>
              <a:t>Srivastava</a:t>
            </a:r>
            <a:r>
              <a:rPr lang="en-SG" dirty="0"/>
              <a:t>, G. </a:t>
            </a:r>
            <a:r>
              <a:rPr lang="en-SG" b="1" dirty="0">
                <a:solidFill>
                  <a:schemeClr val="accent2">
                    <a:lumMod val="50000"/>
                  </a:schemeClr>
                </a:solidFill>
              </a:rPr>
              <a:t>Hinton</a:t>
            </a:r>
            <a:r>
              <a:rPr lang="en-SG" dirty="0"/>
              <a:t>, A. </a:t>
            </a:r>
            <a:r>
              <a:rPr lang="en-SG" b="1" dirty="0" err="1">
                <a:solidFill>
                  <a:schemeClr val="accent2">
                    <a:lumMod val="50000"/>
                  </a:schemeClr>
                </a:solidFill>
              </a:rPr>
              <a:t>Krizhevsky</a:t>
            </a:r>
            <a:r>
              <a:rPr lang="en-SG" dirty="0"/>
              <a:t>, I. </a:t>
            </a:r>
            <a:r>
              <a:rPr lang="en-SG" b="1" dirty="0" err="1">
                <a:solidFill>
                  <a:schemeClr val="accent2">
                    <a:lumMod val="50000"/>
                  </a:schemeClr>
                </a:solidFill>
              </a:rPr>
              <a:t>Sutskever</a:t>
            </a:r>
            <a:r>
              <a:rPr lang="en-SG" dirty="0"/>
              <a:t>, and R. </a:t>
            </a:r>
            <a:r>
              <a:rPr lang="en-SG" b="1" dirty="0" err="1">
                <a:solidFill>
                  <a:schemeClr val="accent2">
                    <a:lumMod val="50000"/>
                  </a:schemeClr>
                </a:solidFill>
              </a:rPr>
              <a:t>Salakhutdinov</a:t>
            </a:r>
            <a:r>
              <a:rPr lang="en-SG" dirty="0"/>
              <a:t>, “Dropout: A Simple Way to Prevent Neural Networks from Overfitting”, 2014.</a:t>
            </a:r>
          </a:p>
          <a:p>
            <a:r>
              <a:rPr lang="en-GB" dirty="0"/>
              <a:t>[Ioffe2015] S. </a:t>
            </a:r>
            <a:r>
              <a:rPr lang="en-GB" b="1" dirty="0" err="1">
                <a:solidFill>
                  <a:schemeClr val="accent2">
                    <a:lumMod val="50000"/>
                  </a:schemeClr>
                </a:solidFill>
              </a:rPr>
              <a:t>Ioffe</a:t>
            </a:r>
            <a:r>
              <a:rPr lang="en-GB" dirty="0"/>
              <a:t> and C. </a:t>
            </a:r>
            <a:r>
              <a:rPr lang="en-GB" b="1" dirty="0" err="1">
                <a:solidFill>
                  <a:schemeClr val="accent2">
                    <a:lumMod val="50000"/>
                  </a:schemeClr>
                </a:solidFill>
              </a:rPr>
              <a:t>Szegedy</a:t>
            </a:r>
            <a:r>
              <a:rPr lang="en-GB" dirty="0"/>
              <a:t>, “Batch Normalization: Accelerating Deep Network Training by Reducing Internal Covariate Shift”, 2015.</a:t>
            </a:r>
          </a:p>
          <a:p>
            <a:endParaRPr lang="en-GB" dirty="0"/>
          </a:p>
        </p:txBody>
      </p:sp>
    </p:spTree>
    <p:extLst>
      <p:ext uri="{BB962C8B-B14F-4D97-AF65-F5344CB8AC3E}">
        <p14:creationId xmlns:p14="http://schemas.microsoft.com/office/powerpoint/2010/main" val="388094907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SG" b="1" dirty="0"/>
              <a:t>Nitish </a:t>
            </a:r>
            <a:r>
              <a:rPr lang="en-SG" b="1" dirty="0">
                <a:solidFill>
                  <a:schemeClr val="accent2">
                    <a:lumMod val="50000"/>
                  </a:schemeClr>
                </a:solidFill>
              </a:rPr>
              <a:t>Srivastava</a:t>
            </a:r>
            <a:r>
              <a:rPr lang="en-SG" b="1" dirty="0"/>
              <a:t>: Researcher</a:t>
            </a:r>
            <a:r>
              <a:rPr lang="en-SG" dirty="0"/>
              <a:t> at </a:t>
            </a:r>
            <a:r>
              <a:rPr lang="en-SG" b="1" dirty="0"/>
              <a:t>Google</a:t>
            </a:r>
            <a:r>
              <a:rPr lang="en-SG" dirty="0"/>
              <a:t>.</a:t>
            </a:r>
            <a:br>
              <a:rPr lang="en-SG" dirty="0"/>
            </a:br>
            <a:r>
              <a:rPr lang="en-SG" dirty="0">
                <a:hlinkClick r:id="rId2"/>
              </a:rPr>
              <a:t>https://scholar.google.com/citations?user=s1PgoeUAAAAJ&amp;hl=fr</a:t>
            </a:r>
            <a:br>
              <a:rPr lang="en-SG" dirty="0"/>
            </a:br>
            <a:r>
              <a:rPr lang="en-SG" dirty="0">
                <a:hlinkClick r:id="rId3"/>
              </a:rPr>
              <a:t>https://nitish2112.github.io/</a:t>
            </a:r>
            <a:endParaRPr lang="en-SG" dirty="0"/>
          </a:p>
          <a:p>
            <a:r>
              <a:rPr lang="en-SG" b="1" dirty="0"/>
              <a:t>Alex </a:t>
            </a:r>
            <a:r>
              <a:rPr lang="en-SG" b="1" dirty="0" err="1">
                <a:solidFill>
                  <a:schemeClr val="accent2">
                    <a:lumMod val="50000"/>
                  </a:schemeClr>
                </a:solidFill>
              </a:rPr>
              <a:t>Krizhevsky</a:t>
            </a:r>
            <a:r>
              <a:rPr lang="en-SG" b="1" dirty="0"/>
              <a:t>: Former researcher</a:t>
            </a:r>
            <a:r>
              <a:rPr lang="en-SG" dirty="0"/>
              <a:t> at </a:t>
            </a:r>
            <a:r>
              <a:rPr lang="en-SG" b="1" dirty="0"/>
              <a:t>Google</a:t>
            </a:r>
            <a:r>
              <a:rPr lang="en-SG" dirty="0"/>
              <a:t>. Now works for a company called </a:t>
            </a:r>
            <a:r>
              <a:rPr lang="en-SG" b="1" dirty="0"/>
              <a:t>Dessa</a:t>
            </a:r>
            <a:r>
              <a:rPr lang="en-SG" dirty="0"/>
              <a:t>, and </a:t>
            </a:r>
            <a:r>
              <a:rPr lang="en-SG" b="1" dirty="0"/>
              <a:t>University</a:t>
            </a:r>
            <a:r>
              <a:rPr lang="en-SG" dirty="0"/>
              <a:t> </a:t>
            </a:r>
            <a:r>
              <a:rPr lang="en-SG" b="1" dirty="0"/>
              <a:t>of</a:t>
            </a:r>
            <a:r>
              <a:rPr lang="en-SG" dirty="0"/>
              <a:t> </a:t>
            </a:r>
            <a:r>
              <a:rPr lang="en-SG" b="1" dirty="0"/>
              <a:t>Toronto</a:t>
            </a:r>
            <a:r>
              <a:rPr lang="en-SG" dirty="0"/>
              <a:t>.</a:t>
            </a:r>
            <a:br>
              <a:rPr lang="en-SG" dirty="0"/>
            </a:br>
            <a:r>
              <a:rPr lang="en-SG" dirty="0">
                <a:hlinkClick r:id="rId4"/>
              </a:rPr>
              <a:t>https://scholar.google.com/citations?user=xegzhJcAAAAJ&amp;hl=fr</a:t>
            </a:r>
            <a:endParaRPr lang="en-SG" dirty="0"/>
          </a:p>
        </p:txBody>
      </p:sp>
    </p:spTree>
    <p:extLst>
      <p:ext uri="{BB962C8B-B14F-4D97-AF65-F5344CB8AC3E}">
        <p14:creationId xmlns:p14="http://schemas.microsoft.com/office/powerpoint/2010/main" val="5486172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SG" b="1" dirty="0"/>
              <a:t>Ilya </a:t>
            </a:r>
            <a:r>
              <a:rPr lang="en-SG" b="1" dirty="0" err="1">
                <a:solidFill>
                  <a:schemeClr val="accent2">
                    <a:lumMod val="50000"/>
                  </a:schemeClr>
                </a:solidFill>
              </a:rPr>
              <a:t>Sutskever</a:t>
            </a:r>
            <a:r>
              <a:rPr lang="en-SG" b="1" dirty="0"/>
              <a:t>:</a:t>
            </a:r>
            <a:r>
              <a:rPr lang="en-SG" dirty="0"/>
              <a:t> </a:t>
            </a:r>
            <a:r>
              <a:rPr lang="en-SG" b="1" dirty="0"/>
              <a:t>Co-founder</a:t>
            </a:r>
            <a:r>
              <a:rPr lang="en-SG" dirty="0"/>
              <a:t> and </a:t>
            </a:r>
            <a:r>
              <a:rPr lang="en-SG" b="1" dirty="0"/>
              <a:t>Chief</a:t>
            </a:r>
            <a:r>
              <a:rPr lang="en-SG" dirty="0"/>
              <a:t> </a:t>
            </a:r>
            <a:r>
              <a:rPr lang="en-SG" b="1" dirty="0"/>
              <a:t>Scientist</a:t>
            </a:r>
            <a:r>
              <a:rPr lang="en-SG" dirty="0"/>
              <a:t> at </a:t>
            </a:r>
            <a:r>
              <a:rPr lang="en-SG" b="1" dirty="0" err="1">
                <a:solidFill>
                  <a:schemeClr val="accent2">
                    <a:lumMod val="50000"/>
                  </a:schemeClr>
                </a:solidFill>
              </a:rPr>
              <a:t>OpenAI</a:t>
            </a:r>
            <a:r>
              <a:rPr lang="en-SG" dirty="0"/>
              <a:t>.</a:t>
            </a:r>
            <a:br>
              <a:rPr lang="en-SG" dirty="0"/>
            </a:br>
            <a:r>
              <a:rPr lang="en-SG" dirty="0">
                <a:hlinkClick r:id="rId2"/>
              </a:rPr>
              <a:t>https://scholar.google.com/citations?user=x04W_mMAAAAJ&amp;hl=en</a:t>
            </a:r>
            <a:r>
              <a:rPr lang="en-SG" dirty="0"/>
              <a:t> </a:t>
            </a:r>
            <a:br>
              <a:rPr lang="en-SG" dirty="0"/>
            </a:br>
            <a:r>
              <a:rPr lang="en-SG" dirty="0">
                <a:hlinkClick r:id="rId3"/>
              </a:rPr>
              <a:t>https://www.cs.toronto.edu/~ilya/</a:t>
            </a:r>
            <a:endParaRPr lang="en-SG" dirty="0"/>
          </a:p>
          <a:p>
            <a:r>
              <a:rPr lang="en-SG" b="1" dirty="0"/>
              <a:t>Ruslan </a:t>
            </a:r>
            <a:r>
              <a:rPr lang="en-SG" b="1" dirty="0" err="1">
                <a:solidFill>
                  <a:schemeClr val="accent2">
                    <a:lumMod val="50000"/>
                  </a:schemeClr>
                </a:solidFill>
              </a:rPr>
              <a:t>Salakhutdinov</a:t>
            </a:r>
            <a:r>
              <a:rPr lang="en-SG" b="1" dirty="0"/>
              <a:t>: Professor</a:t>
            </a:r>
            <a:r>
              <a:rPr lang="en-SG" dirty="0"/>
              <a:t> at </a:t>
            </a:r>
            <a:r>
              <a:rPr lang="en-SG" b="1" dirty="0"/>
              <a:t>Carnegie Mellon University</a:t>
            </a:r>
            <a:r>
              <a:rPr lang="en-SG" dirty="0"/>
              <a:t>.</a:t>
            </a:r>
            <a:br>
              <a:rPr lang="en-SG" dirty="0"/>
            </a:br>
            <a:r>
              <a:rPr lang="en-SG" dirty="0">
                <a:hlinkClick r:id="rId4"/>
              </a:rPr>
              <a:t>https://scholar.google.co.uk/citations?user=ITZ1e7MAAAAJ&amp;hl=en</a:t>
            </a:r>
            <a:br>
              <a:rPr lang="en-SG" dirty="0"/>
            </a:br>
            <a:r>
              <a:rPr lang="en-SG" dirty="0">
                <a:hlinkClick r:id="rId5"/>
              </a:rPr>
              <a:t>https://www.cs.cmu.edu/~rsalakhu/</a:t>
            </a:r>
            <a:endParaRPr lang="en-SG" dirty="0"/>
          </a:p>
          <a:p>
            <a:endParaRPr lang="en-SG" dirty="0"/>
          </a:p>
        </p:txBody>
      </p:sp>
    </p:spTree>
    <p:extLst>
      <p:ext uri="{BB962C8B-B14F-4D97-AF65-F5344CB8AC3E}">
        <p14:creationId xmlns:p14="http://schemas.microsoft.com/office/powerpoint/2010/main" val="11656885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Sergey </a:t>
            </a:r>
            <a:r>
              <a:rPr lang="en-GB" b="1" dirty="0" err="1">
                <a:solidFill>
                  <a:schemeClr val="accent2">
                    <a:lumMod val="50000"/>
                  </a:schemeClr>
                </a:solidFill>
              </a:rPr>
              <a:t>Ioffe</a:t>
            </a:r>
            <a:r>
              <a:rPr lang="en-GB" b="1" dirty="0"/>
              <a:t>: Researcher</a:t>
            </a:r>
            <a:r>
              <a:rPr lang="en-GB" dirty="0"/>
              <a:t> at </a:t>
            </a:r>
            <a:r>
              <a:rPr lang="en-GB" b="1" dirty="0">
                <a:solidFill>
                  <a:schemeClr val="accent2">
                    <a:lumMod val="50000"/>
                  </a:schemeClr>
                </a:solidFill>
              </a:rPr>
              <a:t>Google</a:t>
            </a:r>
            <a:r>
              <a:rPr lang="en-GB" dirty="0"/>
              <a:t> </a:t>
            </a:r>
            <a:r>
              <a:rPr lang="en-GB" b="1" dirty="0">
                <a:solidFill>
                  <a:schemeClr val="accent2">
                    <a:lumMod val="50000"/>
                  </a:schemeClr>
                </a:solidFill>
              </a:rPr>
              <a:t>Brain</a:t>
            </a:r>
            <a:r>
              <a:rPr lang="en-GB" dirty="0"/>
              <a:t>.</a:t>
            </a:r>
            <a:br>
              <a:rPr lang="en-GB" dirty="0"/>
            </a:br>
            <a:r>
              <a:rPr lang="en-GB" dirty="0">
                <a:hlinkClick r:id="rId2"/>
              </a:rPr>
              <a:t>https://scholar.google.com/citations?user=3QeF7mAAAAAJ&amp;hl=en</a:t>
            </a:r>
            <a:br>
              <a:rPr lang="en-GB" dirty="0"/>
            </a:br>
            <a:r>
              <a:rPr lang="en-GB" dirty="0">
                <a:hlinkClick r:id="rId3"/>
              </a:rPr>
              <a:t>https://research.google/people/ChristianSzegedy</a:t>
            </a:r>
            <a:r>
              <a:rPr lang="en-GB" dirty="0"/>
              <a:t> </a:t>
            </a:r>
          </a:p>
          <a:p>
            <a:r>
              <a:rPr lang="en-GB" b="1" dirty="0"/>
              <a:t>Christian</a:t>
            </a:r>
            <a:r>
              <a:rPr lang="en-GB" dirty="0"/>
              <a:t> </a:t>
            </a:r>
            <a:r>
              <a:rPr lang="en-GB" b="1" dirty="0" err="1">
                <a:solidFill>
                  <a:schemeClr val="accent2">
                    <a:lumMod val="50000"/>
                  </a:schemeClr>
                </a:solidFill>
              </a:rPr>
              <a:t>Szegedy</a:t>
            </a:r>
            <a:r>
              <a:rPr lang="en-GB" b="1" dirty="0"/>
              <a:t>:</a:t>
            </a:r>
            <a:r>
              <a:rPr lang="en-GB" dirty="0"/>
              <a:t> </a:t>
            </a:r>
            <a:r>
              <a:rPr lang="en-GB" b="1" dirty="0"/>
              <a:t>Researcher</a:t>
            </a:r>
            <a:r>
              <a:rPr lang="en-GB" dirty="0"/>
              <a:t> at </a:t>
            </a:r>
            <a:r>
              <a:rPr lang="en-GB" b="1" dirty="0">
                <a:solidFill>
                  <a:schemeClr val="accent2">
                    <a:lumMod val="50000"/>
                  </a:schemeClr>
                </a:solidFill>
              </a:rPr>
              <a:t>Google</a:t>
            </a:r>
            <a:r>
              <a:rPr lang="en-GB" dirty="0"/>
              <a:t> </a:t>
            </a:r>
            <a:r>
              <a:rPr lang="en-GB" b="1" dirty="0">
                <a:solidFill>
                  <a:schemeClr val="accent2">
                    <a:lumMod val="50000"/>
                  </a:schemeClr>
                </a:solidFill>
              </a:rPr>
              <a:t>Brain</a:t>
            </a:r>
            <a:r>
              <a:rPr lang="en-GB" dirty="0"/>
              <a:t>.</a:t>
            </a:r>
            <a:br>
              <a:rPr lang="en-GB" dirty="0"/>
            </a:br>
            <a:r>
              <a:rPr lang="en-GB" dirty="0">
                <a:hlinkClick r:id="rId4"/>
              </a:rPr>
              <a:t>https://scholar.google.com/citations?user=S5zOyIkAAAAJ&amp;hl=en</a:t>
            </a:r>
            <a:br>
              <a:rPr lang="en-GB" dirty="0"/>
            </a:br>
            <a:r>
              <a:rPr lang="en-GB" dirty="0">
                <a:hlinkClick r:id="rId5"/>
              </a:rPr>
              <a:t>https://research.google/people/SergeyIoffe/</a:t>
            </a:r>
            <a:endParaRPr lang="en-GB" dirty="0"/>
          </a:p>
          <a:p>
            <a:endParaRPr lang="en-SG" dirty="0"/>
          </a:p>
        </p:txBody>
      </p:sp>
    </p:spTree>
    <p:extLst>
      <p:ext uri="{BB962C8B-B14F-4D97-AF65-F5344CB8AC3E}">
        <p14:creationId xmlns:p14="http://schemas.microsoft.com/office/powerpoint/2010/main" val="5808507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extra reading, for those of you who are curious.</a:t>
            </a:r>
          </a:p>
          <a:p>
            <a:r>
              <a:rPr lang="en-GB" dirty="0"/>
              <a:t>[TDS20] “Gentle Dive into Math Behind Convolutional Neural Networks“, on Towards </a:t>
            </a:r>
            <a:r>
              <a:rPr lang="en-GB"/>
              <a:t>Data Science, 2019.</a:t>
            </a:r>
            <a:br>
              <a:rPr lang="en-GB" dirty="0"/>
            </a:br>
            <a:r>
              <a:rPr lang="en-GB" dirty="0"/>
              <a:t>A good article with great visuals to better understand convolution.</a:t>
            </a:r>
            <a:br>
              <a:rPr lang="en-GB" dirty="0"/>
            </a:br>
            <a:r>
              <a:rPr lang="en-GB" dirty="0">
                <a:hlinkClick r:id="rId2"/>
              </a:rPr>
              <a:t>https://towardsdatascience.com/gentle-dive-into-math-behind-convolutional-neural-networks-79a07dd44cf9</a:t>
            </a:r>
            <a:endParaRPr lang="en-GB" dirty="0"/>
          </a:p>
          <a:p>
            <a:pPr marL="0" indent="0">
              <a:buNone/>
            </a:pPr>
            <a:endParaRPr lang="en-GB" dirty="0"/>
          </a:p>
        </p:txBody>
      </p:sp>
    </p:spTree>
    <p:extLst>
      <p:ext uri="{BB962C8B-B14F-4D97-AF65-F5344CB8AC3E}">
        <p14:creationId xmlns:p14="http://schemas.microsoft.com/office/powerpoint/2010/main" val="37008360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2547</TotalTime>
  <Words>3775</Words>
  <Application>Microsoft Office PowerPoint</Application>
  <PresentationFormat>Widescreen</PresentationFormat>
  <Paragraphs>491</Paragraphs>
  <Slides>60</Slides>
  <Notes>0</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60</vt:i4>
      </vt:variant>
    </vt:vector>
  </HeadingPairs>
  <TitlesOfParts>
    <vt:vector size="66" baseType="lpstr">
      <vt:lpstr>Arial</vt:lpstr>
      <vt:lpstr>Calibri</vt:lpstr>
      <vt:lpstr>Calibri Light</vt:lpstr>
      <vt:lpstr>Cambria Math</vt:lpstr>
      <vt:lpstr>Wingdings</vt:lpstr>
      <vt:lpstr>Office Theme</vt:lpstr>
      <vt:lpstr>Computer Vision in Python Day 1, Part 2/4</vt:lpstr>
      <vt:lpstr>About this lecture</vt:lpstr>
      <vt:lpstr>Implementing a custom Conv in PyTorch</vt:lpstr>
      <vt:lpstr>The Conv2d in PyTorch</vt:lpstr>
      <vt:lpstr>The Conv2d in PyTorch</vt:lpstr>
      <vt:lpstr>The Conv2d in PyTorch</vt:lpstr>
      <vt:lpstr>The Conv2d in PyTorch</vt:lpstr>
      <vt:lpstr>The Conv2d in PyTorch</vt:lpstr>
      <vt:lpstr>If we use the MNIST dataloader…</vt:lpstr>
      <vt:lpstr>If we use the MNIST dataloader…</vt:lpstr>
      <vt:lpstr>A quick word on higher dimensions</vt:lpstr>
      <vt:lpstr>Convolution on high dim</vt:lpstr>
      <vt:lpstr>Convolution on high dim</vt:lpstr>
      <vt:lpstr>A quick word on backprop</vt:lpstr>
      <vt:lpstr>How to backprop in Conv (annoying, but possible)</vt:lpstr>
      <vt:lpstr>How to backprop in Conv (annoying, but possible)</vt:lpstr>
      <vt:lpstr>Conv2d layer</vt:lpstr>
      <vt:lpstr>Convolution on high dim</vt:lpstr>
      <vt:lpstr>Chaining convolutions</vt:lpstr>
      <vt:lpstr>Chaining convolutions</vt:lpstr>
      <vt:lpstr>The core idea behind CNN</vt:lpstr>
      <vt:lpstr>Training a CNN</vt:lpstr>
      <vt:lpstr>Chaining convolutions</vt:lpstr>
      <vt:lpstr>Our first CNN on MNIST</vt:lpstr>
      <vt:lpstr>Our first CNN on MNIST</vt:lpstr>
      <vt:lpstr>Our first CNN on MNIST</vt:lpstr>
      <vt:lpstr>Our first CNN on MNIST</vt:lpstr>
      <vt:lpstr>Our first CNN on MNIST</vt:lpstr>
      <vt:lpstr>Our first CNN on MNIST</vt:lpstr>
      <vt:lpstr>Writing a trainer function for CNNs</vt:lpstr>
      <vt:lpstr>Trainer/Eval function (setup)</vt:lpstr>
      <vt:lpstr>Trainer/Eval function (training part)</vt:lpstr>
      <vt:lpstr>Trainer/Eval function (evaluation part)</vt:lpstr>
      <vt:lpstr>Trainer/Eval function (running)</vt:lpstr>
      <vt:lpstr>Trainer/Eval function (running)</vt:lpstr>
      <vt:lpstr>Congratulations, you just recreated what Yann LeCun did in 1989 when he created CNNs!</vt:lpstr>
      <vt:lpstr>Pooling layers</vt:lpstr>
      <vt:lpstr>Types of pooling layers</vt:lpstr>
      <vt:lpstr>Types of pooling layers</vt:lpstr>
      <vt:lpstr>PowerPoint Presentation</vt:lpstr>
      <vt:lpstr>Dropout layers</vt:lpstr>
      <vt:lpstr>Dropout layers</vt:lpstr>
      <vt:lpstr>Dropout layers</vt:lpstr>
      <vt:lpstr>Dropout layers</vt:lpstr>
      <vt:lpstr>PowerPoint Presentation</vt:lpstr>
      <vt:lpstr>Batchnorm layer</vt:lpstr>
      <vt:lpstr>Batchnorm layer</vt:lpstr>
      <vt:lpstr>Normalization in BatchNorm</vt:lpstr>
      <vt:lpstr>Normalization in BatchNorm</vt:lpstr>
      <vt:lpstr>About BatchNorm behaviours</vt:lpstr>
      <vt:lpstr>Implementing all layers in our CNN</vt:lpstr>
      <vt:lpstr>Implementing all layers in our CNN</vt:lpstr>
      <vt:lpstr>Implementing all layers in our CNN</vt:lpstr>
      <vt:lpstr>A final note</vt:lpstr>
      <vt:lpstr>Let us call it a break for now</vt:lpstr>
      <vt:lpstr>Learn more about these topics</vt:lpstr>
      <vt:lpstr>Learn more about these topics</vt:lpstr>
      <vt:lpstr>Learn more about these topics</vt:lpstr>
      <vt:lpstr>Learn more about these topics</vt:lpstr>
      <vt:lpstr>Learn more about these topics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109</cp:revision>
  <dcterms:created xsi:type="dcterms:W3CDTF">2021-03-10T09:35:15Z</dcterms:created>
  <dcterms:modified xsi:type="dcterms:W3CDTF">2026-04-10T02:47:09Z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