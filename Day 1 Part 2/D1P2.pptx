
<file path=[Content_Types].xml><?xml version="1.0" encoding="utf-8"?>
<Types xmlns="http://schemas.openxmlformats.org/package/2006/content-types">
  <Default Extension="gif" ContentType="image/gif"/>
  <Default Extension="jpeg" ContentType="image/jpeg"/>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changesInfos/changesInfo1.xml" ContentType="application/vnd.ms-powerpoint.changesinfo+xml"/>
  <Override PartName="/ppt/authors.xml" ContentType="application/vnd.ms-powerpoint.authors+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44"/>
  </p:notesMasterIdLst>
  <p:sldIdLst>
    <p:sldId id="377" r:id="rId2"/>
    <p:sldId id="257" r:id="rId3"/>
    <p:sldId id="474" r:id="rId4"/>
    <p:sldId id="478" r:id="rId5"/>
    <p:sldId id="476" r:id="rId6"/>
    <p:sldId id="477" r:id="rId7"/>
    <p:sldId id="479" r:id="rId8"/>
    <p:sldId id="480" r:id="rId9"/>
    <p:sldId id="482" r:id="rId10"/>
    <p:sldId id="483" r:id="rId11"/>
    <p:sldId id="484" r:id="rId12"/>
    <p:sldId id="485" r:id="rId13"/>
    <p:sldId id="486" r:id="rId14"/>
    <p:sldId id="487" r:id="rId15"/>
    <p:sldId id="488" r:id="rId16"/>
    <p:sldId id="489" r:id="rId17"/>
    <p:sldId id="539" r:id="rId18"/>
    <p:sldId id="536" r:id="rId19"/>
    <p:sldId id="490" r:id="rId20"/>
    <p:sldId id="491" r:id="rId21"/>
    <p:sldId id="492" r:id="rId22"/>
    <p:sldId id="493" r:id="rId23"/>
    <p:sldId id="494" r:id="rId24"/>
    <p:sldId id="411" r:id="rId25"/>
    <p:sldId id="495" r:id="rId26"/>
    <p:sldId id="496" r:id="rId27"/>
    <p:sldId id="497" r:id="rId28"/>
    <p:sldId id="498" r:id="rId29"/>
    <p:sldId id="499" r:id="rId30"/>
    <p:sldId id="500" r:id="rId31"/>
    <p:sldId id="537" r:id="rId32"/>
    <p:sldId id="501" r:id="rId33"/>
    <p:sldId id="502" r:id="rId34"/>
    <p:sldId id="412" r:id="rId35"/>
    <p:sldId id="508" r:id="rId36"/>
    <p:sldId id="503" r:id="rId37"/>
    <p:sldId id="504" r:id="rId38"/>
    <p:sldId id="506" r:id="rId39"/>
    <p:sldId id="538" r:id="rId40"/>
    <p:sldId id="505" r:id="rId41"/>
    <p:sldId id="535" r:id="rId42"/>
    <p:sldId id="548" r:id="rId43"/>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Title" id="{D6D3CB8D-C5FE-4F85-97E1-008DE64A5D47}">
          <p14:sldIdLst>
            <p14:sldId id="377"/>
          </p14:sldIdLst>
        </p14:section>
        <p14:section name="I.1. Introduction" id="{2FD0FF71-F5FC-4EB7-B2CB-B31E4CBECD79}">
          <p14:sldIdLst>
            <p14:sldId id="257"/>
          </p14:sldIdLst>
        </p14:section>
        <p14:section name="III.1. The polynomial regression problem" id="{4BDA5BE6-5576-43FF-9767-D2658405EACE}">
          <p14:sldIdLst>
            <p14:sldId id="474"/>
            <p14:sldId id="478"/>
            <p14:sldId id="476"/>
            <p14:sldId id="477"/>
            <p14:sldId id="479"/>
            <p14:sldId id="480"/>
            <p14:sldId id="482"/>
            <p14:sldId id="483"/>
            <p14:sldId id="484"/>
            <p14:sldId id="485"/>
          </p14:sldIdLst>
        </p14:section>
        <p14:section name="III.2. Polynomial degree vs. Overfitting" id="{5E89B948-797A-4A25-9F0B-DF21A2037136}">
          <p14:sldIdLst>
            <p14:sldId id="486"/>
            <p14:sldId id="487"/>
            <p14:sldId id="488"/>
            <p14:sldId id="489"/>
            <p14:sldId id="539"/>
            <p14:sldId id="536"/>
            <p14:sldId id="490"/>
            <p14:sldId id="491"/>
            <p14:sldId id="492"/>
            <p14:sldId id="493"/>
            <p14:sldId id="494"/>
          </p14:sldIdLst>
        </p14:section>
        <p14:section name="III.3. A quick note on train/test split and Overfitting" id="{A3201B08-EEB7-4000-AAC2-22F4F2EA82D3}">
          <p14:sldIdLst>
            <p14:sldId id="411"/>
            <p14:sldId id="495"/>
            <p14:sldId id="496"/>
            <p14:sldId id="497"/>
            <p14:sldId id="498"/>
            <p14:sldId id="499"/>
            <p14:sldId id="500"/>
            <p14:sldId id="537"/>
            <p14:sldId id="501"/>
            <p14:sldId id="502"/>
          </p14:sldIdLst>
        </p14:section>
        <p14:section name="III.4. The Ridge regression and its effect on Overfitting" id="{4843ECD2-5AC4-41CC-8394-8DBC4B386E8D}">
          <p14:sldIdLst>
            <p14:sldId id="412"/>
            <p14:sldId id="508"/>
            <p14:sldId id="503"/>
            <p14:sldId id="504"/>
            <p14:sldId id="506"/>
            <p14:sldId id="538"/>
            <p14:sldId id="505"/>
            <p14:sldId id="535"/>
            <p14:sldId id="548"/>
          </p14:sldIdLst>
        </p14:section>
      </p14:sectionLst>
    </p:ext>
    <p:ext uri="{EFAFB233-063F-42B5-8137-9DF3F51BA10A}">
      <p15:sldGuideLst xmlns:p15="http://schemas.microsoft.com/office/powerpoint/2012/main"/>
    </p:ext>
  </p:extLst>
</p:presentation>
</file>

<file path=ppt/authors.xml><?xml version="1.0" encoding="utf-8"?>
<p188:authorLst xmlns:a="http://schemas.openxmlformats.org/drawingml/2006/main" xmlns:r="http://schemas.openxmlformats.org/officeDocument/2006/relationships" xmlns:p188="http://schemas.microsoft.com/office/powerpoint/2018/8/main">
  <p188:author id="{6A446D52-C317-103A-D209-A6D1D99CFF7D}" name="Matthieu De Mari" initials="MDM" userId="Matthieu De Mari" providerId="None"/>
</p188:authorLst>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6292" autoAdjust="0"/>
  </p:normalViewPr>
  <p:slideViewPr>
    <p:cSldViewPr snapToGrid="0">
      <p:cViewPr varScale="1">
        <p:scale>
          <a:sx n="98" d="100"/>
          <a:sy n="98" d="100"/>
        </p:scale>
        <p:origin x="1038" y="312"/>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slide" Target="slides/slide41.xml"/><Relationship Id="rId47" Type="http://schemas.openxmlformats.org/officeDocument/2006/relationships/theme" Target="theme/theme1.xml"/><Relationship Id="rId50" Type="http://schemas.microsoft.com/office/2018/10/relationships/authors" Target="authors.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presProps" Target="pres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microsoft.com/office/2016/11/relationships/changesInfo" Target="changesInfos/changesInfo1.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4" Type="http://schemas.openxmlformats.org/officeDocument/2006/relationships/notesMaster" Target="notesMasters/notesMaster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tableStyles" Target="tableStyles.xml"/><Relationship Id="rId8" Type="http://schemas.openxmlformats.org/officeDocument/2006/relationships/slide" Target="slides/slide7.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viewProps" Target="viewProps.xml"/><Relationship Id="rId20" Type="http://schemas.openxmlformats.org/officeDocument/2006/relationships/slide" Target="slides/slide19.xml"/><Relationship Id="rId41" Type="http://schemas.openxmlformats.org/officeDocument/2006/relationships/slide" Target="slides/slide40.xml"/><Relationship Id="rId1" Type="http://schemas.openxmlformats.org/officeDocument/2006/relationships/slideMaster" Target="slideMasters/slideMaster1.xml"/><Relationship Id="rId6" Type="http://schemas.openxmlformats.org/officeDocument/2006/relationships/slide" Target="slides/slide5.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Matthieu De Mari" userId="dfb708c9-d8dc-439f-9a3b-c772bf4a311c" providerId="ADAL" clId="{81E9B007-0C2C-493E-9B93-55A62C9C1F12}"/>
    <pc:docChg chg="undo custSel addSld delSld modSld sldOrd modSection">
      <pc:chgData name="Matthieu De Mari" userId="dfb708c9-d8dc-439f-9a3b-c772bf4a311c" providerId="ADAL" clId="{81E9B007-0C2C-493E-9B93-55A62C9C1F12}" dt="2026-03-15T14:21:58.264" v="1065" actId="20577"/>
      <pc:docMkLst>
        <pc:docMk/>
      </pc:docMkLst>
      <pc:sldChg chg="modSp mod ord">
        <pc:chgData name="Matthieu De Mari" userId="dfb708c9-d8dc-439f-9a3b-c772bf4a311c" providerId="ADAL" clId="{81E9B007-0C2C-493E-9B93-55A62C9C1F12}" dt="2026-03-15T14:21:58.264" v="1065" actId="20577"/>
        <pc:sldMkLst>
          <pc:docMk/>
          <pc:sldMk cId="1974002731" sldId="490"/>
        </pc:sldMkLst>
        <pc:spChg chg="mod">
          <ac:chgData name="Matthieu De Mari" userId="dfb708c9-d8dc-439f-9a3b-c772bf4a311c" providerId="ADAL" clId="{81E9B007-0C2C-493E-9B93-55A62C9C1F12}" dt="2026-03-15T14:21:58.264" v="1065" actId="20577"/>
          <ac:spMkLst>
            <pc:docMk/>
            <pc:sldMk cId="1974002731" sldId="490"/>
            <ac:spMk id="2" creationId="{37C84060-31A2-3AFB-B38D-81D7652356D5}"/>
          </ac:spMkLst>
        </pc:spChg>
        <pc:spChg chg="mod">
          <ac:chgData name="Matthieu De Mari" userId="dfb708c9-d8dc-439f-9a3b-c772bf4a311c" providerId="ADAL" clId="{81E9B007-0C2C-493E-9B93-55A62C9C1F12}" dt="2026-03-15T14:21:37.629" v="1031" actId="27636"/>
          <ac:spMkLst>
            <pc:docMk/>
            <pc:sldMk cId="1974002731" sldId="490"/>
            <ac:spMk id="6" creationId="{3FF27FA6-234D-EB6E-7AD4-4E52F151A639}"/>
          </ac:spMkLst>
        </pc:spChg>
      </pc:sldChg>
      <pc:sldChg chg="modSp mod">
        <pc:chgData name="Matthieu De Mari" userId="dfb708c9-d8dc-439f-9a3b-c772bf4a311c" providerId="ADAL" clId="{81E9B007-0C2C-493E-9B93-55A62C9C1F12}" dt="2026-03-15T14:21:09.923" v="981" actId="113"/>
        <pc:sldMkLst>
          <pc:docMk/>
          <pc:sldMk cId="3487424720" sldId="536"/>
        </pc:sldMkLst>
        <pc:spChg chg="mod">
          <ac:chgData name="Matthieu De Mari" userId="dfb708c9-d8dc-439f-9a3b-c772bf4a311c" providerId="ADAL" clId="{81E9B007-0C2C-493E-9B93-55A62C9C1F12}" dt="2026-03-15T14:21:09.923" v="981" actId="113"/>
          <ac:spMkLst>
            <pc:docMk/>
            <pc:sldMk cId="3487424720" sldId="536"/>
            <ac:spMk id="2" creationId="{37C84060-31A2-3AFB-B38D-81D7652356D5}"/>
          </ac:spMkLst>
        </pc:spChg>
      </pc:sldChg>
    </pc:docChg>
  </pc:docChgLst>
</pc:chgInfo>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GB"/>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61478373-EB31-4867-8CF0-FA31364748A5}" type="datetimeFigureOut">
              <a:rPr lang="en-GB" smtClean="0"/>
              <a:t>15/03/2026</a:t>
            </a:fld>
            <a:endParaRPr lang="en-GB"/>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GB"/>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GB"/>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B14DF365-F842-4E76-AC24-5BC5382A0823}" type="slidenum">
              <a:rPr lang="en-GB" smtClean="0"/>
              <a:t>‹#›</a:t>
            </a:fld>
            <a:endParaRPr lang="en-GB"/>
          </a:p>
        </p:txBody>
      </p:sp>
    </p:spTree>
    <p:extLst>
      <p:ext uri="{BB962C8B-B14F-4D97-AF65-F5344CB8AC3E}">
        <p14:creationId xmlns:p14="http://schemas.microsoft.com/office/powerpoint/2010/main" val="4182812655"/>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93E4AD2-5DFB-40B9-9046-538F457C2D47}"/>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endParaRPr lang="en-GB"/>
          </a:p>
        </p:txBody>
      </p:sp>
      <p:sp>
        <p:nvSpPr>
          <p:cNvPr id="3" name="Subtitle 2">
            <a:extLst>
              <a:ext uri="{FF2B5EF4-FFF2-40B4-BE49-F238E27FC236}">
                <a16:creationId xmlns:a16="http://schemas.microsoft.com/office/drawing/2014/main" id="{9189AB4D-C9BD-4804-BAD4-30ABC21BBF41}"/>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GB"/>
          </a:p>
        </p:txBody>
      </p:sp>
      <p:sp>
        <p:nvSpPr>
          <p:cNvPr id="4" name="Date Placeholder 3">
            <a:extLst>
              <a:ext uri="{FF2B5EF4-FFF2-40B4-BE49-F238E27FC236}">
                <a16:creationId xmlns:a16="http://schemas.microsoft.com/office/drawing/2014/main" id="{DFC16BA0-299B-403D-BF6F-22CAD5861D93}"/>
              </a:ext>
            </a:extLst>
          </p:cNvPr>
          <p:cNvSpPr>
            <a:spLocks noGrp="1"/>
          </p:cNvSpPr>
          <p:nvPr>
            <p:ph type="dt" sz="half" idx="10"/>
          </p:nvPr>
        </p:nvSpPr>
        <p:spPr/>
        <p:txBody>
          <a:bodyPr/>
          <a:lstStyle/>
          <a:p>
            <a:fld id="{E85DF616-B21E-4EF6-A6A5-95E2FB3EB1A1}" type="datetimeFigureOut">
              <a:rPr lang="en-GB" smtClean="0"/>
              <a:t>15/03/2026</a:t>
            </a:fld>
            <a:endParaRPr lang="en-GB"/>
          </a:p>
        </p:txBody>
      </p:sp>
      <p:sp>
        <p:nvSpPr>
          <p:cNvPr id="5" name="Footer Placeholder 4">
            <a:extLst>
              <a:ext uri="{FF2B5EF4-FFF2-40B4-BE49-F238E27FC236}">
                <a16:creationId xmlns:a16="http://schemas.microsoft.com/office/drawing/2014/main" id="{5492CE3F-0F08-4DF3-A557-685AC26F7187}"/>
              </a:ext>
            </a:extLst>
          </p:cNvPr>
          <p:cNvSpPr>
            <a:spLocks noGrp="1"/>
          </p:cNvSpPr>
          <p:nvPr>
            <p:ph type="ftr" sz="quarter" idx="11"/>
          </p:nvPr>
        </p:nvSpPr>
        <p:spPr/>
        <p:txBody>
          <a:bodyPr/>
          <a:lstStyle/>
          <a:p>
            <a:endParaRPr lang="en-GB"/>
          </a:p>
        </p:txBody>
      </p:sp>
      <p:sp>
        <p:nvSpPr>
          <p:cNvPr id="6" name="Slide Number Placeholder 5">
            <a:extLst>
              <a:ext uri="{FF2B5EF4-FFF2-40B4-BE49-F238E27FC236}">
                <a16:creationId xmlns:a16="http://schemas.microsoft.com/office/drawing/2014/main" id="{8FDB7FD2-E7A4-40C9-9DA4-170335047761}"/>
              </a:ext>
            </a:extLst>
          </p:cNvPr>
          <p:cNvSpPr>
            <a:spLocks noGrp="1"/>
          </p:cNvSpPr>
          <p:nvPr>
            <p:ph type="sldNum" sz="quarter" idx="12"/>
          </p:nvPr>
        </p:nvSpPr>
        <p:spPr/>
        <p:txBody>
          <a:bodyPr/>
          <a:lstStyle/>
          <a:p>
            <a:fld id="{D05DED30-C8B5-4AF9-8D67-600C77DA493C}" type="slidenum">
              <a:rPr lang="en-GB" smtClean="0"/>
              <a:t>‹#›</a:t>
            </a:fld>
            <a:endParaRPr lang="en-GB"/>
          </a:p>
        </p:txBody>
      </p:sp>
    </p:spTree>
    <p:extLst>
      <p:ext uri="{BB962C8B-B14F-4D97-AF65-F5344CB8AC3E}">
        <p14:creationId xmlns:p14="http://schemas.microsoft.com/office/powerpoint/2010/main" val="976607118"/>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EC9B31A-FA50-4DA2-9315-474283DEB0F0}"/>
              </a:ext>
            </a:extLst>
          </p:cNvPr>
          <p:cNvSpPr>
            <a:spLocks noGrp="1"/>
          </p:cNvSpPr>
          <p:nvPr>
            <p:ph type="title"/>
          </p:nvPr>
        </p:nvSpPr>
        <p:spPr/>
        <p:txBody>
          <a:bodyPr/>
          <a:lstStyle/>
          <a:p>
            <a:r>
              <a:rPr lang="en-US"/>
              <a:t>Click to edit Master title style</a:t>
            </a:r>
            <a:endParaRPr lang="en-GB"/>
          </a:p>
        </p:txBody>
      </p:sp>
      <p:sp>
        <p:nvSpPr>
          <p:cNvPr id="3" name="Content Placeholder 2">
            <a:extLst>
              <a:ext uri="{FF2B5EF4-FFF2-40B4-BE49-F238E27FC236}">
                <a16:creationId xmlns:a16="http://schemas.microsoft.com/office/drawing/2014/main" id="{B9F3FCD2-8B77-4AF4-8080-624AD9E7F85B}"/>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4" name="Date Placeholder 3">
            <a:extLst>
              <a:ext uri="{FF2B5EF4-FFF2-40B4-BE49-F238E27FC236}">
                <a16:creationId xmlns:a16="http://schemas.microsoft.com/office/drawing/2014/main" id="{7311587F-CECC-48E1-9033-F49992081389}"/>
              </a:ext>
            </a:extLst>
          </p:cNvPr>
          <p:cNvSpPr>
            <a:spLocks noGrp="1"/>
          </p:cNvSpPr>
          <p:nvPr>
            <p:ph type="dt" sz="half" idx="10"/>
          </p:nvPr>
        </p:nvSpPr>
        <p:spPr/>
        <p:txBody>
          <a:bodyPr/>
          <a:lstStyle/>
          <a:p>
            <a:fld id="{E85DF616-B21E-4EF6-A6A5-95E2FB3EB1A1}" type="datetimeFigureOut">
              <a:rPr lang="en-GB" smtClean="0"/>
              <a:t>15/03/2026</a:t>
            </a:fld>
            <a:endParaRPr lang="en-GB"/>
          </a:p>
        </p:txBody>
      </p:sp>
      <p:sp>
        <p:nvSpPr>
          <p:cNvPr id="5" name="Footer Placeholder 4">
            <a:extLst>
              <a:ext uri="{FF2B5EF4-FFF2-40B4-BE49-F238E27FC236}">
                <a16:creationId xmlns:a16="http://schemas.microsoft.com/office/drawing/2014/main" id="{5ADBEDBB-8F3E-4349-BF02-8BA4BFA4A1BE}"/>
              </a:ext>
            </a:extLst>
          </p:cNvPr>
          <p:cNvSpPr>
            <a:spLocks noGrp="1"/>
          </p:cNvSpPr>
          <p:nvPr>
            <p:ph type="ftr" sz="quarter" idx="11"/>
          </p:nvPr>
        </p:nvSpPr>
        <p:spPr/>
        <p:txBody>
          <a:bodyPr/>
          <a:lstStyle/>
          <a:p>
            <a:endParaRPr lang="en-GB"/>
          </a:p>
        </p:txBody>
      </p:sp>
      <p:sp>
        <p:nvSpPr>
          <p:cNvPr id="6" name="Slide Number Placeholder 5">
            <a:extLst>
              <a:ext uri="{FF2B5EF4-FFF2-40B4-BE49-F238E27FC236}">
                <a16:creationId xmlns:a16="http://schemas.microsoft.com/office/drawing/2014/main" id="{E2049832-CE42-4D03-89CE-BF86C2288335}"/>
              </a:ext>
            </a:extLst>
          </p:cNvPr>
          <p:cNvSpPr>
            <a:spLocks noGrp="1"/>
          </p:cNvSpPr>
          <p:nvPr>
            <p:ph type="sldNum" sz="quarter" idx="12"/>
          </p:nvPr>
        </p:nvSpPr>
        <p:spPr/>
        <p:txBody>
          <a:bodyPr/>
          <a:lstStyle/>
          <a:p>
            <a:fld id="{D05DED30-C8B5-4AF9-8D67-600C77DA493C}" type="slidenum">
              <a:rPr lang="en-GB" smtClean="0"/>
              <a:t>‹#›</a:t>
            </a:fld>
            <a:endParaRPr lang="en-GB"/>
          </a:p>
        </p:txBody>
      </p:sp>
    </p:spTree>
    <p:extLst>
      <p:ext uri="{BB962C8B-B14F-4D97-AF65-F5344CB8AC3E}">
        <p14:creationId xmlns:p14="http://schemas.microsoft.com/office/powerpoint/2010/main" val="817041032"/>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6B741B7-69A0-4F98-A4F1-934086E8E6D3}"/>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endParaRPr lang="en-GB"/>
          </a:p>
        </p:txBody>
      </p:sp>
      <p:sp>
        <p:nvSpPr>
          <p:cNvPr id="3" name="Text Placeholder 2">
            <a:extLst>
              <a:ext uri="{FF2B5EF4-FFF2-40B4-BE49-F238E27FC236}">
                <a16:creationId xmlns:a16="http://schemas.microsoft.com/office/drawing/2014/main" id="{76C4F2BF-824A-433E-A1B8-AA04DCB3EA98}"/>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E0003A02-257B-42F0-BF28-1777F5C487A2}"/>
              </a:ext>
            </a:extLst>
          </p:cNvPr>
          <p:cNvSpPr>
            <a:spLocks noGrp="1"/>
          </p:cNvSpPr>
          <p:nvPr>
            <p:ph type="dt" sz="half" idx="10"/>
          </p:nvPr>
        </p:nvSpPr>
        <p:spPr/>
        <p:txBody>
          <a:bodyPr/>
          <a:lstStyle/>
          <a:p>
            <a:fld id="{E85DF616-B21E-4EF6-A6A5-95E2FB3EB1A1}" type="datetimeFigureOut">
              <a:rPr lang="en-GB" smtClean="0"/>
              <a:t>15/03/2026</a:t>
            </a:fld>
            <a:endParaRPr lang="en-GB"/>
          </a:p>
        </p:txBody>
      </p:sp>
      <p:sp>
        <p:nvSpPr>
          <p:cNvPr id="5" name="Footer Placeholder 4">
            <a:extLst>
              <a:ext uri="{FF2B5EF4-FFF2-40B4-BE49-F238E27FC236}">
                <a16:creationId xmlns:a16="http://schemas.microsoft.com/office/drawing/2014/main" id="{191A73EA-09DC-41D8-B62F-461F73837CD0}"/>
              </a:ext>
            </a:extLst>
          </p:cNvPr>
          <p:cNvSpPr>
            <a:spLocks noGrp="1"/>
          </p:cNvSpPr>
          <p:nvPr>
            <p:ph type="ftr" sz="quarter" idx="11"/>
          </p:nvPr>
        </p:nvSpPr>
        <p:spPr/>
        <p:txBody>
          <a:bodyPr/>
          <a:lstStyle/>
          <a:p>
            <a:endParaRPr lang="en-GB"/>
          </a:p>
        </p:txBody>
      </p:sp>
      <p:sp>
        <p:nvSpPr>
          <p:cNvPr id="6" name="Slide Number Placeholder 5">
            <a:extLst>
              <a:ext uri="{FF2B5EF4-FFF2-40B4-BE49-F238E27FC236}">
                <a16:creationId xmlns:a16="http://schemas.microsoft.com/office/drawing/2014/main" id="{6150A76A-6E9C-414F-B980-FF95D8BC4032}"/>
              </a:ext>
            </a:extLst>
          </p:cNvPr>
          <p:cNvSpPr>
            <a:spLocks noGrp="1"/>
          </p:cNvSpPr>
          <p:nvPr>
            <p:ph type="sldNum" sz="quarter" idx="12"/>
          </p:nvPr>
        </p:nvSpPr>
        <p:spPr/>
        <p:txBody>
          <a:bodyPr/>
          <a:lstStyle/>
          <a:p>
            <a:fld id="{D05DED30-C8B5-4AF9-8D67-600C77DA493C}" type="slidenum">
              <a:rPr lang="en-GB" smtClean="0"/>
              <a:t>‹#›</a:t>
            </a:fld>
            <a:endParaRPr lang="en-GB"/>
          </a:p>
        </p:txBody>
      </p:sp>
    </p:spTree>
    <p:extLst>
      <p:ext uri="{BB962C8B-B14F-4D97-AF65-F5344CB8AC3E}">
        <p14:creationId xmlns:p14="http://schemas.microsoft.com/office/powerpoint/2010/main" val="4081840810"/>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77D12A8-E7BA-4E8E-9357-A40BF427BFE1}"/>
              </a:ext>
            </a:extLst>
          </p:cNvPr>
          <p:cNvSpPr>
            <a:spLocks noGrp="1"/>
          </p:cNvSpPr>
          <p:nvPr>
            <p:ph type="title"/>
          </p:nvPr>
        </p:nvSpPr>
        <p:spPr/>
        <p:txBody>
          <a:bodyPr/>
          <a:lstStyle/>
          <a:p>
            <a:r>
              <a:rPr lang="en-US"/>
              <a:t>Click to edit Master title style</a:t>
            </a:r>
            <a:endParaRPr lang="en-GB"/>
          </a:p>
        </p:txBody>
      </p:sp>
      <p:sp>
        <p:nvSpPr>
          <p:cNvPr id="3" name="Content Placeholder 2">
            <a:extLst>
              <a:ext uri="{FF2B5EF4-FFF2-40B4-BE49-F238E27FC236}">
                <a16:creationId xmlns:a16="http://schemas.microsoft.com/office/drawing/2014/main" id="{23FB368D-1AC8-401B-8D15-AB5F2DF52BEE}"/>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4" name="Content Placeholder 3">
            <a:extLst>
              <a:ext uri="{FF2B5EF4-FFF2-40B4-BE49-F238E27FC236}">
                <a16:creationId xmlns:a16="http://schemas.microsoft.com/office/drawing/2014/main" id="{22B54FE0-C058-43CC-8FAE-A8FF7FC43F8C}"/>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5" name="Date Placeholder 4">
            <a:extLst>
              <a:ext uri="{FF2B5EF4-FFF2-40B4-BE49-F238E27FC236}">
                <a16:creationId xmlns:a16="http://schemas.microsoft.com/office/drawing/2014/main" id="{6A6EDAEE-3329-419E-908B-25F1A6C11B64}"/>
              </a:ext>
            </a:extLst>
          </p:cNvPr>
          <p:cNvSpPr>
            <a:spLocks noGrp="1"/>
          </p:cNvSpPr>
          <p:nvPr>
            <p:ph type="dt" sz="half" idx="10"/>
          </p:nvPr>
        </p:nvSpPr>
        <p:spPr/>
        <p:txBody>
          <a:bodyPr/>
          <a:lstStyle/>
          <a:p>
            <a:fld id="{E85DF616-B21E-4EF6-A6A5-95E2FB3EB1A1}" type="datetimeFigureOut">
              <a:rPr lang="en-GB" smtClean="0"/>
              <a:t>15/03/2026</a:t>
            </a:fld>
            <a:endParaRPr lang="en-GB"/>
          </a:p>
        </p:txBody>
      </p:sp>
      <p:sp>
        <p:nvSpPr>
          <p:cNvPr id="6" name="Footer Placeholder 5">
            <a:extLst>
              <a:ext uri="{FF2B5EF4-FFF2-40B4-BE49-F238E27FC236}">
                <a16:creationId xmlns:a16="http://schemas.microsoft.com/office/drawing/2014/main" id="{DFBF37E1-EFD9-4926-903C-A8F3F36F6D66}"/>
              </a:ext>
            </a:extLst>
          </p:cNvPr>
          <p:cNvSpPr>
            <a:spLocks noGrp="1"/>
          </p:cNvSpPr>
          <p:nvPr>
            <p:ph type="ftr" sz="quarter" idx="11"/>
          </p:nvPr>
        </p:nvSpPr>
        <p:spPr/>
        <p:txBody>
          <a:bodyPr/>
          <a:lstStyle/>
          <a:p>
            <a:endParaRPr lang="en-GB"/>
          </a:p>
        </p:txBody>
      </p:sp>
      <p:sp>
        <p:nvSpPr>
          <p:cNvPr id="7" name="Slide Number Placeholder 6">
            <a:extLst>
              <a:ext uri="{FF2B5EF4-FFF2-40B4-BE49-F238E27FC236}">
                <a16:creationId xmlns:a16="http://schemas.microsoft.com/office/drawing/2014/main" id="{831BFE49-D09A-40E3-8D45-D54CF1403B5D}"/>
              </a:ext>
            </a:extLst>
          </p:cNvPr>
          <p:cNvSpPr>
            <a:spLocks noGrp="1"/>
          </p:cNvSpPr>
          <p:nvPr>
            <p:ph type="sldNum" sz="quarter" idx="12"/>
          </p:nvPr>
        </p:nvSpPr>
        <p:spPr/>
        <p:txBody>
          <a:bodyPr/>
          <a:lstStyle/>
          <a:p>
            <a:fld id="{D05DED30-C8B5-4AF9-8D67-600C77DA493C}" type="slidenum">
              <a:rPr lang="en-GB" smtClean="0"/>
              <a:t>‹#›</a:t>
            </a:fld>
            <a:endParaRPr lang="en-GB"/>
          </a:p>
        </p:txBody>
      </p:sp>
    </p:spTree>
    <p:extLst>
      <p:ext uri="{BB962C8B-B14F-4D97-AF65-F5344CB8AC3E}">
        <p14:creationId xmlns:p14="http://schemas.microsoft.com/office/powerpoint/2010/main" val="921781480"/>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6A06ACB-47EB-4233-8485-0DBCD4792BCA}"/>
              </a:ext>
            </a:extLst>
          </p:cNvPr>
          <p:cNvSpPr>
            <a:spLocks noGrp="1"/>
          </p:cNvSpPr>
          <p:nvPr>
            <p:ph type="title"/>
          </p:nvPr>
        </p:nvSpPr>
        <p:spPr>
          <a:xfrm>
            <a:off x="839788" y="365125"/>
            <a:ext cx="10515600" cy="1325563"/>
          </a:xfrm>
        </p:spPr>
        <p:txBody>
          <a:bodyPr/>
          <a:lstStyle/>
          <a:p>
            <a:r>
              <a:rPr lang="en-US"/>
              <a:t>Click to edit Master title style</a:t>
            </a:r>
            <a:endParaRPr lang="en-GB"/>
          </a:p>
        </p:txBody>
      </p:sp>
      <p:sp>
        <p:nvSpPr>
          <p:cNvPr id="3" name="Text Placeholder 2">
            <a:extLst>
              <a:ext uri="{FF2B5EF4-FFF2-40B4-BE49-F238E27FC236}">
                <a16:creationId xmlns:a16="http://schemas.microsoft.com/office/drawing/2014/main" id="{4A51BCCC-D7D1-44A6-85A4-5F35671D8034}"/>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FF24D018-9C08-4325-8DE0-27765125B3DC}"/>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5" name="Text Placeholder 4">
            <a:extLst>
              <a:ext uri="{FF2B5EF4-FFF2-40B4-BE49-F238E27FC236}">
                <a16:creationId xmlns:a16="http://schemas.microsoft.com/office/drawing/2014/main" id="{1B054B92-6EF5-4DC3-8819-3BB914D088E1}"/>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029DEE04-4503-4C98-A54E-5B4414DE449C}"/>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7" name="Date Placeholder 6">
            <a:extLst>
              <a:ext uri="{FF2B5EF4-FFF2-40B4-BE49-F238E27FC236}">
                <a16:creationId xmlns:a16="http://schemas.microsoft.com/office/drawing/2014/main" id="{8E682F25-2B9E-401E-842E-29906523234B}"/>
              </a:ext>
            </a:extLst>
          </p:cNvPr>
          <p:cNvSpPr>
            <a:spLocks noGrp="1"/>
          </p:cNvSpPr>
          <p:nvPr>
            <p:ph type="dt" sz="half" idx="10"/>
          </p:nvPr>
        </p:nvSpPr>
        <p:spPr/>
        <p:txBody>
          <a:bodyPr/>
          <a:lstStyle/>
          <a:p>
            <a:fld id="{E85DF616-B21E-4EF6-A6A5-95E2FB3EB1A1}" type="datetimeFigureOut">
              <a:rPr lang="en-GB" smtClean="0"/>
              <a:t>15/03/2026</a:t>
            </a:fld>
            <a:endParaRPr lang="en-GB"/>
          </a:p>
        </p:txBody>
      </p:sp>
      <p:sp>
        <p:nvSpPr>
          <p:cNvPr id="8" name="Footer Placeholder 7">
            <a:extLst>
              <a:ext uri="{FF2B5EF4-FFF2-40B4-BE49-F238E27FC236}">
                <a16:creationId xmlns:a16="http://schemas.microsoft.com/office/drawing/2014/main" id="{E7C4412F-03BB-4180-96FC-5FFE79C5FE4C}"/>
              </a:ext>
            </a:extLst>
          </p:cNvPr>
          <p:cNvSpPr>
            <a:spLocks noGrp="1"/>
          </p:cNvSpPr>
          <p:nvPr>
            <p:ph type="ftr" sz="quarter" idx="11"/>
          </p:nvPr>
        </p:nvSpPr>
        <p:spPr/>
        <p:txBody>
          <a:bodyPr/>
          <a:lstStyle/>
          <a:p>
            <a:endParaRPr lang="en-GB"/>
          </a:p>
        </p:txBody>
      </p:sp>
      <p:sp>
        <p:nvSpPr>
          <p:cNvPr id="9" name="Slide Number Placeholder 8">
            <a:extLst>
              <a:ext uri="{FF2B5EF4-FFF2-40B4-BE49-F238E27FC236}">
                <a16:creationId xmlns:a16="http://schemas.microsoft.com/office/drawing/2014/main" id="{F3D4B694-771E-4D77-A094-AE6844AC4BE9}"/>
              </a:ext>
            </a:extLst>
          </p:cNvPr>
          <p:cNvSpPr>
            <a:spLocks noGrp="1"/>
          </p:cNvSpPr>
          <p:nvPr>
            <p:ph type="sldNum" sz="quarter" idx="12"/>
          </p:nvPr>
        </p:nvSpPr>
        <p:spPr/>
        <p:txBody>
          <a:bodyPr/>
          <a:lstStyle/>
          <a:p>
            <a:fld id="{D05DED30-C8B5-4AF9-8D67-600C77DA493C}" type="slidenum">
              <a:rPr lang="en-GB" smtClean="0"/>
              <a:t>‹#›</a:t>
            </a:fld>
            <a:endParaRPr lang="en-GB"/>
          </a:p>
        </p:txBody>
      </p:sp>
    </p:spTree>
    <p:extLst>
      <p:ext uri="{BB962C8B-B14F-4D97-AF65-F5344CB8AC3E}">
        <p14:creationId xmlns:p14="http://schemas.microsoft.com/office/powerpoint/2010/main" val="2357763379"/>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084B0B5-CEFD-42FE-80F6-946D187926B0}"/>
              </a:ext>
            </a:extLst>
          </p:cNvPr>
          <p:cNvSpPr>
            <a:spLocks noGrp="1"/>
          </p:cNvSpPr>
          <p:nvPr>
            <p:ph type="title"/>
          </p:nvPr>
        </p:nvSpPr>
        <p:spPr/>
        <p:txBody>
          <a:bodyPr/>
          <a:lstStyle/>
          <a:p>
            <a:r>
              <a:rPr lang="en-US"/>
              <a:t>Click to edit Master title style</a:t>
            </a:r>
            <a:endParaRPr lang="en-GB"/>
          </a:p>
        </p:txBody>
      </p:sp>
      <p:sp>
        <p:nvSpPr>
          <p:cNvPr id="3" name="Date Placeholder 2">
            <a:extLst>
              <a:ext uri="{FF2B5EF4-FFF2-40B4-BE49-F238E27FC236}">
                <a16:creationId xmlns:a16="http://schemas.microsoft.com/office/drawing/2014/main" id="{62338384-0D5D-4181-9005-8843908CF6AD}"/>
              </a:ext>
            </a:extLst>
          </p:cNvPr>
          <p:cNvSpPr>
            <a:spLocks noGrp="1"/>
          </p:cNvSpPr>
          <p:nvPr>
            <p:ph type="dt" sz="half" idx="10"/>
          </p:nvPr>
        </p:nvSpPr>
        <p:spPr/>
        <p:txBody>
          <a:bodyPr/>
          <a:lstStyle/>
          <a:p>
            <a:fld id="{E85DF616-B21E-4EF6-A6A5-95E2FB3EB1A1}" type="datetimeFigureOut">
              <a:rPr lang="en-GB" smtClean="0"/>
              <a:t>15/03/2026</a:t>
            </a:fld>
            <a:endParaRPr lang="en-GB"/>
          </a:p>
        </p:txBody>
      </p:sp>
      <p:sp>
        <p:nvSpPr>
          <p:cNvPr id="4" name="Footer Placeholder 3">
            <a:extLst>
              <a:ext uri="{FF2B5EF4-FFF2-40B4-BE49-F238E27FC236}">
                <a16:creationId xmlns:a16="http://schemas.microsoft.com/office/drawing/2014/main" id="{C9F3C4F2-521E-43BA-978F-A744CDEB1018}"/>
              </a:ext>
            </a:extLst>
          </p:cNvPr>
          <p:cNvSpPr>
            <a:spLocks noGrp="1"/>
          </p:cNvSpPr>
          <p:nvPr>
            <p:ph type="ftr" sz="quarter" idx="11"/>
          </p:nvPr>
        </p:nvSpPr>
        <p:spPr/>
        <p:txBody>
          <a:bodyPr/>
          <a:lstStyle/>
          <a:p>
            <a:endParaRPr lang="en-GB"/>
          </a:p>
        </p:txBody>
      </p:sp>
      <p:sp>
        <p:nvSpPr>
          <p:cNvPr id="5" name="Slide Number Placeholder 4">
            <a:extLst>
              <a:ext uri="{FF2B5EF4-FFF2-40B4-BE49-F238E27FC236}">
                <a16:creationId xmlns:a16="http://schemas.microsoft.com/office/drawing/2014/main" id="{E6E24618-CDB0-4673-AF57-77A81FE6F53F}"/>
              </a:ext>
            </a:extLst>
          </p:cNvPr>
          <p:cNvSpPr>
            <a:spLocks noGrp="1"/>
          </p:cNvSpPr>
          <p:nvPr>
            <p:ph type="sldNum" sz="quarter" idx="12"/>
          </p:nvPr>
        </p:nvSpPr>
        <p:spPr/>
        <p:txBody>
          <a:bodyPr/>
          <a:lstStyle/>
          <a:p>
            <a:fld id="{D05DED30-C8B5-4AF9-8D67-600C77DA493C}" type="slidenum">
              <a:rPr lang="en-GB" smtClean="0"/>
              <a:t>‹#›</a:t>
            </a:fld>
            <a:endParaRPr lang="en-GB"/>
          </a:p>
        </p:txBody>
      </p:sp>
    </p:spTree>
    <p:extLst>
      <p:ext uri="{BB962C8B-B14F-4D97-AF65-F5344CB8AC3E}">
        <p14:creationId xmlns:p14="http://schemas.microsoft.com/office/powerpoint/2010/main" val="3699381848"/>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879B6684-ECAC-47C6-9E72-EC9A0F42056A}"/>
              </a:ext>
            </a:extLst>
          </p:cNvPr>
          <p:cNvSpPr>
            <a:spLocks noGrp="1"/>
          </p:cNvSpPr>
          <p:nvPr>
            <p:ph type="dt" sz="half" idx="10"/>
          </p:nvPr>
        </p:nvSpPr>
        <p:spPr/>
        <p:txBody>
          <a:bodyPr/>
          <a:lstStyle/>
          <a:p>
            <a:fld id="{E85DF616-B21E-4EF6-A6A5-95E2FB3EB1A1}" type="datetimeFigureOut">
              <a:rPr lang="en-GB" smtClean="0"/>
              <a:t>15/03/2026</a:t>
            </a:fld>
            <a:endParaRPr lang="en-GB"/>
          </a:p>
        </p:txBody>
      </p:sp>
      <p:sp>
        <p:nvSpPr>
          <p:cNvPr id="3" name="Footer Placeholder 2">
            <a:extLst>
              <a:ext uri="{FF2B5EF4-FFF2-40B4-BE49-F238E27FC236}">
                <a16:creationId xmlns:a16="http://schemas.microsoft.com/office/drawing/2014/main" id="{69837DBC-C277-472E-BF47-6769C2B2042D}"/>
              </a:ext>
            </a:extLst>
          </p:cNvPr>
          <p:cNvSpPr>
            <a:spLocks noGrp="1"/>
          </p:cNvSpPr>
          <p:nvPr>
            <p:ph type="ftr" sz="quarter" idx="11"/>
          </p:nvPr>
        </p:nvSpPr>
        <p:spPr/>
        <p:txBody>
          <a:bodyPr/>
          <a:lstStyle/>
          <a:p>
            <a:endParaRPr lang="en-GB"/>
          </a:p>
        </p:txBody>
      </p:sp>
      <p:sp>
        <p:nvSpPr>
          <p:cNvPr id="4" name="Slide Number Placeholder 3">
            <a:extLst>
              <a:ext uri="{FF2B5EF4-FFF2-40B4-BE49-F238E27FC236}">
                <a16:creationId xmlns:a16="http://schemas.microsoft.com/office/drawing/2014/main" id="{BD39D80B-7718-49DE-9803-FDF6ECAD197C}"/>
              </a:ext>
            </a:extLst>
          </p:cNvPr>
          <p:cNvSpPr>
            <a:spLocks noGrp="1"/>
          </p:cNvSpPr>
          <p:nvPr>
            <p:ph type="sldNum" sz="quarter" idx="12"/>
          </p:nvPr>
        </p:nvSpPr>
        <p:spPr/>
        <p:txBody>
          <a:bodyPr/>
          <a:lstStyle/>
          <a:p>
            <a:fld id="{D05DED30-C8B5-4AF9-8D67-600C77DA493C}" type="slidenum">
              <a:rPr lang="en-GB" smtClean="0"/>
              <a:t>‹#›</a:t>
            </a:fld>
            <a:endParaRPr lang="en-GB"/>
          </a:p>
        </p:txBody>
      </p:sp>
    </p:spTree>
    <p:extLst>
      <p:ext uri="{BB962C8B-B14F-4D97-AF65-F5344CB8AC3E}">
        <p14:creationId xmlns:p14="http://schemas.microsoft.com/office/powerpoint/2010/main" val="414118447"/>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2FDE5B7-A7F2-453D-9210-C132F79425A1}"/>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GB"/>
          </a:p>
        </p:txBody>
      </p:sp>
      <p:sp>
        <p:nvSpPr>
          <p:cNvPr id="3" name="Content Placeholder 2">
            <a:extLst>
              <a:ext uri="{FF2B5EF4-FFF2-40B4-BE49-F238E27FC236}">
                <a16:creationId xmlns:a16="http://schemas.microsoft.com/office/drawing/2014/main" id="{0F581A54-3B44-49FD-9DFE-5C031AC3B0E9}"/>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4" name="Text Placeholder 3">
            <a:extLst>
              <a:ext uri="{FF2B5EF4-FFF2-40B4-BE49-F238E27FC236}">
                <a16:creationId xmlns:a16="http://schemas.microsoft.com/office/drawing/2014/main" id="{38CEDAA9-F86E-42B0-BCB5-FFBD8F9BD231}"/>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EE8E5CCE-232A-418F-BF54-FECCCBE5BBE8}"/>
              </a:ext>
            </a:extLst>
          </p:cNvPr>
          <p:cNvSpPr>
            <a:spLocks noGrp="1"/>
          </p:cNvSpPr>
          <p:nvPr>
            <p:ph type="dt" sz="half" idx="10"/>
          </p:nvPr>
        </p:nvSpPr>
        <p:spPr/>
        <p:txBody>
          <a:bodyPr/>
          <a:lstStyle/>
          <a:p>
            <a:fld id="{E85DF616-B21E-4EF6-A6A5-95E2FB3EB1A1}" type="datetimeFigureOut">
              <a:rPr lang="en-GB" smtClean="0"/>
              <a:t>15/03/2026</a:t>
            </a:fld>
            <a:endParaRPr lang="en-GB"/>
          </a:p>
        </p:txBody>
      </p:sp>
      <p:sp>
        <p:nvSpPr>
          <p:cNvPr id="6" name="Footer Placeholder 5">
            <a:extLst>
              <a:ext uri="{FF2B5EF4-FFF2-40B4-BE49-F238E27FC236}">
                <a16:creationId xmlns:a16="http://schemas.microsoft.com/office/drawing/2014/main" id="{F510C79A-014C-4B02-9279-7EE20A512885}"/>
              </a:ext>
            </a:extLst>
          </p:cNvPr>
          <p:cNvSpPr>
            <a:spLocks noGrp="1"/>
          </p:cNvSpPr>
          <p:nvPr>
            <p:ph type="ftr" sz="quarter" idx="11"/>
          </p:nvPr>
        </p:nvSpPr>
        <p:spPr/>
        <p:txBody>
          <a:bodyPr/>
          <a:lstStyle/>
          <a:p>
            <a:endParaRPr lang="en-GB"/>
          </a:p>
        </p:txBody>
      </p:sp>
      <p:sp>
        <p:nvSpPr>
          <p:cNvPr id="7" name="Slide Number Placeholder 6">
            <a:extLst>
              <a:ext uri="{FF2B5EF4-FFF2-40B4-BE49-F238E27FC236}">
                <a16:creationId xmlns:a16="http://schemas.microsoft.com/office/drawing/2014/main" id="{DE3E7691-D5FC-4182-9AE9-20D2EFC761D4}"/>
              </a:ext>
            </a:extLst>
          </p:cNvPr>
          <p:cNvSpPr>
            <a:spLocks noGrp="1"/>
          </p:cNvSpPr>
          <p:nvPr>
            <p:ph type="sldNum" sz="quarter" idx="12"/>
          </p:nvPr>
        </p:nvSpPr>
        <p:spPr/>
        <p:txBody>
          <a:bodyPr/>
          <a:lstStyle/>
          <a:p>
            <a:fld id="{D05DED30-C8B5-4AF9-8D67-600C77DA493C}" type="slidenum">
              <a:rPr lang="en-GB" smtClean="0"/>
              <a:t>‹#›</a:t>
            </a:fld>
            <a:endParaRPr lang="en-GB"/>
          </a:p>
        </p:txBody>
      </p:sp>
    </p:spTree>
    <p:extLst>
      <p:ext uri="{BB962C8B-B14F-4D97-AF65-F5344CB8AC3E}">
        <p14:creationId xmlns:p14="http://schemas.microsoft.com/office/powerpoint/2010/main" val="824019693"/>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6E35217-D17F-45E7-B7CA-F5D4DAFB30DE}"/>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GB"/>
          </a:p>
        </p:txBody>
      </p:sp>
      <p:sp>
        <p:nvSpPr>
          <p:cNvPr id="3" name="Picture Placeholder 2">
            <a:extLst>
              <a:ext uri="{FF2B5EF4-FFF2-40B4-BE49-F238E27FC236}">
                <a16:creationId xmlns:a16="http://schemas.microsoft.com/office/drawing/2014/main" id="{F8B94D55-9243-49C9-96F4-70D456901505}"/>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GB"/>
          </a:p>
        </p:txBody>
      </p:sp>
      <p:sp>
        <p:nvSpPr>
          <p:cNvPr id="4" name="Text Placeholder 3">
            <a:extLst>
              <a:ext uri="{FF2B5EF4-FFF2-40B4-BE49-F238E27FC236}">
                <a16:creationId xmlns:a16="http://schemas.microsoft.com/office/drawing/2014/main" id="{9E476A3C-7074-4031-BCF5-275CD92ED789}"/>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A6130CC7-09EA-4C92-80AE-F253D048A40D}"/>
              </a:ext>
            </a:extLst>
          </p:cNvPr>
          <p:cNvSpPr>
            <a:spLocks noGrp="1"/>
          </p:cNvSpPr>
          <p:nvPr>
            <p:ph type="dt" sz="half" idx="10"/>
          </p:nvPr>
        </p:nvSpPr>
        <p:spPr/>
        <p:txBody>
          <a:bodyPr/>
          <a:lstStyle/>
          <a:p>
            <a:fld id="{E85DF616-B21E-4EF6-A6A5-95E2FB3EB1A1}" type="datetimeFigureOut">
              <a:rPr lang="en-GB" smtClean="0"/>
              <a:t>15/03/2026</a:t>
            </a:fld>
            <a:endParaRPr lang="en-GB"/>
          </a:p>
        </p:txBody>
      </p:sp>
      <p:sp>
        <p:nvSpPr>
          <p:cNvPr id="6" name="Footer Placeholder 5">
            <a:extLst>
              <a:ext uri="{FF2B5EF4-FFF2-40B4-BE49-F238E27FC236}">
                <a16:creationId xmlns:a16="http://schemas.microsoft.com/office/drawing/2014/main" id="{9D7CD087-50BE-480B-BD3C-2CCB17C0EDC9}"/>
              </a:ext>
            </a:extLst>
          </p:cNvPr>
          <p:cNvSpPr>
            <a:spLocks noGrp="1"/>
          </p:cNvSpPr>
          <p:nvPr>
            <p:ph type="ftr" sz="quarter" idx="11"/>
          </p:nvPr>
        </p:nvSpPr>
        <p:spPr/>
        <p:txBody>
          <a:bodyPr/>
          <a:lstStyle/>
          <a:p>
            <a:endParaRPr lang="en-GB"/>
          </a:p>
        </p:txBody>
      </p:sp>
      <p:sp>
        <p:nvSpPr>
          <p:cNvPr id="7" name="Slide Number Placeholder 6">
            <a:extLst>
              <a:ext uri="{FF2B5EF4-FFF2-40B4-BE49-F238E27FC236}">
                <a16:creationId xmlns:a16="http://schemas.microsoft.com/office/drawing/2014/main" id="{7F96C921-787D-431A-BDD7-DA404775A0E2}"/>
              </a:ext>
            </a:extLst>
          </p:cNvPr>
          <p:cNvSpPr>
            <a:spLocks noGrp="1"/>
          </p:cNvSpPr>
          <p:nvPr>
            <p:ph type="sldNum" sz="quarter" idx="12"/>
          </p:nvPr>
        </p:nvSpPr>
        <p:spPr/>
        <p:txBody>
          <a:bodyPr/>
          <a:lstStyle/>
          <a:p>
            <a:fld id="{D05DED30-C8B5-4AF9-8D67-600C77DA493C}" type="slidenum">
              <a:rPr lang="en-GB" smtClean="0"/>
              <a:t>‹#›</a:t>
            </a:fld>
            <a:endParaRPr lang="en-GB"/>
          </a:p>
        </p:txBody>
      </p:sp>
    </p:spTree>
    <p:extLst>
      <p:ext uri="{BB962C8B-B14F-4D97-AF65-F5344CB8AC3E}">
        <p14:creationId xmlns:p14="http://schemas.microsoft.com/office/powerpoint/2010/main" val="3576846528"/>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0EB0483-1596-4673-8A29-254D3DC88A58}"/>
              </a:ext>
            </a:extLst>
          </p:cNvPr>
          <p:cNvSpPr>
            <a:spLocks noGrp="1"/>
          </p:cNvSpPr>
          <p:nvPr>
            <p:ph type="title"/>
          </p:nvPr>
        </p:nvSpPr>
        <p:spPr/>
        <p:txBody>
          <a:bodyPr/>
          <a:lstStyle/>
          <a:p>
            <a:r>
              <a:rPr lang="en-US"/>
              <a:t>Click to edit Master title style</a:t>
            </a:r>
            <a:endParaRPr lang="en-GB"/>
          </a:p>
        </p:txBody>
      </p:sp>
      <p:sp>
        <p:nvSpPr>
          <p:cNvPr id="3" name="Vertical Text Placeholder 2">
            <a:extLst>
              <a:ext uri="{FF2B5EF4-FFF2-40B4-BE49-F238E27FC236}">
                <a16:creationId xmlns:a16="http://schemas.microsoft.com/office/drawing/2014/main" id="{F78DE429-CA08-4265-9A4D-51FDC7FA54E2}"/>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4" name="Date Placeholder 3">
            <a:extLst>
              <a:ext uri="{FF2B5EF4-FFF2-40B4-BE49-F238E27FC236}">
                <a16:creationId xmlns:a16="http://schemas.microsoft.com/office/drawing/2014/main" id="{AEE484A7-7EB0-4711-BB58-4DD3DBAC7D8E}"/>
              </a:ext>
            </a:extLst>
          </p:cNvPr>
          <p:cNvSpPr>
            <a:spLocks noGrp="1"/>
          </p:cNvSpPr>
          <p:nvPr>
            <p:ph type="dt" sz="half" idx="10"/>
          </p:nvPr>
        </p:nvSpPr>
        <p:spPr/>
        <p:txBody>
          <a:bodyPr/>
          <a:lstStyle/>
          <a:p>
            <a:fld id="{E85DF616-B21E-4EF6-A6A5-95E2FB3EB1A1}" type="datetimeFigureOut">
              <a:rPr lang="en-GB" smtClean="0"/>
              <a:t>15/03/2026</a:t>
            </a:fld>
            <a:endParaRPr lang="en-GB"/>
          </a:p>
        </p:txBody>
      </p:sp>
      <p:sp>
        <p:nvSpPr>
          <p:cNvPr id="5" name="Footer Placeholder 4">
            <a:extLst>
              <a:ext uri="{FF2B5EF4-FFF2-40B4-BE49-F238E27FC236}">
                <a16:creationId xmlns:a16="http://schemas.microsoft.com/office/drawing/2014/main" id="{E2541F78-0B35-41BE-A0A9-4586BE477DAC}"/>
              </a:ext>
            </a:extLst>
          </p:cNvPr>
          <p:cNvSpPr>
            <a:spLocks noGrp="1"/>
          </p:cNvSpPr>
          <p:nvPr>
            <p:ph type="ftr" sz="quarter" idx="11"/>
          </p:nvPr>
        </p:nvSpPr>
        <p:spPr/>
        <p:txBody>
          <a:bodyPr/>
          <a:lstStyle/>
          <a:p>
            <a:endParaRPr lang="en-GB"/>
          </a:p>
        </p:txBody>
      </p:sp>
      <p:sp>
        <p:nvSpPr>
          <p:cNvPr id="6" name="Slide Number Placeholder 5">
            <a:extLst>
              <a:ext uri="{FF2B5EF4-FFF2-40B4-BE49-F238E27FC236}">
                <a16:creationId xmlns:a16="http://schemas.microsoft.com/office/drawing/2014/main" id="{85D6E482-F592-48F9-83BC-62EB3DB573C7}"/>
              </a:ext>
            </a:extLst>
          </p:cNvPr>
          <p:cNvSpPr>
            <a:spLocks noGrp="1"/>
          </p:cNvSpPr>
          <p:nvPr>
            <p:ph type="sldNum" sz="quarter" idx="12"/>
          </p:nvPr>
        </p:nvSpPr>
        <p:spPr/>
        <p:txBody>
          <a:bodyPr/>
          <a:lstStyle/>
          <a:p>
            <a:fld id="{D05DED30-C8B5-4AF9-8D67-600C77DA493C}" type="slidenum">
              <a:rPr lang="en-GB" smtClean="0"/>
              <a:t>‹#›</a:t>
            </a:fld>
            <a:endParaRPr lang="en-GB"/>
          </a:p>
        </p:txBody>
      </p:sp>
    </p:spTree>
    <p:extLst>
      <p:ext uri="{BB962C8B-B14F-4D97-AF65-F5344CB8AC3E}">
        <p14:creationId xmlns:p14="http://schemas.microsoft.com/office/powerpoint/2010/main" val="361594651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D5361B4E-3627-4AD6-AD20-F32FAFBDA413}"/>
              </a:ext>
            </a:extLst>
          </p:cNvPr>
          <p:cNvSpPr>
            <a:spLocks noGrp="1"/>
          </p:cNvSpPr>
          <p:nvPr>
            <p:ph type="title" orient="vert"/>
          </p:nvPr>
        </p:nvSpPr>
        <p:spPr>
          <a:xfrm>
            <a:off x="8724900" y="365125"/>
            <a:ext cx="2628900" cy="5811838"/>
          </a:xfrm>
        </p:spPr>
        <p:txBody>
          <a:bodyPr vert="eaVert"/>
          <a:lstStyle/>
          <a:p>
            <a:r>
              <a:rPr lang="en-US"/>
              <a:t>Click to edit Master title style</a:t>
            </a:r>
            <a:endParaRPr lang="en-GB"/>
          </a:p>
        </p:txBody>
      </p:sp>
      <p:sp>
        <p:nvSpPr>
          <p:cNvPr id="3" name="Vertical Text Placeholder 2">
            <a:extLst>
              <a:ext uri="{FF2B5EF4-FFF2-40B4-BE49-F238E27FC236}">
                <a16:creationId xmlns:a16="http://schemas.microsoft.com/office/drawing/2014/main" id="{0048BF35-5935-4E82-A1F8-08337A4DA331}"/>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4" name="Date Placeholder 3">
            <a:extLst>
              <a:ext uri="{FF2B5EF4-FFF2-40B4-BE49-F238E27FC236}">
                <a16:creationId xmlns:a16="http://schemas.microsoft.com/office/drawing/2014/main" id="{8FFBD791-DE7C-49E1-A341-84D81473B5FD}"/>
              </a:ext>
            </a:extLst>
          </p:cNvPr>
          <p:cNvSpPr>
            <a:spLocks noGrp="1"/>
          </p:cNvSpPr>
          <p:nvPr>
            <p:ph type="dt" sz="half" idx="10"/>
          </p:nvPr>
        </p:nvSpPr>
        <p:spPr/>
        <p:txBody>
          <a:bodyPr/>
          <a:lstStyle/>
          <a:p>
            <a:fld id="{E85DF616-B21E-4EF6-A6A5-95E2FB3EB1A1}" type="datetimeFigureOut">
              <a:rPr lang="en-GB" smtClean="0"/>
              <a:t>15/03/2026</a:t>
            </a:fld>
            <a:endParaRPr lang="en-GB"/>
          </a:p>
        </p:txBody>
      </p:sp>
      <p:sp>
        <p:nvSpPr>
          <p:cNvPr id="5" name="Footer Placeholder 4">
            <a:extLst>
              <a:ext uri="{FF2B5EF4-FFF2-40B4-BE49-F238E27FC236}">
                <a16:creationId xmlns:a16="http://schemas.microsoft.com/office/drawing/2014/main" id="{69FD9CCE-A99B-4CBA-91FF-4D46A3F5C0E6}"/>
              </a:ext>
            </a:extLst>
          </p:cNvPr>
          <p:cNvSpPr>
            <a:spLocks noGrp="1"/>
          </p:cNvSpPr>
          <p:nvPr>
            <p:ph type="ftr" sz="quarter" idx="11"/>
          </p:nvPr>
        </p:nvSpPr>
        <p:spPr/>
        <p:txBody>
          <a:bodyPr/>
          <a:lstStyle/>
          <a:p>
            <a:endParaRPr lang="en-GB"/>
          </a:p>
        </p:txBody>
      </p:sp>
      <p:sp>
        <p:nvSpPr>
          <p:cNvPr id="6" name="Slide Number Placeholder 5">
            <a:extLst>
              <a:ext uri="{FF2B5EF4-FFF2-40B4-BE49-F238E27FC236}">
                <a16:creationId xmlns:a16="http://schemas.microsoft.com/office/drawing/2014/main" id="{863CAD09-2925-4932-B93A-FF27DE64CA89}"/>
              </a:ext>
            </a:extLst>
          </p:cNvPr>
          <p:cNvSpPr>
            <a:spLocks noGrp="1"/>
          </p:cNvSpPr>
          <p:nvPr>
            <p:ph type="sldNum" sz="quarter" idx="12"/>
          </p:nvPr>
        </p:nvSpPr>
        <p:spPr/>
        <p:txBody>
          <a:bodyPr/>
          <a:lstStyle/>
          <a:p>
            <a:fld id="{D05DED30-C8B5-4AF9-8D67-600C77DA493C}" type="slidenum">
              <a:rPr lang="en-GB" smtClean="0"/>
              <a:t>‹#›</a:t>
            </a:fld>
            <a:endParaRPr lang="en-GB"/>
          </a:p>
        </p:txBody>
      </p:sp>
    </p:spTree>
    <p:extLst>
      <p:ext uri="{BB962C8B-B14F-4D97-AF65-F5344CB8AC3E}">
        <p14:creationId xmlns:p14="http://schemas.microsoft.com/office/powerpoint/2010/main" val="2200597959"/>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21DB992C-5696-43C0-B140-56751731D8F9}"/>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endParaRPr lang="en-GB"/>
          </a:p>
        </p:txBody>
      </p:sp>
      <p:sp>
        <p:nvSpPr>
          <p:cNvPr id="3" name="Text Placeholder 2">
            <a:extLst>
              <a:ext uri="{FF2B5EF4-FFF2-40B4-BE49-F238E27FC236}">
                <a16:creationId xmlns:a16="http://schemas.microsoft.com/office/drawing/2014/main" id="{8C058581-4C84-49FD-8B3C-95F4C8571A13}"/>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4" name="Date Placeholder 3">
            <a:extLst>
              <a:ext uri="{FF2B5EF4-FFF2-40B4-BE49-F238E27FC236}">
                <a16:creationId xmlns:a16="http://schemas.microsoft.com/office/drawing/2014/main" id="{0948350B-1B49-41B8-8A7A-F1A1B98F8CA6}"/>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E85DF616-B21E-4EF6-A6A5-95E2FB3EB1A1}" type="datetimeFigureOut">
              <a:rPr lang="en-GB" smtClean="0"/>
              <a:t>15/03/2026</a:t>
            </a:fld>
            <a:endParaRPr lang="en-GB"/>
          </a:p>
        </p:txBody>
      </p:sp>
      <p:sp>
        <p:nvSpPr>
          <p:cNvPr id="5" name="Footer Placeholder 4">
            <a:extLst>
              <a:ext uri="{FF2B5EF4-FFF2-40B4-BE49-F238E27FC236}">
                <a16:creationId xmlns:a16="http://schemas.microsoft.com/office/drawing/2014/main" id="{4F0BE49B-AA7F-417D-B067-42C40475CC1D}"/>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GB"/>
          </a:p>
        </p:txBody>
      </p:sp>
      <p:sp>
        <p:nvSpPr>
          <p:cNvPr id="6" name="Slide Number Placeholder 5">
            <a:extLst>
              <a:ext uri="{FF2B5EF4-FFF2-40B4-BE49-F238E27FC236}">
                <a16:creationId xmlns:a16="http://schemas.microsoft.com/office/drawing/2014/main" id="{B3972CFA-2157-4F98-8693-550F0B104B64}"/>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D05DED30-C8B5-4AF9-8D67-600C77DA493C}" type="slidenum">
              <a:rPr lang="en-GB" smtClean="0"/>
              <a:t>‹#›</a:t>
            </a:fld>
            <a:endParaRPr lang="en-GB"/>
          </a:p>
        </p:txBody>
      </p:sp>
      <p:sp>
        <p:nvSpPr>
          <p:cNvPr id="9" name="TextBox 8">
            <a:extLst>
              <a:ext uri="{FF2B5EF4-FFF2-40B4-BE49-F238E27FC236}">
                <a16:creationId xmlns:a16="http://schemas.microsoft.com/office/drawing/2014/main" id="{27504F79-603A-6F7A-93E7-C9CABA0FF303}"/>
              </a:ext>
            </a:extLst>
          </p:cNvPr>
          <p:cNvSpPr txBox="1"/>
          <p:nvPr userDrawn="1">
            <p:extLst>
              <p:ext uri="{1162E1C5-73C7-4A58-AE30-91384D911F3F}">
                <p184:classification xmlns:p184="http://schemas.microsoft.com/office/powerpoint/2018/4/main" val="hdr"/>
              </p:ext>
            </p:extLst>
          </p:nvPr>
        </p:nvSpPr>
        <p:spPr>
          <a:xfrm>
            <a:off x="5781675" y="0"/>
            <a:ext cx="663575" cy="182880"/>
          </a:xfrm>
          <a:prstGeom prst="rect">
            <a:avLst/>
          </a:prstGeom>
        </p:spPr>
        <p:txBody>
          <a:bodyPr horzOverflow="overflow" lIns="0" tIns="0" rIns="0" bIns="0">
            <a:spAutoFit/>
          </a:bodyPr>
          <a:lstStyle/>
          <a:p>
            <a:pPr algn="l"/>
            <a:r>
              <a:rPr lang="en-SG" sz="1200">
                <a:solidFill>
                  <a:srgbClr val="FF0000"/>
                </a:solidFill>
                <a:latin typeface="Calibri" panose="020F0502020204030204" pitchFamily="34" charset="0"/>
                <a:cs typeface="Calibri" panose="020F0502020204030204" pitchFamily="34" charset="0"/>
              </a:rPr>
              <a:t>Restricted</a:t>
            </a:r>
          </a:p>
        </p:txBody>
      </p:sp>
      <p:sp>
        <p:nvSpPr>
          <p:cNvPr id="10" name="TextBox 9">
            <a:extLst>
              <a:ext uri="{FF2B5EF4-FFF2-40B4-BE49-F238E27FC236}">
                <a16:creationId xmlns:a16="http://schemas.microsoft.com/office/drawing/2014/main" id="{99872183-7F29-FB0F-D3D7-53204406A33F}"/>
              </a:ext>
            </a:extLst>
          </p:cNvPr>
          <p:cNvSpPr txBox="1"/>
          <p:nvPr userDrawn="1">
            <p:extLst>
              <p:ext uri="{1162E1C5-73C7-4A58-AE30-91384D911F3F}">
                <p184:classification xmlns:p184="http://schemas.microsoft.com/office/powerpoint/2018/4/main" val="ftr"/>
              </p:ext>
            </p:extLst>
          </p:nvPr>
        </p:nvSpPr>
        <p:spPr>
          <a:xfrm>
            <a:off x="5781675" y="6675120"/>
            <a:ext cx="663575" cy="182880"/>
          </a:xfrm>
          <a:prstGeom prst="rect">
            <a:avLst/>
          </a:prstGeom>
        </p:spPr>
        <p:txBody>
          <a:bodyPr horzOverflow="overflow" lIns="0" tIns="0" rIns="0" bIns="0">
            <a:spAutoFit/>
          </a:bodyPr>
          <a:lstStyle/>
          <a:p>
            <a:pPr algn="l"/>
            <a:r>
              <a:rPr lang="en-SG" sz="1200">
                <a:solidFill>
                  <a:srgbClr val="FF0000"/>
                </a:solidFill>
                <a:latin typeface="Calibri" panose="020F0502020204030204" pitchFamily="34" charset="0"/>
                <a:cs typeface="Calibri" panose="020F0502020204030204" pitchFamily="34" charset="0"/>
              </a:rPr>
              <a:t>Restricted</a:t>
            </a:r>
          </a:p>
        </p:txBody>
      </p:sp>
    </p:spTree>
    <p:extLst>
      <p:ext uri="{BB962C8B-B14F-4D97-AF65-F5344CB8AC3E}">
        <p14:creationId xmlns:p14="http://schemas.microsoft.com/office/powerpoint/2010/main" val="2168708284"/>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1.jp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3" Type="http://schemas.openxmlformats.org/officeDocument/2006/relationships/image" Target="../media/image2.jpeg"/><Relationship Id="rId2" Type="http://schemas.openxmlformats.org/officeDocument/2006/relationships/image" Target="../media/image2.png"/><Relationship Id="rId1" Type="http://schemas.openxmlformats.org/officeDocument/2006/relationships/slideLayout" Target="../slideLayouts/slideLayout4.xml"/><Relationship Id="rId5" Type="http://schemas.openxmlformats.org/officeDocument/2006/relationships/image" Target="../media/image4.png"/><Relationship Id="rId4" Type="http://schemas.openxmlformats.org/officeDocument/2006/relationships/image" Target="../media/image3.png"/></Relationships>
</file>

<file path=ppt/slides/_rels/slide4.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image" Target="../media/image79.png"/><Relationship Id="rId1" Type="http://schemas.openxmlformats.org/officeDocument/2006/relationships/slideLayout" Target="../slideLayouts/slideLayout4.xml"/></Relationships>
</file>

<file path=ppt/slides/_rels/slide11.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image" Target="../media/image81.png"/><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image" Target="../media/image13.png"/><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image" Target="../media/image14.png"/><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image" Target="../media/image14.png"/><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image" Target="../media/image140.png"/><Relationship Id="rId1" Type="http://schemas.openxmlformats.org/officeDocument/2006/relationships/slideLayout" Target="../slideLayouts/slideLayout4.xml"/></Relationships>
</file>

<file path=ppt/slides/_rels/slide16.xml.rels><?xml version="1.0" encoding="UTF-8" standalone="yes"?>
<Relationships xmlns="http://schemas.openxmlformats.org/package/2006/relationships"><Relationship Id="rId2" Type="http://schemas.openxmlformats.org/officeDocument/2006/relationships/image" Target="../media/image14.png"/><Relationship Id="rId1" Type="http://schemas.openxmlformats.org/officeDocument/2006/relationships/slideLayout" Target="../slideLayouts/slideLayout4.xml"/></Relationships>
</file>

<file path=ppt/slides/_rels/slide17.xml.rels><?xml version="1.0" encoding="UTF-8" standalone="yes"?>
<Relationships xmlns="http://schemas.openxmlformats.org/package/2006/relationships"><Relationship Id="rId2" Type="http://schemas.openxmlformats.org/officeDocument/2006/relationships/image" Target="../media/image15.gif"/><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2" Type="http://schemas.openxmlformats.org/officeDocument/2006/relationships/image" Target="../media/image16.png"/><Relationship Id="rId1" Type="http://schemas.openxmlformats.org/officeDocument/2006/relationships/slideLayout" Target="../slideLayouts/slideLayout4.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20.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image" Target="../media/image17.png"/><Relationship Id="rId1" Type="http://schemas.openxmlformats.org/officeDocument/2006/relationships/slideLayout" Target="../slideLayouts/slideLayout4.xml"/></Relationships>
</file>

<file path=ppt/slides/_rels/slide21.xml.rels><?xml version="1.0" encoding="UTF-8" standalone="yes"?>
<Relationships xmlns="http://schemas.openxmlformats.org/package/2006/relationships"><Relationship Id="rId3" Type="http://schemas.openxmlformats.org/officeDocument/2006/relationships/image" Target="../media/image18.png"/><Relationship Id="rId2" Type="http://schemas.openxmlformats.org/officeDocument/2006/relationships/image" Target="../media/image17.png"/><Relationship Id="rId1" Type="http://schemas.openxmlformats.org/officeDocument/2006/relationships/slideLayout" Target="../slideLayouts/slideLayout4.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2" Type="http://schemas.openxmlformats.org/officeDocument/2006/relationships/image" Target="../media/image19.png"/><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25.xml.rels><?xml version="1.0" encoding="UTF-8" standalone="yes"?>
<Relationships xmlns="http://schemas.openxmlformats.org/package/2006/relationships"><Relationship Id="rId2" Type="http://schemas.openxmlformats.org/officeDocument/2006/relationships/image" Target="../media/image20.jpg"/><Relationship Id="rId1" Type="http://schemas.openxmlformats.org/officeDocument/2006/relationships/slideLayout" Target="../slideLayouts/slideLayout4.xml"/></Relationships>
</file>

<file path=ppt/slides/_rels/slide26.xml.rels><?xml version="1.0" encoding="UTF-8" standalone="yes"?>
<Relationships xmlns="http://schemas.openxmlformats.org/package/2006/relationships"><Relationship Id="rId2" Type="http://schemas.openxmlformats.org/officeDocument/2006/relationships/image" Target="../media/image21.png"/><Relationship Id="rId1" Type="http://schemas.openxmlformats.org/officeDocument/2006/relationships/slideLayout" Target="../slideLayouts/slideLayout4.xml"/></Relationships>
</file>

<file path=ppt/slides/_rels/slide27.xml.rels><?xml version="1.0" encoding="UTF-8" standalone="yes"?>
<Relationships xmlns="http://schemas.openxmlformats.org/package/2006/relationships"><Relationship Id="rId2" Type="http://schemas.openxmlformats.org/officeDocument/2006/relationships/image" Target="../media/image22.png"/><Relationship Id="rId1" Type="http://schemas.openxmlformats.org/officeDocument/2006/relationships/slideLayout" Target="../slideLayouts/slideLayout4.xml"/></Relationships>
</file>

<file path=ppt/slides/_rels/slide28.xml.rels><?xml version="1.0" encoding="UTF-8" standalone="yes"?>
<Relationships xmlns="http://schemas.openxmlformats.org/package/2006/relationships"><Relationship Id="rId2" Type="http://schemas.openxmlformats.org/officeDocument/2006/relationships/image" Target="../media/image23.png"/><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2" Type="http://schemas.openxmlformats.org/officeDocument/2006/relationships/image" Target="../media/image24.png"/><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2" Type="http://schemas.openxmlformats.org/officeDocument/2006/relationships/image" Target="../media/image24.png"/><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2" Type="http://schemas.openxmlformats.org/officeDocument/2006/relationships/image" Target="../media/image25.png"/><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2" Type="http://schemas.openxmlformats.org/officeDocument/2006/relationships/image" Target="../media/image220.png"/><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2" Type="http://schemas.openxmlformats.org/officeDocument/2006/relationships/image" Target="../media/image24.png"/><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35.xml.rels><?xml version="1.0" encoding="UTF-8" standalone="yes"?>
<Relationships xmlns="http://schemas.openxmlformats.org/package/2006/relationships"><Relationship Id="rId2" Type="http://schemas.openxmlformats.org/officeDocument/2006/relationships/image" Target="../media/image231.png"/><Relationship Id="rId1" Type="http://schemas.openxmlformats.org/officeDocument/2006/relationships/slideLayout" Target="../slideLayouts/slideLayout4.xml"/></Relationships>
</file>

<file path=ppt/slides/_rels/slide36.xml.rels><?xml version="1.0" encoding="UTF-8" standalone="yes"?>
<Relationships xmlns="http://schemas.openxmlformats.org/package/2006/relationships"><Relationship Id="rId3" Type="http://schemas.openxmlformats.org/officeDocument/2006/relationships/image" Target="../media/image240.png"/><Relationship Id="rId2" Type="http://schemas.openxmlformats.org/officeDocument/2006/relationships/image" Target="../media/image230.png"/><Relationship Id="rId1" Type="http://schemas.openxmlformats.org/officeDocument/2006/relationships/slideLayout" Target="../slideLayouts/slideLayout4.xml"/></Relationships>
</file>

<file path=ppt/slides/_rels/slide37.xml.rels><?xml version="1.0" encoding="UTF-8" standalone="yes"?>
<Relationships xmlns="http://schemas.openxmlformats.org/package/2006/relationships"><Relationship Id="rId3" Type="http://schemas.openxmlformats.org/officeDocument/2006/relationships/image" Target="../media/image26.png"/><Relationship Id="rId2" Type="http://schemas.openxmlformats.org/officeDocument/2006/relationships/image" Target="../media/image250.png"/><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2" Type="http://schemas.openxmlformats.org/officeDocument/2006/relationships/image" Target="../media/image27.png"/><Relationship Id="rId1" Type="http://schemas.openxmlformats.org/officeDocument/2006/relationships/slideLayout" Target="../slideLayouts/slideLayout7.xml"/></Relationships>
</file>

<file path=ppt/slides/_rels/slide39.xml.rels><?xml version="1.0" encoding="UTF-8" standalone="yes"?>
<Relationships xmlns="http://schemas.openxmlformats.org/package/2006/relationships"><Relationship Id="rId3" Type="http://schemas.openxmlformats.org/officeDocument/2006/relationships/image" Target="../media/image28.png"/><Relationship Id="rId2" Type="http://schemas.openxmlformats.org/officeDocument/2006/relationships/image" Target="../media/image27.png"/><Relationship Id="rId1" Type="http://schemas.openxmlformats.org/officeDocument/2006/relationships/slideLayout" Target="../slideLayouts/slideLayout7.xml"/></Relationships>
</file>

<file path=ppt/slides/_rels/slide40.xml.rels><?xml version="1.0" encoding="UTF-8" standalone="yes"?>
<Relationships xmlns="http://schemas.openxmlformats.org/package/2006/relationships"><Relationship Id="rId2" Type="http://schemas.openxmlformats.org/officeDocument/2006/relationships/hyperlink" Target="https://medium.com/@fernando.dijkinga/explaining-l1-and-l2-regularization-in-machine-learning-2356ee91c8e3" TargetMode="External"/><Relationship Id="rId1" Type="http://schemas.openxmlformats.org/officeDocument/2006/relationships/slideLayout" Target="../slideLayouts/slideLayout2.xml"/></Relationships>
</file>

<file path=ppt/slides/_rels/slide41.xml.rels><?xml version="1.0" encoding="UTF-8" standalone="yes"?>
<Relationships xmlns="http://schemas.openxmlformats.org/package/2006/relationships"><Relationship Id="rId2" Type="http://schemas.openxmlformats.org/officeDocument/2006/relationships/image" Target="../media/image29.PNG"/><Relationship Id="rId1" Type="http://schemas.openxmlformats.org/officeDocument/2006/relationships/slideLayout" Target="../slideLayouts/slideLayout2.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80CEB46-CC16-4D19-8C2C-AEE9471D8168}"/>
              </a:ext>
            </a:extLst>
          </p:cNvPr>
          <p:cNvSpPr>
            <a:spLocks noGrp="1"/>
          </p:cNvSpPr>
          <p:nvPr>
            <p:ph type="ctrTitle"/>
          </p:nvPr>
        </p:nvSpPr>
        <p:spPr>
          <a:xfrm>
            <a:off x="375139" y="942610"/>
            <a:ext cx="11441722" cy="2387600"/>
          </a:xfrm>
        </p:spPr>
        <p:txBody>
          <a:bodyPr>
            <a:normAutofit/>
          </a:bodyPr>
          <a:lstStyle/>
          <a:p>
            <a:r>
              <a:rPr lang="en-US" b="1" dirty="0"/>
              <a:t>Practice of Deep Learning</a:t>
            </a:r>
            <a:br>
              <a:rPr lang="en-US" dirty="0"/>
            </a:br>
            <a:r>
              <a:rPr lang="en-US" dirty="0"/>
              <a:t>Day 1, Part 2/4</a:t>
            </a:r>
            <a:endParaRPr lang="en-GB" dirty="0"/>
          </a:p>
        </p:txBody>
      </p:sp>
      <p:sp>
        <p:nvSpPr>
          <p:cNvPr id="3" name="Subtitle 2">
            <a:extLst>
              <a:ext uri="{FF2B5EF4-FFF2-40B4-BE49-F238E27FC236}">
                <a16:creationId xmlns:a16="http://schemas.microsoft.com/office/drawing/2014/main" id="{816ABDE1-A047-4B53-92F2-67282914DD77}"/>
              </a:ext>
            </a:extLst>
          </p:cNvPr>
          <p:cNvSpPr>
            <a:spLocks noGrp="1"/>
          </p:cNvSpPr>
          <p:nvPr>
            <p:ph type="subTitle" idx="1"/>
          </p:nvPr>
        </p:nvSpPr>
        <p:spPr/>
        <p:txBody>
          <a:bodyPr/>
          <a:lstStyle/>
          <a:p>
            <a:r>
              <a:rPr lang="en-US" dirty="0"/>
              <a:t>Matthieu </a:t>
            </a:r>
            <a:r>
              <a:rPr lang="en-US"/>
              <a:t>De Mari</a:t>
            </a:r>
            <a:endParaRPr lang="en-US" dirty="0"/>
          </a:p>
        </p:txBody>
      </p:sp>
      <p:pic>
        <p:nvPicPr>
          <p:cNvPr id="4" name="Picture 3" descr="A picture containing drawing&#10;&#10;Description automatically generated">
            <a:extLst>
              <a:ext uri="{FF2B5EF4-FFF2-40B4-BE49-F238E27FC236}">
                <a16:creationId xmlns:a16="http://schemas.microsoft.com/office/drawing/2014/main" id="{EEFD138E-FF3C-4975-898F-313719523671}"/>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3874008" y="4484243"/>
            <a:ext cx="4443984" cy="1731264"/>
          </a:xfrm>
          <a:prstGeom prst="rect">
            <a:avLst/>
          </a:prstGeom>
        </p:spPr>
      </p:pic>
    </p:spTree>
    <p:extLst>
      <p:ext uri="{BB962C8B-B14F-4D97-AF65-F5344CB8AC3E}">
        <p14:creationId xmlns:p14="http://schemas.microsoft.com/office/powerpoint/2010/main" val="1040156172"/>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9D40417-A4D3-4CE8-96E7-708E2439AE7B}"/>
              </a:ext>
            </a:extLst>
          </p:cNvPr>
          <p:cNvSpPr>
            <a:spLocks noGrp="1"/>
          </p:cNvSpPr>
          <p:nvPr>
            <p:ph type="title"/>
          </p:nvPr>
        </p:nvSpPr>
        <p:spPr/>
        <p:txBody>
          <a:bodyPr/>
          <a:lstStyle/>
          <a:p>
            <a:r>
              <a:rPr lang="en-US" dirty="0"/>
              <a:t>About this lecture</a:t>
            </a:r>
            <a:endParaRPr lang="en-GB" dirty="0"/>
          </a:p>
        </p:txBody>
      </p:sp>
      <p:sp>
        <p:nvSpPr>
          <p:cNvPr id="3" name="Content Placeholder 2">
            <a:extLst>
              <a:ext uri="{FF2B5EF4-FFF2-40B4-BE49-F238E27FC236}">
                <a16:creationId xmlns:a16="http://schemas.microsoft.com/office/drawing/2014/main" id="{35995840-A9D9-479A-A34F-EA7DC229D38E}"/>
              </a:ext>
            </a:extLst>
          </p:cNvPr>
          <p:cNvSpPr>
            <a:spLocks noGrp="1"/>
          </p:cNvSpPr>
          <p:nvPr>
            <p:ph idx="1"/>
          </p:nvPr>
        </p:nvSpPr>
        <p:spPr>
          <a:xfrm>
            <a:off x="838200" y="1825625"/>
            <a:ext cx="10515600" cy="4827102"/>
          </a:xfrm>
        </p:spPr>
        <p:txBody>
          <a:bodyPr/>
          <a:lstStyle/>
          <a:p>
            <a:pPr marL="514350" indent="-514350">
              <a:buFont typeface="+mj-lt"/>
              <a:buAutoNum type="arabicPeriod"/>
            </a:pPr>
            <a:r>
              <a:rPr lang="en-GB" dirty="0"/>
              <a:t>What is </a:t>
            </a:r>
            <a:r>
              <a:rPr lang="en-GB" b="1" dirty="0"/>
              <a:t>polynomial</a:t>
            </a:r>
            <a:r>
              <a:rPr lang="en-GB" dirty="0"/>
              <a:t> </a:t>
            </a:r>
            <a:r>
              <a:rPr lang="en-GB" b="1" dirty="0"/>
              <a:t>regression</a:t>
            </a:r>
            <a:r>
              <a:rPr lang="en-GB" dirty="0"/>
              <a:t> and how to implement it?</a:t>
            </a:r>
          </a:p>
          <a:p>
            <a:pPr marL="514350" indent="-514350">
              <a:buFont typeface="+mj-lt"/>
              <a:buAutoNum type="arabicPeriod"/>
            </a:pPr>
            <a:r>
              <a:rPr lang="en-GB" dirty="0"/>
              <a:t>What is </a:t>
            </a:r>
            <a:r>
              <a:rPr lang="en-GB" b="1" dirty="0"/>
              <a:t>regularization</a:t>
            </a:r>
            <a:r>
              <a:rPr lang="en-GB" dirty="0"/>
              <a:t> and how to implement it in </a:t>
            </a:r>
            <a:r>
              <a:rPr lang="en-GB" b="1" dirty="0"/>
              <a:t>Ridge</a:t>
            </a:r>
            <a:r>
              <a:rPr lang="en-GB" dirty="0"/>
              <a:t> </a:t>
            </a:r>
            <a:r>
              <a:rPr lang="en-GB" b="1" dirty="0"/>
              <a:t>regression</a:t>
            </a:r>
            <a:r>
              <a:rPr lang="en-GB" dirty="0"/>
              <a:t>?</a:t>
            </a:r>
          </a:p>
          <a:p>
            <a:pPr marL="514350" indent="-514350">
              <a:buFont typeface="+mj-lt"/>
              <a:buAutoNum type="arabicPeriod"/>
            </a:pPr>
            <a:r>
              <a:rPr lang="en-GB" dirty="0"/>
              <a:t>What is </a:t>
            </a:r>
            <a:r>
              <a:rPr lang="en-GB" b="1" dirty="0"/>
              <a:t>overfitting</a:t>
            </a:r>
            <a:r>
              <a:rPr lang="en-GB" dirty="0"/>
              <a:t> and why is it bad?</a:t>
            </a:r>
          </a:p>
          <a:p>
            <a:pPr marL="514350" indent="-514350">
              <a:buFont typeface="+mj-lt"/>
              <a:buAutoNum type="arabicPeriod"/>
            </a:pPr>
            <a:r>
              <a:rPr lang="en-GB" dirty="0"/>
              <a:t>What is </a:t>
            </a:r>
            <a:r>
              <a:rPr lang="en-GB" b="1" dirty="0"/>
              <a:t>underfitting</a:t>
            </a:r>
            <a:r>
              <a:rPr lang="en-GB" dirty="0"/>
              <a:t> and why is it bad?</a:t>
            </a:r>
          </a:p>
          <a:p>
            <a:pPr marL="514350" indent="-514350">
              <a:buFont typeface="+mj-lt"/>
              <a:buAutoNum type="arabicPeriod"/>
            </a:pPr>
            <a:r>
              <a:rPr lang="en-GB" dirty="0"/>
              <a:t>What is </a:t>
            </a:r>
            <a:r>
              <a:rPr lang="en-GB" b="1" dirty="0"/>
              <a:t>generalization</a:t>
            </a:r>
            <a:r>
              <a:rPr lang="en-GB" dirty="0"/>
              <a:t> and how to evaluate it?</a:t>
            </a:r>
          </a:p>
          <a:p>
            <a:pPr marL="514350" indent="-514350">
              <a:buFont typeface="+mj-lt"/>
              <a:buAutoNum type="arabicPeriod"/>
            </a:pPr>
            <a:endParaRPr lang="en-GB" dirty="0"/>
          </a:p>
          <a:p>
            <a:pPr marL="514350" indent="-514350">
              <a:buFont typeface="+mj-lt"/>
              <a:buAutoNum type="arabicPeriod"/>
            </a:pPr>
            <a:endParaRPr lang="en-GB" dirty="0"/>
          </a:p>
        </p:txBody>
      </p:sp>
    </p:spTree>
    <p:extLst>
      <p:ext uri="{BB962C8B-B14F-4D97-AF65-F5344CB8AC3E}">
        <p14:creationId xmlns:p14="http://schemas.microsoft.com/office/powerpoint/2010/main" val="3442501962"/>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51540BB-97C7-1060-F5DD-F4A4417D2522}"/>
              </a:ext>
            </a:extLst>
          </p:cNvPr>
          <p:cNvSpPr>
            <a:spLocks noGrp="1"/>
          </p:cNvSpPr>
          <p:nvPr>
            <p:ph type="title"/>
          </p:nvPr>
        </p:nvSpPr>
        <p:spPr/>
        <p:txBody>
          <a:bodyPr/>
          <a:lstStyle/>
          <a:p>
            <a:r>
              <a:rPr lang="en-GB" dirty="0"/>
              <a:t>Same problem, v2.0</a:t>
            </a:r>
            <a:endParaRPr lang="en-SG" dirty="0"/>
          </a:p>
        </p:txBody>
      </p:sp>
      <mc:AlternateContent xmlns:mc="http://schemas.openxmlformats.org/markup-compatibility/2006" xmlns:a14="http://schemas.microsoft.com/office/drawing/2010/main">
        <mc:Choice Requires="a14">
          <p:sp>
            <p:nvSpPr>
              <p:cNvPr id="3" name="Content Placeholder 2">
                <a:extLst>
                  <a:ext uri="{FF2B5EF4-FFF2-40B4-BE49-F238E27FC236}">
                    <a16:creationId xmlns:a16="http://schemas.microsoft.com/office/drawing/2014/main" id="{09ACEEFD-8460-F540-F80C-BEACC2297773}"/>
                  </a:ext>
                </a:extLst>
              </p:cNvPr>
              <p:cNvSpPr>
                <a:spLocks noGrp="1"/>
              </p:cNvSpPr>
              <p:nvPr>
                <p:ph sz="half" idx="1"/>
              </p:nvPr>
            </p:nvSpPr>
            <p:spPr>
              <a:xfrm>
                <a:off x="838199" y="1825624"/>
                <a:ext cx="6047155" cy="5032375"/>
              </a:xfrm>
            </p:spPr>
            <p:txBody>
              <a:bodyPr>
                <a:normAutofit/>
              </a:bodyPr>
              <a:lstStyle/>
              <a:p>
                <a:pPr marL="0" indent="0">
                  <a:buNone/>
                </a:pPr>
                <a:r>
                  <a:rPr lang="en-GB" dirty="0"/>
                  <a:t>Let us now consider that the inputs consist of more than one parameter, e.g. each sample </a:t>
                </a:r>
                <a14:m>
                  <m:oMath xmlns:m="http://schemas.openxmlformats.org/officeDocument/2006/math">
                    <m:sSub>
                      <m:sSubPr>
                        <m:ctrlPr>
                          <a:rPr lang="en-GB" b="0" i="1" smtClean="0">
                            <a:latin typeface="Cambria Math" panose="02040503050406030204" pitchFamily="18" charset="0"/>
                          </a:rPr>
                        </m:ctrlPr>
                      </m:sSubPr>
                      <m:e>
                        <m:r>
                          <a:rPr lang="en-GB" b="0" i="1" smtClean="0">
                            <a:latin typeface="Cambria Math" panose="02040503050406030204" pitchFamily="18" charset="0"/>
                          </a:rPr>
                          <m:t>𝑥</m:t>
                        </m:r>
                      </m:e>
                      <m:sub>
                        <m:r>
                          <a:rPr lang="en-GB" b="0" i="1" smtClean="0">
                            <a:latin typeface="Cambria Math" panose="02040503050406030204" pitchFamily="18" charset="0"/>
                          </a:rPr>
                          <m:t>𝑖</m:t>
                        </m:r>
                      </m:sub>
                    </m:sSub>
                  </m:oMath>
                </a14:m>
                <a:r>
                  <a:rPr lang="en-GB" dirty="0"/>
                  <a:t> consists of:</a:t>
                </a:r>
              </a:p>
              <a:p>
                <a:r>
                  <a:rPr lang="en-GB" dirty="0"/>
                  <a:t>The surface </a:t>
                </a:r>
                <a14:m>
                  <m:oMath xmlns:m="http://schemas.openxmlformats.org/officeDocument/2006/math">
                    <m:sSubSup>
                      <m:sSubSupPr>
                        <m:ctrlPr>
                          <a:rPr lang="en-GB" i="1" dirty="0" smtClean="0">
                            <a:latin typeface="Cambria Math" panose="02040503050406030204" pitchFamily="18" charset="0"/>
                          </a:rPr>
                        </m:ctrlPr>
                      </m:sSubSupPr>
                      <m:e>
                        <m:r>
                          <a:rPr lang="en-GB" i="1" dirty="0" smtClean="0">
                            <a:latin typeface="Cambria Math" panose="02040503050406030204" pitchFamily="18" charset="0"/>
                          </a:rPr>
                          <m:t>𝑥</m:t>
                        </m:r>
                      </m:e>
                      <m:sub>
                        <m:r>
                          <a:rPr lang="en-GB" i="1" dirty="0" smtClean="0">
                            <a:latin typeface="Cambria Math" panose="02040503050406030204" pitchFamily="18" charset="0"/>
                          </a:rPr>
                          <m:t>𝑖</m:t>
                        </m:r>
                      </m:sub>
                      <m:sup>
                        <m:r>
                          <a:rPr lang="en-GB" b="0" i="1" dirty="0" smtClean="0">
                            <a:latin typeface="Cambria Math" panose="02040503050406030204" pitchFamily="18" charset="0"/>
                          </a:rPr>
                          <m:t>1</m:t>
                        </m:r>
                      </m:sup>
                    </m:sSubSup>
                    <m:r>
                      <a:rPr lang="en-GB" b="0" i="0" dirty="0" smtClean="0">
                        <a:latin typeface="Cambria Math" panose="02040503050406030204" pitchFamily="18" charset="0"/>
                      </a:rPr>
                      <m:t>,</m:t>
                    </m:r>
                  </m:oMath>
                </a14:m>
                <a:endParaRPr lang="en-GB" b="0" dirty="0"/>
              </a:p>
              <a:p>
                <a:r>
                  <a:rPr lang="en-GB" dirty="0"/>
                  <a:t>The distance to closest MRT </a:t>
                </a:r>
                <a14:m>
                  <m:oMath xmlns:m="http://schemas.openxmlformats.org/officeDocument/2006/math">
                    <m:sSubSup>
                      <m:sSubSupPr>
                        <m:ctrlPr>
                          <a:rPr lang="en-GB" i="1" dirty="0" smtClean="0">
                            <a:latin typeface="Cambria Math" panose="02040503050406030204" pitchFamily="18" charset="0"/>
                          </a:rPr>
                        </m:ctrlPr>
                      </m:sSubSupPr>
                      <m:e>
                        <m:r>
                          <a:rPr lang="en-GB" i="1" dirty="0" smtClean="0">
                            <a:latin typeface="Cambria Math" panose="02040503050406030204" pitchFamily="18" charset="0"/>
                          </a:rPr>
                          <m:t>𝑥</m:t>
                        </m:r>
                      </m:e>
                      <m:sub>
                        <m:r>
                          <a:rPr lang="en-GB" i="1" dirty="0" smtClean="0">
                            <a:latin typeface="Cambria Math" panose="02040503050406030204" pitchFamily="18" charset="0"/>
                          </a:rPr>
                          <m:t>𝑖</m:t>
                        </m:r>
                      </m:sub>
                      <m:sup>
                        <m:r>
                          <a:rPr lang="en-GB" b="0" i="1" dirty="0" smtClean="0">
                            <a:latin typeface="Cambria Math" panose="02040503050406030204" pitchFamily="18" charset="0"/>
                          </a:rPr>
                          <m:t>2</m:t>
                        </m:r>
                      </m:sup>
                    </m:sSubSup>
                    <m:r>
                      <a:rPr lang="en-GB" b="0" i="0" dirty="0" smtClean="0">
                        <a:latin typeface="Cambria Math" panose="02040503050406030204" pitchFamily="18" charset="0"/>
                      </a:rPr>
                      <m:t>,</m:t>
                    </m:r>
                  </m:oMath>
                </a14:m>
                <a:endParaRPr lang="en-GB" b="0" dirty="0"/>
              </a:p>
              <a:p>
                <a:r>
                  <a:rPr lang="en-GB" b="0" dirty="0"/>
                  <a:t>Etc.</a:t>
                </a:r>
              </a:p>
              <a:p>
                <a:pPr marL="0" indent="0">
                  <a:buNone/>
                </a:pPr>
                <a:endParaRPr lang="en-GB" dirty="0"/>
              </a:p>
              <a:p>
                <a:pPr marL="0" indent="0">
                  <a:buNone/>
                </a:pPr>
                <a:r>
                  <a:rPr lang="en-GB" dirty="0"/>
                  <a:t>The linear regression can be simply transposed from a single input to multiple inputs.</a:t>
                </a:r>
                <a:endParaRPr lang="en-SG" dirty="0"/>
              </a:p>
            </p:txBody>
          </p:sp>
        </mc:Choice>
        <mc:Fallback xmlns="">
          <p:sp>
            <p:nvSpPr>
              <p:cNvPr id="3" name="Content Placeholder 2">
                <a:extLst>
                  <a:ext uri="{FF2B5EF4-FFF2-40B4-BE49-F238E27FC236}">
                    <a16:creationId xmlns:a16="http://schemas.microsoft.com/office/drawing/2014/main" id="{09ACEEFD-8460-F540-F80C-BEACC2297773}"/>
                  </a:ext>
                </a:extLst>
              </p:cNvPr>
              <p:cNvSpPr>
                <a:spLocks noGrp="1" noRot="1" noChangeAspect="1" noMove="1" noResize="1" noEditPoints="1" noAdjustHandles="1" noChangeArrowheads="1" noChangeShapeType="1" noTextEdit="1"/>
              </p:cNvSpPr>
              <p:nvPr>
                <p:ph sz="half" idx="1"/>
              </p:nvPr>
            </p:nvSpPr>
            <p:spPr>
              <a:xfrm>
                <a:off x="838199" y="1825624"/>
                <a:ext cx="6047155" cy="5032375"/>
              </a:xfrm>
              <a:blipFill>
                <a:blip r:embed="rId2"/>
                <a:stretch>
                  <a:fillRect l="-2016" t="-1937" r="-3427"/>
                </a:stretch>
              </a:blipFill>
            </p:spPr>
            <p:txBody>
              <a:bodyPr/>
              <a:lstStyle/>
              <a:p>
                <a:r>
                  <a:rPr lang="en-GB">
                    <a:noFill/>
                  </a:rPr>
                  <a:t> </a:t>
                </a:r>
              </a:p>
            </p:txBody>
          </p:sp>
        </mc:Fallback>
      </mc:AlternateContent>
      <p:pic>
        <p:nvPicPr>
          <p:cNvPr id="5" name="Picture 4" descr="RÃ©sultat de recherche d'images pour &quot;apartment seller agent&quot;">
            <a:extLst>
              <a:ext uri="{FF2B5EF4-FFF2-40B4-BE49-F238E27FC236}">
                <a16:creationId xmlns:a16="http://schemas.microsoft.com/office/drawing/2014/main" id="{E79A8FF2-797D-AB75-C449-F1D7351E6F54}"/>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8206154" y="4840851"/>
            <a:ext cx="2790092" cy="1860061"/>
          </a:xfrm>
          <a:prstGeom prst="rect">
            <a:avLst/>
          </a:prstGeom>
          <a:noFill/>
          <a:extLst>
            <a:ext uri="{909E8E84-426E-40DD-AFC4-6F175D3DCCD1}">
              <a14:hiddenFill xmlns:a14="http://schemas.microsoft.com/office/drawing/2010/main">
                <a:solidFill>
                  <a:srgbClr val="FFFFFF"/>
                </a:solidFill>
              </a14:hiddenFill>
            </a:ext>
          </a:extLst>
        </p:spPr>
      </p:pic>
      <p:pic>
        <p:nvPicPr>
          <p:cNvPr id="6" name="Picture 5">
            <a:extLst>
              <a:ext uri="{FF2B5EF4-FFF2-40B4-BE49-F238E27FC236}">
                <a16:creationId xmlns:a16="http://schemas.microsoft.com/office/drawing/2014/main" id="{53866A6C-7EA3-A159-D0EE-01B47AA95425}"/>
              </a:ext>
            </a:extLst>
          </p:cNvPr>
          <p:cNvPicPr>
            <a:picLocks noChangeAspect="1"/>
          </p:cNvPicPr>
          <p:nvPr/>
        </p:nvPicPr>
        <p:blipFill>
          <a:blip r:embed="rId4"/>
          <a:stretch>
            <a:fillRect/>
          </a:stretch>
        </p:blipFill>
        <p:spPr>
          <a:xfrm>
            <a:off x="7315198" y="2017149"/>
            <a:ext cx="4173415" cy="2720236"/>
          </a:xfrm>
          <a:prstGeom prst="rect">
            <a:avLst/>
          </a:prstGeom>
        </p:spPr>
      </p:pic>
      <p:pic>
        <p:nvPicPr>
          <p:cNvPr id="7" name="Picture 6">
            <a:extLst>
              <a:ext uri="{FF2B5EF4-FFF2-40B4-BE49-F238E27FC236}">
                <a16:creationId xmlns:a16="http://schemas.microsoft.com/office/drawing/2014/main" id="{1CB63BDA-2C16-D522-FEAB-CECFC3D0BD1C}"/>
              </a:ext>
            </a:extLst>
          </p:cNvPr>
          <p:cNvPicPr>
            <a:picLocks noChangeAspect="1"/>
          </p:cNvPicPr>
          <p:nvPr/>
        </p:nvPicPr>
        <p:blipFill>
          <a:blip r:embed="rId5"/>
          <a:stretch>
            <a:fillRect/>
          </a:stretch>
        </p:blipFill>
        <p:spPr>
          <a:xfrm>
            <a:off x="7315198" y="1027906"/>
            <a:ext cx="4630471" cy="1076854"/>
          </a:xfrm>
          <a:prstGeom prst="rect">
            <a:avLst/>
          </a:prstGeom>
        </p:spPr>
      </p:pic>
    </p:spTree>
    <p:extLst>
      <p:ext uri="{BB962C8B-B14F-4D97-AF65-F5344CB8AC3E}">
        <p14:creationId xmlns:p14="http://schemas.microsoft.com/office/powerpoint/2010/main" val="2981077995"/>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51540BB-97C7-1060-F5DD-F4A4417D2522}"/>
              </a:ext>
            </a:extLst>
          </p:cNvPr>
          <p:cNvSpPr>
            <a:spLocks noGrp="1"/>
          </p:cNvSpPr>
          <p:nvPr>
            <p:ph type="title"/>
          </p:nvPr>
        </p:nvSpPr>
        <p:spPr/>
        <p:txBody>
          <a:bodyPr/>
          <a:lstStyle/>
          <a:p>
            <a:r>
              <a:rPr lang="en-GB" dirty="0"/>
              <a:t>From Linear to Polynomial Regression</a:t>
            </a:r>
            <a:endParaRPr lang="en-SG" dirty="0"/>
          </a:p>
        </p:txBody>
      </p:sp>
      <mc:AlternateContent xmlns:mc="http://schemas.openxmlformats.org/markup-compatibility/2006" xmlns:a14="http://schemas.microsoft.com/office/drawing/2010/main">
        <mc:Choice Requires="a14">
          <p:sp>
            <p:nvSpPr>
              <p:cNvPr id="3" name="Content Placeholder 2">
                <a:extLst>
                  <a:ext uri="{FF2B5EF4-FFF2-40B4-BE49-F238E27FC236}">
                    <a16:creationId xmlns:a16="http://schemas.microsoft.com/office/drawing/2014/main" id="{09ACEEFD-8460-F540-F80C-BEACC2297773}"/>
                  </a:ext>
                </a:extLst>
              </p:cNvPr>
              <p:cNvSpPr>
                <a:spLocks noGrp="1"/>
              </p:cNvSpPr>
              <p:nvPr>
                <p:ph idx="1"/>
              </p:nvPr>
            </p:nvSpPr>
            <p:spPr>
              <a:xfrm>
                <a:off x="432619" y="1825624"/>
                <a:ext cx="11621729" cy="5032375"/>
              </a:xfrm>
            </p:spPr>
            <p:txBody>
              <a:bodyPr>
                <a:normAutofit/>
              </a:bodyPr>
              <a:lstStyle/>
              <a:p>
                <a:pPr marL="0" indent="0">
                  <a:buNone/>
                </a:pPr>
                <a:r>
                  <a:rPr lang="en-GB" b="1" dirty="0"/>
                  <a:t>Definition (</a:t>
                </a:r>
                <a:r>
                  <a:rPr lang="en-GB" b="1" dirty="0">
                    <a:solidFill>
                      <a:srgbClr val="00B050"/>
                    </a:solidFill>
                  </a:rPr>
                  <a:t>Polynomial</a:t>
                </a:r>
                <a:r>
                  <a:rPr lang="en-GB" b="1" dirty="0"/>
                  <a:t> </a:t>
                </a:r>
                <a:r>
                  <a:rPr lang="en-GB" b="1" dirty="0">
                    <a:solidFill>
                      <a:srgbClr val="00B050"/>
                    </a:solidFill>
                  </a:rPr>
                  <a:t>Regression with degree K</a:t>
                </a:r>
                <a:r>
                  <a:rPr lang="en-GB" b="1" dirty="0"/>
                  <a:t>):</a:t>
                </a:r>
              </a:p>
              <a:p>
                <a:pPr marL="0" indent="0">
                  <a:buNone/>
                </a:pPr>
                <a:r>
                  <a:rPr lang="en-GB" b="1" dirty="0">
                    <a:solidFill>
                      <a:srgbClr val="00B050"/>
                    </a:solidFill>
                  </a:rPr>
                  <a:t>Polynomial Regression</a:t>
                </a:r>
                <a:r>
                  <a:rPr lang="en-GB" dirty="0"/>
                  <a:t> is a model, which </a:t>
                </a:r>
                <a:r>
                  <a:rPr lang="en-GB" b="1" dirty="0"/>
                  <a:t>assumes that there is a polynomial relationship between inputs and target outputs, </a:t>
                </a:r>
                <a:r>
                  <a:rPr lang="en-GB" dirty="0"/>
                  <a:t>which can be defined as a</a:t>
                </a:r>
                <a:r>
                  <a:rPr lang="en-GB" b="1" dirty="0"/>
                  <a:t> polynomial function of degree </a:t>
                </a:r>
                <a14:m>
                  <m:oMath xmlns:m="http://schemas.openxmlformats.org/officeDocument/2006/math">
                    <m:r>
                      <a:rPr lang="en-GB" b="1" i="1" dirty="0" smtClean="0">
                        <a:latin typeface="Cambria Math" panose="02040503050406030204" pitchFamily="18" charset="0"/>
                      </a:rPr>
                      <m:t>𝑲</m:t>
                    </m:r>
                  </m:oMath>
                </a14:m>
                <a:r>
                  <a:rPr lang="en-GB" b="1" dirty="0"/>
                  <a:t>.</a:t>
                </a:r>
              </a:p>
              <a:p>
                <a:pPr marL="0" indent="0">
                  <a:buNone/>
                </a:pPr>
                <a:r>
                  <a:rPr lang="en-GB" dirty="0"/>
                  <a:t>It consists of several trainable parameters </a:t>
                </a:r>
                <a14:m>
                  <m:oMath xmlns:m="http://schemas.openxmlformats.org/officeDocument/2006/math">
                    <m:r>
                      <a:rPr lang="en-GB" i="1" dirty="0">
                        <a:latin typeface="Cambria Math" panose="02040503050406030204" pitchFamily="18" charset="0"/>
                      </a:rPr>
                      <m:t>(</m:t>
                    </m:r>
                    <m:sSub>
                      <m:sSubPr>
                        <m:ctrlPr>
                          <a:rPr lang="en-GB" b="0" i="1" dirty="0" smtClean="0">
                            <a:latin typeface="Cambria Math" panose="02040503050406030204" pitchFamily="18" charset="0"/>
                          </a:rPr>
                        </m:ctrlPr>
                      </m:sSubPr>
                      <m:e>
                        <m:r>
                          <a:rPr lang="en-GB" b="0" i="1" dirty="0" smtClean="0">
                            <a:latin typeface="Cambria Math" panose="02040503050406030204" pitchFamily="18" charset="0"/>
                          </a:rPr>
                          <m:t>𝑎</m:t>
                        </m:r>
                      </m:e>
                      <m:sub>
                        <m:r>
                          <a:rPr lang="en-GB" b="0" i="1" dirty="0" smtClean="0">
                            <a:latin typeface="Cambria Math" panose="02040503050406030204" pitchFamily="18" charset="0"/>
                          </a:rPr>
                          <m:t>1, </m:t>
                        </m:r>
                      </m:sub>
                    </m:sSub>
                    <m:sSub>
                      <m:sSubPr>
                        <m:ctrlPr>
                          <a:rPr lang="en-GB" b="0" i="1" dirty="0" smtClean="0">
                            <a:latin typeface="Cambria Math" panose="02040503050406030204" pitchFamily="18" charset="0"/>
                          </a:rPr>
                        </m:ctrlPr>
                      </m:sSubPr>
                      <m:e>
                        <m:r>
                          <a:rPr lang="en-GB" b="0" i="1" dirty="0" smtClean="0">
                            <a:latin typeface="Cambria Math" panose="02040503050406030204" pitchFamily="18" charset="0"/>
                          </a:rPr>
                          <m:t>𝑎</m:t>
                        </m:r>
                      </m:e>
                      <m:sub>
                        <m:r>
                          <a:rPr lang="en-GB" b="0" i="1" dirty="0" smtClean="0">
                            <a:latin typeface="Cambria Math" panose="02040503050406030204" pitchFamily="18" charset="0"/>
                          </a:rPr>
                          <m:t>2</m:t>
                        </m:r>
                      </m:sub>
                    </m:sSub>
                    <m:r>
                      <a:rPr lang="en-GB" b="0" i="1" dirty="0" smtClean="0">
                        <a:latin typeface="Cambria Math" panose="02040503050406030204" pitchFamily="18" charset="0"/>
                      </a:rPr>
                      <m:t>,…</m:t>
                    </m:r>
                    <m:sSub>
                      <m:sSubPr>
                        <m:ctrlPr>
                          <a:rPr lang="en-GB" b="0" i="1" dirty="0" smtClean="0">
                            <a:latin typeface="Cambria Math" panose="02040503050406030204" pitchFamily="18" charset="0"/>
                          </a:rPr>
                        </m:ctrlPr>
                      </m:sSubPr>
                      <m:e>
                        <m:r>
                          <a:rPr lang="en-GB" b="0" i="1" dirty="0" smtClean="0">
                            <a:latin typeface="Cambria Math" panose="02040503050406030204" pitchFamily="18" charset="0"/>
                          </a:rPr>
                          <m:t>𝑎</m:t>
                        </m:r>
                      </m:e>
                      <m:sub>
                        <m:r>
                          <a:rPr lang="en-GB" b="0" i="1" dirty="0" smtClean="0">
                            <a:latin typeface="Cambria Math" panose="02040503050406030204" pitchFamily="18" charset="0"/>
                          </a:rPr>
                          <m:t>𝐾</m:t>
                        </m:r>
                      </m:sub>
                    </m:sSub>
                    <m:r>
                      <a:rPr lang="en-GB" b="0" i="1" dirty="0" smtClean="0">
                        <a:latin typeface="Cambria Math" panose="02040503050406030204" pitchFamily="18" charset="0"/>
                      </a:rPr>
                      <m:t>,</m:t>
                    </m:r>
                    <m:r>
                      <a:rPr lang="en-GB" i="1" dirty="0">
                        <a:latin typeface="Cambria Math" panose="02040503050406030204" pitchFamily="18" charset="0"/>
                      </a:rPr>
                      <m:t>𝑏</m:t>
                    </m:r>
                    <m:r>
                      <a:rPr lang="en-GB" i="1" dirty="0">
                        <a:latin typeface="Cambria Math" panose="02040503050406030204" pitchFamily="18" charset="0"/>
                      </a:rPr>
                      <m:t>)</m:t>
                    </m:r>
                  </m:oMath>
                </a14:m>
                <a:r>
                  <a:rPr lang="en-GB" dirty="0"/>
                  <a:t>, to be freely chosen.</a:t>
                </a:r>
              </a:p>
              <a:p>
                <a:pPr marL="0" indent="0">
                  <a:buNone/>
                </a:pPr>
                <a:r>
                  <a:rPr lang="en-GB" dirty="0"/>
                  <a:t>These will connect any input </a:t>
                </a:r>
                <a14:m>
                  <m:oMath xmlns:m="http://schemas.openxmlformats.org/officeDocument/2006/math">
                    <m:sSub>
                      <m:sSubPr>
                        <m:ctrlPr>
                          <a:rPr lang="en-GB" i="1" dirty="0">
                            <a:latin typeface="Cambria Math" panose="02040503050406030204" pitchFamily="18" charset="0"/>
                          </a:rPr>
                        </m:ctrlPr>
                      </m:sSubPr>
                      <m:e>
                        <m:r>
                          <a:rPr lang="en-GB" i="1" dirty="0">
                            <a:latin typeface="Cambria Math" panose="02040503050406030204" pitchFamily="18" charset="0"/>
                          </a:rPr>
                          <m:t>𝑥</m:t>
                        </m:r>
                      </m:e>
                      <m:sub>
                        <m:r>
                          <a:rPr lang="en-GB" i="1" dirty="0">
                            <a:latin typeface="Cambria Math" panose="02040503050406030204" pitchFamily="18" charset="0"/>
                          </a:rPr>
                          <m:t>𝑖</m:t>
                        </m:r>
                      </m:sub>
                    </m:sSub>
                  </m:oMath>
                </a14:m>
                <a:r>
                  <a:rPr lang="en-GB" dirty="0"/>
                  <a:t> (e.g. the surface only) to its respective output </a:t>
                </a:r>
                <a14:m>
                  <m:oMath xmlns:m="http://schemas.openxmlformats.org/officeDocument/2006/math">
                    <m:sSub>
                      <m:sSubPr>
                        <m:ctrlPr>
                          <a:rPr lang="en-GB" i="1" dirty="0">
                            <a:latin typeface="Cambria Math" panose="02040503050406030204" pitchFamily="18" charset="0"/>
                          </a:rPr>
                        </m:ctrlPr>
                      </m:sSubPr>
                      <m:e>
                        <m:r>
                          <a:rPr lang="en-GB" i="1" dirty="0">
                            <a:latin typeface="Cambria Math" panose="02040503050406030204" pitchFamily="18" charset="0"/>
                          </a:rPr>
                          <m:t>𝑦</m:t>
                        </m:r>
                      </m:e>
                      <m:sub>
                        <m:r>
                          <a:rPr lang="en-GB" i="1" dirty="0">
                            <a:latin typeface="Cambria Math" panose="02040503050406030204" pitchFamily="18" charset="0"/>
                          </a:rPr>
                          <m:t>𝑖</m:t>
                        </m:r>
                      </m:sub>
                    </m:sSub>
                  </m:oMath>
                </a14:m>
                <a:r>
                  <a:rPr lang="en-GB" dirty="0"/>
                  <a:t>, with the same sort of polynomial equation with degree </a:t>
                </a:r>
                <a14:m>
                  <m:oMath xmlns:m="http://schemas.openxmlformats.org/officeDocument/2006/math">
                    <m:r>
                      <a:rPr lang="en-GB" i="1" dirty="0" smtClean="0">
                        <a:latin typeface="Cambria Math" panose="02040503050406030204" pitchFamily="18" charset="0"/>
                      </a:rPr>
                      <m:t>𝐾</m:t>
                    </m:r>
                  </m:oMath>
                </a14:m>
                <a:r>
                  <a:rPr lang="en-GB" dirty="0"/>
                  <a:t>:</a:t>
                </a:r>
              </a:p>
              <a:p>
                <a:pPr marL="0" indent="0">
                  <a:buNone/>
                </a:pPr>
                <a:endParaRPr lang="en-GB" dirty="0"/>
              </a:p>
              <a:p>
                <a:pPr marL="0" indent="0">
                  <a:buNone/>
                </a:pPr>
                <a14:m>
                  <m:oMathPara xmlns:m="http://schemas.openxmlformats.org/officeDocument/2006/math">
                    <m:oMathParaPr>
                      <m:jc m:val="centerGroup"/>
                    </m:oMathParaPr>
                    <m:oMath xmlns:m="http://schemas.openxmlformats.org/officeDocument/2006/math">
                      <m:sSub>
                        <m:sSubPr>
                          <m:ctrlPr>
                            <a:rPr lang="en-GB" i="1" dirty="0">
                              <a:latin typeface="Cambria Math" panose="02040503050406030204" pitchFamily="18" charset="0"/>
                            </a:rPr>
                          </m:ctrlPr>
                        </m:sSubPr>
                        <m:e>
                          <m:r>
                            <a:rPr lang="en-GB" i="1" dirty="0">
                              <a:latin typeface="Cambria Math" panose="02040503050406030204" pitchFamily="18" charset="0"/>
                            </a:rPr>
                            <m:t>𝑦</m:t>
                          </m:r>
                        </m:e>
                        <m:sub>
                          <m:r>
                            <a:rPr lang="en-GB" i="1" dirty="0">
                              <a:latin typeface="Cambria Math" panose="02040503050406030204" pitchFamily="18" charset="0"/>
                            </a:rPr>
                            <m:t>𝑖</m:t>
                          </m:r>
                        </m:sub>
                      </m:sSub>
                      <m:r>
                        <a:rPr lang="en-GB" i="1" dirty="0">
                          <a:latin typeface="Cambria Math" panose="02040503050406030204" pitchFamily="18" charset="0"/>
                        </a:rPr>
                        <m:t>≈</m:t>
                      </m:r>
                      <m:nary>
                        <m:naryPr>
                          <m:chr m:val="∑"/>
                          <m:ctrlPr>
                            <a:rPr lang="en-GB" b="0" i="1" dirty="0" smtClean="0">
                              <a:latin typeface="Cambria Math" panose="02040503050406030204" pitchFamily="18" charset="0"/>
                            </a:rPr>
                          </m:ctrlPr>
                        </m:naryPr>
                        <m:sub>
                          <m:r>
                            <a:rPr lang="en-GB" b="0" i="1" dirty="0" smtClean="0">
                              <a:latin typeface="Cambria Math" panose="02040503050406030204" pitchFamily="18" charset="0"/>
                            </a:rPr>
                            <m:t>𝑘</m:t>
                          </m:r>
                          <m:r>
                            <a:rPr lang="en-GB" b="0" i="1" dirty="0" smtClean="0">
                              <a:latin typeface="Cambria Math" panose="02040503050406030204" pitchFamily="18" charset="0"/>
                            </a:rPr>
                            <m:t>=1</m:t>
                          </m:r>
                        </m:sub>
                        <m:sup>
                          <m:r>
                            <a:rPr lang="en-GB" b="0" i="1" dirty="0" smtClean="0">
                              <a:latin typeface="Cambria Math" panose="02040503050406030204" pitchFamily="18" charset="0"/>
                            </a:rPr>
                            <m:t>𝐾</m:t>
                          </m:r>
                        </m:sup>
                        <m:e>
                          <m:sSub>
                            <m:sSubPr>
                              <m:ctrlPr>
                                <a:rPr lang="en-GB" b="0" i="1" dirty="0" smtClean="0">
                                  <a:latin typeface="Cambria Math" panose="02040503050406030204" pitchFamily="18" charset="0"/>
                                </a:rPr>
                              </m:ctrlPr>
                            </m:sSubPr>
                            <m:e>
                              <m:r>
                                <a:rPr lang="en-GB" i="1" dirty="0">
                                  <a:latin typeface="Cambria Math" panose="02040503050406030204" pitchFamily="18" charset="0"/>
                                </a:rPr>
                                <m:t>𝑎</m:t>
                              </m:r>
                            </m:e>
                            <m:sub>
                              <m:r>
                                <a:rPr lang="en-GB" b="0" i="1" dirty="0" smtClean="0">
                                  <a:latin typeface="Cambria Math" panose="02040503050406030204" pitchFamily="18" charset="0"/>
                                </a:rPr>
                                <m:t>𝑘</m:t>
                              </m:r>
                            </m:sub>
                          </m:sSub>
                          <m:r>
                            <a:rPr lang="en-GB" i="1" dirty="0">
                              <a:latin typeface="Cambria Math" panose="02040503050406030204" pitchFamily="18" charset="0"/>
                            </a:rPr>
                            <m:t> </m:t>
                          </m:r>
                          <m:sSup>
                            <m:sSupPr>
                              <m:ctrlPr>
                                <a:rPr lang="en-GB" b="0" i="1" dirty="0" smtClean="0">
                                  <a:latin typeface="Cambria Math" panose="02040503050406030204" pitchFamily="18" charset="0"/>
                                </a:rPr>
                              </m:ctrlPr>
                            </m:sSupPr>
                            <m:e>
                              <m:d>
                                <m:dPr>
                                  <m:ctrlPr>
                                    <a:rPr lang="en-GB" b="0" i="1" dirty="0" smtClean="0">
                                      <a:latin typeface="Cambria Math" panose="02040503050406030204" pitchFamily="18" charset="0"/>
                                    </a:rPr>
                                  </m:ctrlPr>
                                </m:dPr>
                                <m:e>
                                  <m:sSub>
                                    <m:sSubPr>
                                      <m:ctrlPr>
                                        <a:rPr lang="en-GB" b="0" i="1" dirty="0" smtClean="0">
                                          <a:latin typeface="Cambria Math" panose="02040503050406030204" pitchFamily="18" charset="0"/>
                                        </a:rPr>
                                      </m:ctrlPr>
                                    </m:sSubPr>
                                    <m:e>
                                      <m:r>
                                        <a:rPr lang="en-GB" b="0" i="1" dirty="0" smtClean="0">
                                          <a:latin typeface="Cambria Math" panose="02040503050406030204" pitchFamily="18" charset="0"/>
                                        </a:rPr>
                                        <m:t>𝑥</m:t>
                                      </m:r>
                                    </m:e>
                                    <m:sub>
                                      <m:r>
                                        <a:rPr lang="en-GB" b="0" i="1" dirty="0" smtClean="0">
                                          <a:latin typeface="Cambria Math" panose="02040503050406030204" pitchFamily="18" charset="0"/>
                                        </a:rPr>
                                        <m:t>𝑖</m:t>
                                      </m:r>
                                    </m:sub>
                                  </m:sSub>
                                </m:e>
                              </m:d>
                            </m:e>
                            <m:sup>
                              <m:r>
                                <a:rPr lang="en-GB" b="0" i="1" dirty="0" smtClean="0">
                                  <a:latin typeface="Cambria Math" panose="02040503050406030204" pitchFamily="18" charset="0"/>
                                </a:rPr>
                                <m:t>𝑘</m:t>
                              </m:r>
                            </m:sup>
                          </m:sSup>
                        </m:e>
                      </m:nary>
                      <m:r>
                        <a:rPr lang="en-GB" i="1" dirty="0">
                          <a:latin typeface="Cambria Math" panose="02040503050406030204" pitchFamily="18" charset="0"/>
                        </a:rPr>
                        <m:t> + </m:t>
                      </m:r>
                      <m:r>
                        <a:rPr lang="en-GB" i="1" dirty="0">
                          <a:latin typeface="Cambria Math" panose="02040503050406030204" pitchFamily="18" charset="0"/>
                        </a:rPr>
                        <m:t>𝑏</m:t>
                      </m:r>
                    </m:oMath>
                  </m:oMathPara>
                </a14:m>
                <a:endParaRPr lang="en-GB" dirty="0"/>
              </a:p>
              <a:p>
                <a:pPr marL="0" indent="0">
                  <a:buNone/>
                </a:pPr>
                <a:endParaRPr lang="en-GB" dirty="0"/>
              </a:p>
            </p:txBody>
          </p:sp>
        </mc:Choice>
        <mc:Fallback xmlns="">
          <p:sp>
            <p:nvSpPr>
              <p:cNvPr id="3" name="Content Placeholder 2">
                <a:extLst>
                  <a:ext uri="{FF2B5EF4-FFF2-40B4-BE49-F238E27FC236}">
                    <a16:creationId xmlns:a16="http://schemas.microsoft.com/office/drawing/2014/main" id="{09ACEEFD-8460-F540-F80C-BEACC2297773}"/>
                  </a:ext>
                </a:extLst>
              </p:cNvPr>
              <p:cNvSpPr>
                <a:spLocks noGrp="1" noRot="1" noChangeAspect="1" noMove="1" noResize="1" noEditPoints="1" noAdjustHandles="1" noChangeArrowheads="1" noChangeShapeType="1" noTextEdit="1"/>
              </p:cNvSpPr>
              <p:nvPr>
                <p:ph idx="1"/>
              </p:nvPr>
            </p:nvSpPr>
            <p:spPr>
              <a:xfrm>
                <a:off x="432619" y="1825624"/>
                <a:ext cx="11621729" cy="5032375"/>
              </a:xfrm>
              <a:blipFill>
                <a:blip r:embed="rId2"/>
                <a:stretch>
                  <a:fillRect l="-1102" t="-1937" r="-892"/>
                </a:stretch>
              </a:blipFill>
            </p:spPr>
            <p:txBody>
              <a:bodyPr/>
              <a:lstStyle/>
              <a:p>
                <a:r>
                  <a:rPr lang="en-GB">
                    <a:noFill/>
                  </a:rPr>
                  <a:t> </a:t>
                </a:r>
              </a:p>
            </p:txBody>
          </p:sp>
        </mc:Fallback>
      </mc:AlternateContent>
    </p:spTree>
    <p:extLst>
      <p:ext uri="{BB962C8B-B14F-4D97-AF65-F5344CB8AC3E}">
        <p14:creationId xmlns:p14="http://schemas.microsoft.com/office/powerpoint/2010/main" val="4248348938"/>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51540BB-97C7-1060-F5DD-F4A4417D2522}"/>
              </a:ext>
            </a:extLst>
          </p:cNvPr>
          <p:cNvSpPr>
            <a:spLocks noGrp="1"/>
          </p:cNvSpPr>
          <p:nvPr>
            <p:ph type="title"/>
          </p:nvPr>
        </p:nvSpPr>
        <p:spPr/>
        <p:txBody>
          <a:bodyPr/>
          <a:lstStyle/>
          <a:p>
            <a:r>
              <a:rPr lang="en-GB" dirty="0"/>
              <a:t>Extension to Polynomial Regression</a:t>
            </a:r>
            <a:endParaRPr lang="en-SG" dirty="0"/>
          </a:p>
        </p:txBody>
      </p:sp>
      <mc:AlternateContent xmlns:mc="http://schemas.openxmlformats.org/markup-compatibility/2006" xmlns:a14="http://schemas.microsoft.com/office/drawing/2010/main">
        <mc:Choice Requires="a14">
          <p:sp>
            <p:nvSpPr>
              <p:cNvPr id="3" name="Content Placeholder 2">
                <a:extLst>
                  <a:ext uri="{FF2B5EF4-FFF2-40B4-BE49-F238E27FC236}">
                    <a16:creationId xmlns:a16="http://schemas.microsoft.com/office/drawing/2014/main" id="{09ACEEFD-8460-F540-F80C-BEACC2297773}"/>
                  </a:ext>
                </a:extLst>
              </p:cNvPr>
              <p:cNvSpPr>
                <a:spLocks noGrp="1"/>
              </p:cNvSpPr>
              <p:nvPr>
                <p:ph idx="1"/>
              </p:nvPr>
            </p:nvSpPr>
            <p:spPr>
              <a:xfrm>
                <a:off x="838200" y="1825624"/>
                <a:ext cx="10515600" cy="5032375"/>
              </a:xfrm>
            </p:spPr>
            <p:txBody>
              <a:bodyPr>
                <a:normAutofit/>
              </a:bodyPr>
              <a:lstStyle/>
              <a:p>
                <a:pPr marL="0" indent="0">
                  <a:buNone/>
                </a:pPr>
                <a:r>
                  <a:rPr lang="en-GB" dirty="0"/>
                  <a:t>The MSE loss then becomes:</a:t>
                </a:r>
              </a:p>
              <a:p>
                <a:pPr marL="0" indent="0">
                  <a:buNone/>
                </a:pPr>
                <a:endParaRPr lang="en-GB" b="1" dirty="0"/>
              </a:p>
              <a:p>
                <a:pPr marL="0" indent="0">
                  <a:buNone/>
                </a:pPr>
                <a14:m>
                  <m:oMathPara xmlns:m="http://schemas.openxmlformats.org/officeDocument/2006/math">
                    <m:oMathParaPr>
                      <m:jc m:val="centerGroup"/>
                    </m:oMathParaPr>
                    <m:oMath xmlns:m="http://schemas.openxmlformats.org/officeDocument/2006/math">
                      <m:r>
                        <a:rPr lang="en-GB" i="1" smtClean="0">
                          <a:latin typeface="Cambria Math" panose="02040503050406030204" pitchFamily="18" charset="0"/>
                        </a:rPr>
                        <m:t>𝐿</m:t>
                      </m:r>
                      <m:r>
                        <a:rPr lang="en-GB" i="1" smtClean="0">
                          <a:latin typeface="Cambria Math" panose="02040503050406030204" pitchFamily="18" charset="0"/>
                        </a:rPr>
                        <m:t>=</m:t>
                      </m:r>
                      <m:f>
                        <m:fPr>
                          <m:ctrlPr>
                            <a:rPr lang="en-GB" i="1">
                              <a:latin typeface="Cambria Math" panose="02040503050406030204" pitchFamily="18" charset="0"/>
                            </a:rPr>
                          </m:ctrlPr>
                        </m:fPr>
                        <m:num>
                          <m:r>
                            <a:rPr lang="en-GB" i="1">
                              <a:latin typeface="Cambria Math" panose="02040503050406030204" pitchFamily="18" charset="0"/>
                            </a:rPr>
                            <m:t>1</m:t>
                          </m:r>
                        </m:num>
                        <m:den>
                          <m:r>
                            <a:rPr lang="en-GB" i="1">
                              <a:latin typeface="Cambria Math" panose="02040503050406030204" pitchFamily="18" charset="0"/>
                            </a:rPr>
                            <m:t>𝑁</m:t>
                          </m:r>
                        </m:den>
                      </m:f>
                      <m:nary>
                        <m:naryPr>
                          <m:chr m:val="∑"/>
                          <m:ctrlPr>
                            <a:rPr lang="en-GB" i="1">
                              <a:latin typeface="Cambria Math" panose="02040503050406030204" pitchFamily="18" charset="0"/>
                            </a:rPr>
                          </m:ctrlPr>
                        </m:naryPr>
                        <m:sub>
                          <m:r>
                            <a:rPr lang="en-GB" i="1">
                              <a:latin typeface="Cambria Math" panose="02040503050406030204" pitchFamily="18" charset="0"/>
                            </a:rPr>
                            <m:t>𝑖</m:t>
                          </m:r>
                          <m:r>
                            <a:rPr lang="en-GB" i="1">
                              <a:latin typeface="Cambria Math" panose="02040503050406030204" pitchFamily="18" charset="0"/>
                            </a:rPr>
                            <m:t>=1</m:t>
                          </m:r>
                        </m:sub>
                        <m:sup>
                          <m:r>
                            <a:rPr lang="en-GB" i="1">
                              <a:latin typeface="Cambria Math" panose="02040503050406030204" pitchFamily="18" charset="0"/>
                            </a:rPr>
                            <m:t>𝑁</m:t>
                          </m:r>
                        </m:sup>
                        <m:e>
                          <m:sSup>
                            <m:sSupPr>
                              <m:ctrlPr>
                                <a:rPr lang="en-GB" i="1">
                                  <a:latin typeface="Cambria Math" panose="02040503050406030204" pitchFamily="18" charset="0"/>
                                </a:rPr>
                              </m:ctrlPr>
                            </m:sSupPr>
                            <m:e>
                              <m:d>
                                <m:dPr>
                                  <m:ctrlPr>
                                    <a:rPr lang="en-GB" i="1">
                                      <a:latin typeface="Cambria Math" panose="02040503050406030204" pitchFamily="18" charset="0"/>
                                    </a:rPr>
                                  </m:ctrlPr>
                                </m:dPr>
                                <m:e>
                                  <m:nary>
                                    <m:naryPr>
                                      <m:chr m:val="∑"/>
                                      <m:ctrlPr>
                                        <a:rPr lang="en-GB" b="0" i="1" smtClean="0">
                                          <a:latin typeface="Cambria Math" panose="02040503050406030204" pitchFamily="18" charset="0"/>
                                        </a:rPr>
                                      </m:ctrlPr>
                                    </m:naryPr>
                                    <m:sub>
                                      <m:r>
                                        <a:rPr lang="en-GB" b="0" i="1" smtClean="0">
                                          <a:latin typeface="Cambria Math" panose="02040503050406030204" pitchFamily="18" charset="0"/>
                                        </a:rPr>
                                        <m:t>𝑘</m:t>
                                      </m:r>
                                      <m:r>
                                        <a:rPr lang="en-GB" b="0" i="1" smtClean="0">
                                          <a:latin typeface="Cambria Math" panose="02040503050406030204" pitchFamily="18" charset="0"/>
                                        </a:rPr>
                                        <m:t>=1</m:t>
                                      </m:r>
                                    </m:sub>
                                    <m:sup>
                                      <m:r>
                                        <a:rPr lang="en-GB" b="0" i="1" smtClean="0">
                                          <a:latin typeface="Cambria Math" panose="02040503050406030204" pitchFamily="18" charset="0"/>
                                        </a:rPr>
                                        <m:t>𝐾</m:t>
                                      </m:r>
                                    </m:sup>
                                    <m:e>
                                      <m:sSub>
                                        <m:sSubPr>
                                          <m:ctrlPr>
                                            <a:rPr lang="en-GB" i="1">
                                              <a:latin typeface="Cambria Math" panose="02040503050406030204" pitchFamily="18" charset="0"/>
                                            </a:rPr>
                                          </m:ctrlPr>
                                        </m:sSubPr>
                                        <m:e>
                                          <m:r>
                                            <a:rPr lang="en-GB" i="1">
                                              <a:latin typeface="Cambria Math" panose="02040503050406030204" pitchFamily="18" charset="0"/>
                                            </a:rPr>
                                            <m:t>𝑎</m:t>
                                          </m:r>
                                        </m:e>
                                        <m:sub>
                                          <m:r>
                                            <a:rPr lang="en-GB" i="1">
                                              <a:latin typeface="Cambria Math" panose="02040503050406030204" pitchFamily="18" charset="0"/>
                                            </a:rPr>
                                            <m:t>𝑘</m:t>
                                          </m:r>
                                        </m:sub>
                                      </m:sSub>
                                      <m:sSup>
                                        <m:sSupPr>
                                          <m:ctrlPr>
                                            <a:rPr lang="fr-FR" b="0" i="1" smtClean="0">
                                              <a:latin typeface="Cambria Math" panose="02040503050406030204" pitchFamily="18" charset="0"/>
                                            </a:rPr>
                                          </m:ctrlPr>
                                        </m:sSupPr>
                                        <m:e>
                                          <m:d>
                                            <m:dPr>
                                              <m:ctrlPr>
                                                <a:rPr lang="fr-FR" b="0" i="1" smtClean="0">
                                                  <a:latin typeface="Cambria Math" panose="02040503050406030204" pitchFamily="18" charset="0"/>
                                                </a:rPr>
                                              </m:ctrlPr>
                                            </m:dPr>
                                            <m:e>
                                              <m:sSub>
                                                <m:sSubPr>
                                                  <m:ctrlPr>
                                                    <a:rPr lang="fr-FR" b="0" i="1" smtClean="0">
                                                      <a:latin typeface="Cambria Math" panose="02040503050406030204" pitchFamily="18" charset="0"/>
                                                    </a:rPr>
                                                  </m:ctrlPr>
                                                </m:sSubPr>
                                                <m:e>
                                                  <m:r>
                                                    <a:rPr lang="fr-FR" b="0" i="1" smtClean="0">
                                                      <a:latin typeface="Cambria Math" panose="02040503050406030204" pitchFamily="18" charset="0"/>
                                                    </a:rPr>
                                                    <m:t>𝑥</m:t>
                                                  </m:r>
                                                </m:e>
                                                <m:sub>
                                                  <m:r>
                                                    <a:rPr lang="fr-FR" b="0" i="1" smtClean="0">
                                                      <a:latin typeface="Cambria Math" panose="02040503050406030204" pitchFamily="18" charset="0"/>
                                                    </a:rPr>
                                                    <m:t>𝑖</m:t>
                                                  </m:r>
                                                </m:sub>
                                              </m:sSub>
                                            </m:e>
                                          </m:d>
                                        </m:e>
                                        <m:sup>
                                          <m:r>
                                            <a:rPr lang="fr-FR" b="0" i="1" smtClean="0">
                                              <a:latin typeface="Cambria Math" panose="02040503050406030204" pitchFamily="18" charset="0"/>
                                            </a:rPr>
                                            <m:t>𝑘</m:t>
                                          </m:r>
                                        </m:sup>
                                      </m:sSup>
                                    </m:e>
                                  </m:nary>
                                  <m:r>
                                    <a:rPr lang="en-GB" i="1">
                                      <a:latin typeface="Cambria Math" panose="02040503050406030204" pitchFamily="18" charset="0"/>
                                    </a:rPr>
                                    <m:t>+</m:t>
                                  </m:r>
                                  <m:r>
                                    <a:rPr lang="en-GB" i="1">
                                      <a:latin typeface="Cambria Math" panose="02040503050406030204" pitchFamily="18" charset="0"/>
                                    </a:rPr>
                                    <m:t>𝑏</m:t>
                                  </m:r>
                                  <m:r>
                                    <a:rPr lang="en-GB" i="1">
                                      <a:latin typeface="Cambria Math" panose="02040503050406030204" pitchFamily="18" charset="0"/>
                                    </a:rPr>
                                    <m:t>−</m:t>
                                  </m:r>
                                  <m:sSub>
                                    <m:sSubPr>
                                      <m:ctrlPr>
                                        <a:rPr lang="en-GB" i="1">
                                          <a:latin typeface="Cambria Math" panose="02040503050406030204" pitchFamily="18" charset="0"/>
                                        </a:rPr>
                                      </m:ctrlPr>
                                    </m:sSubPr>
                                    <m:e>
                                      <m:r>
                                        <a:rPr lang="en-GB" i="1">
                                          <a:latin typeface="Cambria Math" panose="02040503050406030204" pitchFamily="18" charset="0"/>
                                        </a:rPr>
                                        <m:t>𝑦</m:t>
                                      </m:r>
                                    </m:e>
                                    <m:sub>
                                      <m:r>
                                        <a:rPr lang="en-GB" i="1">
                                          <a:latin typeface="Cambria Math" panose="02040503050406030204" pitchFamily="18" charset="0"/>
                                        </a:rPr>
                                        <m:t>𝑖</m:t>
                                      </m:r>
                                    </m:sub>
                                  </m:sSub>
                                </m:e>
                              </m:d>
                            </m:e>
                            <m:sup>
                              <m:r>
                                <a:rPr lang="en-GB" i="1">
                                  <a:latin typeface="Cambria Math" panose="02040503050406030204" pitchFamily="18" charset="0"/>
                                </a:rPr>
                                <m:t>2</m:t>
                              </m:r>
                            </m:sup>
                          </m:sSup>
                        </m:e>
                      </m:nary>
                    </m:oMath>
                  </m:oMathPara>
                </a14:m>
                <a:endParaRPr lang="en-GB" b="1" dirty="0"/>
              </a:p>
              <a:p>
                <a:pPr marL="0" indent="0">
                  <a:buNone/>
                </a:pPr>
                <a:endParaRPr lang="en-GB" b="1" dirty="0"/>
              </a:p>
              <a:p>
                <a:pPr marL="0" indent="0">
                  <a:buNone/>
                </a:pPr>
                <a:r>
                  <a:rPr lang="en-GB" dirty="0"/>
                  <a:t>And the optimization problem related to training is then:</a:t>
                </a:r>
              </a:p>
              <a:p>
                <a:pPr marL="0" indent="0">
                  <a:buNone/>
                </a:pPr>
                <a:endParaRPr lang="en-GB" b="1" dirty="0"/>
              </a:p>
              <a:p>
                <a:pPr marL="0" indent="0">
                  <a:buNone/>
                </a:pPr>
                <a14:m>
                  <m:oMathPara xmlns:m="http://schemas.openxmlformats.org/officeDocument/2006/math">
                    <m:oMathParaPr>
                      <m:jc m:val="centerGroup"/>
                    </m:oMathParaPr>
                    <m:oMath xmlns:m="http://schemas.openxmlformats.org/officeDocument/2006/math">
                      <m:d>
                        <m:dPr>
                          <m:ctrlPr>
                            <a:rPr lang="en-GB" b="0" i="1" smtClean="0">
                              <a:latin typeface="Cambria Math" panose="02040503050406030204" pitchFamily="18" charset="0"/>
                            </a:rPr>
                          </m:ctrlPr>
                        </m:dPr>
                        <m:e>
                          <m:sSubSup>
                            <m:sSubSupPr>
                              <m:ctrlPr>
                                <a:rPr lang="en-GB" i="1">
                                  <a:latin typeface="Cambria Math" panose="02040503050406030204" pitchFamily="18" charset="0"/>
                                </a:rPr>
                              </m:ctrlPr>
                            </m:sSubSupPr>
                            <m:e>
                              <m:r>
                                <a:rPr lang="en-GB" i="1">
                                  <a:latin typeface="Cambria Math" panose="02040503050406030204" pitchFamily="18" charset="0"/>
                                </a:rPr>
                                <m:t>𝑎</m:t>
                              </m:r>
                            </m:e>
                            <m:sub>
                              <m:r>
                                <a:rPr lang="en-GB" b="0" i="1" smtClean="0">
                                  <a:latin typeface="Cambria Math" panose="02040503050406030204" pitchFamily="18" charset="0"/>
                                </a:rPr>
                                <m:t>1</m:t>
                              </m:r>
                            </m:sub>
                            <m:sup>
                              <m:r>
                                <a:rPr lang="en-GB" i="1">
                                  <a:latin typeface="Cambria Math" panose="02040503050406030204" pitchFamily="18" charset="0"/>
                                </a:rPr>
                                <m:t>∗</m:t>
                              </m:r>
                            </m:sup>
                          </m:sSubSup>
                          <m:r>
                            <a:rPr lang="en-GB" b="0" i="1" smtClean="0">
                              <a:latin typeface="Cambria Math" panose="02040503050406030204" pitchFamily="18" charset="0"/>
                            </a:rPr>
                            <m:t>, …,</m:t>
                          </m:r>
                          <m:sSubSup>
                            <m:sSubSupPr>
                              <m:ctrlPr>
                                <a:rPr lang="en-GB" i="1">
                                  <a:latin typeface="Cambria Math" panose="02040503050406030204" pitchFamily="18" charset="0"/>
                                </a:rPr>
                              </m:ctrlPr>
                            </m:sSubSupPr>
                            <m:e>
                              <m:r>
                                <a:rPr lang="en-GB" i="1">
                                  <a:latin typeface="Cambria Math" panose="02040503050406030204" pitchFamily="18" charset="0"/>
                                </a:rPr>
                                <m:t>𝑎</m:t>
                              </m:r>
                            </m:e>
                            <m:sub>
                              <m:r>
                                <a:rPr lang="en-GB" b="0" i="1" smtClean="0">
                                  <a:latin typeface="Cambria Math" panose="02040503050406030204" pitchFamily="18" charset="0"/>
                                </a:rPr>
                                <m:t>𝐾</m:t>
                              </m:r>
                            </m:sub>
                            <m:sup>
                              <m:r>
                                <a:rPr lang="en-GB" i="1">
                                  <a:latin typeface="Cambria Math" panose="02040503050406030204" pitchFamily="18" charset="0"/>
                                </a:rPr>
                                <m:t>∗</m:t>
                              </m:r>
                            </m:sup>
                          </m:sSubSup>
                          <m:r>
                            <a:rPr lang="en-GB" b="0" i="1" smtClean="0">
                              <a:latin typeface="Cambria Math" panose="02040503050406030204" pitchFamily="18" charset="0"/>
                            </a:rPr>
                            <m:t>, </m:t>
                          </m:r>
                          <m:sSup>
                            <m:sSupPr>
                              <m:ctrlPr>
                                <a:rPr lang="en-GB" b="0" i="1" smtClean="0">
                                  <a:latin typeface="Cambria Math" panose="02040503050406030204" pitchFamily="18" charset="0"/>
                                </a:rPr>
                              </m:ctrlPr>
                            </m:sSupPr>
                            <m:e>
                              <m:r>
                                <a:rPr lang="en-GB" b="0" i="1" smtClean="0">
                                  <a:latin typeface="Cambria Math" panose="02040503050406030204" pitchFamily="18" charset="0"/>
                                </a:rPr>
                                <m:t>𝑏</m:t>
                              </m:r>
                            </m:e>
                            <m:sup>
                              <m:r>
                                <a:rPr lang="en-GB" b="0" i="1" smtClean="0">
                                  <a:latin typeface="Cambria Math" panose="02040503050406030204" pitchFamily="18" charset="0"/>
                                </a:rPr>
                                <m:t>∗</m:t>
                              </m:r>
                            </m:sup>
                          </m:sSup>
                        </m:e>
                      </m:d>
                      <m:r>
                        <a:rPr lang="en-GB" b="0" i="1" smtClean="0">
                          <a:latin typeface="Cambria Math" panose="02040503050406030204" pitchFamily="18" charset="0"/>
                        </a:rPr>
                        <m:t>= </m:t>
                      </m:r>
                      <m:r>
                        <m:rPr>
                          <m:sty m:val="p"/>
                        </m:rPr>
                        <a:rPr lang="en-GB" b="0" i="1" smtClean="0">
                          <a:latin typeface="Cambria Math" panose="02040503050406030204" pitchFamily="18" charset="0"/>
                        </a:rPr>
                        <m:t>arg</m:t>
                      </m:r>
                      <m:limLow>
                        <m:limLowPr>
                          <m:ctrlPr>
                            <a:rPr lang="en-GB" b="0" i="1" smtClean="0">
                              <a:latin typeface="Cambria Math" panose="02040503050406030204" pitchFamily="18" charset="0"/>
                            </a:rPr>
                          </m:ctrlPr>
                        </m:limLowPr>
                        <m:e>
                          <m:r>
                            <m:rPr>
                              <m:sty m:val="p"/>
                            </m:rPr>
                            <a:rPr lang="en-GB" b="0" i="0" smtClean="0">
                              <a:latin typeface="Cambria Math" panose="02040503050406030204" pitchFamily="18" charset="0"/>
                            </a:rPr>
                            <m:t>min</m:t>
                          </m:r>
                        </m:e>
                        <m:lim>
                          <m:sSub>
                            <m:sSubPr>
                              <m:ctrlPr>
                                <a:rPr lang="en-GB" b="0" i="1" smtClean="0">
                                  <a:latin typeface="Cambria Math" panose="02040503050406030204" pitchFamily="18" charset="0"/>
                                </a:rPr>
                              </m:ctrlPr>
                            </m:sSubPr>
                            <m:e>
                              <m:r>
                                <a:rPr lang="en-GB" b="0" i="1" smtClean="0">
                                  <a:latin typeface="Cambria Math" panose="02040503050406030204" pitchFamily="18" charset="0"/>
                                </a:rPr>
                                <m:t>𝑎</m:t>
                              </m:r>
                            </m:e>
                            <m:sub>
                              <m:r>
                                <a:rPr lang="en-GB" b="0" i="1" smtClean="0">
                                  <a:latin typeface="Cambria Math" panose="02040503050406030204" pitchFamily="18" charset="0"/>
                                </a:rPr>
                                <m:t>1</m:t>
                              </m:r>
                            </m:sub>
                          </m:sSub>
                          <m:r>
                            <a:rPr lang="en-GB" b="0" i="1" smtClean="0">
                              <a:latin typeface="Cambria Math" panose="02040503050406030204" pitchFamily="18" charset="0"/>
                            </a:rPr>
                            <m:t>,…,</m:t>
                          </m:r>
                          <m:sSub>
                            <m:sSubPr>
                              <m:ctrlPr>
                                <a:rPr lang="en-GB" b="0" i="1" smtClean="0">
                                  <a:latin typeface="Cambria Math" panose="02040503050406030204" pitchFamily="18" charset="0"/>
                                </a:rPr>
                              </m:ctrlPr>
                            </m:sSubPr>
                            <m:e>
                              <m:r>
                                <a:rPr lang="en-GB" b="0" i="1" smtClean="0">
                                  <a:latin typeface="Cambria Math" panose="02040503050406030204" pitchFamily="18" charset="0"/>
                                </a:rPr>
                                <m:t>𝑎</m:t>
                              </m:r>
                            </m:e>
                            <m:sub>
                              <m:r>
                                <a:rPr lang="en-GB" b="0" i="1" smtClean="0">
                                  <a:latin typeface="Cambria Math" panose="02040503050406030204" pitchFamily="18" charset="0"/>
                                </a:rPr>
                                <m:t>𝐾</m:t>
                              </m:r>
                            </m:sub>
                          </m:sSub>
                          <m:r>
                            <a:rPr lang="en-GB" b="0" i="1" smtClean="0">
                              <a:latin typeface="Cambria Math" panose="02040503050406030204" pitchFamily="18" charset="0"/>
                            </a:rPr>
                            <m:t>,</m:t>
                          </m:r>
                          <m:r>
                            <a:rPr lang="en-GB" b="0" i="1" smtClean="0">
                              <a:latin typeface="Cambria Math" panose="02040503050406030204" pitchFamily="18" charset="0"/>
                            </a:rPr>
                            <m:t>𝑏</m:t>
                          </m:r>
                        </m:lim>
                      </m:limLow>
                      <m:r>
                        <a:rPr lang="en-GB" b="0" i="1" smtClean="0">
                          <a:latin typeface="Cambria Math" panose="02040503050406030204" pitchFamily="18" charset="0"/>
                        </a:rPr>
                        <m:t>𝐿</m:t>
                      </m:r>
                    </m:oMath>
                  </m:oMathPara>
                </a14:m>
                <a:endParaRPr lang="en-GB" dirty="0"/>
              </a:p>
              <a:p>
                <a:pPr marL="0" indent="0">
                  <a:buNone/>
                </a:pPr>
                <a:endParaRPr lang="en-GB" dirty="0"/>
              </a:p>
            </p:txBody>
          </p:sp>
        </mc:Choice>
        <mc:Fallback xmlns="">
          <p:sp>
            <p:nvSpPr>
              <p:cNvPr id="3" name="Content Placeholder 2">
                <a:extLst>
                  <a:ext uri="{FF2B5EF4-FFF2-40B4-BE49-F238E27FC236}">
                    <a16:creationId xmlns:a16="http://schemas.microsoft.com/office/drawing/2014/main" id="{09ACEEFD-8460-F540-F80C-BEACC2297773}"/>
                  </a:ext>
                </a:extLst>
              </p:cNvPr>
              <p:cNvSpPr>
                <a:spLocks noGrp="1" noRot="1" noChangeAspect="1" noMove="1" noResize="1" noEditPoints="1" noAdjustHandles="1" noChangeArrowheads="1" noChangeShapeType="1" noTextEdit="1"/>
              </p:cNvSpPr>
              <p:nvPr>
                <p:ph idx="1"/>
              </p:nvPr>
            </p:nvSpPr>
            <p:spPr>
              <a:xfrm>
                <a:off x="838200" y="1825624"/>
                <a:ext cx="10515600" cy="5032375"/>
              </a:xfrm>
              <a:blipFill>
                <a:blip r:embed="rId2"/>
                <a:stretch>
                  <a:fillRect l="-1217" t="-1937"/>
                </a:stretch>
              </a:blipFill>
            </p:spPr>
            <p:txBody>
              <a:bodyPr/>
              <a:lstStyle/>
              <a:p>
                <a:r>
                  <a:rPr lang="en-GB">
                    <a:noFill/>
                  </a:rPr>
                  <a:t> </a:t>
                </a:r>
              </a:p>
            </p:txBody>
          </p:sp>
        </mc:Fallback>
      </mc:AlternateContent>
    </p:spTree>
    <p:extLst>
      <p:ext uri="{BB962C8B-B14F-4D97-AF65-F5344CB8AC3E}">
        <p14:creationId xmlns:p14="http://schemas.microsoft.com/office/powerpoint/2010/main" val="1739226965"/>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51540BB-97C7-1060-F5DD-F4A4417D2522}"/>
              </a:ext>
            </a:extLst>
          </p:cNvPr>
          <p:cNvSpPr>
            <a:spLocks noGrp="1"/>
          </p:cNvSpPr>
          <p:nvPr>
            <p:ph type="title"/>
          </p:nvPr>
        </p:nvSpPr>
        <p:spPr/>
        <p:txBody>
          <a:bodyPr/>
          <a:lstStyle/>
          <a:p>
            <a:r>
              <a:rPr lang="en-GB" dirty="0"/>
              <a:t>Extension to Polynomial Regression</a:t>
            </a:r>
            <a:endParaRPr lang="en-SG" dirty="0"/>
          </a:p>
        </p:txBody>
      </p:sp>
      <mc:AlternateContent xmlns:mc="http://schemas.openxmlformats.org/markup-compatibility/2006" xmlns:a14="http://schemas.microsoft.com/office/drawing/2010/main">
        <mc:Choice Requires="a14">
          <p:sp>
            <p:nvSpPr>
              <p:cNvPr id="3" name="Content Placeholder 2">
                <a:extLst>
                  <a:ext uri="{FF2B5EF4-FFF2-40B4-BE49-F238E27FC236}">
                    <a16:creationId xmlns:a16="http://schemas.microsoft.com/office/drawing/2014/main" id="{09ACEEFD-8460-F540-F80C-BEACC2297773}"/>
                  </a:ext>
                </a:extLst>
              </p:cNvPr>
              <p:cNvSpPr>
                <a:spLocks noGrp="1"/>
              </p:cNvSpPr>
              <p:nvPr>
                <p:ph idx="1"/>
              </p:nvPr>
            </p:nvSpPr>
            <p:spPr>
              <a:xfrm>
                <a:off x="838200" y="1825624"/>
                <a:ext cx="10515600" cy="5032375"/>
              </a:xfrm>
            </p:spPr>
            <p:txBody>
              <a:bodyPr>
                <a:normAutofit/>
              </a:bodyPr>
              <a:lstStyle/>
              <a:p>
                <a:pPr marL="0" indent="0">
                  <a:buNone/>
                </a:pPr>
                <a:r>
                  <a:rPr lang="en-GB" dirty="0"/>
                  <a:t>We could then try to compute the new normal equation for this problem (good practice for your optimization skills, try it out!)</a:t>
                </a:r>
              </a:p>
              <a:p>
                <a:pPr marL="0" indent="0">
                  <a:buNone/>
                </a:pPr>
                <a:endParaRPr lang="en-GB" dirty="0"/>
              </a:p>
              <a:p>
                <a:pPr marL="0" indent="0">
                  <a:buNone/>
                </a:pPr>
                <a:r>
                  <a:rPr lang="en-GB" b="1" dirty="0"/>
                  <a:t>Or, and it is often preferable, we could then define gradient descent update rules with respect to every trainable parameter </a:t>
                </a:r>
                <a14:m>
                  <m:oMath xmlns:m="http://schemas.openxmlformats.org/officeDocument/2006/math">
                    <m:r>
                      <a:rPr lang="en-GB" b="1" i="1" dirty="0">
                        <a:latin typeface="Cambria Math" panose="02040503050406030204" pitchFamily="18" charset="0"/>
                      </a:rPr>
                      <m:t>(</m:t>
                    </m:r>
                    <m:sSub>
                      <m:sSubPr>
                        <m:ctrlPr>
                          <a:rPr lang="en-GB" b="1" i="1" dirty="0" smtClean="0">
                            <a:latin typeface="Cambria Math" panose="02040503050406030204" pitchFamily="18" charset="0"/>
                          </a:rPr>
                        </m:ctrlPr>
                      </m:sSubPr>
                      <m:e>
                        <m:r>
                          <a:rPr lang="en-GB" b="1" i="1" dirty="0" smtClean="0">
                            <a:latin typeface="Cambria Math" panose="02040503050406030204" pitchFamily="18" charset="0"/>
                          </a:rPr>
                          <m:t>𝒂</m:t>
                        </m:r>
                      </m:e>
                      <m:sub>
                        <m:r>
                          <a:rPr lang="en-GB" b="1" i="1" dirty="0" smtClean="0">
                            <a:latin typeface="Cambria Math" panose="02040503050406030204" pitchFamily="18" charset="0"/>
                          </a:rPr>
                          <m:t>𝟏</m:t>
                        </m:r>
                        <m:r>
                          <a:rPr lang="en-GB" b="1" i="1" dirty="0" smtClean="0">
                            <a:latin typeface="Cambria Math" panose="02040503050406030204" pitchFamily="18" charset="0"/>
                          </a:rPr>
                          <m:t>, </m:t>
                        </m:r>
                      </m:sub>
                    </m:sSub>
                    <m:sSub>
                      <m:sSubPr>
                        <m:ctrlPr>
                          <a:rPr lang="en-GB" b="1" i="1" dirty="0" smtClean="0">
                            <a:latin typeface="Cambria Math" panose="02040503050406030204" pitchFamily="18" charset="0"/>
                          </a:rPr>
                        </m:ctrlPr>
                      </m:sSubPr>
                      <m:e>
                        <m:r>
                          <a:rPr lang="en-GB" b="1" i="1" dirty="0" smtClean="0">
                            <a:latin typeface="Cambria Math" panose="02040503050406030204" pitchFamily="18" charset="0"/>
                          </a:rPr>
                          <m:t>𝒂</m:t>
                        </m:r>
                      </m:e>
                      <m:sub>
                        <m:r>
                          <a:rPr lang="en-GB" b="1" i="1" dirty="0" smtClean="0">
                            <a:latin typeface="Cambria Math" panose="02040503050406030204" pitchFamily="18" charset="0"/>
                          </a:rPr>
                          <m:t>𝟐</m:t>
                        </m:r>
                      </m:sub>
                    </m:sSub>
                    <m:r>
                      <a:rPr lang="en-GB" b="1" i="1" dirty="0" smtClean="0">
                        <a:latin typeface="Cambria Math" panose="02040503050406030204" pitchFamily="18" charset="0"/>
                      </a:rPr>
                      <m:t>,…</m:t>
                    </m:r>
                    <m:sSub>
                      <m:sSubPr>
                        <m:ctrlPr>
                          <a:rPr lang="en-GB" b="1" i="1" dirty="0" smtClean="0">
                            <a:latin typeface="Cambria Math" panose="02040503050406030204" pitchFamily="18" charset="0"/>
                          </a:rPr>
                        </m:ctrlPr>
                      </m:sSubPr>
                      <m:e>
                        <m:r>
                          <a:rPr lang="en-GB" b="1" i="1" dirty="0" smtClean="0">
                            <a:latin typeface="Cambria Math" panose="02040503050406030204" pitchFamily="18" charset="0"/>
                          </a:rPr>
                          <m:t>𝒂</m:t>
                        </m:r>
                      </m:e>
                      <m:sub>
                        <m:r>
                          <a:rPr lang="en-GB" b="1" i="1" dirty="0" smtClean="0">
                            <a:latin typeface="Cambria Math" panose="02040503050406030204" pitchFamily="18" charset="0"/>
                          </a:rPr>
                          <m:t>𝑲</m:t>
                        </m:r>
                      </m:sub>
                    </m:sSub>
                    <m:r>
                      <a:rPr lang="en-GB" b="1" i="1" dirty="0" smtClean="0">
                        <a:latin typeface="Cambria Math" panose="02040503050406030204" pitchFamily="18" charset="0"/>
                      </a:rPr>
                      <m:t>,</m:t>
                    </m:r>
                    <m:r>
                      <a:rPr lang="en-GB" b="1" i="1" dirty="0">
                        <a:latin typeface="Cambria Math" panose="02040503050406030204" pitchFamily="18" charset="0"/>
                      </a:rPr>
                      <m:t>𝒃</m:t>
                    </m:r>
                    <m:r>
                      <a:rPr lang="en-GB" b="1" i="1" dirty="0">
                        <a:latin typeface="Cambria Math" panose="02040503050406030204" pitchFamily="18" charset="0"/>
                      </a:rPr>
                      <m:t>)</m:t>
                    </m:r>
                  </m:oMath>
                </a14:m>
                <a:r>
                  <a:rPr lang="en-GB" b="1" dirty="0"/>
                  <a:t> like before.</a:t>
                </a:r>
              </a:p>
              <a:p>
                <a:pPr marL="0" indent="0">
                  <a:buNone/>
                </a:pPr>
                <a:endParaRPr lang="en-GB" dirty="0"/>
              </a:p>
              <a:p>
                <a:pPr marL="0" indent="0">
                  <a:buNone/>
                </a:pPr>
                <a:r>
                  <a:rPr lang="en-GB" dirty="0"/>
                  <a:t>However, we leave this implementation for students who would like to practice their coding and machine learning skills.</a:t>
                </a:r>
              </a:p>
              <a:p>
                <a:pPr marL="0" indent="0">
                  <a:buNone/>
                </a:pPr>
                <a:endParaRPr lang="en-GB" dirty="0"/>
              </a:p>
            </p:txBody>
          </p:sp>
        </mc:Choice>
        <mc:Fallback xmlns="">
          <p:sp>
            <p:nvSpPr>
              <p:cNvPr id="3" name="Content Placeholder 2">
                <a:extLst>
                  <a:ext uri="{FF2B5EF4-FFF2-40B4-BE49-F238E27FC236}">
                    <a16:creationId xmlns:a16="http://schemas.microsoft.com/office/drawing/2014/main" id="{09ACEEFD-8460-F540-F80C-BEACC2297773}"/>
                  </a:ext>
                </a:extLst>
              </p:cNvPr>
              <p:cNvSpPr>
                <a:spLocks noGrp="1" noRot="1" noChangeAspect="1" noMove="1" noResize="1" noEditPoints="1" noAdjustHandles="1" noChangeArrowheads="1" noChangeShapeType="1" noTextEdit="1"/>
              </p:cNvSpPr>
              <p:nvPr>
                <p:ph idx="1"/>
              </p:nvPr>
            </p:nvSpPr>
            <p:spPr>
              <a:xfrm>
                <a:off x="838200" y="1825624"/>
                <a:ext cx="10515600" cy="5032375"/>
              </a:xfrm>
              <a:blipFill>
                <a:blip r:embed="rId2"/>
                <a:stretch>
                  <a:fillRect l="-1217" t="-1937" r="-174"/>
                </a:stretch>
              </a:blipFill>
            </p:spPr>
            <p:txBody>
              <a:bodyPr/>
              <a:lstStyle/>
              <a:p>
                <a:r>
                  <a:rPr lang="en-GB">
                    <a:noFill/>
                  </a:rPr>
                  <a:t> </a:t>
                </a:r>
              </a:p>
            </p:txBody>
          </p:sp>
        </mc:Fallback>
      </mc:AlternateContent>
    </p:spTree>
    <p:extLst>
      <p:ext uri="{BB962C8B-B14F-4D97-AF65-F5344CB8AC3E}">
        <p14:creationId xmlns:p14="http://schemas.microsoft.com/office/powerpoint/2010/main" val="1268927889"/>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51540BB-97C7-1060-F5DD-F4A4417D2522}"/>
              </a:ext>
            </a:extLst>
          </p:cNvPr>
          <p:cNvSpPr>
            <a:spLocks noGrp="1"/>
          </p:cNvSpPr>
          <p:nvPr>
            <p:ph type="title"/>
          </p:nvPr>
        </p:nvSpPr>
        <p:spPr/>
        <p:txBody>
          <a:bodyPr/>
          <a:lstStyle/>
          <a:p>
            <a:r>
              <a:rPr lang="en-GB" dirty="0"/>
              <a:t>From Linear to Polynomial Regression</a:t>
            </a:r>
            <a:endParaRPr lang="en-SG" dirty="0"/>
          </a:p>
        </p:txBody>
      </p:sp>
      <mc:AlternateContent xmlns:mc="http://schemas.openxmlformats.org/markup-compatibility/2006" xmlns:a14="http://schemas.microsoft.com/office/drawing/2010/main">
        <mc:Choice Requires="a14">
          <p:sp>
            <p:nvSpPr>
              <p:cNvPr id="3" name="Content Placeholder 2">
                <a:extLst>
                  <a:ext uri="{FF2B5EF4-FFF2-40B4-BE49-F238E27FC236}">
                    <a16:creationId xmlns:a16="http://schemas.microsoft.com/office/drawing/2014/main" id="{09ACEEFD-8460-F540-F80C-BEACC2297773}"/>
                  </a:ext>
                </a:extLst>
              </p:cNvPr>
              <p:cNvSpPr>
                <a:spLocks noGrp="1"/>
              </p:cNvSpPr>
              <p:nvPr>
                <p:ph idx="1"/>
              </p:nvPr>
            </p:nvSpPr>
            <p:spPr>
              <a:xfrm>
                <a:off x="838200" y="1825624"/>
                <a:ext cx="10515600" cy="5032375"/>
              </a:xfrm>
            </p:spPr>
            <p:txBody>
              <a:bodyPr>
                <a:normAutofit/>
              </a:bodyPr>
              <a:lstStyle/>
              <a:p>
                <a:pPr marL="0" indent="0">
                  <a:buNone/>
                </a:pPr>
                <a:r>
                  <a:rPr lang="en-GB" dirty="0"/>
                  <a:t>We will follow the same steps as before with linear regression, starting with a mock dataset.</a:t>
                </a:r>
              </a:p>
              <a:p>
                <a:r>
                  <a:rPr lang="en-GB" dirty="0"/>
                  <a:t>This will be different compared than what has been implemented in notebooks 1 and 2, as we will generate prices </a:t>
                </a:r>
                <a14:m>
                  <m:oMath xmlns:m="http://schemas.openxmlformats.org/officeDocument/2006/math">
                    <m:sSub>
                      <m:sSubPr>
                        <m:ctrlPr>
                          <a:rPr lang="en-GB" i="1" dirty="0" smtClean="0">
                            <a:latin typeface="Cambria Math" panose="02040503050406030204" pitchFamily="18" charset="0"/>
                          </a:rPr>
                        </m:ctrlPr>
                      </m:sSubPr>
                      <m:e>
                        <m:r>
                          <a:rPr lang="en-GB" i="1" dirty="0" smtClean="0">
                            <a:latin typeface="Cambria Math" panose="02040503050406030204" pitchFamily="18" charset="0"/>
                          </a:rPr>
                          <m:t>𝑦</m:t>
                        </m:r>
                      </m:e>
                      <m:sub>
                        <m:r>
                          <a:rPr lang="en-GB" i="1" dirty="0" smtClean="0">
                            <a:latin typeface="Cambria Math" panose="02040503050406030204" pitchFamily="18" charset="0"/>
                          </a:rPr>
                          <m:t>𝑖</m:t>
                        </m:r>
                      </m:sub>
                    </m:sSub>
                  </m:oMath>
                </a14:m>
                <a:r>
                  <a:rPr lang="en-GB" dirty="0"/>
                  <a:t> as a polynomial function of the surfaces </a:t>
                </a:r>
                <a14:m>
                  <m:oMath xmlns:m="http://schemas.openxmlformats.org/officeDocument/2006/math">
                    <m:sSub>
                      <m:sSubPr>
                        <m:ctrlPr>
                          <a:rPr lang="en-GB" i="1" dirty="0" smtClean="0">
                            <a:latin typeface="Cambria Math" panose="02040503050406030204" pitchFamily="18" charset="0"/>
                          </a:rPr>
                        </m:ctrlPr>
                      </m:sSubPr>
                      <m:e>
                        <m:r>
                          <a:rPr lang="en-GB" i="1" dirty="0" smtClean="0">
                            <a:latin typeface="Cambria Math" panose="02040503050406030204" pitchFamily="18" charset="0"/>
                          </a:rPr>
                          <m:t>𝑥</m:t>
                        </m:r>
                      </m:e>
                      <m:sub>
                        <m:r>
                          <a:rPr lang="en-GB" i="1" dirty="0" smtClean="0">
                            <a:latin typeface="Cambria Math" panose="02040503050406030204" pitchFamily="18" charset="0"/>
                          </a:rPr>
                          <m:t>𝑖</m:t>
                        </m:r>
                      </m:sub>
                    </m:sSub>
                  </m:oMath>
                </a14:m>
                <a:r>
                  <a:rPr lang="en-GB" dirty="0"/>
                  <a:t>.</a:t>
                </a:r>
              </a:p>
              <a:p>
                <a:r>
                  <a:rPr lang="en-GB" dirty="0"/>
                  <a:t>We will assume that the function </a:t>
                </a:r>
                <a14:m>
                  <m:oMath xmlns:m="http://schemas.openxmlformats.org/officeDocument/2006/math">
                    <m:r>
                      <a:rPr lang="en-GB" b="0" i="1" dirty="0" smtClean="0">
                        <a:latin typeface="Cambria Math" panose="02040503050406030204" pitchFamily="18" charset="0"/>
                      </a:rPr>
                      <m:t>𝑦</m:t>
                    </m:r>
                    <m:r>
                      <a:rPr lang="en-GB" b="0" i="1" dirty="0" smtClean="0">
                        <a:latin typeface="Cambria Math" panose="02040503050406030204" pitchFamily="18" charset="0"/>
                      </a:rPr>
                      <m:t>=</m:t>
                    </m:r>
                    <m:r>
                      <a:rPr lang="en-GB" b="0" i="1" dirty="0" smtClean="0">
                        <a:latin typeface="Cambria Math" panose="02040503050406030204" pitchFamily="18" charset="0"/>
                      </a:rPr>
                      <m:t>𝑓</m:t>
                    </m:r>
                    <m:r>
                      <a:rPr lang="en-GB" i="1" dirty="0" smtClean="0">
                        <a:latin typeface="Cambria Math" panose="02040503050406030204" pitchFamily="18" charset="0"/>
                      </a:rPr>
                      <m:t>(</m:t>
                    </m:r>
                    <m:r>
                      <a:rPr lang="en-GB" i="1" dirty="0" smtClean="0">
                        <a:latin typeface="Cambria Math" panose="02040503050406030204" pitchFamily="18" charset="0"/>
                      </a:rPr>
                      <m:t>𝑥</m:t>
                    </m:r>
                    <m:r>
                      <a:rPr lang="en-GB" i="1" dirty="0" smtClean="0">
                        <a:latin typeface="Cambria Math" panose="02040503050406030204" pitchFamily="18" charset="0"/>
                      </a:rPr>
                      <m:t>)</m:t>
                    </m:r>
                  </m:oMath>
                </a14:m>
                <a:r>
                  <a:rPr lang="en-GB" dirty="0"/>
                  <a:t>, giving the price of an apartment with surface </a:t>
                </a:r>
                <a14:m>
                  <m:oMath xmlns:m="http://schemas.openxmlformats.org/officeDocument/2006/math">
                    <m:r>
                      <a:rPr lang="en-GB" i="1" dirty="0" smtClean="0">
                        <a:latin typeface="Cambria Math" panose="02040503050406030204" pitchFamily="18" charset="0"/>
                      </a:rPr>
                      <m:t>𝑥</m:t>
                    </m:r>
                  </m:oMath>
                </a14:m>
                <a:r>
                  <a:rPr lang="en-GB" dirty="0"/>
                  <a:t>, is defined as a polynomial function with degree 3.</a:t>
                </a:r>
              </a:p>
              <a:p>
                <a:pPr marL="0" indent="0">
                  <a:buNone/>
                </a:pPr>
                <a14:m>
                  <m:oMathPara xmlns:m="http://schemas.openxmlformats.org/officeDocument/2006/math">
                    <m:oMathParaPr>
                      <m:jc m:val="centerGroup"/>
                    </m:oMathParaPr>
                    <m:oMath xmlns:m="http://schemas.openxmlformats.org/officeDocument/2006/math">
                      <m:r>
                        <a:rPr lang="en-GB" i="1" dirty="0" smtClean="0">
                          <a:latin typeface="Cambria Math" panose="02040503050406030204" pitchFamily="18" charset="0"/>
                        </a:rPr>
                        <m:t>𝑦</m:t>
                      </m:r>
                      <m:r>
                        <a:rPr lang="en-GB" i="1" dirty="0">
                          <a:latin typeface="Cambria Math" panose="02040503050406030204" pitchFamily="18" charset="0"/>
                        </a:rPr>
                        <m:t>=</m:t>
                      </m:r>
                      <m:r>
                        <a:rPr lang="en-GB" i="1" dirty="0" smtClean="0">
                          <a:latin typeface="Cambria Math" panose="02040503050406030204" pitchFamily="18" charset="0"/>
                        </a:rPr>
                        <m:t>𝑓</m:t>
                      </m:r>
                      <m:r>
                        <a:rPr lang="en-GB" i="1" dirty="0" smtClean="0">
                          <a:latin typeface="Cambria Math" panose="02040503050406030204" pitchFamily="18" charset="0"/>
                        </a:rPr>
                        <m:t>(</m:t>
                      </m:r>
                      <m:r>
                        <a:rPr lang="en-GB" i="1" dirty="0" smtClean="0">
                          <a:latin typeface="Cambria Math" panose="02040503050406030204" pitchFamily="18" charset="0"/>
                        </a:rPr>
                        <m:t>𝑥</m:t>
                      </m:r>
                      <m:r>
                        <a:rPr lang="en-GB" i="1" dirty="0" smtClean="0">
                          <a:latin typeface="Cambria Math" panose="02040503050406030204" pitchFamily="18" charset="0"/>
                        </a:rPr>
                        <m:t>) = 100000 + 14373</m:t>
                      </m:r>
                      <m:r>
                        <a:rPr lang="en-GB" i="1" dirty="0" smtClean="0">
                          <a:latin typeface="Cambria Math" panose="02040503050406030204" pitchFamily="18" charset="0"/>
                        </a:rPr>
                        <m:t>𝑥</m:t>
                      </m:r>
                      <m:r>
                        <a:rPr lang="en-GB" i="1" dirty="0" smtClean="0">
                          <a:latin typeface="Cambria Math" panose="02040503050406030204" pitchFamily="18" charset="0"/>
                        </a:rPr>
                        <m:t> + 3</m:t>
                      </m:r>
                      <m:sSup>
                        <m:sSupPr>
                          <m:ctrlPr>
                            <a:rPr lang="en-GB" i="1" dirty="0" smtClean="0">
                              <a:latin typeface="Cambria Math" panose="02040503050406030204" pitchFamily="18" charset="0"/>
                            </a:rPr>
                          </m:ctrlPr>
                        </m:sSupPr>
                        <m:e>
                          <m:r>
                            <a:rPr lang="en-GB" i="1" dirty="0" smtClean="0">
                              <a:latin typeface="Cambria Math" panose="02040503050406030204" pitchFamily="18" charset="0"/>
                            </a:rPr>
                            <m:t>𝑥</m:t>
                          </m:r>
                        </m:e>
                        <m:sup>
                          <m:r>
                            <a:rPr lang="en-GB" i="1" dirty="0" smtClean="0">
                              <a:latin typeface="Cambria Math" panose="02040503050406030204" pitchFamily="18" charset="0"/>
                            </a:rPr>
                            <m:t>3</m:t>
                          </m:r>
                        </m:sup>
                      </m:sSup>
                    </m:oMath>
                  </m:oMathPara>
                </a14:m>
                <a:endParaRPr lang="en-GB" dirty="0"/>
              </a:p>
              <a:p>
                <a:r>
                  <a:rPr lang="en-GB" dirty="0"/>
                  <a:t>In addition, we will add a random noise to the final pricing, with a random +/- 10% drift as before.</a:t>
                </a:r>
              </a:p>
            </p:txBody>
          </p:sp>
        </mc:Choice>
        <mc:Fallback xmlns="">
          <p:sp>
            <p:nvSpPr>
              <p:cNvPr id="3" name="Content Placeholder 2">
                <a:extLst>
                  <a:ext uri="{FF2B5EF4-FFF2-40B4-BE49-F238E27FC236}">
                    <a16:creationId xmlns:a16="http://schemas.microsoft.com/office/drawing/2014/main" id="{09ACEEFD-8460-F540-F80C-BEACC2297773}"/>
                  </a:ext>
                </a:extLst>
              </p:cNvPr>
              <p:cNvSpPr>
                <a:spLocks noGrp="1" noRot="1" noChangeAspect="1" noMove="1" noResize="1" noEditPoints="1" noAdjustHandles="1" noChangeArrowheads="1" noChangeShapeType="1" noTextEdit="1"/>
              </p:cNvSpPr>
              <p:nvPr>
                <p:ph idx="1"/>
              </p:nvPr>
            </p:nvSpPr>
            <p:spPr>
              <a:xfrm>
                <a:off x="838200" y="1825624"/>
                <a:ext cx="10515600" cy="5032375"/>
              </a:xfrm>
              <a:blipFill>
                <a:blip r:embed="rId2"/>
                <a:stretch>
                  <a:fillRect l="-1217" t="-1937" r="-232"/>
                </a:stretch>
              </a:blipFill>
            </p:spPr>
            <p:txBody>
              <a:bodyPr/>
              <a:lstStyle/>
              <a:p>
                <a:r>
                  <a:rPr lang="en-GB">
                    <a:noFill/>
                  </a:rPr>
                  <a:t> </a:t>
                </a:r>
              </a:p>
            </p:txBody>
          </p:sp>
        </mc:Fallback>
      </mc:AlternateContent>
    </p:spTree>
    <p:extLst>
      <p:ext uri="{BB962C8B-B14F-4D97-AF65-F5344CB8AC3E}">
        <p14:creationId xmlns:p14="http://schemas.microsoft.com/office/powerpoint/2010/main" val="654638605"/>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51540BB-97C7-1060-F5DD-F4A4417D2522}"/>
              </a:ext>
            </a:extLst>
          </p:cNvPr>
          <p:cNvSpPr>
            <a:spLocks noGrp="1"/>
          </p:cNvSpPr>
          <p:nvPr>
            <p:ph type="title"/>
          </p:nvPr>
        </p:nvSpPr>
        <p:spPr/>
        <p:txBody>
          <a:bodyPr/>
          <a:lstStyle/>
          <a:p>
            <a:r>
              <a:rPr lang="en-GB" dirty="0"/>
              <a:t>From Linear to Polynomial Regression</a:t>
            </a:r>
            <a:endParaRPr lang="en-SG" dirty="0"/>
          </a:p>
        </p:txBody>
      </p:sp>
      <p:pic>
        <p:nvPicPr>
          <p:cNvPr id="7" name="Picture 6">
            <a:extLst>
              <a:ext uri="{FF2B5EF4-FFF2-40B4-BE49-F238E27FC236}">
                <a16:creationId xmlns:a16="http://schemas.microsoft.com/office/drawing/2014/main" id="{9D8F3979-92F8-EF08-A03B-A0DC72460CFA}"/>
              </a:ext>
            </a:extLst>
          </p:cNvPr>
          <p:cNvPicPr>
            <a:picLocks noChangeAspect="1"/>
          </p:cNvPicPr>
          <p:nvPr/>
        </p:nvPicPr>
        <p:blipFill>
          <a:blip r:embed="rId2"/>
          <a:stretch>
            <a:fillRect/>
          </a:stretch>
        </p:blipFill>
        <p:spPr>
          <a:xfrm>
            <a:off x="62520" y="2117797"/>
            <a:ext cx="11943050" cy="4181403"/>
          </a:xfrm>
          <a:prstGeom prst="rect">
            <a:avLst/>
          </a:prstGeom>
        </p:spPr>
      </p:pic>
    </p:spTree>
    <p:extLst>
      <p:ext uri="{BB962C8B-B14F-4D97-AF65-F5344CB8AC3E}">
        <p14:creationId xmlns:p14="http://schemas.microsoft.com/office/powerpoint/2010/main" val="2320514478"/>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3E1C8E50-9C15-616D-6D99-862CCF279DF4}"/>
              </a:ext>
            </a:extLst>
          </p:cNvPr>
          <p:cNvPicPr>
            <a:picLocks noChangeAspect="1"/>
          </p:cNvPicPr>
          <p:nvPr/>
        </p:nvPicPr>
        <p:blipFill>
          <a:blip r:embed="rId2"/>
          <a:stretch>
            <a:fillRect/>
          </a:stretch>
        </p:blipFill>
        <p:spPr>
          <a:xfrm>
            <a:off x="1237572" y="256732"/>
            <a:ext cx="9716856" cy="6344535"/>
          </a:xfrm>
          <a:prstGeom prst="rect">
            <a:avLst/>
          </a:prstGeom>
        </p:spPr>
      </p:pic>
      <p:sp>
        <p:nvSpPr>
          <p:cNvPr id="8" name="TextBox 7">
            <a:extLst>
              <a:ext uri="{FF2B5EF4-FFF2-40B4-BE49-F238E27FC236}">
                <a16:creationId xmlns:a16="http://schemas.microsoft.com/office/drawing/2014/main" id="{5BEF22B4-109D-679B-56C6-BF8C9EA81DAD}"/>
              </a:ext>
            </a:extLst>
          </p:cNvPr>
          <p:cNvSpPr txBox="1"/>
          <p:nvPr/>
        </p:nvSpPr>
        <p:spPr>
          <a:xfrm>
            <a:off x="2782275" y="947939"/>
            <a:ext cx="4205753" cy="1938992"/>
          </a:xfrm>
          <a:prstGeom prst="rect">
            <a:avLst/>
          </a:prstGeom>
          <a:noFill/>
        </p:spPr>
        <p:txBody>
          <a:bodyPr wrap="square" rtlCol="0">
            <a:spAutoFit/>
          </a:bodyPr>
          <a:lstStyle/>
          <a:p>
            <a:pPr algn="ctr"/>
            <a:r>
              <a:rPr lang="en-GB" sz="2400" b="1" dirty="0">
                <a:solidFill>
                  <a:schemeClr val="accent2"/>
                </a:solidFill>
              </a:rPr>
              <a:t>Data no longer shows linearity, which is expected. </a:t>
            </a:r>
          </a:p>
          <a:p>
            <a:pPr algn="ctr"/>
            <a:r>
              <a:rPr lang="en-GB" sz="2400" b="1" dirty="0">
                <a:solidFill>
                  <a:schemeClr val="accent2"/>
                </a:solidFill>
              </a:rPr>
              <a:t>Using a Linear Regressor would be a mistake here, as it would not properly fit the data.</a:t>
            </a:r>
            <a:endParaRPr lang="en-SG" sz="2400" b="1" dirty="0">
              <a:solidFill>
                <a:schemeClr val="accent2"/>
              </a:solidFill>
            </a:endParaRPr>
          </a:p>
        </p:txBody>
      </p:sp>
    </p:spTree>
    <p:extLst>
      <p:ext uri="{BB962C8B-B14F-4D97-AF65-F5344CB8AC3E}">
        <p14:creationId xmlns:p14="http://schemas.microsoft.com/office/powerpoint/2010/main" val="3819655263"/>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51540BB-97C7-1060-F5DD-F4A4417D2522}"/>
              </a:ext>
            </a:extLst>
          </p:cNvPr>
          <p:cNvSpPr>
            <a:spLocks noGrp="1"/>
          </p:cNvSpPr>
          <p:nvPr>
            <p:ph type="title"/>
          </p:nvPr>
        </p:nvSpPr>
        <p:spPr/>
        <p:txBody>
          <a:bodyPr/>
          <a:lstStyle/>
          <a:p>
            <a:r>
              <a:rPr lang="en-GB" dirty="0"/>
              <a:t>Polynomial Regression with </a:t>
            </a:r>
            <a:r>
              <a:rPr lang="en-GB" dirty="0" err="1"/>
              <a:t>sklearn</a:t>
            </a:r>
            <a:endParaRPr lang="en-SG" dirty="0"/>
          </a:p>
        </p:txBody>
      </p:sp>
      <mc:AlternateContent xmlns:mc="http://schemas.openxmlformats.org/markup-compatibility/2006" xmlns:a14="http://schemas.microsoft.com/office/drawing/2010/main">
        <mc:Choice Requires="a14">
          <p:sp>
            <p:nvSpPr>
              <p:cNvPr id="3" name="Content Placeholder 2">
                <a:extLst>
                  <a:ext uri="{FF2B5EF4-FFF2-40B4-BE49-F238E27FC236}">
                    <a16:creationId xmlns:a16="http://schemas.microsoft.com/office/drawing/2014/main" id="{09ACEEFD-8460-F540-F80C-BEACC2297773}"/>
                  </a:ext>
                </a:extLst>
              </p:cNvPr>
              <p:cNvSpPr>
                <a:spLocks noGrp="1"/>
              </p:cNvSpPr>
              <p:nvPr>
                <p:ph sz="half" idx="1"/>
              </p:nvPr>
            </p:nvSpPr>
            <p:spPr>
              <a:xfrm>
                <a:off x="838200" y="1825624"/>
                <a:ext cx="5181600" cy="5032375"/>
              </a:xfrm>
            </p:spPr>
            <p:txBody>
              <a:bodyPr>
                <a:normAutofit/>
              </a:bodyPr>
              <a:lstStyle/>
              <a:p>
                <a:pPr marL="0" indent="0">
                  <a:buNone/>
                </a:pPr>
                <a:r>
                  <a:rPr lang="en-GB" dirty="0"/>
                  <a:t>Sklearn treats polynomial regression as a </a:t>
                </a:r>
                <a:r>
                  <a:rPr lang="en-GB" b="1" dirty="0"/>
                  <a:t>multi-parameter linear regression</a:t>
                </a:r>
                <a:r>
                  <a:rPr lang="en-GB" dirty="0"/>
                  <a:t>, with </a:t>
                </a:r>
                <a:r>
                  <a:rPr lang="en-GB" b="1" dirty="0"/>
                  <a:t>polynomial</a:t>
                </a:r>
                <a:r>
                  <a:rPr lang="en-GB" dirty="0"/>
                  <a:t> </a:t>
                </a:r>
                <a:r>
                  <a:rPr lang="en-GB" b="1" dirty="0"/>
                  <a:t>features</a:t>
                </a:r>
                <a:r>
                  <a:rPr lang="en-GB" dirty="0"/>
                  <a:t>.</a:t>
                </a:r>
              </a:p>
              <a:p>
                <a:pPr marL="0" indent="0">
                  <a:buNone/>
                </a:pPr>
                <a:r>
                  <a:rPr lang="en-GB" b="1" dirty="0"/>
                  <a:t>Polynomial features: </a:t>
                </a:r>
                <a:r>
                  <a:rPr lang="en-GB" dirty="0"/>
                  <a:t>reworking the inputs so that </a:t>
                </a:r>
              </a:p>
              <a:p>
                <a:pPr marL="0" indent="0">
                  <a:buNone/>
                </a:pPr>
                <a:r>
                  <a:rPr lang="en-GB" dirty="0"/>
                  <a:t> </a:t>
                </a:r>
              </a:p>
              <a:p>
                <a:pPr marL="0" indent="0">
                  <a:buNone/>
                </a:pPr>
                <a14:m>
                  <m:oMathPara xmlns:m="http://schemas.openxmlformats.org/officeDocument/2006/math">
                    <m:oMathParaPr>
                      <m:jc m:val="centerGroup"/>
                    </m:oMathParaPr>
                    <m:oMath xmlns:m="http://schemas.openxmlformats.org/officeDocument/2006/math">
                      <m:acc>
                        <m:accPr>
                          <m:chr m:val="̃"/>
                          <m:ctrlPr>
                            <a:rPr lang="en-GB" b="0" i="1" smtClean="0">
                              <a:latin typeface="Cambria Math" panose="02040503050406030204" pitchFamily="18" charset="0"/>
                            </a:rPr>
                          </m:ctrlPr>
                        </m:accPr>
                        <m:e>
                          <m:r>
                            <a:rPr lang="en-GB" b="0" i="1" smtClean="0">
                              <a:latin typeface="Cambria Math" panose="02040503050406030204" pitchFamily="18" charset="0"/>
                            </a:rPr>
                            <m:t>𝑋</m:t>
                          </m:r>
                        </m:e>
                      </m:acc>
                      <m:r>
                        <a:rPr lang="en-GB" b="0" i="1" smtClean="0">
                          <a:latin typeface="Cambria Math" panose="02040503050406030204" pitchFamily="18" charset="0"/>
                        </a:rPr>
                        <m:t>=</m:t>
                      </m:r>
                      <m:d>
                        <m:dPr>
                          <m:ctrlPr>
                            <a:rPr lang="en-GB" i="1" smtClean="0">
                              <a:latin typeface="Cambria Math" panose="02040503050406030204" pitchFamily="18" charset="0"/>
                            </a:rPr>
                          </m:ctrlPr>
                        </m:dPr>
                        <m:e>
                          <m:m>
                            <m:mPr>
                              <m:mcs>
                                <m:mc>
                                  <m:mcPr>
                                    <m:count m:val="3"/>
                                    <m:mcJc m:val="center"/>
                                  </m:mcPr>
                                </m:mc>
                              </m:mcs>
                              <m:ctrlPr>
                                <a:rPr lang="en-GB" i="1" smtClean="0">
                                  <a:latin typeface="Cambria Math" panose="02040503050406030204" pitchFamily="18" charset="0"/>
                                </a:rPr>
                              </m:ctrlPr>
                            </m:mPr>
                            <m:mr>
                              <m:e>
                                <m:sSub>
                                  <m:sSubPr>
                                    <m:ctrlPr>
                                      <a:rPr lang="en-GB" b="0" i="1" smtClean="0">
                                        <a:latin typeface="Cambria Math" panose="02040503050406030204" pitchFamily="18" charset="0"/>
                                      </a:rPr>
                                    </m:ctrlPr>
                                  </m:sSubPr>
                                  <m:e>
                                    <m:r>
                                      <m:rPr>
                                        <m:brk m:alnAt="7"/>
                                      </m:rPr>
                                      <a:rPr lang="en-GB" b="0" i="1" smtClean="0">
                                        <a:latin typeface="Cambria Math" panose="02040503050406030204" pitchFamily="18" charset="0"/>
                                      </a:rPr>
                                      <m:t>𝑥</m:t>
                                    </m:r>
                                  </m:e>
                                  <m:sub>
                                    <m:r>
                                      <m:rPr>
                                        <m:brk m:alnAt="7"/>
                                      </m:rPr>
                                      <a:rPr lang="en-GB" b="0" i="1" smtClean="0">
                                        <a:latin typeface="Cambria Math" panose="02040503050406030204" pitchFamily="18" charset="0"/>
                                      </a:rPr>
                                      <m:t>1</m:t>
                                    </m:r>
                                  </m:sub>
                                </m:sSub>
                              </m:e>
                              <m:e>
                                <m:r>
                                  <a:rPr lang="en-GB" i="1" smtClean="0">
                                    <a:latin typeface="Cambria Math" panose="02040503050406030204" pitchFamily="18" charset="0"/>
                                  </a:rPr>
                                  <m:t>⋯</m:t>
                                </m:r>
                              </m:e>
                              <m:e>
                                <m:sSup>
                                  <m:sSupPr>
                                    <m:ctrlPr>
                                      <a:rPr lang="en-GB" b="0" i="1" smtClean="0">
                                        <a:latin typeface="Cambria Math" panose="02040503050406030204" pitchFamily="18" charset="0"/>
                                      </a:rPr>
                                    </m:ctrlPr>
                                  </m:sSupPr>
                                  <m:e>
                                    <m:d>
                                      <m:dPr>
                                        <m:ctrlPr>
                                          <a:rPr lang="en-GB" b="0" i="1" smtClean="0">
                                            <a:latin typeface="Cambria Math" panose="02040503050406030204" pitchFamily="18" charset="0"/>
                                          </a:rPr>
                                        </m:ctrlPr>
                                      </m:dPr>
                                      <m:e>
                                        <m:sSub>
                                          <m:sSubPr>
                                            <m:ctrlPr>
                                              <a:rPr lang="en-GB" b="0" i="1" smtClean="0">
                                                <a:latin typeface="Cambria Math" panose="02040503050406030204" pitchFamily="18" charset="0"/>
                                              </a:rPr>
                                            </m:ctrlPr>
                                          </m:sSubPr>
                                          <m:e>
                                            <m:r>
                                              <a:rPr lang="en-GB" b="0" i="1" smtClean="0">
                                                <a:latin typeface="Cambria Math" panose="02040503050406030204" pitchFamily="18" charset="0"/>
                                              </a:rPr>
                                              <m:t>𝑥</m:t>
                                            </m:r>
                                          </m:e>
                                          <m:sub>
                                            <m:r>
                                              <a:rPr lang="en-GB" b="0" i="1" smtClean="0">
                                                <a:latin typeface="Cambria Math" panose="02040503050406030204" pitchFamily="18" charset="0"/>
                                              </a:rPr>
                                              <m:t>1</m:t>
                                            </m:r>
                                          </m:sub>
                                        </m:sSub>
                                      </m:e>
                                    </m:d>
                                  </m:e>
                                  <m:sup>
                                    <m:r>
                                      <a:rPr lang="en-GB" b="0" i="1" smtClean="0">
                                        <a:latin typeface="Cambria Math" panose="02040503050406030204" pitchFamily="18" charset="0"/>
                                      </a:rPr>
                                      <m:t>𝐾</m:t>
                                    </m:r>
                                  </m:sup>
                                </m:sSup>
                              </m:e>
                            </m:mr>
                            <m:mr>
                              <m:e>
                                <m:r>
                                  <a:rPr lang="en-GB" i="1" smtClean="0">
                                    <a:latin typeface="Cambria Math" panose="02040503050406030204" pitchFamily="18" charset="0"/>
                                  </a:rPr>
                                  <m:t>⋮</m:t>
                                </m:r>
                              </m:e>
                              <m:e>
                                <m:r>
                                  <a:rPr lang="en-GB" i="1" smtClean="0">
                                    <a:latin typeface="Cambria Math" panose="02040503050406030204" pitchFamily="18" charset="0"/>
                                  </a:rPr>
                                  <m:t>⋱</m:t>
                                </m:r>
                              </m:e>
                              <m:e>
                                <m:r>
                                  <a:rPr lang="en-GB" i="1" smtClean="0">
                                    <a:latin typeface="Cambria Math" panose="02040503050406030204" pitchFamily="18" charset="0"/>
                                  </a:rPr>
                                  <m:t>⋮</m:t>
                                </m:r>
                              </m:e>
                            </m:mr>
                            <m:mr>
                              <m:e>
                                <m:sSub>
                                  <m:sSubPr>
                                    <m:ctrlPr>
                                      <a:rPr lang="en-GB" b="0" i="1" smtClean="0">
                                        <a:latin typeface="Cambria Math" panose="02040503050406030204" pitchFamily="18" charset="0"/>
                                      </a:rPr>
                                    </m:ctrlPr>
                                  </m:sSubPr>
                                  <m:e>
                                    <m:r>
                                      <a:rPr lang="en-GB" b="0" i="1" smtClean="0">
                                        <a:latin typeface="Cambria Math" panose="02040503050406030204" pitchFamily="18" charset="0"/>
                                      </a:rPr>
                                      <m:t>𝑥</m:t>
                                    </m:r>
                                  </m:e>
                                  <m:sub>
                                    <m:r>
                                      <a:rPr lang="en-GB" b="0" i="1" smtClean="0">
                                        <a:latin typeface="Cambria Math" panose="02040503050406030204" pitchFamily="18" charset="0"/>
                                      </a:rPr>
                                      <m:t>𝑁</m:t>
                                    </m:r>
                                  </m:sub>
                                </m:sSub>
                              </m:e>
                              <m:e>
                                <m:r>
                                  <a:rPr lang="en-GB" i="1" smtClean="0">
                                    <a:latin typeface="Cambria Math" panose="02040503050406030204" pitchFamily="18" charset="0"/>
                                  </a:rPr>
                                  <m:t>⋯</m:t>
                                </m:r>
                              </m:e>
                              <m:e>
                                <m:sSup>
                                  <m:sSupPr>
                                    <m:ctrlPr>
                                      <a:rPr lang="en-GB" b="0" i="1" smtClean="0">
                                        <a:latin typeface="Cambria Math" panose="02040503050406030204" pitchFamily="18" charset="0"/>
                                      </a:rPr>
                                    </m:ctrlPr>
                                  </m:sSupPr>
                                  <m:e>
                                    <m:d>
                                      <m:dPr>
                                        <m:ctrlPr>
                                          <a:rPr lang="en-GB" b="0" i="1" smtClean="0">
                                            <a:latin typeface="Cambria Math" panose="02040503050406030204" pitchFamily="18" charset="0"/>
                                          </a:rPr>
                                        </m:ctrlPr>
                                      </m:dPr>
                                      <m:e>
                                        <m:sSub>
                                          <m:sSubPr>
                                            <m:ctrlPr>
                                              <a:rPr lang="en-GB" b="0" i="1" smtClean="0">
                                                <a:latin typeface="Cambria Math" panose="02040503050406030204" pitchFamily="18" charset="0"/>
                                              </a:rPr>
                                            </m:ctrlPr>
                                          </m:sSubPr>
                                          <m:e>
                                            <m:r>
                                              <a:rPr lang="en-GB" b="0" i="1" smtClean="0">
                                                <a:latin typeface="Cambria Math" panose="02040503050406030204" pitchFamily="18" charset="0"/>
                                              </a:rPr>
                                              <m:t>𝑥</m:t>
                                            </m:r>
                                          </m:e>
                                          <m:sub>
                                            <m:r>
                                              <a:rPr lang="en-GB" b="0" i="1" smtClean="0">
                                                <a:latin typeface="Cambria Math" panose="02040503050406030204" pitchFamily="18" charset="0"/>
                                              </a:rPr>
                                              <m:t>𝑁</m:t>
                                            </m:r>
                                          </m:sub>
                                        </m:sSub>
                                      </m:e>
                                    </m:d>
                                  </m:e>
                                  <m:sup>
                                    <m:r>
                                      <a:rPr lang="en-GB" b="0" i="1" smtClean="0">
                                        <a:latin typeface="Cambria Math" panose="02040503050406030204" pitchFamily="18" charset="0"/>
                                      </a:rPr>
                                      <m:t>𝐾</m:t>
                                    </m:r>
                                  </m:sup>
                                </m:sSup>
                              </m:e>
                            </m:mr>
                          </m:m>
                        </m:e>
                      </m:d>
                    </m:oMath>
                  </m:oMathPara>
                </a14:m>
                <a:endParaRPr lang="en-GB" dirty="0"/>
              </a:p>
              <a:p>
                <a:pPr marL="0" indent="0">
                  <a:buNone/>
                </a:pPr>
                <a:r>
                  <a:rPr lang="en-GB" dirty="0"/>
                  <a:t>And </a:t>
                </a:r>
                <a14:m>
                  <m:oMath xmlns:m="http://schemas.openxmlformats.org/officeDocument/2006/math">
                    <m:sSub>
                      <m:sSubPr>
                        <m:ctrlPr>
                          <a:rPr lang="en-GB" b="0" i="1" smtClean="0">
                            <a:latin typeface="Cambria Math" panose="02040503050406030204" pitchFamily="18" charset="0"/>
                          </a:rPr>
                        </m:ctrlPr>
                      </m:sSubPr>
                      <m:e>
                        <m:acc>
                          <m:accPr>
                            <m:chr m:val="̃"/>
                            <m:ctrlPr>
                              <a:rPr lang="en-GB" i="1" smtClean="0">
                                <a:latin typeface="Cambria Math" panose="02040503050406030204" pitchFamily="18" charset="0"/>
                              </a:rPr>
                            </m:ctrlPr>
                          </m:accPr>
                          <m:e>
                            <m:r>
                              <a:rPr lang="en-GB" b="0" i="1" smtClean="0">
                                <a:latin typeface="Cambria Math" panose="02040503050406030204" pitchFamily="18" charset="0"/>
                              </a:rPr>
                              <m:t>𝑥</m:t>
                            </m:r>
                          </m:e>
                        </m:acc>
                      </m:e>
                      <m:sub>
                        <m:r>
                          <a:rPr lang="en-GB" b="0" i="1" smtClean="0">
                            <a:latin typeface="Cambria Math" panose="02040503050406030204" pitchFamily="18" charset="0"/>
                          </a:rPr>
                          <m:t>𝑖</m:t>
                        </m:r>
                        <m:r>
                          <a:rPr lang="en-GB" b="0" i="1" smtClean="0">
                            <a:latin typeface="Cambria Math" panose="02040503050406030204" pitchFamily="18" charset="0"/>
                          </a:rPr>
                          <m:t>,</m:t>
                        </m:r>
                        <m:r>
                          <a:rPr lang="en-GB" b="0" i="1" smtClean="0">
                            <a:latin typeface="Cambria Math" panose="02040503050406030204" pitchFamily="18" charset="0"/>
                          </a:rPr>
                          <m:t>𝑗</m:t>
                        </m:r>
                      </m:sub>
                    </m:sSub>
                    <m:r>
                      <a:rPr lang="en-GB" b="0" i="1" smtClean="0">
                        <a:latin typeface="Cambria Math" panose="02040503050406030204" pitchFamily="18" charset="0"/>
                      </a:rPr>
                      <m:t>=</m:t>
                    </m:r>
                    <m:sSup>
                      <m:sSupPr>
                        <m:ctrlPr>
                          <a:rPr lang="en-GB" b="0" i="1" smtClean="0">
                            <a:latin typeface="Cambria Math" panose="02040503050406030204" pitchFamily="18" charset="0"/>
                          </a:rPr>
                        </m:ctrlPr>
                      </m:sSupPr>
                      <m:e>
                        <m:d>
                          <m:dPr>
                            <m:ctrlPr>
                              <a:rPr lang="en-GB" b="0" i="1" smtClean="0">
                                <a:latin typeface="Cambria Math" panose="02040503050406030204" pitchFamily="18" charset="0"/>
                              </a:rPr>
                            </m:ctrlPr>
                          </m:dPr>
                          <m:e>
                            <m:sSub>
                              <m:sSubPr>
                                <m:ctrlPr>
                                  <a:rPr lang="en-GB" b="0" i="1" smtClean="0">
                                    <a:latin typeface="Cambria Math" panose="02040503050406030204" pitchFamily="18" charset="0"/>
                                  </a:rPr>
                                </m:ctrlPr>
                              </m:sSubPr>
                              <m:e>
                                <m:r>
                                  <a:rPr lang="en-GB" b="0" i="1" smtClean="0">
                                    <a:latin typeface="Cambria Math" panose="02040503050406030204" pitchFamily="18" charset="0"/>
                                  </a:rPr>
                                  <m:t>𝑥</m:t>
                                </m:r>
                              </m:e>
                              <m:sub>
                                <m:r>
                                  <a:rPr lang="en-GB" b="0" i="1" smtClean="0">
                                    <a:latin typeface="Cambria Math" panose="02040503050406030204" pitchFamily="18" charset="0"/>
                                  </a:rPr>
                                  <m:t>𝑖</m:t>
                                </m:r>
                              </m:sub>
                            </m:sSub>
                          </m:e>
                        </m:d>
                      </m:e>
                      <m:sup>
                        <m:r>
                          <a:rPr lang="en-GB" b="0" i="1" smtClean="0">
                            <a:latin typeface="Cambria Math" panose="02040503050406030204" pitchFamily="18" charset="0"/>
                          </a:rPr>
                          <m:t>𝑗</m:t>
                        </m:r>
                      </m:sup>
                    </m:sSup>
                  </m:oMath>
                </a14:m>
                <a:endParaRPr lang="en-GB" dirty="0"/>
              </a:p>
              <a:p>
                <a:pPr marL="0" indent="0">
                  <a:buNone/>
                </a:pPr>
                <a:endParaRPr lang="en-GB" dirty="0"/>
              </a:p>
            </p:txBody>
          </p:sp>
        </mc:Choice>
        <mc:Fallback xmlns="">
          <p:sp>
            <p:nvSpPr>
              <p:cNvPr id="3" name="Content Placeholder 2">
                <a:extLst>
                  <a:ext uri="{FF2B5EF4-FFF2-40B4-BE49-F238E27FC236}">
                    <a16:creationId xmlns:a16="http://schemas.microsoft.com/office/drawing/2014/main" id="{09ACEEFD-8460-F540-F80C-BEACC2297773}"/>
                  </a:ext>
                </a:extLst>
              </p:cNvPr>
              <p:cNvSpPr>
                <a:spLocks noGrp="1" noRot="1" noChangeAspect="1" noMove="1" noResize="1" noEditPoints="1" noAdjustHandles="1" noChangeArrowheads="1" noChangeShapeType="1" noTextEdit="1"/>
              </p:cNvSpPr>
              <p:nvPr>
                <p:ph sz="half" idx="1"/>
              </p:nvPr>
            </p:nvSpPr>
            <p:spPr>
              <a:xfrm>
                <a:off x="838200" y="1825624"/>
                <a:ext cx="5181600" cy="5032375"/>
              </a:xfrm>
              <a:blipFill>
                <a:blip r:embed="rId2"/>
                <a:stretch>
                  <a:fillRect l="-2471" t="-1937"/>
                </a:stretch>
              </a:blipFill>
            </p:spPr>
            <p:txBody>
              <a:bodyPr/>
              <a:lstStyle/>
              <a:p>
                <a:r>
                  <a:rPr lang="en-SG">
                    <a:noFill/>
                  </a:rPr>
                  <a:t> </a:t>
                </a:r>
              </a:p>
            </p:txBody>
          </p:sp>
        </mc:Fallback>
      </mc:AlternateContent>
      <p:pic>
        <p:nvPicPr>
          <p:cNvPr id="6" name="Picture 5">
            <a:extLst>
              <a:ext uri="{FF2B5EF4-FFF2-40B4-BE49-F238E27FC236}">
                <a16:creationId xmlns:a16="http://schemas.microsoft.com/office/drawing/2014/main" id="{B076CC01-0790-0059-F4DD-F1BB66573A80}"/>
              </a:ext>
            </a:extLst>
          </p:cNvPr>
          <p:cNvPicPr>
            <a:picLocks noChangeAspect="1"/>
          </p:cNvPicPr>
          <p:nvPr/>
        </p:nvPicPr>
        <p:blipFill>
          <a:blip r:embed="rId3"/>
          <a:stretch>
            <a:fillRect/>
          </a:stretch>
        </p:blipFill>
        <p:spPr>
          <a:xfrm>
            <a:off x="6172202" y="1690688"/>
            <a:ext cx="5772956" cy="3943900"/>
          </a:xfrm>
          <a:prstGeom prst="rect">
            <a:avLst/>
          </a:prstGeom>
        </p:spPr>
      </p:pic>
    </p:spTree>
    <p:extLst>
      <p:ext uri="{BB962C8B-B14F-4D97-AF65-F5344CB8AC3E}">
        <p14:creationId xmlns:p14="http://schemas.microsoft.com/office/powerpoint/2010/main" val="868497351"/>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51540BB-97C7-1060-F5DD-F4A4417D2522}"/>
              </a:ext>
            </a:extLst>
          </p:cNvPr>
          <p:cNvSpPr>
            <a:spLocks noGrp="1"/>
          </p:cNvSpPr>
          <p:nvPr>
            <p:ph type="title"/>
          </p:nvPr>
        </p:nvSpPr>
        <p:spPr/>
        <p:txBody>
          <a:bodyPr/>
          <a:lstStyle/>
          <a:p>
            <a:r>
              <a:rPr lang="en-GB" dirty="0"/>
              <a:t>Polynomial Regression with </a:t>
            </a:r>
            <a:r>
              <a:rPr lang="en-GB" dirty="0" err="1"/>
              <a:t>sklearn</a:t>
            </a:r>
            <a:endParaRPr lang="en-SG" dirty="0"/>
          </a:p>
        </p:txBody>
      </p:sp>
      <mc:AlternateContent xmlns:mc="http://schemas.openxmlformats.org/markup-compatibility/2006" xmlns:a14="http://schemas.microsoft.com/office/drawing/2010/main">
        <mc:Choice Requires="a14">
          <p:sp>
            <p:nvSpPr>
              <p:cNvPr id="3" name="Content Placeholder 2">
                <a:extLst>
                  <a:ext uri="{FF2B5EF4-FFF2-40B4-BE49-F238E27FC236}">
                    <a16:creationId xmlns:a16="http://schemas.microsoft.com/office/drawing/2014/main" id="{09ACEEFD-8460-F540-F80C-BEACC2297773}"/>
                  </a:ext>
                </a:extLst>
              </p:cNvPr>
              <p:cNvSpPr>
                <a:spLocks noGrp="1"/>
              </p:cNvSpPr>
              <p:nvPr>
                <p:ph idx="1"/>
              </p:nvPr>
            </p:nvSpPr>
            <p:spPr/>
            <p:txBody>
              <a:bodyPr>
                <a:normAutofit/>
              </a:bodyPr>
              <a:lstStyle/>
              <a:p>
                <a:pPr marL="0" indent="0">
                  <a:buNone/>
                </a:pPr>
                <a:r>
                  <a:rPr lang="en-GB" dirty="0"/>
                  <a:t>We then proceed normally, assuming </a:t>
                </a:r>
                <a14:m>
                  <m:oMath xmlns:m="http://schemas.openxmlformats.org/officeDocument/2006/math">
                    <m:acc>
                      <m:accPr>
                        <m:chr m:val="̃"/>
                        <m:ctrlPr>
                          <a:rPr lang="en-GB" b="0" i="1" smtClean="0">
                            <a:latin typeface="Cambria Math" panose="02040503050406030204" pitchFamily="18" charset="0"/>
                          </a:rPr>
                        </m:ctrlPr>
                      </m:accPr>
                      <m:e>
                        <m:r>
                          <a:rPr lang="en-GB" b="0" i="1" smtClean="0">
                            <a:latin typeface="Cambria Math" panose="02040503050406030204" pitchFamily="18" charset="0"/>
                          </a:rPr>
                          <m:t>𝑋</m:t>
                        </m:r>
                      </m:e>
                    </m:acc>
                  </m:oMath>
                </a14:m>
                <a:r>
                  <a:rPr lang="en-GB" dirty="0"/>
                  <a:t> are our new inputs. </a:t>
                </a:r>
              </a:p>
              <a:p>
                <a:pPr marL="0" indent="0">
                  <a:buNone/>
                </a:pPr>
                <a:r>
                  <a:rPr lang="en-GB" dirty="0" err="1"/>
                  <a:t>Sklearn</a:t>
                </a:r>
                <a:r>
                  <a:rPr lang="en-GB" dirty="0"/>
                  <a:t> then automatically adjusts and produces the right number of parameters for the model.</a:t>
                </a:r>
              </a:p>
            </p:txBody>
          </p:sp>
        </mc:Choice>
        <mc:Fallback xmlns="">
          <p:sp>
            <p:nvSpPr>
              <p:cNvPr id="3" name="Content Placeholder 2">
                <a:extLst>
                  <a:ext uri="{FF2B5EF4-FFF2-40B4-BE49-F238E27FC236}">
                    <a16:creationId xmlns:a16="http://schemas.microsoft.com/office/drawing/2014/main" id="{09ACEEFD-8460-F540-F80C-BEACC2297773}"/>
                  </a:ext>
                </a:extLst>
              </p:cNvPr>
              <p:cNvSpPr>
                <a:spLocks noGrp="1" noRot="1" noChangeAspect="1" noMove="1" noResize="1" noEditPoints="1" noAdjustHandles="1" noChangeArrowheads="1" noChangeShapeType="1" noTextEdit="1"/>
              </p:cNvSpPr>
              <p:nvPr>
                <p:ph idx="1"/>
              </p:nvPr>
            </p:nvSpPr>
            <p:spPr>
              <a:blipFill>
                <a:blip r:embed="rId2"/>
                <a:stretch>
                  <a:fillRect l="-1217" t="-2101"/>
                </a:stretch>
              </a:blipFill>
            </p:spPr>
            <p:txBody>
              <a:bodyPr/>
              <a:lstStyle/>
              <a:p>
                <a:r>
                  <a:rPr lang="en-SG">
                    <a:noFill/>
                  </a:rPr>
                  <a:t> </a:t>
                </a:r>
              </a:p>
            </p:txBody>
          </p:sp>
        </mc:Fallback>
      </mc:AlternateContent>
      <p:pic>
        <p:nvPicPr>
          <p:cNvPr id="5" name="Picture 4">
            <a:extLst>
              <a:ext uri="{FF2B5EF4-FFF2-40B4-BE49-F238E27FC236}">
                <a16:creationId xmlns:a16="http://schemas.microsoft.com/office/drawing/2014/main" id="{06045A47-02C3-1472-2D5C-55D27CCBDE59}"/>
              </a:ext>
            </a:extLst>
          </p:cNvPr>
          <p:cNvPicPr>
            <a:picLocks noChangeAspect="1"/>
          </p:cNvPicPr>
          <p:nvPr/>
        </p:nvPicPr>
        <p:blipFill>
          <a:blip r:embed="rId3"/>
          <a:stretch>
            <a:fillRect/>
          </a:stretch>
        </p:blipFill>
        <p:spPr>
          <a:xfrm>
            <a:off x="1808605" y="3548709"/>
            <a:ext cx="8574790" cy="2151064"/>
          </a:xfrm>
          <a:prstGeom prst="rect">
            <a:avLst/>
          </a:prstGeom>
        </p:spPr>
      </p:pic>
    </p:spTree>
    <p:extLst>
      <p:ext uri="{BB962C8B-B14F-4D97-AF65-F5344CB8AC3E}">
        <p14:creationId xmlns:p14="http://schemas.microsoft.com/office/powerpoint/2010/main" val="2992834255"/>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0" name="Picture 9">
            <a:extLst>
              <a:ext uri="{FF2B5EF4-FFF2-40B4-BE49-F238E27FC236}">
                <a16:creationId xmlns:a16="http://schemas.microsoft.com/office/drawing/2014/main" id="{9506860F-5C5E-B066-F861-3336FDF1D32E}"/>
              </a:ext>
            </a:extLst>
          </p:cNvPr>
          <p:cNvPicPr>
            <a:picLocks noChangeAspect="1"/>
          </p:cNvPicPr>
          <p:nvPr/>
        </p:nvPicPr>
        <p:blipFill>
          <a:blip r:embed="rId2"/>
          <a:stretch>
            <a:fillRect/>
          </a:stretch>
        </p:blipFill>
        <p:spPr>
          <a:xfrm>
            <a:off x="1370940" y="261495"/>
            <a:ext cx="9450119" cy="6335009"/>
          </a:xfrm>
          <a:prstGeom prst="rect">
            <a:avLst/>
          </a:prstGeom>
        </p:spPr>
      </p:pic>
      <p:sp>
        <p:nvSpPr>
          <p:cNvPr id="11" name="TextBox 10">
            <a:extLst>
              <a:ext uri="{FF2B5EF4-FFF2-40B4-BE49-F238E27FC236}">
                <a16:creationId xmlns:a16="http://schemas.microsoft.com/office/drawing/2014/main" id="{CB693548-F6EE-8552-D1CD-B1EEB33BC591}"/>
              </a:ext>
            </a:extLst>
          </p:cNvPr>
          <p:cNvSpPr txBox="1"/>
          <p:nvPr/>
        </p:nvSpPr>
        <p:spPr>
          <a:xfrm>
            <a:off x="2802933" y="2011728"/>
            <a:ext cx="2571500" cy="1384995"/>
          </a:xfrm>
          <a:prstGeom prst="rect">
            <a:avLst/>
          </a:prstGeom>
          <a:noFill/>
        </p:spPr>
        <p:txBody>
          <a:bodyPr wrap="square" rtlCol="0">
            <a:spAutoFit/>
          </a:bodyPr>
          <a:lstStyle/>
          <a:p>
            <a:pPr algn="ctr"/>
            <a:r>
              <a:rPr lang="en-GB" sz="2800" b="1" dirty="0">
                <a:solidFill>
                  <a:schemeClr val="accent2"/>
                </a:solidFill>
              </a:rPr>
              <a:t>A much better fit, with a lower MSE loss</a:t>
            </a:r>
            <a:endParaRPr lang="en-SG" sz="2800" b="1" dirty="0">
              <a:solidFill>
                <a:schemeClr val="accent2"/>
              </a:solidFill>
            </a:endParaRPr>
          </a:p>
        </p:txBody>
      </p:sp>
    </p:spTree>
    <p:extLst>
      <p:ext uri="{BB962C8B-B14F-4D97-AF65-F5344CB8AC3E}">
        <p14:creationId xmlns:p14="http://schemas.microsoft.com/office/powerpoint/2010/main" val="2636494545"/>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5360259C-D329-267D-0AE0-50B322E4780E}"/>
              </a:ext>
            </a:extLst>
          </p:cNvPr>
          <p:cNvPicPr>
            <a:picLocks noChangeAspect="1"/>
          </p:cNvPicPr>
          <p:nvPr/>
        </p:nvPicPr>
        <p:blipFill>
          <a:blip r:embed="rId2"/>
          <a:stretch>
            <a:fillRect/>
          </a:stretch>
        </p:blipFill>
        <p:spPr>
          <a:xfrm>
            <a:off x="1347125" y="256732"/>
            <a:ext cx="9497750" cy="6344535"/>
          </a:xfrm>
          <a:prstGeom prst="rect">
            <a:avLst/>
          </a:prstGeom>
        </p:spPr>
      </p:pic>
      <p:sp>
        <p:nvSpPr>
          <p:cNvPr id="11" name="TextBox 10">
            <a:extLst>
              <a:ext uri="{FF2B5EF4-FFF2-40B4-BE49-F238E27FC236}">
                <a16:creationId xmlns:a16="http://schemas.microsoft.com/office/drawing/2014/main" id="{CB693548-F6EE-8552-D1CD-B1EEB33BC591}"/>
              </a:ext>
            </a:extLst>
          </p:cNvPr>
          <p:cNvSpPr txBox="1"/>
          <p:nvPr/>
        </p:nvSpPr>
        <p:spPr>
          <a:xfrm>
            <a:off x="2665281" y="969509"/>
            <a:ext cx="4222080" cy="2246769"/>
          </a:xfrm>
          <a:prstGeom prst="rect">
            <a:avLst/>
          </a:prstGeom>
          <a:noFill/>
        </p:spPr>
        <p:txBody>
          <a:bodyPr wrap="square" rtlCol="0">
            <a:spAutoFit/>
          </a:bodyPr>
          <a:lstStyle/>
          <a:p>
            <a:pPr algn="ctr"/>
            <a:r>
              <a:rPr lang="en-GB" sz="2800" b="1" dirty="0">
                <a:solidFill>
                  <a:schemeClr val="accent2"/>
                </a:solidFill>
              </a:rPr>
              <a:t>Be careful however on the degree you use for the polynomial regression.</a:t>
            </a:r>
          </a:p>
          <a:p>
            <a:pPr algn="ctr"/>
            <a:r>
              <a:rPr lang="en-GB" sz="2800" b="1" dirty="0">
                <a:solidFill>
                  <a:schemeClr val="accent2"/>
                </a:solidFill>
              </a:rPr>
              <a:t>Higher degree is not always better!</a:t>
            </a:r>
            <a:endParaRPr lang="en-SG" sz="2800" b="1" dirty="0">
              <a:solidFill>
                <a:schemeClr val="accent2"/>
              </a:solidFill>
            </a:endParaRPr>
          </a:p>
        </p:txBody>
      </p:sp>
    </p:spTree>
    <p:extLst>
      <p:ext uri="{BB962C8B-B14F-4D97-AF65-F5344CB8AC3E}">
        <p14:creationId xmlns:p14="http://schemas.microsoft.com/office/powerpoint/2010/main" val="4187092969"/>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5360259C-D329-267D-0AE0-50B322E4780E}"/>
              </a:ext>
            </a:extLst>
          </p:cNvPr>
          <p:cNvPicPr>
            <a:picLocks noChangeAspect="1"/>
          </p:cNvPicPr>
          <p:nvPr/>
        </p:nvPicPr>
        <p:blipFill>
          <a:blip r:embed="rId2"/>
          <a:stretch>
            <a:fillRect/>
          </a:stretch>
        </p:blipFill>
        <p:spPr>
          <a:xfrm>
            <a:off x="1347125" y="256732"/>
            <a:ext cx="9497750" cy="6344535"/>
          </a:xfrm>
          <a:prstGeom prst="rect">
            <a:avLst/>
          </a:prstGeom>
        </p:spPr>
      </p:pic>
      <p:sp>
        <p:nvSpPr>
          <p:cNvPr id="2" name="Oval 1">
            <a:extLst>
              <a:ext uri="{FF2B5EF4-FFF2-40B4-BE49-F238E27FC236}">
                <a16:creationId xmlns:a16="http://schemas.microsoft.com/office/drawing/2014/main" id="{1FA89227-6DD7-2589-53DF-6F720291E150}"/>
              </a:ext>
            </a:extLst>
          </p:cNvPr>
          <p:cNvSpPr/>
          <p:nvPr/>
        </p:nvSpPr>
        <p:spPr>
          <a:xfrm>
            <a:off x="10175631" y="1375508"/>
            <a:ext cx="531446" cy="422030"/>
          </a:xfrm>
          <a:prstGeom prst="ellipse">
            <a:avLst/>
          </a:prstGeom>
          <a:noFill/>
          <a:ln w="38100">
            <a:solidFill>
              <a:schemeClr val="accent2"/>
            </a:solidFill>
            <a:prstDash val="sys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SG"/>
          </a:p>
        </p:txBody>
      </p:sp>
      <p:sp>
        <p:nvSpPr>
          <p:cNvPr id="4" name="TextBox 3">
            <a:extLst>
              <a:ext uri="{FF2B5EF4-FFF2-40B4-BE49-F238E27FC236}">
                <a16:creationId xmlns:a16="http://schemas.microsoft.com/office/drawing/2014/main" id="{4B4E71BC-3287-380C-4F01-48894A35A32B}"/>
              </a:ext>
            </a:extLst>
          </p:cNvPr>
          <p:cNvSpPr txBox="1"/>
          <p:nvPr/>
        </p:nvSpPr>
        <p:spPr>
          <a:xfrm>
            <a:off x="8135577" y="3148614"/>
            <a:ext cx="2571500" cy="2677656"/>
          </a:xfrm>
          <a:prstGeom prst="rect">
            <a:avLst/>
          </a:prstGeom>
          <a:noFill/>
        </p:spPr>
        <p:txBody>
          <a:bodyPr wrap="square" rtlCol="0">
            <a:spAutoFit/>
          </a:bodyPr>
          <a:lstStyle/>
          <a:p>
            <a:pPr algn="ctr"/>
            <a:r>
              <a:rPr lang="en-GB" sz="2800" b="1" dirty="0">
                <a:solidFill>
                  <a:schemeClr val="accent2"/>
                </a:solidFill>
              </a:rPr>
              <a:t>Red model (high degree) will struggle to predict price of a 150sqm apartment!</a:t>
            </a:r>
            <a:endParaRPr lang="en-SG" sz="2800" b="1" dirty="0">
              <a:solidFill>
                <a:schemeClr val="accent2"/>
              </a:solidFill>
            </a:endParaRPr>
          </a:p>
        </p:txBody>
      </p:sp>
      <p:sp>
        <p:nvSpPr>
          <p:cNvPr id="6" name="TextBox 5">
            <a:extLst>
              <a:ext uri="{FF2B5EF4-FFF2-40B4-BE49-F238E27FC236}">
                <a16:creationId xmlns:a16="http://schemas.microsoft.com/office/drawing/2014/main" id="{B525AF95-89E9-76DF-4901-8EFFEB14DBA8}"/>
              </a:ext>
            </a:extLst>
          </p:cNvPr>
          <p:cNvSpPr txBox="1"/>
          <p:nvPr/>
        </p:nvSpPr>
        <p:spPr>
          <a:xfrm>
            <a:off x="2665281" y="969509"/>
            <a:ext cx="4222080" cy="2246769"/>
          </a:xfrm>
          <a:prstGeom prst="rect">
            <a:avLst/>
          </a:prstGeom>
          <a:noFill/>
        </p:spPr>
        <p:txBody>
          <a:bodyPr wrap="square" rtlCol="0">
            <a:spAutoFit/>
          </a:bodyPr>
          <a:lstStyle/>
          <a:p>
            <a:pPr algn="ctr"/>
            <a:r>
              <a:rPr lang="en-GB" sz="2800" b="1" dirty="0">
                <a:solidFill>
                  <a:schemeClr val="accent2"/>
                </a:solidFill>
              </a:rPr>
              <a:t>Be careful however on the degree you use for the polynomial regression.</a:t>
            </a:r>
          </a:p>
          <a:p>
            <a:pPr algn="ctr"/>
            <a:r>
              <a:rPr lang="en-GB" sz="2800" b="1" dirty="0">
                <a:solidFill>
                  <a:schemeClr val="accent2"/>
                </a:solidFill>
              </a:rPr>
              <a:t>Higher degree is not always better!</a:t>
            </a:r>
            <a:endParaRPr lang="en-SG" sz="2800" b="1" dirty="0">
              <a:solidFill>
                <a:schemeClr val="accent2"/>
              </a:solidFill>
            </a:endParaRPr>
          </a:p>
        </p:txBody>
      </p:sp>
    </p:spTree>
    <p:extLst>
      <p:ext uri="{BB962C8B-B14F-4D97-AF65-F5344CB8AC3E}">
        <p14:creationId xmlns:p14="http://schemas.microsoft.com/office/powerpoint/2010/main" val="990517089"/>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a:extLst>
              <a:ext uri="{FF2B5EF4-FFF2-40B4-BE49-F238E27FC236}">
                <a16:creationId xmlns:a16="http://schemas.microsoft.com/office/drawing/2014/main" id="{BC884000-0FC9-A696-A696-8635960E124E}"/>
              </a:ext>
            </a:extLst>
          </p:cNvPr>
          <p:cNvSpPr>
            <a:spLocks noGrp="1"/>
          </p:cNvSpPr>
          <p:nvPr>
            <p:ph type="title"/>
          </p:nvPr>
        </p:nvSpPr>
        <p:spPr/>
        <p:txBody>
          <a:bodyPr/>
          <a:lstStyle/>
          <a:p>
            <a:r>
              <a:rPr lang="en-GB" dirty="0"/>
              <a:t>Overfitting vs. degree of polynomial</a:t>
            </a:r>
            <a:endParaRPr lang="en-SG" dirty="0"/>
          </a:p>
        </p:txBody>
      </p:sp>
      <mc:AlternateContent xmlns:mc="http://schemas.openxmlformats.org/markup-compatibility/2006" xmlns:a14="http://schemas.microsoft.com/office/drawing/2010/main">
        <mc:Choice Requires="a14">
          <p:sp>
            <p:nvSpPr>
              <p:cNvPr id="6" name="Content Placeholder 5">
                <a:extLst>
                  <a:ext uri="{FF2B5EF4-FFF2-40B4-BE49-F238E27FC236}">
                    <a16:creationId xmlns:a16="http://schemas.microsoft.com/office/drawing/2014/main" id="{3FF27FA6-234D-EB6E-7AD4-4E52F151A639}"/>
                  </a:ext>
                </a:extLst>
              </p:cNvPr>
              <p:cNvSpPr>
                <a:spLocks noGrp="1"/>
              </p:cNvSpPr>
              <p:nvPr>
                <p:ph sz="half" idx="1"/>
              </p:nvPr>
            </p:nvSpPr>
            <p:spPr>
              <a:xfrm>
                <a:off x="838200" y="1825625"/>
                <a:ext cx="4857469" cy="4351338"/>
              </a:xfrm>
            </p:spPr>
            <p:txBody>
              <a:bodyPr/>
              <a:lstStyle/>
              <a:p>
                <a:r>
                  <a:rPr lang="en-GB" dirty="0"/>
                  <a:t>The red curve shows what happens when using a degree </a:t>
                </a:r>
                <a14:m>
                  <m:oMath xmlns:m="http://schemas.openxmlformats.org/officeDocument/2006/math">
                    <m:r>
                      <a:rPr lang="en-GB" i="1" dirty="0" smtClean="0">
                        <a:latin typeface="Cambria Math" panose="02040503050406030204" pitchFamily="18" charset="0"/>
                      </a:rPr>
                      <m:t>𝐾</m:t>
                    </m:r>
                  </m:oMath>
                </a14:m>
                <a:r>
                  <a:rPr lang="en-GB" dirty="0"/>
                  <a:t> that is too high compared to the relationship connecting inputs and outputs (it was 3).</a:t>
                </a:r>
              </a:p>
              <a:p>
                <a:endParaRPr lang="en-GB" dirty="0"/>
              </a:p>
              <a:p>
                <a:r>
                  <a:rPr lang="en-GB" dirty="0"/>
                  <a:t>This phenomenon is called </a:t>
                </a:r>
                <a:r>
                  <a:rPr lang="en-GB" b="1" dirty="0"/>
                  <a:t>overfitting</a:t>
                </a:r>
                <a:r>
                  <a:rPr lang="en-GB" dirty="0"/>
                  <a:t>.</a:t>
                </a:r>
                <a:endParaRPr lang="en-SG" dirty="0"/>
              </a:p>
            </p:txBody>
          </p:sp>
        </mc:Choice>
        <mc:Fallback xmlns="">
          <p:sp>
            <p:nvSpPr>
              <p:cNvPr id="6" name="Content Placeholder 5">
                <a:extLst>
                  <a:ext uri="{FF2B5EF4-FFF2-40B4-BE49-F238E27FC236}">
                    <a16:creationId xmlns:a16="http://schemas.microsoft.com/office/drawing/2014/main" id="{3FF27FA6-234D-EB6E-7AD4-4E52F151A639}"/>
                  </a:ext>
                </a:extLst>
              </p:cNvPr>
              <p:cNvSpPr>
                <a:spLocks noGrp="1" noRot="1" noChangeAspect="1" noMove="1" noResize="1" noEditPoints="1" noAdjustHandles="1" noChangeArrowheads="1" noChangeShapeType="1" noTextEdit="1"/>
              </p:cNvSpPr>
              <p:nvPr>
                <p:ph sz="half" idx="1"/>
              </p:nvPr>
            </p:nvSpPr>
            <p:spPr>
              <a:xfrm>
                <a:off x="838200" y="1825625"/>
                <a:ext cx="4857469" cy="4351338"/>
              </a:xfrm>
              <a:blipFill>
                <a:blip r:embed="rId2"/>
                <a:stretch>
                  <a:fillRect l="-2261" t="-2241" r="-4020"/>
                </a:stretch>
              </a:blipFill>
            </p:spPr>
            <p:txBody>
              <a:bodyPr/>
              <a:lstStyle/>
              <a:p>
                <a:r>
                  <a:rPr lang="en-SG">
                    <a:noFill/>
                  </a:rPr>
                  <a:t> </a:t>
                </a:r>
              </a:p>
            </p:txBody>
          </p:sp>
        </mc:Fallback>
      </mc:AlternateContent>
      <p:pic>
        <p:nvPicPr>
          <p:cNvPr id="3" name="Picture 2">
            <a:extLst>
              <a:ext uri="{FF2B5EF4-FFF2-40B4-BE49-F238E27FC236}">
                <a16:creationId xmlns:a16="http://schemas.microsoft.com/office/drawing/2014/main" id="{A71C56B8-6D3F-262B-50BD-10F3500B17D0}"/>
              </a:ext>
            </a:extLst>
          </p:cNvPr>
          <p:cNvPicPr>
            <a:picLocks noChangeAspect="1"/>
          </p:cNvPicPr>
          <p:nvPr/>
        </p:nvPicPr>
        <p:blipFill>
          <a:blip r:embed="rId3"/>
          <a:stretch>
            <a:fillRect/>
          </a:stretch>
        </p:blipFill>
        <p:spPr>
          <a:xfrm>
            <a:off x="6313977" y="2305538"/>
            <a:ext cx="5695389" cy="3804543"/>
          </a:xfrm>
          <a:prstGeom prst="rect">
            <a:avLst/>
          </a:prstGeom>
        </p:spPr>
      </p:pic>
    </p:spTree>
    <p:extLst>
      <p:ext uri="{BB962C8B-B14F-4D97-AF65-F5344CB8AC3E}">
        <p14:creationId xmlns:p14="http://schemas.microsoft.com/office/powerpoint/2010/main" val="4026475787"/>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a:extLst>
              <a:ext uri="{FF2B5EF4-FFF2-40B4-BE49-F238E27FC236}">
                <a16:creationId xmlns:a16="http://schemas.microsoft.com/office/drawing/2014/main" id="{BC884000-0FC9-A696-A696-8635960E124E}"/>
              </a:ext>
            </a:extLst>
          </p:cNvPr>
          <p:cNvSpPr>
            <a:spLocks noGrp="1"/>
          </p:cNvSpPr>
          <p:nvPr>
            <p:ph type="title"/>
          </p:nvPr>
        </p:nvSpPr>
        <p:spPr/>
        <p:txBody>
          <a:bodyPr/>
          <a:lstStyle/>
          <a:p>
            <a:r>
              <a:rPr lang="en-GB" dirty="0"/>
              <a:t>Overfitting vs. degree of polynomial</a:t>
            </a:r>
            <a:endParaRPr lang="en-SG" dirty="0"/>
          </a:p>
        </p:txBody>
      </p:sp>
      <p:sp>
        <p:nvSpPr>
          <p:cNvPr id="6" name="Content Placeholder 5">
            <a:extLst>
              <a:ext uri="{FF2B5EF4-FFF2-40B4-BE49-F238E27FC236}">
                <a16:creationId xmlns:a16="http://schemas.microsoft.com/office/drawing/2014/main" id="{3FF27FA6-234D-EB6E-7AD4-4E52F151A639}"/>
              </a:ext>
            </a:extLst>
          </p:cNvPr>
          <p:cNvSpPr>
            <a:spLocks noGrp="1"/>
          </p:cNvSpPr>
          <p:nvPr>
            <p:ph sz="half" idx="1"/>
          </p:nvPr>
        </p:nvSpPr>
        <p:spPr/>
        <p:txBody>
          <a:bodyPr>
            <a:normAutofit/>
          </a:bodyPr>
          <a:lstStyle/>
          <a:p>
            <a:pPr marL="0" indent="0">
              <a:buNone/>
            </a:pPr>
            <a:r>
              <a:rPr lang="en-GB" b="1" dirty="0"/>
              <a:t>Definition (</a:t>
            </a:r>
            <a:r>
              <a:rPr lang="en-GB" b="1" dirty="0">
                <a:solidFill>
                  <a:srgbClr val="00B050"/>
                </a:solidFill>
              </a:rPr>
              <a:t>Overfitting</a:t>
            </a:r>
            <a:r>
              <a:rPr lang="en-GB" b="1" dirty="0"/>
              <a:t>):</a:t>
            </a:r>
          </a:p>
          <a:p>
            <a:pPr marL="0" indent="0">
              <a:buNone/>
            </a:pPr>
            <a:r>
              <a:rPr lang="en-GB" b="1" dirty="0">
                <a:solidFill>
                  <a:srgbClr val="00B050"/>
                </a:solidFill>
              </a:rPr>
              <a:t>Overfitting</a:t>
            </a:r>
            <a:r>
              <a:rPr lang="en-GB" dirty="0"/>
              <a:t> is a phenomenon that occurs in machine learning when a model is trained too well on the training data.</a:t>
            </a:r>
          </a:p>
          <a:p>
            <a:pPr marL="0" indent="0">
              <a:buNone/>
            </a:pPr>
            <a:r>
              <a:rPr lang="en-GB" dirty="0"/>
              <a:t>As a result, it may perform poorly on new, unseen data (here an apartment with 150sqm surface, which was not present in the training dataset).</a:t>
            </a:r>
            <a:endParaRPr lang="en-SG" dirty="0"/>
          </a:p>
        </p:txBody>
      </p:sp>
      <p:pic>
        <p:nvPicPr>
          <p:cNvPr id="8" name="Picture 7">
            <a:extLst>
              <a:ext uri="{FF2B5EF4-FFF2-40B4-BE49-F238E27FC236}">
                <a16:creationId xmlns:a16="http://schemas.microsoft.com/office/drawing/2014/main" id="{F616AECF-3FED-9D77-4534-AD50FC5D5621}"/>
              </a:ext>
            </a:extLst>
          </p:cNvPr>
          <p:cNvPicPr>
            <a:picLocks noChangeAspect="1"/>
          </p:cNvPicPr>
          <p:nvPr/>
        </p:nvPicPr>
        <p:blipFill>
          <a:blip r:embed="rId2"/>
          <a:stretch>
            <a:fillRect/>
          </a:stretch>
        </p:blipFill>
        <p:spPr>
          <a:xfrm>
            <a:off x="6313977" y="2305538"/>
            <a:ext cx="5695389" cy="3804543"/>
          </a:xfrm>
          <a:prstGeom prst="rect">
            <a:avLst/>
          </a:prstGeom>
        </p:spPr>
      </p:pic>
    </p:spTree>
    <p:extLst>
      <p:ext uri="{BB962C8B-B14F-4D97-AF65-F5344CB8AC3E}">
        <p14:creationId xmlns:p14="http://schemas.microsoft.com/office/powerpoint/2010/main" val="658215501"/>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5324026-ABE4-6E15-3FF1-3D153E8FF6D2}"/>
            </a:ext>
          </a:extLst>
        </p:cNvPr>
        <p:cNvGrpSpPr/>
        <p:nvPr/>
      </p:nvGrpSpPr>
      <p:grpSpPr>
        <a:xfrm>
          <a:off x="0" y="0"/>
          <a:ext cx="0" cy="0"/>
          <a:chOff x="0" y="0"/>
          <a:chExt cx="0" cy="0"/>
        </a:xfrm>
      </p:grpSpPr>
      <p:sp>
        <p:nvSpPr>
          <p:cNvPr id="5" name="TextBox 4">
            <a:extLst>
              <a:ext uri="{FF2B5EF4-FFF2-40B4-BE49-F238E27FC236}">
                <a16:creationId xmlns:a16="http://schemas.microsoft.com/office/drawing/2014/main" id="{6AE76912-3D36-2FB5-A4F8-1BEAEE6224C7}"/>
              </a:ext>
            </a:extLst>
          </p:cNvPr>
          <p:cNvSpPr txBox="1"/>
          <p:nvPr/>
        </p:nvSpPr>
        <p:spPr>
          <a:xfrm>
            <a:off x="265708" y="914400"/>
            <a:ext cx="2509833" cy="5262979"/>
          </a:xfrm>
          <a:prstGeom prst="rect">
            <a:avLst/>
          </a:prstGeom>
          <a:noFill/>
        </p:spPr>
        <p:txBody>
          <a:bodyPr wrap="square" rtlCol="0">
            <a:spAutoFit/>
          </a:bodyPr>
          <a:lstStyle/>
          <a:p>
            <a:pPr algn="ctr"/>
            <a:r>
              <a:rPr lang="en-GB" sz="2800" b="1" dirty="0">
                <a:solidFill>
                  <a:schemeClr val="accent2"/>
                </a:solidFill>
              </a:rPr>
              <a:t>In practice, it may also look like the blue curve, which produces “spikes” to reach outliers.</a:t>
            </a:r>
          </a:p>
          <a:p>
            <a:pPr algn="ctr"/>
            <a:r>
              <a:rPr lang="en-GB" sz="2800" b="1" dirty="0">
                <a:solidFill>
                  <a:schemeClr val="accent2"/>
                </a:solidFill>
              </a:rPr>
              <a:t>This will lead to questionable predictions on certain input values.</a:t>
            </a:r>
            <a:endParaRPr lang="en-SG" sz="2800" b="1" dirty="0">
              <a:solidFill>
                <a:schemeClr val="accent2"/>
              </a:solidFill>
            </a:endParaRPr>
          </a:p>
        </p:txBody>
      </p:sp>
      <p:pic>
        <p:nvPicPr>
          <p:cNvPr id="7" name="Picture 6">
            <a:extLst>
              <a:ext uri="{FF2B5EF4-FFF2-40B4-BE49-F238E27FC236}">
                <a16:creationId xmlns:a16="http://schemas.microsoft.com/office/drawing/2014/main" id="{F5C7337F-2AD3-3D35-E695-83C54AE5131A}"/>
              </a:ext>
            </a:extLst>
          </p:cNvPr>
          <p:cNvPicPr>
            <a:picLocks noChangeAspect="1"/>
          </p:cNvPicPr>
          <p:nvPr/>
        </p:nvPicPr>
        <p:blipFill>
          <a:blip r:embed="rId2">
            <a:extLst>
              <a:ext uri="{28A0092B-C50C-407E-A947-70E740481C1C}">
                <a14:useLocalDpi xmlns:a14="http://schemas.microsoft.com/office/drawing/2010/main" val="0"/>
              </a:ext>
            </a:extLst>
          </a:blip>
          <a:srcRect l="19162" t="51348" r="16253" b="18462"/>
          <a:stretch>
            <a:fillRect/>
          </a:stretch>
        </p:blipFill>
        <p:spPr>
          <a:xfrm>
            <a:off x="2986391" y="914400"/>
            <a:ext cx="8939901" cy="5223754"/>
          </a:xfrm>
          <a:prstGeom prst="rect">
            <a:avLst/>
          </a:prstGeom>
        </p:spPr>
      </p:pic>
    </p:spTree>
    <p:extLst>
      <p:ext uri="{BB962C8B-B14F-4D97-AF65-F5344CB8AC3E}">
        <p14:creationId xmlns:p14="http://schemas.microsoft.com/office/powerpoint/2010/main" val="1061347991"/>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a:extLst>
              <a:ext uri="{FF2B5EF4-FFF2-40B4-BE49-F238E27FC236}">
                <a16:creationId xmlns:a16="http://schemas.microsoft.com/office/drawing/2014/main" id="{BC884000-0FC9-A696-A696-8635960E124E}"/>
              </a:ext>
            </a:extLst>
          </p:cNvPr>
          <p:cNvSpPr>
            <a:spLocks noGrp="1"/>
          </p:cNvSpPr>
          <p:nvPr>
            <p:ph type="title"/>
          </p:nvPr>
        </p:nvSpPr>
        <p:spPr/>
        <p:txBody>
          <a:bodyPr/>
          <a:lstStyle/>
          <a:p>
            <a:r>
              <a:rPr lang="en-GB" dirty="0"/>
              <a:t>Overfitting vs. degree of polynomial</a:t>
            </a:r>
            <a:endParaRPr lang="en-SG" dirty="0"/>
          </a:p>
        </p:txBody>
      </p:sp>
      <p:sp>
        <p:nvSpPr>
          <p:cNvPr id="6" name="Content Placeholder 5">
            <a:extLst>
              <a:ext uri="{FF2B5EF4-FFF2-40B4-BE49-F238E27FC236}">
                <a16:creationId xmlns:a16="http://schemas.microsoft.com/office/drawing/2014/main" id="{3FF27FA6-234D-EB6E-7AD4-4E52F151A639}"/>
              </a:ext>
            </a:extLst>
          </p:cNvPr>
          <p:cNvSpPr>
            <a:spLocks noGrp="1"/>
          </p:cNvSpPr>
          <p:nvPr>
            <p:ph sz="half" idx="1"/>
          </p:nvPr>
        </p:nvSpPr>
        <p:spPr/>
        <p:txBody>
          <a:bodyPr>
            <a:normAutofit/>
          </a:bodyPr>
          <a:lstStyle/>
          <a:p>
            <a:pPr marL="0" indent="0">
              <a:buNone/>
            </a:pPr>
            <a:r>
              <a:rPr lang="en-GB" b="1" dirty="0"/>
              <a:t>Definition (</a:t>
            </a:r>
            <a:r>
              <a:rPr lang="en-GB" b="1" dirty="0">
                <a:solidFill>
                  <a:srgbClr val="00B050"/>
                </a:solidFill>
              </a:rPr>
              <a:t>Overfitting</a:t>
            </a:r>
            <a:r>
              <a:rPr lang="en-GB" b="1" dirty="0"/>
              <a:t>):</a:t>
            </a:r>
          </a:p>
          <a:p>
            <a:pPr marL="0" indent="0">
              <a:buNone/>
            </a:pPr>
            <a:r>
              <a:rPr lang="en-GB" b="1" dirty="0">
                <a:solidFill>
                  <a:srgbClr val="00B050"/>
                </a:solidFill>
              </a:rPr>
              <a:t>Overfitting</a:t>
            </a:r>
            <a:r>
              <a:rPr lang="en-GB" dirty="0"/>
              <a:t> is a phenomenon that occurs in machine learning when a model is trained too well on the training data.</a:t>
            </a:r>
          </a:p>
          <a:p>
            <a:pPr marL="0" indent="0">
              <a:buNone/>
            </a:pPr>
            <a:r>
              <a:rPr lang="en-GB" dirty="0"/>
              <a:t>As a result, it may perform poorly on new, unseen data (here an apartment with 150sqm surface, which was not present in the training dataset).</a:t>
            </a:r>
            <a:endParaRPr lang="en-SG" dirty="0"/>
          </a:p>
        </p:txBody>
      </p:sp>
      <mc:AlternateContent xmlns:mc="http://schemas.openxmlformats.org/markup-compatibility/2006">
        <mc:Choice xmlns:a14="http://schemas.microsoft.com/office/drawing/2010/main" Requires="a14">
          <p:sp>
            <p:nvSpPr>
              <p:cNvPr id="2" name="Content Placeholder 1">
                <a:extLst>
                  <a:ext uri="{FF2B5EF4-FFF2-40B4-BE49-F238E27FC236}">
                    <a16:creationId xmlns:a16="http://schemas.microsoft.com/office/drawing/2014/main" id="{37C84060-31A2-3AFB-B38D-81D7652356D5}"/>
                  </a:ext>
                </a:extLst>
              </p:cNvPr>
              <p:cNvSpPr>
                <a:spLocks noGrp="1"/>
              </p:cNvSpPr>
              <p:nvPr>
                <p:ph sz="half" idx="2"/>
              </p:nvPr>
            </p:nvSpPr>
            <p:spPr>
              <a:xfrm>
                <a:off x="6172200" y="1825624"/>
                <a:ext cx="5181600" cy="5032375"/>
              </a:xfrm>
            </p:spPr>
            <p:txBody>
              <a:bodyPr>
                <a:normAutofit/>
              </a:bodyPr>
              <a:lstStyle/>
              <a:p>
                <a:pPr marL="0" indent="0">
                  <a:buNone/>
                </a:pPr>
                <a:r>
                  <a:rPr lang="en-GB" b="1" dirty="0"/>
                  <a:t>This typically happens if the model complexity is too high compared to the dataset complexity.</a:t>
                </a:r>
              </a:p>
              <a:p>
                <a:pPr marL="0" indent="0">
                  <a:buNone/>
                </a:pPr>
                <a:endParaRPr lang="en-GB" dirty="0"/>
              </a:p>
              <a:p>
                <a:pPr marL="0" indent="0">
                  <a:buNone/>
                </a:pPr>
                <a:r>
                  <a:rPr lang="en-GB" dirty="0"/>
                  <a:t>Typically, the model complexity here is the polynomial degree </a:t>
                </a:r>
                <a14:m>
                  <m:oMath xmlns:m="http://schemas.openxmlformats.org/officeDocument/2006/math">
                    <m:r>
                      <a:rPr lang="en-GB" i="1" dirty="0" smtClean="0">
                        <a:latin typeface="Cambria Math" panose="02040503050406030204" pitchFamily="18" charset="0"/>
                      </a:rPr>
                      <m:t>𝐾</m:t>
                    </m:r>
                  </m:oMath>
                </a14:m>
                <a:r>
                  <a:rPr lang="en-GB" dirty="0"/>
                  <a:t> we use: the higher the polynomial degree, the higher the complexity of the model and the more trainable parameters to decide!</a:t>
                </a:r>
                <a:endParaRPr lang="en-SG" dirty="0"/>
              </a:p>
            </p:txBody>
          </p:sp>
        </mc:Choice>
        <mc:Fallback>
          <p:sp>
            <p:nvSpPr>
              <p:cNvPr id="2" name="Content Placeholder 1">
                <a:extLst>
                  <a:ext uri="{FF2B5EF4-FFF2-40B4-BE49-F238E27FC236}">
                    <a16:creationId xmlns:a16="http://schemas.microsoft.com/office/drawing/2014/main" id="{37C84060-31A2-3AFB-B38D-81D7652356D5}"/>
                  </a:ext>
                </a:extLst>
              </p:cNvPr>
              <p:cNvSpPr>
                <a:spLocks noGrp="1" noRot="1" noChangeAspect="1" noMove="1" noResize="1" noEditPoints="1" noAdjustHandles="1" noChangeArrowheads="1" noChangeShapeType="1" noTextEdit="1"/>
              </p:cNvSpPr>
              <p:nvPr>
                <p:ph sz="half" idx="2"/>
              </p:nvPr>
            </p:nvSpPr>
            <p:spPr>
              <a:xfrm>
                <a:off x="6172200" y="1825624"/>
                <a:ext cx="5181600" cy="5032375"/>
              </a:xfrm>
              <a:blipFill>
                <a:blip r:embed="rId2"/>
                <a:stretch>
                  <a:fillRect l="-2471" t="-1937" r="-2471"/>
                </a:stretch>
              </a:blipFill>
            </p:spPr>
            <p:txBody>
              <a:bodyPr/>
              <a:lstStyle/>
              <a:p>
                <a:r>
                  <a:rPr lang="en-GB">
                    <a:noFill/>
                  </a:rPr>
                  <a:t> </a:t>
                </a:r>
              </a:p>
            </p:txBody>
          </p:sp>
        </mc:Fallback>
      </mc:AlternateContent>
    </p:spTree>
    <p:extLst>
      <p:ext uri="{BB962C8B-B14F-4D97-AF65-F5344CB8AC3E}">
        <p14:creationId xmlns:p14="http://schemas.microsoft.com/office/powerpoint/2010/main" val="3487424720"/>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a:extLst>
              <a:ext uri="{FF2B5EF4-FFF2-40B4-BE49-F238E27FC236}">
                <a16:creationId xmlns:a16="http://schemas.microsoft.com/office/drawing/2014/main" id="{BC884000-0FC9-A696-A696-8635960E124E}"/>
              </a:ext>
            </a:extLst>
          </p:cNvPr>
          <p:cNvSpPr>
            <a:spLocks noGrp="1"/>
          </p:cNvSpPr>
          <p:nvPr>
            <p:ph type="title"/>
          </p:nvPr>
        </p:nvSpPr>
        <p:spPr/>
        <p:txBody>
          <a:bodyPr/>
          <a:lstStyle/>
          <a:p>
            <a:r>
              <a:rPr lang="en-GB" dirty="0"/>
              <a:t>Overfitting vs. degree of polynomial</a:t>
            </a:r>
            <a:endParaRPr lang="en-SG" dirty="0"/>
          </a:p>
        </p:txBody>
      </p:sp>
      <p:sp>
        <p:nvSpPr>
          <p:cNvPr id="6" name="Content Placeholder 5">
            <a:extLst>
              <a:ext uri="{FF2B5EF4-FFF2-40B4-BE49-F238E27FC236}">
                <a16:creationId xmlns:a16="http://schemas.microsoft.com/office/drawing/2014/main" id="{3FF27FA6-234D-EB6E-7AD4-4E52F151A639}"/>
              </a:ext>
            </a:extLst>
          </p:cNvPr>
          <p:cNvSpPr>
            <a:spLocks noGrp="1"/>
          </p:cNvSpPr>
          <p:nvPr>
            <p:ph sz="half" idx="1"/>
          </p:nvPr>
        </p:nvSpPr>
        <p:spPr/>
        <p:txBody>
          <a:bodyPr>
            <a:normAutofit/>
          </a:bodyPr>
          <a:lstStyle/>
          <a:p>
            <a:pPr marL="0" indent="0">
              <a:buNone/>
            </a:pPr>
            <a:r>
              <a:rPr lang="en-GB" b="1" dirty="0"/>
              <a:t>Definition (</a:t>
            </a:r>
            <a:r>
              <a:rPr lang="en-GB" b="1" dirty="0">
                <a:solidFill>
                  <a:srgbClr val="00B050"/>
                </a:solidFill>
              </a:rPr>
              <a:t>Overfitting</a:t>
            </a:r>
            <a:r>
              <a:rPr lang="en-GB" b="1" dirty="0"/>
              <a:t>):</a:t>
            </a:r>
          </a:p>
          <a:p>
            <a:pPr marL="0" indent="0">
              <a:buNone/>
            </a:pPr>
            <a:r>
              <a:rPr lang="en-GB" b="1" dirty="0">
                <a:solidFill>
                  <a:srgbClr val="00B050"/>
                </a:solidFill>
              </a:rPr>
              <a:t>Overfitting</a:t>
            </a:r>
            <a:r>
              <a:rPr lang="en-GB" dirty="0"/>
              <a:t> is a phenomenon that occurs in machine learning when a model is trained too well on the training data.</a:t>
            </a:r>
          </a:p>
          <a:p>
            <a:pPr marL="0" indent="0">
              <a:buNone/>
            </a:pPr>
            <a:r>
              <a:rPr lang="en-GB" dirty="0"/>
              <a:t>As a result, it may perform poorly on new, unseen data (here an apartment with 150sqm surface, which was not present in the training dataset).</a:t>
            </a:r>
            <a:endParaRPr lang="en-SG" dirty="0"/>
          </a:p>
        </p:txBody>
      </p:sp>
      <p:sp>
        <p:nvSpPr>
          <p:cNvPr id="2" name="Content Placeholder 1">
            <a:extLst>
              <a:ext uri="{FF2B5EF4-FFF2-40B4-BE49-F238E27FC236}">
                <a16:creationId xmlns:a16="http://schemas.microsoft.com/office/drawing/2014/main" id="{37C84060-31A2-3AFB-B38D-81D7652356D5}"/>
              </a:ext>
            </a:extLst>
          </p:cNvPr>
          <p:cNvSpPr>
            <a:spLocks noGrp="1"/>
          </p:cNvSpPr>
          <p:nvPr>
            <p:ph sz="half" idx="2"/>
          </p:nvPr>
        </p:nvSpPr>
        <p:spPr>
          <a:xfrm>
            <a:off x="6172199" y="1825624"/>
            <a:ext cx="5807279" cy="5032375"/>
          </a:xfrm>
        </p:spPr>
        <p:txBody>
          <a:bodyPr>
            <a:normAutofit/>
          </a:bodyPr>
          <a:lstStyle/>
          <a:p>
            <a:pPr marL="0" indent="0">
              <a:buNone/>
            </a:pPr>
            <a:r>
              <a:rPr lang="en-GB" dirty="0"/>
              <a:t>This typically happens when</a:t>
            </a:r>
          </a:p>
          <a:p>
            <a:r>
              <a:rPr lang="en-GB" dirty="0"/>
              <a:t>a model is too complex for the dataset, i.e. it has too many parameters compared to what the dataset would need,</a:t>
            </a:r>
          </a:p>
          <a:p>
            <a:r>
              <a:rPr lang="en-GB" dirty="0"/>
              <a:t>or there is imbalance in the data.</a:t>
            </a:r>
          </a:p>
          <a:p>
            <a:pPr marL="0" indent="0">
              <a:buNone/>
            </a:pPr>
            <a:endParaRPr lang="en-GB" dirty="0"/>
          </a:p>
          <a:p>
            <a:pPr marL="0" indent="0">
              <a:buNone/>
            </a:pPr>
            <a:r>
              <a:rPr lang="en-GB"/>
              <a:t>As a consequence</a:t>
            </a:r>
            <a:r>
              <a:rPr lang="en-GB" dirty="0"/>
              <a:t>, the model might then struggle to </a:t>
            </a:r>
            <a:r>
              <a:rPr lang="en-GB" b="1" dirty="0">
                <a:solidFill>
                  <a:srgbClr val="7030A0"/>
                </a:solidFill>
              </a:rPr>
              <a:t>generalize</a:t>
            </a:r>
            <a:r>
              <a:rPr lang="en-GB" dirty="0"/>
              <a:t> to new unseen data.</a:t>
            </a:r>
          </a:p>
        </p:txBody>
      </p:sp>
    </p:spTree>
    <p:extLst>
      <p:ext uri="{BB962C8B-B14F-4D97-AF65-F5344CB8AC3E}">
        <p14:creationId xmlns:p14="http://schemas.microsoft.com/office/powerpoint/2010/main" val="1974002731"/>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a:extLst>
              <a:ext uri="{FF2B5EF4-FFF2-40B4-BE49-F238E27FC236}">
                <a16:creationId xmlns:a16="http://schemas.microsoft.com/office/drawing/2014/main" id="{BC884000-0FC9-A696-A696-8635960E124E}"/>
              </a:ext>
            </a:extLst>
          </p:cNvPr>
          <p:cNvSpPr>
            <a:spLocks noGrp="1"/>
          </p:cNvSpPr>
          <p:nvPr>
            <p:ph type="title"/>
          </p:nvPr>
        </p:nvSpPr>
        <p:spPr/>
        <p:txBody>
          <a:bodyPr/>
          <a:lstStyle/>
          <a:p>
            <a:r>
              <a:rPr lang="en-GB" dirty="0"/>
              <a:t>Underfitting  vs. degree of polynomial</a:t>
            </a:r>
            <a:endParaRPr lang="en-SG" dirty="0"/>
          </a:p>
        </p:txBody>
      </p:sp>
      <mc:AlternateContent xmlns:mc="http://schemas.openxmlformats.org/markup-compatibility/2006" xmlns:a14="http://schemas.microsoft.com/office/drawing/2010/main">
        <mc:Choice Requires="a14">
          <p:sp>
            <p:nvSpPr>
              <p:cNvPr id="6" name="Content Placeholder 5">
                <a:extLst>
                  <a:ext uri="{FF2B5EF4-FFF2-40B4-BE49-F238E27FC236}">
                    <a16:creationId xmlns:a16="http://schemas.microsoft.com/office/drawing/2014/main" id="{3FF27FA6-234D-EB6E-7AD4-4E52F151A639}"/>
                  </a:ext>
                </a:extLst>
              </p:cNvPr>
              <p:cNvSpPr>
                <a:spLocks noGrp="1"/>
              </p:cNvSpPr>
              <p:nvPr>
                <p:ph sz="half" idx="1"/>
              </p:nvPr>
            </p:nvSpPr>
            <p:spPr>
              <a:xfrm>
                <a:off x="838200" y="1825625"/>
                <a:ext cx="5181600" cy="4864344"/>
              </a:xfrm>
            </p:spPr>
            <p:txBody>
              <a:bodyPr>
                <a:normAutofit/>
              </a:bodyPr>
              <a:lstStyle/>
              <a:p>
                <a:pPr marL="0" indent="0">
                  <a:buNone/>
                </a:pPr>
                <a:r>
                  <a:rPr lang="en-GB" b="1" dirty="0"/>
                  <a:t>Definition (</a:t>
                </a:r>
                <a:r>
                  <a:rPr lang="en-GB" b="1" dirty="0">
                    <a:solidFill>
                      <a:srgbClr val="00B050"/>
                    </a:solidFill>
                  </a:rPr>
                  <a:t>Underfitting</a:t>
                </a:r>
                <a:r>
                  <a:rPr lang="en-GB" b="1" dirty="0"/>
                  <a:t>):</a:t>
                </a:r>
              </a:p>
              <a:p>
                <a:pPr marL="0" indent="0">
                  <a:buNone/>
                </a:pPr>
                <a:r>
                  <a:rPr lang="en-GB" b="1" dirty="0">
                    <a:solidFill>
                      <a:srgbClr val="00B050"/>
                    </a:solidFill>
                  </a:rPr>
                  <a:t>Underfitting</a:t>
                </a:r>
                <a:r>
                  <a:rPr lang="en-GB" dirty="0"/>
                  <a:t> is a phenomenon that occurs in machine learning when a model is not capable enough to capture the underlying pattern of the data. It is the opposite of overfitting.</a:t>
                </a:r>
              </a:p>
              <a:p>
                <a:pPr marL="0" indent="0">
                  <a:buNone/>
                </a:pPr>
                <a:r>
                  <a:rPr lang="en-GB" dirty="0"/>
                  <a:t>For instance, here, Linear Regression (which is Polynomial Regression with </a:t>
                </a:r>
                <a14:m>
                  <m:oMath xmlns:m="http://schemas.openxmlformats.org/officeDocument/2006/math">
                    <m:r>
                      <a:rPr lang="en-GB" i="1" dirty="0" smtClean="0">
                        <a:latin typeface="Cambria Math" panose="02040503050406030204" pitchFamily="18" charset="0"/>
                      </a:rPr>
                      <m:t>𝐾</m:t>
                    </m:r>
                    <m:r>
                      <a:rPr lang="en-GB" i="1" dirty="0" smtClean="0">
                        <a:latin typeface="Cambria Math" panose="02040503050406030204" pitchFamily="18" charset="0"/>
                      </a:rPr>
                      <m:t> = 1</m:t>
                    </m:r>
                  </m:oMath>
                </a14:m>
                <a:r>
                  <a:rPr lang="en-GB" dirty="0"/>
                  <a:t>) could not fit the data well.</a:t>
                </a:r>
                <a:endParaRPr lang="en-SG" dirty="0"/>
              </a:p>
            </p:txBody>
          </p:sp>
        </mc:Choice>
        <mc:Fallback xmlns="">
          <p:sp>
            <p:nvSpPr>
              <p:cNvPr id="6" name="Content Placeholder 5">
                <a:extLst>
                  <a:ext uri="{FF2B5EF4-FFF2-40B4-BE49-F238E27FC236}">
                    <a16:creationId xmlns:a16="http://schemas.microsoft.com/office/drawing/2014/main" id="{3FF27FA6-234D-EB6E-7AD4-4E52F151A639}"/>
                  </a:ext>
                </a:extLst>
              </p:cNvPr>
              <p:cNvSpPr>
                <a:spLocks noGrp="1" noRot="1" noChangeAspect="1" noMove="1" noResize="1" noEditPoints="1" noAdjustHandles="1" noChangeArrowheads="1" noChangeShapeType="1" noTextEdit="1"/>
              </p:cNvSpPr>
              <p:nvPr>
                <p:ph sz="half" idx="1"/>
              </p:nvPr>
            </p:nvSpPr>
            <p:spPr>
              <a:xfrm>
                <a:off x="838200" y="1825625"/>
                <a:ext cx="5181600" cy="4864344"/>
              </a:xfrm>
              <a:blipFill>
                <a:blip r:embed="rId2"/>
                <a:stretch>
                  <a:fillRect l="-2471" t="-2005" r="-3765"/>
                </a:stretch>
              </a:blipFill>
            </p:spPr>
            <p:txBody>
              <a:bodyPr/>
              <a:lstStyle/>
              <a:p>
                <a:r>
                  <a:rPr lang="en-GB">
                    <a:noFill/>
                  </a:rPr>
                  <a:t> </a:t>
                </a:r>
              </a:p>
            </p:txBody>
          </p:sp>
        </mc:Fallback>
      </mc:AlternateContent>
      <p:pic>
        <p:nvPicPr>
          <p:cNvPr id="8" name="Picture 7">
            <a:extLst>
              <a:ext uri="{FF2B5EF4-FFF2-40B4-BE49-F238E27FC236}">
                <a16:creationId xmlns:a16="http://schemas.microsoft.com/office/drawing/2014/main" id="{01AF8CE0-A3A9-73C8-757D-D11D939D38AB}"/>
              </a:ext>
            </a:extLst>
          </p:cNvPr>
          <p:cNvPicPr>
            <a:picLocks noChangeAspect="1"/>
          </p:cNvPicPr>
          <p:nvPr/>
        </p:nvPicPr>
        <p:blipFill>
          <a:blip r:embed="rId3"/>
          <a:stretch>
            <a:fillRect/>
          </a:stretch>
        </p:blipFill>
        <p:spPr>
          <a:xfrm>
            <a:off x="6096000" y="2238957"/>
            <a:ext cx="5998967" cy="4021485"/>
          </a:xfrm>
          <a:prstGeom prst="rect">
            <a:avLst/>
          </a:prstGeom>
        </p:spPr>
      </p:pic>
    </p:spTree>
    <p:extLst>
      <p:ext uri="{BB962C8B-B14F-4D97-AF65-F5344CB8AC3E}">
        <p14:creationId xmlns:p14="http://schemas.microsoft.com/office/powerpoint/2010/main" val="3913805124"/>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a:extLst>
              <a:ext uri="{FF2B5EF4-FFF2-40B4-BE49-F238E27FC236}">
                <a16:creationId xmlns:a16="http://schemas.microsoft.com/office/drawing/2014/main" id="{BC884000-0FC9-A696-A696-8635960E124E}"/>
              </a:ext>
            </a:extLst>
          </p:cNvPr>
          <p:cNvSpPr>
            <a:spLocks noGrp="1"/>
          </p:cNvSpPr>
          <p:nvPr>
            <p:ph type="title"/>
          </p:nvPr>
        </p:nvSpPr>
        <p:spPr/>
        <p:txBody>
          <a:bodyPr/>
          <a:lstStyle/>
          <a:p>
            <a:r>
              <a:rPr lang="en-GB" dirty="0"/>
              <a:t>Underfitting  vs. degree of polynomial</a:t>
            </a:r>
            <a:endParaRPr lang="en-SG" dirty="0"/>
          </a:p>
        </p:txBody>
      </p:sp>
      <mc:AlternateContent xmlns:mc="http://schemas.openxmlformats.org/markup-compatibility/2006" xmlns:a14="http://schemas.microsoft.com/office/drawing/2010/main">
        <mc:Choice Requires="a14">
          <p:sp>
            <p:nvSpPr>
              <p:cNvPr id="6" name="Content Placeholder 5">
                <a:extLst>
                  <a:ext uri="{FF2B5EF4-FFF2-40B4-BE49-F238E27FC236}">
                    <a16:creationId xmlns:a16="http://schemas.microsoft.com/office/drawing/2014/main" id="{3FF27FA6-234D-EB6E-7AD4-4E52F151A639}"/>
                  </a:ext>
                </a:extLst>
              </p:cNvPr>
              <p:cNvSpPr>
                <a:spLocks noGrp="1"/>
              </p:cNvSpPr>
              <p:nvPr>
                <p:ph sz="half" idx="1"/>
              </p:nvPr>
            </p:nvSpPr>
            <p:spPr>
              <a:xfrm>
                <a:off x="838200" y="1825625"/>
                <a:ext cx="5181600" cy="4864344"/>
              </a:xfrm>
            </p:spPr>
            <p:txBody>
              <a:bodyPr>
                <a:normAutofit/>
              </a:bodyPr>
              <a:lstStyle/>
              <a:p>
                <a:pPr marL="0" indent="0">
                  <a:buNone/>
                </a:pPr>
                <a:r>
                  <a:rPr lang="en-GB" b="1" dirty="0"/>
                  <a:t>Definition (</a:t>
                </a:r>
                <a:r>
                  <a:rPr lang="en-GB" b="1" dirty="0">
                    <a:solidFill>
                      <a:srgbClr val="00B050"/>
                    </a:solidFill>
                  </a:rPr>
                  <a:t>Underfitting</a:t>
                </a:r>
                <a:r>
                  <a:rPr lang="en-GB" b="1" dirty="0"/>
                  <a:t>):</a:t>
                </a:r>
              </a:p>
              <a:p>
                <a:pPr marL="0" indent="0">
                  <a:buNone/>
                </a:pPr>
                <a:r>
                  <a:rPr lang="en-GB" b="1" dirty="0">
                    <a:solidFill>
                      <a:srgbClr val="00B050"/>
                    </a:solidFill>
                  </a:rPr>
                  <a:t>Underfitting</a:t>
                </a:r>
                <a:r>
                  <a:rPr lang="en-GB" dirty="0"/>
                  <a:t> is a phenomenon that occurs in machine learning when a model is not capable enough to capture the underlying pattern of the data. It is the opposite of overfitting.</a:t>
                </a:r>
              </a:p>
              <a:p>
                <a:pPr marL="0" indent="0">
                  <a:buNone/>
                </a:pPr>
                <a:r>
                  <a:rPr lang="en-GB" dirty="0"/>
                  <a:t>For instance, here, Linear Regression (which is Polynomial Regression with </a:t>
                </a:r>
                <a14:m>
                  <m:oMath xmlns:m="http://schemas.openxmlformats.org/officeDocument/2006/math">
                    <m:r>
                      <a:rPr lang="en-GB" i="1" dirty="0" smtClean="0">
                        <a:latin typeface="Cambria Math" panose="02040503050406030204" pitchFamily="18" charset="0"/>
                      </a:rPr>
                      <m:t>𝐾</m:t>
                    </m:r>
                    <m:r>
                      <a:rPr lang="en-GB" i="1" dirty="0" smtClean="0">
                        <a:latin typeface="Cambria Math" panose="02040503050406030204" pitchFamily="18" charset="0"/>
                      </a:rPr>
                      <m:t> = 1</m:t>
                    </m:r>
                  </m:oMath>
                </a14:m>
                <a:r>
                  <a:rPr lang="en-GB" dirty="0"/>
                  <a:t>) could not fit the data well.</a:t>
                </a:r>
                <a:endParaRPr lang="en-SG" dirty="0"/>
              </a:p>
            </p:txBody>
          </p:sp>
        </mc:Choice>
        <mc:Fallback xmlns="">
          <p:sp>
            <p:nvSpPr>
              <p:cNvPr id="6" name="Content Placeholder 5">
                <a:extLst>
                  <a:ext uri="{FF2B5EF4-FFF2-40B4-BE49-F238E27FC236}">
                    <a16:creationId xmlns:a16="http://schemas.microsoft.com/office/drawing/2014/main" id="{3FF27FA6-234D-EB6E-7AD4-4E52F151A639}"/>
                  </a:ext>
                </a:extLst>
              </p:cNvPr>
              <p:cNvSpPr>
                <a:spLocks noGrp="1" noRot="1" noChangeAspect="1" noMove="1" noResize="1" noEditPoints="1" noAdjustHandles="1" noChangeArrowheads="1" noChangeShapeType="1" noTextEdit="1"/>
              </p:cNvSpPr>
              <p:nvPr>
                <p:ph sz="half" idx="1"/>
              </p:nvPr>
            </p:nvSpPr>
            <p:spPr>
              <a:xfrm>
                <a:off x="838200" y="1825625"/>
                <a:ext cx="5181600" cy="4864344"/>
              </a:xfrm>
              <a:blipFill>
                <a:blip r:embed="rId2"/>
                <a:stretch>
                  <a:fillRect l="-2471" t="-2005" r="-3765"/>
                </a:stretch>
              </a:blipFill>
            </p:spPr>
            <p:txBody>
              <a:bodyPr/>
              <a:lstStyle/>
              <a:p>
                <a:r>
                  <a:rPr lang="en-GB">
                    <a:noFill/>
                  </a:rPr>
                  <a:t> </a:t>
                </a:r>
              </a:p>
            </p:txBody>
          </p:sp>
        </mc:Fallback>
      </mc:AlternateContent>
      <mc:AlternateContent xmlns:mc="http://schemas.openxmlformats.org/markup-compatibility/2006" xmlns:a14="http://schemas.microsoft.com/office/drawing/2010/main">
        <mc:Choice Requires="a14">
          <p:sp>
            <p:nvSpPr>
              <p:cNvPr id="2" name="Content Placeholder 1">
                <a:extLst>
                  <a:ext uri="{FF2B5EF4-FFF2-40B4-BE49-F238E27FC236}">
                    <a16:creationId xmlns:a16="http://schemas.microsoft.com/office/drawing/2014/main" id="{37C84060-31A2-3AFB-B38D-81D7652356D5}"/>
                  </a:ext>
                </a:extLst>
              </p:cNvPr>
              <p:cNvSpPr>
                <a:spLocks noGrp="1"/>
              </p:cNvSpPr>
              <p:nvPr>
                <p:ph sz="half" idx="2"/>
              </p:nvPr>
            </p:nvSpPr>
            <p:spPr>
              <a:xfrm>
                <a:off x="6172200" y="1825624"/>
                <a:ext cx="5181600" cy="5032375"/>
              </a:xfrm>
            </p:spPr>
            <p:txBody>
              <a:bodyPr>
                <a:normAutofit/>
              </a:bodyPr>
              <a:lstStyle/>
              <a:p>
                <a:pPr marL="0" indent="0">
                  <a:buNone/>
                </a:pPr>
                <a:r>
                  <a:rPr lang="en-GB" dirty="0"/>
                  <a:t>As the opposite of overfitting, underfitting will typically happen when a model</a:t>
                </a:r>
              </a:p>
              <a:p>
                <a:r>
                  <a:rPr lang="en-GB" dirty="0"/>
                  <a:t>is trained with too few features </a:t>
                </a:r>
              </a:p>
              <a:p>
                <a:r>
                  <a:rPr lang="en-GB" dirty="0"/>
                  <a:t>or too little data,</a:t>
                </a:r>
              </a:p>
              <a:p>
                <a:r>
                  <a:rPr lang="en-GB" dirty="0"/>
                  <a:t>or when the model is not powerful enough to capture the complexity of the task (degree </a:t>
                </a:r>
                <a14:m>
                  <m:oMath xmlns:m="http://schemas.openxmlformats.org/officeDocument/2006/math">
                    <m:r>
                      <a:rPr lang="en-GB" i="1" dirty="0" smtClean="0">
                        <a:latin typeface="Cambria Math" panose="02040503050406030204" pitchFamily="18" charset="0"/>
                      </a:rPr>
                      <m:t>𝐾</m:t>
                    </m:r>
                  </m:oMath>
                </a14:m>
                <a:r>
                  <a:rPr lang="en-GB" dirty="0"/>
                  <a:t> is too low for the dataset/task!)</a:t>
                </a:r>
                <a:endParaRPr lang="en-SG" dirty="0"/>
              </a:p>
            </p:txBody>
          </p:sp>
        </mc:Choice>
        <mc:Fallback xmlns="">
          <p:sp>
            <p:nvSpPr>
              <p:cNvPr id="2" name="Content Placeholder 1">
                <a:extLst>
                  <a:ext uri="{FF2B5EF4-FFF2-40B4-BE49-F238E27FC236}">
                    <a16:creationId xmlns:a16="http://schemas.microsoft.com/office/drawing/2014/main" id="{37C84060-31A2-3AFB-B38D-81D7652356D5}"/>
                  </a:ext>
                </a:extLst>
              </p:cNvPr>
              <p:cNvSpPr>
                <a:spLocks noGrp="1" noRot="1" noChangeAspect="1" noMove="1" noResize="1" noEditPoints="1" noAdjustHandles="1" noChangeArrowheads="1" noChangeShapeType="1" noTextEdit="1"/>
              </p:cNvSpPr>
              <p:nvPr>
                <p:ph sz="half" idx="2"/>
              </p:nvPr>
            </p:nvSpPr>
            <p:spPr>
              <a:xfrm>
                <a:off x="6172200" y="1825624"/>
                <a:ext cx="5181600" cy="5032375"/>
              </a:xfrm>
              <a:blipFill>
                <a:blip r:embed="rId3"/>
                <a:stretch>
                  <a:fillRect l="-2471" t="-1937" r="-824"/>
                </a:stretch>
              </a:blipFill>
            </p:spPr>
            <p:txBody>
              <a:bodyPr/>
              <a:lstStyle/>
              <a:p>
                <a:r>
                  <a:rPr lang="en-GB">
                    <a:noFill/>
                  </a:rPr>
                  <a:t> </a:t>
                </a:r>
              </a:p>
            </p:txBody>
          </p:sp>
        </mc:Fallback>
      </mc:AlternateContent>
    </p:spTree>
    <p:extLst>
      <p:ext uri="{BB962C8B-B14F-4D97-AF65-F5344CB8AC3E}">
        <p14:creationId xmlns:p14="http://schemas.microsoft.com/office/powerpoint/2010/main" val="1249800631"/>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CCB2C19-D7F4-EB52-15C4-B2604015297B}"/>
              </a:ext>
            </a:extLst>
          </p:cNvPr>
          <p:cNvSpPr>
            <a:spLocks noGrp="1"/>
          </p:cNvSpPr>
          <p:nvPr>
            <p:ph type="title"/>
          </p:nvPr>
        </p:nvSpPr>
        <p:spPr/>
        <p:txBody>
          <a:bodyPr/>
          <a:lstStyle/>
          <a:p>
            <a:r>
              <a:rPr lang="en-GB" dirty="0"/>
              <a:t>Generalization</a:t>
            </a:r>
            <a:endParaRPr lang="en-SG" dirty="0"/>
          </a:p>
        </p:txBody>
      </p:sp>
      <p:sp>
        <p:nvSpPr>
          <p:cNvPr id="3" name="Content Placeholder 2">
            <a:extLst>
              <a:ext uri="{FF2B5EF4-FFF2-40B4-BE49-F238E27FC236}">
                <a16:creationId xmlns:a16="http://schemas.microsoft.com/office/drawing/2014/main" id="{420487D3-EA12-DF6F-4A31-967FCF611809}"/>
              </a:ext>
            </a:extLst>
          </p:cNvPr>
          <p:cNvSpPr>
            <a:spLocks noGrp="1"/>
          </p:cNvSpPr>
          <p:nvPr>
            <p:ph idx="1"/>
          </p:nvPr>
        </p:nvSpPr>
        <p:spPr>
          <a:xfrm>
            <a:off x="838200" y="1825624"/>
            <a:ext cx="10515600" cy="4911077"/>
          </a:xfrm>
        </p:spPr>
        <p:txBody>
          <a:bodyPr>
            <a:normAutofit/>
          </a:bodyPr>
          <a:lstStyle/>
          <a:p>
            <a:pPr marL="0" indent="0">
              <a:buNone/>
            </a:pPr>
            <a:r>
              <a:rPr lang="en-GB" b="1" dirty="0"/>
              <a:t>Definition (</a:t>
            </a:r>
            <a:r>
              <a:rPr lang="en-GB" b="1" dirty="0">
                <a:solidFill>
                  <a:srgbClr val="C00000"/>
                </a:solidFill>
              </a:rPr>
              <a:t>Generalization</a:t>
            </a:r>
            <a:r>
              <a:rPr lang="en-GB" b="1" dirty="0"/>
              <a:t>):</a:t>
            </a:r>
          </a:p>
          <a:p>
            <a:pPr marL="0" indent="0">
              <a:buNone/>
            </a:pPr>
            <a:r>
              <a:rPr lang="en-GB" b="1" dirty="0">
                <a:solidFill>
                  <a:srgbClr val="C00000"/>
                </a:solidFill>
              </a:rPr>
              <a:t>Generalization</a:t>
            </a:r>
            <a:r>
              <a:rPr lang="en-GB" dirty="0"/>
              <a:t> is considered the </a:t>
            </a:r>
            <a:r>
              <a:rPr lang="en-GB" b="1" dirty="0"/>
              <a:t>"holy grail" or ultimate</a:t>
            </a:r>
            <a:r>
              <a:rPr lang="en-GB" dirty="0"/>
              <a:t> </a:t>
            </a:r>
            <a:r>
              <a:rPr lang="en-GB" b="1" dirty="0"/>
              <a:t>goal</a:t>
            </a:r>
            <a:r>
              <a:rPr lang="en-GB" dirty="0"/>
              <a:t> </a:t>
            </a:r>
            <a:r>
              <a:rPr lang="en-GB" b="1" dirty="0"/>
              <a:t>of any machine learning model</a:t>
            </a:r>
            <a:r>
              <a:rPr lang="en-GB" dirty="0"/>
              <a:t>.</a:t>
            </a:r>
          </a:p>
          <a:p>
            <a:pPr marL="0" indent="0">
              <a:buNone/>
            </a:pPr>
            <a:r>
              <a:rPr lang="en-GB" dirty="0"/>
              <a:t>Even though the model was trained on known data we collected, the purpose of a machine learning model is always to </a:t>
            </a:r>
            <a:r>
              <a:rPr lang="en-GB" b="1" dirty="0">
                <a:solidFill>
                  <a:srgbClr val="C00000"/>
                </a:solidFill>
              </a:rPr>
              <a:t>generalize</a:t>
            </a:r>
            <a:r>
              <a:rPr lang="en-GB" dirty="0"/>
              <a:t>, i.e. to </a:t>
            </a:r>
            <a:r>
              <a:rPr lang="en-GB" b="1" dirty="0"/>
              <a:t>make accurate predictions on new, unseen data</a:t>
            </a:r>
            <a:r>
              <a:rPr lang="en-GB" dirty="0"/>
              <a:t>.</a:t>
            </a:r>
          </a:p>
          <a:p>
            <a:pPr marL="0" indent="0">
              <a:buNone/>
            </a:pPr>
            <a:r>
              <a:rPr lang="en-GB" dirty="0"/>
              <a:t>If a model can make accurate predictions on data it has not seen before, it is said to have </a:t>
            </a:r>
            <a:r>
              <a:rPr lang="en-GB" b="1" dirty="0"/>
              <a:t>generalized</a:t>
            </a:r>
            <a:r>
              <a:rPr lang="en-GB" dirty="0"/>
              <a:t> </a:t>
            </a:r>
            <a:r>
              <a:rPr lang="en-GB" b="1" dirty="0"/>
              <a:t>well</a:t>
            </a:r>
            <a:r>
              <a:rPr lang="en-GB" dirty="0"/>
              <a:t>, and can then be used in the real world for solving the problem it was trained to solve.</a:t>
            </a:r>
          </a:p>
        </p:txBody>
      </p:sp>
    </p:spTree>
    <p:extLst>
      <p:ext uri="{BB962C8B-B14F-4D97-AF65-F5344CB8AC3E}">
        <p14:creationId xmlns:p14="http://schemas.microsoft.com/office/powerpoint/2010/main" val="2138921819"/>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CCB2C19-D7F4-EB52-15C4-B2604015297B}"/>
              </a:ext>
            </a:extLst>
          </p:cNvPr>
          <p:cNvSpPr>
            <a:spLocks noGrp="1"/>
          </p:cNvSpPr>
          <p:nvPr>
            <p:ph type="title"/>
          </p:nvPr>
        </p:nvSpPr>
        <p:spPr/>
        <p:txBody>
          <a:bodyPr/>
          <a:lstStyle/>
          <a:p>
            <a:r>
              <a:rPr lang="en-GB" dirty="0"/>
              <a:t>Generalization vs. Overfitting/Underfitting</a:t>
            </a:r>
            <a:endParaRPr lang="en-SG" dirty="0"/>
          </a:p>
        </p:txBody>
      </p:sp>
      <p:sp>
        <p:nvSpPr>
          <p:cNvPr id="4" name="Content Placeholder 3">
            <a:extLst>
              <a:ext uri="{FF2B5EF4-FFF2-40B4-BE49-F238E27FC236}">
                <a16:creationId xmlns:a16="http://schemas.microsoft.com/office/drawing/2014/main" id="{27242388-4C68-D772-1E59-FC76EBC6F2CF}"/>
              </a:ext>
            </a:extLst>
          </p:cNvPr>
          <p:cNvSpPr>
            <a:spLocks noGrp="1"/>
          </p:cNvSpPr>
          <p:nvPr>
            <p:ph idx="1"/>
          </p:nvPr>
        </p:nvSpPr>
        <p:spPr/>
        <p:txBody>
          <a:bodyPr/>
          <a:lstStyle/>
          <a:p>
            <a:pPr marL="0" indent="0">
              <a:buNone/>
            </a:pPr>
            <a:r>
              <a:rPr lang="en-GB" dirty="0"/>
              <a:t>In general, having a model that is </a:t>
            </a:r>
            <a:r>
              <a:rPr lang="en-GB" b="1" dirty="0"/>
              <a:t>underfitting</a:t>
            </a:r>
            <a:r>
              <a:rPr lang="en-GB" dirty="0"/>
              <a:t> or </a:t>
            </a:r>
            <a:r>
              <a:rPr lang="en-GB" b="1" dirty="0"/>
              <a:t>overfitting</a:t>
            </a:r>
            <a:r>
              <a:rPr lang="en-GB" dirty="0"/>
              <a:t> will lead to poor </a:t>
            </a:r>
            <a:r>
              <a:rPr lang="en-GB" b="1" dirty="0">
                <a:solidFill>
                  <a:srgbClr val="C00000"/>
                </a:solidFill>
              </a:rPr>
              <a:t>generalization</a:t>
            </a:r>
            <a:r>
              <a:rPr lang="en-GB" dirty="0"/>
              <a:t>.</a:t>
            </a:r>
          </a:p>
          <a:p>
            <a:pPr marL="0" indent="0">
              <a:buNone/>
            </a:pPr>
            <a:r>
              <a:rPr lang="en-GB" dirty="0"/>
              <a:t>We would very much prefer to fit the data “just right”.</a:t>
            </a:r>
            <a:endParaRPr lang="en-SG" dirty="0"/>
          </a:p>
          <a:p>
            <a:endParaRPr lang="en-SG" dirty="0"/>
          </a:p>
        </p:txBody>
      </p:sp>
      <p:pic>
        <p:nvPicPr>
          <p:cNvPr id="7" name="Picture 6" descr="Chart, scatter chart&#10;&#10;Description automatically generated">
            <a:extLst>
              <a:ext uri="{FF2B5EF4-FFF2-40B4-BE49-F238E27FC236}">
                <a16:creationId xmlns:a16="http://schemas.microsoft.com/office/drawing/2014/main" id="{46AEF694-9205-3C5E-9A1D-7632817060D5}"/>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569139" y="3153569"/>
            <a:ext cx="11053721" cy="3339306"/>
          </a:xfrm>
          <a:prstGeom prst="rect">
            <a:avLst/>
          </a:prstGeom>
        </p:spPr>
      </p:pic>
    </p:spTree>
    <p:extLst>
      <p:ext uri="{BB962C8B-B14F-4D97-AF65-F5344CB8AC3E}">
        <p14:creationId xmlns:p14="http://schemas.microsoft.com/office/powerpoint/2010/main" val="410904367"/>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D3B68C2-4970-4C7E-1F52-6140F374C9AD}"/>
              </a:ext>
            </a:extLst>
          </p:cNvPr>
          <p:cNvSpPr>
            <a:spLocks noGrp="1"/>
          </p:cNvSpPr>
          <p:nvPr>
            <p:ph type="title"/>
          </p:nvPr>
        </p:nvSpPr>
        <p:spPr/>
        <p:txBody>
          <a:bodyPr/>
          <a:lstStyle/>
          <a:p>
            <a:r>
              <a:rPr lang="en-GB" dirty="0"/>
              <a:t>While we are at it…</a:t>
            </a:r>
            <a:endParaRPr lang="en-SG" dirty="0"/>
          </a:p>
        </p:txBody>
      </p:sp>
      <p:sp>
        <p:nvSpPr>
          <p:cNvPr id="3" name="Content Placeholder 2">
            <a:extLst>
              <a:ext uri="{FF2B5EF4-FFF2-40B4-BE49-F238E27FC236}">
                <a16:creationId xmlns:a16="http://schemas.microsoft.com/office/drawing/2014/main" id="{7BDE96C0-465C-7952-04EA-C267AC8BF678}"/>
              </a:ext>
            </a:extLst>
          </p:cNvPr>
          <p:cNvSpPr>
            <a:spLocks noGrp="1"/>
          </p:cNvSpPr>
          <p:nvPr>
            <p:ph sz="half" idx="1"/>
          </p:nvPr>
        </p:nvSpPr>
        <p:spPr>
          <a:xfrm>
            <a:off x="838200" y="1825624"/>
            <a:ext cx="5181600" cy="5032375"/>
          </a:xfrm>
        </p:spPr>
        <p:txBody>
          <a:bodyPr/>
          <a:lstStyle/>
          <a:p>
            <a:pPr marL="0" indent="0">
              <a:buNone/>
            </a:pPr>
            <a:r>
              <a:rPr lang="en-GB" dirty="0"/>
              <a:t>In general, we want to:</a:t>
            </a:r>
          </a:p>
          <a:p>
            <a:r>
              <a:rPr lang="en-GB" dirty="0"/>
              <a:t>Train the model on the data we collected for this task,</a:t>
            </a:r>
          </a:p>
          <a:p>
            <a:r>
              <a:rPr lang="en-GB" dirty="0"/>
              <a:t>Confirm that the model can generalize and make accurate predictions on new, unseen data, after training.</a:t>
            </a:r>
          </a:p>
        </p:txBody>
      </p:sp>
      <p:sp>
        <p:nvSpPr>
          <p:cNvPr id="4" name="Content Placeholder 3">
            <a:extLst>
              <a:ext uri="{FF2B5EF4-FFF2-40B4-BE49-F238E27FC236}">
                <a16:creationId xmlns:a16="http://schemas.microsoft.com/office/drawing/2014/main" id="{5E76589E-870E-419D-CF95-4309EACDB190}"/>
              </a:ext>
            </a:extLst>
          </p:cNvPr>
          <p:cNvSpPr>
            <a:spLocks noGrp="1"/>
          </p:cNvSpPr>
          <p:nvPr>
            <p:ph sz="half" idx="2"/>
          </p:nvPr>
        </p:nvSpPr>
        <p:spPr/>
        <p:txBody>
          <a:bodyPr/>
          <a:lstStyle/>
          <a:p>
            <a:pPr marL="0" indent="0">
              <a:buNone/>
            </a:pPr>
            <a:r>
              <a:rPr lang="en-SG" b="1" dirty="0"/>
              <a:t>Problem: </a:t>
            </a:r>
            <a:r>
              <a:rPr lang="en-SG" dirty="0"/>
              <a:t>We would prefer to test the model before releasing it in the wild (what if it is wrong?)</a:t>
            </a:r>
          </a:p>
          <a:p>
            <a:pPr marL="0" indent="0">
              <a:buNone/>
            </a:pPr>
            <a:r>
              <a:rPr lang="en-SG" b="1" dirty="0">
                <a:solidFill>
                  <a:srgbClr val="C00000"/>
                </a:solidFill>
              </a:rPr>
              <a:t>Problem #2: </a:t>
            </a:r>
            <a:r>
              <a:rPr lang="en-SG" dirty="0">
                <a:solidFill>
                  <a:srgbClr val="C00000"/>
                </a:solidFill>
              </a:rPr>
              <a:t>Testing its generalization capabilities on the same data that was used for training would </a:t>
            </a:r>
            <a:r>
              <a:rPr lang="en-SG" u="sng" dirty="0">
                <a:solidFill>
                  <a:srgbClr val="C00000"/>
                </a:solidFill>
              </a:rPr>
              <a:t>NOT</a:t>
            </a:r>
            <a:r>
              <a:rPr lang="en-SG" dirty="0">
                <a:solidFill>
                  <a:srgbClr val="C00000"/>
                </a:solidFill>
              </a:rPr>
              <a:t> confirm generalization.</a:t>
            </a:r>
          </a:p>
          <a:p>
            <a:endParaRPr lang="en-SG" b="1" dirty="0"/>
          </a:p>
        </p:txBody>
      </p:sp>
      <p:sp>
        <p:nvSpPr>
          <p:cNvPr id="5" name="TextBox 4">
            <a:extLst>
              <a:ext uri="{FF2B5EF4-FFF2-40B4-BE49-F238E27FC236}">
                <a16:creationId xmlns:a16="http://schemas.microsoft.com/office/drawing/2014/main" id="{756863AE-CE95-3DEE-60F5-9AD8AE03E1F9}"/>
              </a:ext>
            </a:extLst>
          </p:cNvPr>
          <p:cNvSpPr txBox="1"/>
          <p:nvPr/>
        </p:nvSpPr>
        <p:spPr>
          <a:xfrm>
            <a:off x="797169" y="5382725"/>
            <a:ext cx="10597661" cy="1384995"/>
          </a:xfrm>
          <a:prstGeom prst="rect">
            <a:avLst/>
          </a:prstGeom>
          <a:noFill/>
        </p:spPr>
        <p:txBody>
          <a:bodyPr wrap="square" rtlCol="0">
            <a:spAutoFit/>
          </a:bodyPr>
          <a:lstStyle/>
          <a:p>
            <a:r>
              <a:rPr lang="en-GB" sz="2800" b="1" dirty="0"/>
              <a:t>Solution: </a:t>
            </a:r>
            <a:r>
              <a:rPr lang="en-GB" sz="2800" dirty="0"/>
              <a:t>Use some of our seen data to train the model, and some of the data (that has not been used for training and is therefore unseen to the model yet) for evaluating its generalization.</a:t>
            </a:r>
            <a:endParaRPr lang="en-SG" sz="2800" dirty="0"/>
          </a:p>
        </p:txBody>
      </p:sp>
    </p:spTree>
    <p:extLst>
      <p:ext uri="{BB962C8B-B14F-4D97-AF65-F5344CB8AC3E}">
        <p14:creationId xmlns:p14="http://schemas.microsoft.com/office/powerpoint/2010/main" val="2039337153"/>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8499614-2FCD-924B-BC7C-F2298D2C05AB}"/>
              </a:ext>
            </a:extLst>
          </p:cNvPr>
          <p:cNvSpPr>
            <a:spLocks noGrp="1"/>
          </p:cNvSpPr>
          <p:nvPr>
            <p:ph type="title"/>
          </p:nvPr>
        </p:nvSpPr>
        <p:spPr/>
        <p:txBody>
          <a:bodyPr/>
          <a:lstStyle/>
          <a:p>
            <a:r>
              <a:rPr lang="en-GB" dirty="0"/>
              <a:t>Train and test split</a:t>
            </a:r>
            <a:endParaRPr lang="en-SG" dirty="0"/>
          </a:p>
        </p:txBody>
      </p:sp>
      <p:sp>
        <p:nvSpPr>
          <p:cNvPr id="3" name="Content Placeholder 2">
            <a:extLst>
              <a:ext uri="{FF2B5EF4-FFF2-40B4-BE49-F238E27FC236}">
                <a16:creationId xmlns:a16="http://schemas.microsoft.com/office/drawing/2014/main" id="{F0D4995A-5A41-5F90-B082-6A1F739ED610}"/>
              </a:ext>
            </a:extLst>
          </p:cNvPr>
          <p:cNvSpPr>
            <a:spLocks noGrp="1"/>
          </p:cNvSpPr>
          <p:nvPr>
            <p:ph sz="half" idx="1"/>
          </p:nvPr>
        </p:nvSpPr>
        <p:spPr>
          <a:xfrm>
            <a:off x="403123" y="1825624"/>
            <a:ext cx="5616677" cy="5032375"/>
          </a:xfrm>
        </p:spPr>
        <p:txBody>
          <a:bodyPr>
            <a:normAutofit fontScale="92500"/>
          </a:bodyPr>
          <a:lstStyle/>
          <a:p>
            <a:pPr marL="0" indent="0">
              <a:buNone/>
            </a:pPr>
            <a:r>
              <a:rPr lang="en-GB" b="1" dirty="0"/>
              <a:t>Definition (</a:t>
            </a:r>
            <a:r>
              <a:rPr lang="en-GB" b="1" dirty="0">
                <a:solidFill>
                  <a:srgbClr val="00B050"/>
                </a:solidFill>
              </a:rPr>
              <a:t>Train and Test Split</a:t>
            </a:r>
            <a:r>
              <a:rPr lang="en-GB" b="1" dirty="0"/>
              <a:t>):</a:t>
            </a:r>
          </a:p>
          <a:p>
            <a:pPr marL="0" indent="0">
              <a:buNone/>
            </a:pPr>
            <a:r>
              <a:rPr lang="en-GB" b="1" dirty="0">
                <a:solidFill>
                  <a:srgbClr val="00B050"/>
                </a:solidFill>
              </a:rPr>
              <a:t>Train and test split </a:t>
            </a:r>
            <a:r>
              <a:rPr lang="en-GB" dirty="0"/>
              <a:t>is a method used in machine learning to divide a dataset into two subsets:</a:t>
            </a:r>
          </a:p>
          <a:p>
            <a:r>
              <a:rPr lang="en-GB" dirty="0"/>
              <a:t>The </a:t>
            </a:r>
            <a:r>
              <a:rPr lang="en-GB" b="1" dirty="0"/>
              <a:t>training</a:t>
            </a:r>
            <a:r>
              <a:rPr lang="en-GB" dirty="0"/>
              <a:t> </a:t>
            </a:r>
            <a:r>
              <a:rPr lang="en-GB" b="1" dirty="0"/>
              <a:t>dataset</a:t>
            </a:r>
            <a:r>
              <a:rPr lang="en-GB" dirty="0"/>
              <a:t> is used to train the model.</a:t>
            </a:r>
          </a:p>
          <a:p>
            <a:r>
              <a:rPr lang="en-GB" dirty="0"/>
              <a:t>The </a:t>
            </a:r>
            <a:r>
              <a:rPr lang="en-GB" b="1" dirty="0"/>
              <a:t>test</a:t>
            </a:r>
            <a:r>
              <a:rPr lang="en-GB" dirty="0"/>
              <a:t> </a:t>
            </a:r>
            <a:r>
              <a:rPr lang="en-GB" b="1" dirty="0"/>
              <a:t>dataset</a:t>
            </a:r>
            <a:r>
              <a:rPr lang="en-GB" dirty="0"/>
              <a:t> is used to evaluate the model performance after training.</a:t>
            </a:r>
          </a:p>
          <a:p>
            <a:pPr marL="0" indent="0">
              <a:buNone/>
            </a:pPr>
            <a:r>
              <a:rPr lang="en-GB" dirty="0"/>
              <a:t>The idea is to use a portion of the dataset for training and a separate portion for testing so that the model can be evaluated on unseen data. </a:t>
            </a:r>
            <a:endParaRPr lang="en-SG" dirty="0"/>
          </a:p>
        </p:txBody>
      </p:sp>
      <p:sp>
        <p:nvSpPr>
          <p:cNvPr id="11" name="Content Placeholder 10">
            <a:extLst>
              <a:ext uri="{FF2B5EF4-FFF2-40B4-BE49-F238E27FC236}">
                <a16:creationId xmlns:a16="http://schemas.microsoft.com/office/drawing/2014/main" id="{01E2D3EE-3293-410F-6730-18FF1BD52A47}"/>
              </a:ext>
            </a:extLst>
          </p:cNvPr>
          <p:cNvSpPr>
            <a:spLocks noGrp="1"/>
          </p:cNvSpPr>
          <p:nvPr>
            <p:ph sz="half" idx="2"/>
          </p:nvPr>
        </p:nvSpPr>
        <p:spPr/>
        <p:txBody>
          <a:bodyPr>
            <a:normAutofit fontScale="92500"/>
          </a:bodyPr>
          <a:lstStyle/>
          <a:p>
            <a:pPr marL="0" indent="0">
              <a:buNone/>
            </a:pPr>
            <a:r>
              <a:rPr lang="en-GB" dirty="0"/>
              <a:t>The typical split is to use 80% of the data for training and 20% for testing. </a:t>
            </a:r>
          </a:p>
          <a:p>
            <a:pPr marL="0" indent="0">
              <a:buNone/>
            </a:pPr>
            <a:r>
              <a:rPr lang="en-GB" dirty="0"/>
              <a:t>This can however vary depending on the specific use case and the size of the dataset.</a:t>
            </a:r>
            <a:endParaRPr lang="en-GB" b="1" dirty="0"/>
          </a:p>
          <a:p>
            <a:endParaRPr lang="en-SG" dirty="0"/>
          </a:p>
        </p:txBody>
      </p:sp>
      <p:pic>
        <p:nvPicPr>
          <p:cNvPr id="8" name="Picture 7" descr="Chart&#10;&#10;Description automatically generated with low confidence">
            <a:extLst>
              <a:ext uri="{FF2B5EF4-FFF2-40B4-BE49-F238E27FC236}">
                <a16:creationId xmlns:a16="http://schemas.microsoft.com/office/drawing/2014/main" id="{7643DA3E-5401-E182-3C7A-E6B5F66F4C0A}"/>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6475779" y="4341811"/>
            <a:ext cx="5446841" cy="1889583"/>
          </a:xfrm>
          <a:prstGeom prst="rect">
            <a:avLst/>
          </a:prstGeom>
        </p:spPr>
      </p:pic>
    </p:spTree>
    <p:extLst>
      <p:ext uri="{BB962C8B-B14F-4D97-AF65-F5344CB8AC3E}">
        <p14:creationId xmlns:p14="http://schemas.microsoft.com/office/powerpoint/2010/main" val="1972798447"/>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8499614-2FCD-924B-BC7C-F2298D2C05AB}"/>
              </a:ext>
            </a:extLst>
          </p:cNvPr>
          <p:cNvSpPr>
            <a:spLocks noGrp="1"/>
          </p:cNvSpPr>
          <p:nvPr>
            <p:ph type="title"/>
          </p:nvPr>
        </p:nvSpPr>
        <p:spPr/>
        <p:txBody>
          <a:bodyPr/>
          <a:lstStyle/>
          <a:p>
            <a:r>
              <a:rPr lang="en-GB" dirty="0"/>
              <a:t>Train and test split</a:t>
            </a:r>
            <a:endParaRPr lang="en-SG" dirty="0"/>
          </a:p>
        </p:txBody>
      </p:sp>
      <p:pic>
        <p:nvPicPr>
          <p:cNvPr id="10" name="Picture 9">
            <a:extLst>
              <a:ext uri="{FF2B5EF4-FFF2-40B4-BE49-F238E27FC236}">
                <a16:creationId xmlns:a16="http://schemas.microsoft.com/office/drawing/2014/main" id="{7750BFB0-9B6C-4217-7B20-577A60960B21}"/>
              </a:ext>
            </a:extLst>
          </p:cNvPr>
          <p:cNvPicPr>
            <a:picLocks noChangeAspect="1"/>
          </p:cNvPicPr>
          <p:nvPr/>
        </p:nvPicPr>
        <p:blipFill>
          <a:blip r:embed="rId2"/>
          <a:stretch>
            <a:fillRect/>
          </a:stretch>
        </p:blipFill>
        <p:spPr>
          <a:xfrm>
            <a:off x="2649415" y="1406977"/>
            <a:ext cx="7328479" cy="5451023"/>
          </a:xfrm>
          <a:prstGeom prst="rect">
            <a:avLst/>
          </a:prstGeom>
        </p:spPr>
      </p:pic>
    </p:spTree>
    <p:extLst>
      <p:ext uri="{BB962C8B-B14F-4D97-AF65-F5344CB8AC3E}">
        <p14:creationId xmlns:p14="http://schemas.microsoft.com/office/powerpoint/2010/main" val="734562613"/>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BAACE482-CE62-1E40-7CE5-D09D918923E4}"/>
              </a:ext>
            </a:extLst>
          </p:cNvPr>
          <p:cNvPicPr>
            <a:picLocks noChangeAspect="1"/>
          </p:cNvPicPr>
          <p:nvPr/>
        </p:nvPicPr>
        <p:blipFill>
          <a:blip r:embed="rId2"/>
          <a:stretch>
            <a:fillRect/>
          </a:stretch>
        </p:blipFill>
        <p:spPr>
          <a:xfrm>
            <a:off x="1332835" y="223390"/>
            <a:ext cx="9526329" cy="6411220"/>
          </a:xfrm>
          <a:prstGeom prst="rect">
            <a:avLst/>
          </a:prstGeom>
        </p:spPr>
      </p:pic>
    </p:spTree>
    <p:extLst>
      <p:ext uri="{BB962C8B-B14F-4D97-AF65-F5344CB8AC3E}">
        <p14:creationId xmlns:p14="http://schemas.microsoft.com/office/powerpoint/2010/main" val="3319407717"/>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F4FE9BC-DDD4-336B-9192-0F69C49E3F53}"/>
              </a:ext>
            </a:extLst>
          </p:cNvPr>
          <p:cNvSpPr>
            <a:spLocks noGrp="1"/>
          </p:cNvSpPr>
          <p:nvPr>
            <p:ph type="title"/>
          </p:nvPr>
        </p:nvSpPr>
        <p:spPr/>
        <p:txBody>
          <a:bodyPr/>
          <a:lstStyle/>
          <a:p>
            <a:r>
              <a:rPr lang="en-GB" dirty="0"/>
              <a:t>Training the Polynomial Regressor, again</a:t>
            </a:r>
            <a:endParaRPr lang="en-SG" dirty="0"/>
          </a:p>
        </p:txBody>
      </p:sp>
      <p:sp>
        <p:nvSpPr>
          <p:cNvPr id="3" name="Content Placeholder 2">
            <a:extLst>
              <a:ext uri="{FF2B5EF4-FFF2-40B4-BE49-F238E27FC236}">
                <a16:creationId xmlns:a16="http://schemas.microsoft.com/office/drawing/2014/main" id="{575B42BA-7B22-2508-6D00-11E88F08B3CD}"/>
              </a:ext>
            </a:extLst>
          </p:cNvPr>
          <p:cNvSpPr>
            <a:spLocks noGrp="1"/>
          </p:cNvSpPr>
          <p:nvPr>
            <p:ph idx="1"/>
          </p:nvPr>
        </p:nvSpPr>
        <p:spPr/>
        <p:txBody>
          <a:bodyPr/>
          <a:lstStyle/>
          <a:p>
            <a:r>
              <a:rPr lang="en-GB" dirty="0"/>
              <a:t>This time, we only train the polynomial regressor on the training data.</a:t>
            </a:r>
          </a:p>
          <a:p>
            <a:r>
              <a:rPr lang="en-GB" dirty="0"/>
              <a:t>After training, evaluate loss using the test data.</a:t>
            </a:r>
            <a:endParaRPr lang="en-SG" dirty="0"/>
          </a:p>
        </p:txBody>
      </p:sp>
      <p:pic>
        <p:nvPicPr>
          <p:cNvPr id="6" name="Picture 5">
            <a:extLst>
              <a:ext uri="{FF2B5EF4-FFF2-40B4-BE49-F238E27FC236}">
                <a16:creationId xmlns:a16="http://schemas.microsoft.com/office/drawing/2014/main" id="{D04C54FE-61BA-07D6-CABF-9FFABA0598BE}"/>
              </a:ext>
            </a:extLst>
          </p:cNvPr>
          <p:cNvPicPr>
            <a:picLocks noChangeAspect="1"/>
          </p:cNvPicPr>
          <p:nvPr/>
        </p:nvPicPr>
        <p:blipFill>
          <a:blip r:embed="rId2"/>
          <a:stretch>
            <a:fillRect/>
          </a:stretch>
        </p:blipFill>
        <p:spPr>
          <a:xfrm>
            <a:off x="1550117" y="2976549"/>
            <a:ext cx="7839774" cy="3200414"/>
          </a:xfrm>
          <a:prstGeom prst="rect">
            <a:avLst/>
          </a:prstGeom>
        </p:spPr>
      </p:pic>
    </p:spTree>
    <p:extLst>
      <p:ext uri="{BB962C8B-B14F-4D97-AF65-F5344CB8AC3E}">
        <p14:creationId xmlns:p14="http://schemas.microsoft.com/office/powerpoint/2010/main" val="1800440056"/>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4">
            <a:extLst>
              <a:ext uri="{FF2B5EF4-FFF2-40B4-BE49-F238E27FC236}">
                <a16:creationId xmlns:a16="http://schemas.microsoft.com/office/drawing/2014/main" id="{8FD20642-A8D3-C027-3401-01623DA312C6}"/>
              </a:ext>
            </a:extLst>
          </p:cNvPr>
          <p:cNvPicPr>
            <a:picLocks noChangeAspect="1"/>
          </p:cNvPicPr>
          <p:nvPr/>
        </p:nvPicPr>
        <p:blipFill>
          <a:blip r:embed="rId2"/>
          <a:stretch>
            <a:fillRect/>
          </a:stretch>
        </p:blipFill>
        <p:spPr>
          <a:xfrm>
            <a:off x="1299493" y="242443"/>
            <a:ext cx="9593014" cy="6373114"/>
          </a:xfrm>
          <a:prstGeom prst="rect">
            <a:avLst/>
          </a:prstGeom>
        </p:spPr>
      </p:pic>
      <p:sp>
        <p:nvSpPr>
          <p:cNvPr id="6" name="TextBox 5">
            <a:extLst>
              <a:ext uri="{FF2B5EF4-FFF2-40B4-BE49-F238E27FC236}">
                <a16:creationId xmlns:a16="http://schemas.microsoft.com/office/drawing/2014/main" id="{E104F76B-BBAC-9021-8132-85B53E4D630A}"/>
              </a:ext>
            </a:extLst>
          </p:cNvPr>
          <p:cNvSpPr txBox="1"/>
          <p:nvPr/>
        </p:nvSpPr>
        <p:spPr>
          <a:xfrm>
            <a:off x="2724274" y="1529947"/>
            <a:ext cx="3863591" cy="2677656"/>
          </a:xfrm>
          <a:prstGeom prst="rect">
            <a:avLst/>
          </a:prstGeom>
          <a:noFill/>
        </p:spPr>
        <p:txBody>
          <a:bodyPr wrap="square" rtlCol="0">
            <a:spAutoFit/>
          </a:bodyPr>
          <a:lstStyle/>
          <a:p>
            <a:pPr algn="ctr"/>
            <a:r>
              <a:rPr lang="en-GB" sz="2400" b="1" dirty="0">
                <a:solidFill>
                  <a:schemeClr val="accent2"/>
                </a:solidFill>
              </a:rPr>
              <a:t>Red curve is higher degree polynomial regression. While it seems like it should perform better than black, its test loss is higher!</a:t>
            </a:r>
          </a:p>
          <a:p>
            <a:pPr algn="ctr"/>
            <a:endParaRPr lang="en-GB" sz="2400" b="1" dirty="0">
              <a:solidFill>
                <a:schemeClr val="accent2"/>
              </a:solidFill>
            </a:endParaRPr>
          </a:p>
          <a:p>
            <a:pPr algn="ctr"/>
            <a:r>
              <a:rPr lang="en-GB" sz="2400" b="1" dirty="0">
                <a:solidFill>
                  <a:schemeClr val="accent2"/>
                </a:solidFill>
              </a:rPr>
              <a:t>What could be the reason?</a:t>
            </a:r>
            <a:endParaRPr lang="en-SG" sz="2400" b="1" dirty="0">
              <a:solidFill>
                <a:schemeClr val="accent2"/>
              </a:solidFill>
            </a:endParaRPr>
          </a:p>
        </p:txBody>
      </p:sp>
    </p:spTree>
    <p:extLst>
      <p:ext uri="{BB962C8B-B14F-4D97-AF65-F5344CB8AC3E}">
        <p14:creationId xmlns:p14="http://schemas.microsoft.com/office/powerpoint/2010/main" val="2678082427"/>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4">
            <a:extLst>
              <a:ext uri="{FF2B5EF4-FFF2-40B4-BE49-F238E27FC236}">
                <a16:creationId xmlns:a16="http://schemas.microsoft.com/office/drawing/2014/main" id="{8FD20642-A8D3-C027-3401-01623DA312C6}"/>
              </a:ext>
            </a:extLst>
          </p:cNvPr>
          <p:cNvPicPr>
            <a:picLocks noChangeAspect="1"/>
          </p:cNvPicPr>
          <p:nvPr/>
        </p:nvPicPr>
        <p:blipFill>
          <a:blip r:embed="rId2"/>
          <a:stretch>
            <a:fillRect/>
          </a:stretch>
        </p:blipFill>
        <p:spPr>
          <a:xfrm>
            <a:off x="1299493" y="242443"/>
            <a:ext cx="9593014" cy="6373114"/>
          </a:xfrm>
          <a:prstGeom prst="rect">
            <a:avLst/>
          </a:prstGeom>
        </p:spPr>
      </p:pic>
      <p:sp>
        <p:nvSpPr>
          <p:cNvPr id="2" name="Oval 1">
            <a:extLst>
              <a:ext uri="{FF2B5EF4-FFF2-40B4-BE49-F238E27FC236}">
                <a16:creationId xmlns:a16="http://schemas.microsoft.com/office/drawing/2014/main" id="{4FC39202-A859-7A31-93E2-3FB6424BB212}"/>
              </a:ext>
            </a:extLst>
          </p:cNvPr>
          <p:cNvSpPr/>
          <p:nvPr/>
        </p:nvSpPr>
        <p:spPr>
          <a:xfrm>
            <a:off x="2203938" y="5384800"/>
            <a:ext cx="1125415" cy="687753"/>
          </a:xfrm>
          <a:prstGeom prst="ellipse">
            <a:avLst/>
          </a:prstGeom>
          <a:noFill/>
          <a:ln w="38100">
            <a:solidFill>
              <a:schemeClr val="accent2"/>
            </a:solidFill>
            <a:prstDash val="sys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SG"/>
          </a:p>
        </p:txBody>
      </p:sp>
      <p:sp>
        <p:nvSpPr>
          <p:cNvPr id="3" name="TextBox 2">
            <a:extLst>
              <a:ext uri="{FF2B5EF4-FFF2-40B4-BE49-F238E27FC236}">
                <a16:creationId xmlns:a16="http://schemas.microsoft.com/office/drawing/2014/main" id="{3E99D0FB-50CA-AAC3-96C1-58557976DF48}"/>
              </a:ext>
            </a:extLst>
          </p:cNvPr>
          <p:cNvSpPr txBox="1"/>
          <p:nvPr/>
        </p:nvSpPr>
        <p:spPr>
          <a:xfrm>
            <a:off x="7583709" y="4007887"/>
            <a:ext cx="3087315" cy="1938992"/>
          </a:xfrm>
          <a:prstGeom prst="rect">
            <a:avLst/>
          </a:prstGeom>
          <a:noFill/>
        </p:spPr>
        <p:txBody>
          <a:bodyPr wrap="square" rtlCol="0">
            <a:spAutoFit/>
          </a:bodyPr>
          <a:lstStyle/>
          <a:p>
            <a:pPr algn="ctr"/>
            <a:r>
              <a:rPr lang="en-GB" sz="2400" b="1" dirty="0">
                <a:solidFill>
                  <a:schemeClr val="accent2"/>
                </a:solidFill>
              </a:rPr>
              <a:t>Bad fitting on low surface apartments!</a:t>
            </a:r>
          </a:p>
          <a:p>
            <a:pPr algn="ctr"/>
            <a:r>
              <a:rPr lang="en-GB" sz="2400" b="1" dirty="0">
                <a:solidFill>
                  <a:schemeClr val="accent2"/>
                </a:solidFill>
              </a:rPr>
              <a:t>(No apartment with size less than 45sqm in train dataset!)</a:t>
            </a:r>
            <a:endParaRPr lang="en-SG" sz="2400" b="1" dirty="0">
              <a:solidFill>
                <a:schemeClr val="accent2"/>
              </a:solidFill>
            </a:endParaRPr>
          </a:p>
        </p:txBody>
      </p:sp>
      <p:sp>
        <p:nvSpPr>
          <p:cNvPr id="4" name="TextBox 3">
            <a:extLst>
              <a:ext uri="{FF2B5EF4-FFF2-40B4-BE49-F238E27FC236}">
                <a16:creationId xmlns:a16="http://schemas.microsoft.com/office/drawing/2014/main" id="{65EE1994-5E25-58AB-E291-D5D57427A351}"/>
              </a:ext>
            </a:extLst>
          </p:cNvPr>
          <p:cNvSpPr txBox="1"/>
          <p:nvPr/>
        </p:nvSpPr>
        <p:spPr>
          <a:xfrm>
            <a:off x="2724274" y="1529947"/>
            <a:ext cx="3863591" cy="2677656"/>
          </a:xfrm>
          <a:prstGeom prst="rect">
            <a:avLst/>
          </a:prstGeom>
          <a:noFill/>
        </p:spPr>
        <p:txBody>
          <a:bodyPr wrap="square" rtlCol="0">
            <a:spAutoFit/>
          </a:bodyPr>
          <a:lstStyle/>
          <a:p>
            <a:pPr algn="ctr"/>
            <a:r>
              <a:rPr lang="en-GB" sz="2400" b="1" dirty="0">
                <a:solidFill>
                  <a:schemeClr val="accent2"/>
                </a:solidFill>
              </a:rPr>
              <a:t>Red curve is higher degree polynomial regression. While it seems like it should perform better than black, its test loss is higher!</a:t>
            </a:r>
          </a:p>
          <a:p>
            <a:pPr algn="ctr"/>
            <a:endParaRPr lang="en-GB" sz="2400" b="1" dirty="0">
              <a:solidFill>
                <a:schemeClr val="accent2"/>
              </a:solidFill>
            </a:endParaRPr>
          </a:p>
          <a:p>
            <a:pPr algn="ctr"/>
            <a:r>
              <a:rPr lang="en-GB" sz="2400" b="1" dirty="0">
                <a:solidFill>
                  <a:schemeClr val="accent2"/>
                </a:solidFill>
              </a:rPr>
              <a:t>What could be the reason?</a:t>
            </a:r>
            <a:endParaRPr lang="en-SG" sz="2400" b="1" dirty="0">
              <a:solidFill>
                <a:schemeClr val="accent2"/>
              </a:solidFill>
            </a:endParaRPr>
          </a:p>
        </p:txBody>
      </p:sp>
    </p:spTree>
    <p:extLst>
      <p:ext uri="{BB962C8B-B14F-4D97-AF65-F5344CB8AC3E}">
        <p14:creationId xmlns:p14="http://schemas.microsoft.com/office/powerpoint/2010/main" val="2304872241"/>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97DE4B8-2A28-D408-5F50-0BB30F9863E5}"/>
              </a:ext>
            </a:extLst>
          </p:cNvPr>
          <p:cNvSpPr>
            <a:spLocks noGrp="1"/>
          </p:cNvSpPr>
          <p:nvPr>
            <p:ph type="title"/>
          </p:nvPr>
        </p:nvSpPr>
        <p:spPr/>
        <p:txBody>
          <a:bodyPr/>
          <a:lstStyle/>
          <a:p>
            <a:r>
              <a:rPr lang="en-GB" dirty="0"/>
              <a:t>Spotting over/underfitting</a:t>
            </a:r>
            <a:endParaRPr lang="en-SG" dirty="0"/>
          </a:p>
        </p:txBody>
      </p:sp>
      <p:sp>
        <p:nvSpPr>
          <p:cNvPr id="3" name="Content Placeholder 2">
            <a:extLst>
              <a:ext uri="{FF2B5EF4-FFF2-40B4-BE49-F238E27FC236}">
                <a16:creationId xmlns:a16="http://schemas.microsoft.com/office/drawing/2014/main" id="{99FBFDD0-6F31-1CFE-48D3-44BF5F1483C3}"/>
              </a:ext>
            </a:extLst>
          </p:cNvPr>
          <p:cNvSpPr>
            <a:spLocks noGrp="1"/>
          </p:cNvSpPr>
          <p:nvPr>
            <p:ph idx="1"/>
          </p:nvPr>
        </p:nvSpPr>
        <p:spPr/>
        <p:txBody>
          <a:bodyPr/>
          <a:lstStyle/>
          <a:p>
            <a:pPr marL="0" indent="0">
              <a:buNone/>
            </a:pPr>
            <a:r>
              <a:rPr lang="en-GB" dirty="0"/>
              <a:t>A typical way to identify overfitting or underfitting is to look at two loss values: the loss calculated using samples from the training set and the one calculated using samples from the test set.</a:t>
            </a:r>
          </a:p>
          <a:p>
            <a:pPr marL="0" indent="0">
              <a:buNone/>
            </a:pPr>
            <a:r>
              <a:rPr lang="en-GB" b="1" dirty="0"/>
              <a:t>Observation: </a:t>
            </a:r>
            <a:r>
              <a:rPr lang="en-GB" dirty="0"/>
              <a:t>In general, the train loss has a smaller value than the test one, but they should remain on similar orders of magnitude.</a:t>
            </a:r>
          </a:p>
          <a:p>
            <a:pPr marL="0" indent="0">
              <a:buNone/>
            </a:pPr>
            <a:r>
              <a:rPr lang="en-GB" dirty="0"/>
              <a:t>If not, then there might be underfitting or overfitting.</a:t>
            </a:r>
            <a:endParaRPr lang="en-SG" dirty="0"/>
          </a:p>
        </p:txBody>
      </p:sp>
      <p:pic>
        <p:nvPicPr>
          <p:cNvPr id="5" name="Picture 4">
            <a:extLst>
              <a:ext uri="{FF2B5EF4-FFF2-40B4-BE49-F238E27FC236}">
                <a16:creationId xmlns:a16="http://schemas.microsoft.com/office/drawing/2014/main" id="{1AEC2DBF-2104-9554-F981-4D961B61B766}"/>
              </a:ext>
            </a:extLst>
          </p:cNvPr>
          <p:cNvPicPr>
            <a:picLocks noChangeAspect="1"/>
          </p:cNvPicPr>
          <p:nvPr/>
        </p:nvPicPr>
        <p:blipFill>
          <a:blip r:embed="rId2"/>
          <a:stretch>
            <a:fillRect/>
          </a:stretch>
        </p:blipFill>
        <p:spPr>
          <a:xfrm>
            <a:off x="753432" y="4723544"/>
            <a:ext cx="10685135" cy="2134456"/>
          </a:xfrm>
          <a:prstGeom prst="rect">
            <a:avLst/>
          </a:prstGeom>
        </p:spPr>
      </p:pic>
    </p:spTree>
    <p:extLst>
      <p:ext uri="{BB962C8B-B14F-4D97-AF65-F5344CB8AC3E}">
        <p14:creationId xmlns:p14="http://schemas.microsoft.com/office/powerpoint/2010/main" val="2224169310"/>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2A2C63F-D2C2-050A-3DF9-5AE999502EE3}"/>
              </a:ext>
            </a:extLst>
          </p:cNvPr>
          <p:cNvSpPr>
            <a:spLocks noGrp="1"/>
          </p:cNvSpPr>
          <p:nvPr>
            <p:ph type="title"/>
          </p:nvPr>
        </p:nvSpPr>
        <p:spPr/>
        <p:txBody>
          <a:bodyPr/>
          <a:lstStyle/>
          <a:p>
            <a:r>
              <a:rPr lang="en-GB" dirty="0"/>
              <a:t>Generalization vs. Train/Test Distributions</a:t>
            </a:r>
            <a:endParaRPr lang="en-SG" dirty="0"/>
          </a:p>
        </p:txBody>
      </p:sp>
      <mc:AlternateContent xmlns:mc="http://schemas.openxmlformats.org/markup-compatibility/2006" xmlns:a14="http://schemas.microsoft.com/office/drawing/2010/main">
        <mc:Choice Requires="a14">
          <p:sp>
            <p:nvSpPr>
              <p:cNvPr id="3" name="Content Placeholder 2">
                <a:extLst>
                  <a:ext uri="{FF2B5EF4-FFF2-40B4-BE49-F238E27FC236}">
                    <a16:creationId xmlns:a16="http://schemas.microsoft.com/office/drawing/2014/main" id="{5DAEE9F3-874A-926F-2B55-5B076C48EFE9}"/>
                  </a:ext>
                </a:extLst>
              </p:cNvPr>
              <p:cNvSpPr>
                <a:spLocks noGrp="1"/>
              </p:cNvSpPr>
              <p:nvPr>
                <p:ph idx="1"/>
              </p:nvPr>
            </p:nvSpPr>
            <p:spPr>
              <a:xfrm>
                <a:off x="838199" y="1825624"/>
                <a:ext cx="10681677" cy="5032375"/>
              </a:xfrm>
            </p:spPr>
            <p:txBody>
              <a:bodyPr/>
              <a:lstStyle/>
              <a:p>
                <a:pPr marL="0" indent="0">
                  <a:buNone/>
                </a:pPr>
                <a:r>
                  <a:rPr lang="en-GB" b="1" dirty="0"/>
                  <a:t>Definition (</a:t>
                </a:r>
                <a:r>
                  <a:rPr lang="en-GB" b="1" dirty="0">
                    <a:solidFill>
                      <a:srgbClr val="00B050"/>
                    </a:solidFill>
                  </a:rPr>
                  <a:t>The need for train and test distribution similarity</a:t>
                </a:r>
                <a:r>
                  <a:rPr lang="en-GB" b="1" dirty="0"/>
                  <a:t>):</a:t>
                </a:r>
              </a:p>
              <a:p>
                <a:pPr marL="0" indent="0">
                  <a:buNone/>
                </a:pPr>
                <a:r>
                  <a:rPr lang="en-GB" dirty="0"/>
                  <a:t>In order to generalize well, it is important that the </a:t>
                </a:r>
                <a:r>
                  <a:rPr lang="en-GB" b="1" dirty="0"/>
                  <a:t>train and test set are following similar distributions</a:t>
                </a:r>
                <a:r>
                  <a:rPr lang="en-GB" dirty="0"/>
                  <a:t>. Mathematically speaking, we want:</a:t>
                </a:r>
              </a:p>
              <a:p>
                <a:pPr marL="0" indent="0">
                  <a:buNone/>
                </a:pPr>
                <a:endParaRPr lang="en-GB" dirty="0"/>
              </a:p>
              <a:p>
                <a:pPr marL="0" indent="0">
                  <a:buNone/>
                </a:pPr>
                <a14:m>
                  <m:oMathPara xmlns:m="http://schemas.openxmlformats.org/officeDocument/2006/math">
                    <m:oMathParaPr>
                      <m:jc m:val="centerGroup"/>
                    </m:oMathParaPr>
                    <m:oMath xmlns:m="http://schemas.openxmlformats.org/officeDocument/2006/math">
                      <m:sSub>
                        <m:sSubPr>
                          <m:ctrlPr>
                            <a:rPr lang="en-GB" b="0" i="1" smtClean="0">
                              <a:latin typeface="Cambria Math" panose="02040503050406030204" pitchFamily="18" charset="0"/>
                            </a:rPr>
                          </m:ctrlPr>
                        </m:sSubPr>
                        <m:e>
                          <m:r>
                            <a:rPr lang="en-GB" b="0" i="1" smtClean="0">
                              <a:latin typeface="Cambria Math" panose="02040503050406030204" pitchFamily="18" charset="0"/>
                            </a:rPr>
                            <m:t>𝑃</m:t>
                          </m:r>
                        </m:e>
                        <m:sub>
                          <m:r>
                            <a:rPr lang="en-GB" b="0" i="1" smtClean="0">
                              <a:latin typeface="Cambria Math" panose="02040503050406030204" pitchFamily="18" charset="0"/>
                            </a:rPr>
                            <m:t>𝑡𝑟𝑎𝑖𝑛</m:t>
                          </m:r>
                        </m:sub>
                      </m:sSub>
                      <m:r>
                        <a:rPr lang="en-GB" b="0" i="1" smtClean="0">
                          <a:latin typeface="Cambria Math" panose="02040503050406030204" pitchFamily="18" charset="0"/>
                        </a:rPr>
                        <m:t>≈</m:t>
                      </m:r>
                      <m:sSub>
                        <m:sSubPr>
                          <m:ctrlPr>
                            <a:rPr lang="en-GB" b="0" i="1" smtClean="0">
                              <a:latin typeface="Cambria Math" panose="02040503050406030204" pitchFamily="18" charset="0"/>
                            </a:rPr>
                          </m:ctrlPr>
                        </m:sSubPr>
                        <m:e>
                          <m:r>
                            <a:rPr lang="en-GB" b="0" i="1" smtClean="0">
                              <a:latin typeface="Cambria Math" panose="02040503050406030204" pitchFamily="18" charset="0"/>
                            </a:rPr>
                            <m:t>𝑃</m:t>
                          </m:r>
                        </m:e>
                        <m:sub>
                          <m:r>
                            <a:rPr lang="en-GB" b="0" i="1" smtClean="0">
                              <a:latin typeface="Cambria Math" panose="02040503050406030204" pitchFamily="18" charset="0"/>
                            </a:rPr>
                            <m:t>𝑡𝑒𝑠𝑡</m:t>
                          </m:r>
                        </m:sub>
                      </m:sSub>
                    </m:oMath>
                  </m:oMathPara>
                </a14:m>
                <a:endParaRPr lang="en-GB" dirty="0"/>
              </a:p>
              <a:p>
                <a:pPr marL="0" indent="0">
                  <a:buNone/>
                </a:pPr>
                <a:endParaRPr lang="en-GB" dirty="0"/>
              </a:p>
              <a:p>
                <a:pPr marL="0" indent="0">
                  <a:buNone/>
                </a:pPr>
                <a:r>
                  <a:rPr lang="en-GB" dirty="0"/>
                  <a:t>Here, we ended up having a problem, as our training dataset did not contain any apartments with size lower than 45sqm.</a:t>
                </a:r>
              </a:p>
              <a:p>
                <a:pPr marL="0" indent="0">
                  <a:buNone/>
                </a:pPr>
                <a:r>
                  <a:rPr lang="en-GB" b="1" dirty="0"/>
                  <a:t>I mean, you would not train a model on Singaporean apartments and test it by predicting the price of apartments in Kuala Lumpur, right?</a:t>
                </a:r>
                <a:endParaRPr lang="en-SG" b="1" dirty="0"/>
              </a:p>
            </p:txBody>
          </p:sp>
        </mc:Choice>
        <mc:Fallback xmlns="">
          <p:sp>
            <p:nvSpPr>
              <p:cNvPr id="3" name="Content Placeholder 2">
                <a:extLst>
                  <a:ext uri="{FF2B5EF4-FFF2-40B4-BE49-F238E27FC236}">
                    <a16:creationId xmlns:a16="http://schemas.microsoft.com/office/drawing/2014/main" id="{5DAEE9F3-874A-926F-2B55-5B076C48EFE9}"/>
                  </a:ext>
                </a:extLst>
              </p:cNvPr>
              <p:cNvSpPr>
                <a:spLocks noGrp="1" noRot="1" noChangeAspect="1" noMove="1" noResize="1" noEditPoints="1" noAdjustHandles="1" noChangeArrowheads="1" noChangeShapeType="1" noTextEdit="1"/>
              </p:cNvSpPr>
              <p:nvPr>
                <p:ph idx="1"/>
              </p:nvPr>
            </p:nvSpPr>
            <p:spPr>
              <a:xfrm>
                <a:off x="838199" y="1825624"/>
                <a:ext cx="10681677" cy="5032375"/>
              </a:xfrm>
              <a:blipFill>
                <a:blip r:embed="rId2"/>
                <a:stretch>
                  <a:fillRect l="-1141" t="-1937" r="-285"/>
                </a:stretch>
              </a:blipFill>
            </p:spPr>
            <p:txBody>
              <a:bodyPr/>
              <a:lstStyle/>
              <a:p>
                <a:r>
                  <a:rPr lang="en-GB">
                    <a:noFill/>
                  </a:rPr>
                  <a:t> </a:t>
                </a:r>
              </a:p>
            </p:txBody>
          </p:sp>
        </mc:Fallback>
      </mc:AlternateContent>
    </p:spTree>
    <p:extLst>
      <p:ext uri="{BB962C8B-B14F-4D97-AF65-F5344CB8AC3E}">
        <p14:creationId xmlns:p14="http://schemas.microsoft.com/office/powerpoint/2010/main" val="2145508996"/>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4">
            <a:extLst>
              <a:ext uri="{FF2B5EF4-FFF2-40B4-BE49-F238E27FC236}">
                <a16:creationId xmlns:a16="http://schemas.microsoft.com/office/drawing/2014/main" id="{8FD20642-A8D3-C027-3401-01623DA312C6}"/>
              </a:ext>
            </a:extLst>
          </p:cNvPr>
          <p:cNvPicPr>
            <a:picLocks noChangeAspect="1"/>
          </p:cNvPicPr>
          <p:nvPr/>
        </p:nvPicPr>
        <p:blipFill>
          <a:blip r:embed="rId2"/>
          <a:stretch>
            <a:fillRect/>
          </a:stretch>
        </p:blipFill>
        <p:spPr>
          <a:xfrm>
            <a:off x="1299493" y="242443"/>
            <a:ext cx="9593014" cy="6373114"/>
          </a:xfrm>
          <a:prstGeom prst="rect">
            <a:avLst/>
          </a:prstGeom>
        </p:spPr>
      </p:pic>
      <p:sp>
        <p:nvSpPr>
          <p:cNvPr id="6" name="TextBox 5">
            <a:extLst>
              <a:ext uri="{FF2B5EF4-FFF2-40B4-BE49-F238E27FC236}">
                <a16:creationId xmlns:a16="http://schemas.microsoft.com/office/drawing/2014/main" id="{E104F76B-BBAC-9021-8132-85B53E4D630A}"/>
              </a:ext>
            </a:extLst>
          </p:cNvPr>
          <p:cNvSpPr txBox="1"/>
          <p:nvPr/>
        </p:nvSpPr>
        <p:spPr>
          <a:xfrm>
            <a:off x="2802932" y="2011728"/>
            <a:ext cx="3355591" cy="1569660"/>
          </a:xfrm>
          <a:prstGeom prst="rect">
            <a:avLst/>
          </a:prstGeom>
          <a:noFill/>
        </p:spPr>
        <p:txBody>
          <a:bodyPr wrap="square" rtlCol="0">
            <a:spAutoFit/>
          </a:bodyPr>
          <a:lstStyle/>
          <a:p>
            <a:pPr algn="ctr"/>
            <a:r>
              <a:rPr lang="en-GB" sz="2400" b="1" dirty="0">
                <a:solidFill>
                  <a:schemeClr val="accent2"/>
                </a:solidFill>
              </a:rPr>
              <a:t>But then, why did black end up being ok then?</a:t>
            </a:r>
            <a:br>
              <a:rPr lang="en-GB" sz="2400" b="1" dirty="0">
                <a:solidFill>
                  <a:schemeClr val="accent2"/>
                </a:solidFill>
              </a:rPr>
            </a:br>
            <a:r>
              <a:rPr lang="en-GB" sz="2400" b="1" dirty="0">
                <a:solidFill>
                  <a:schemeClr val="accent2"/>
                </a:solidFill>
              </a:rPr>
              <a:t>It had not seen the &lt;45sqm data either!</a:t>
            </a:r>
            <a:endParaRPr lang="en-SG" sz="2400" b="1" dirty="0">
              <a:solidFill>
                <a:schemeClr val="accent2"/>
              </a:solidFill>
            </a:endParaRPr>
          </a:p>
        </p:txBody>
      </p:sp>
      <p:sp>
        <p:nvSpPr>
          <p:cNvPr id="2" name="Oval 1">
            <a:extLst>
              <a:ext uri="{FF2B5EF4-FFF2-40B4-BE49-F238E27FC236}">
                <a16:creationId xmlns:a16="http://schemas.microsoft.com/office/drawing/2014/main" id="{4FC39202-A859-7A31-93E2-3FB6424BB212}"/>
              </a:ext>
            </a:extLst>
          </p:cNvPr>
          <p:cNvSpPr/>
          <p:nvPr/>
        </p:nvSpPr>
        <p:spPr>
          <a:xfrm>
            <a:off x="2203938" y="5384800"/>
            <a:ext cx="1125415" cy="687753"/>
          </a:xfrm>
          <a:prstGeom prst="ellipse">
            <a:avLst/>
          </a:prstGeom>
          <a:noFill/>
          <a:ln w="38100">
            <a:solidFill>
              <a:schemeClr val="accent2"/>
            </a:solidFill>
            <a:prstDash val="sys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SG"/>
          </a:p>
        </p:txBody>
      </p:sp>
    </p:spTree>
    <p:extLst>
      <p:ext uri="{BB962C8B-B14F-4D97-AF65-F5344CB8AC3E}">
        <p14:creationId xmlns:p14="http://schemas.microsoft.com/office/powerpoint/2010/main" val="2411344912"/>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D3B68C2-4970-4C7E-1F52-6140F374C9AD}"/>
              </a:ext>
            </a:extLst>
          </p:cNvPr>
          <p:cNvSpPr>
            <a:spLocks noGrp="1"/>
          </p:cNvSpPr>
          <p:nvPr>
            <p:ph type="title"/>
          </p:nvPr>
        </p:nvSpPr>
        <p:spPr/>
        <p:txBody>
          <a:bodyPr/>
          <a:lstStyle/>
          <a:p>
            <a:r>
              <a:rPr lang="en-GB" dirty="0"/>
              <a:t>Regularization</a:t>
            </a:r>
            <a:endParaRPr lang="en-SG" dirty="0"/>
          </a:p>
        </p:txBody>
      </p:sp>
      <p:sp>
        <p:nvSpPr>
          <p:cNvPr id="3" name="Content Placeholder 2">
            <a:extLst>
              <a:ext uri="{FF2B5EF4-FFF2-40B4-BE49-F238E27FC236}">
                <a16:creationId xmlns:a16="http://schemas.microsoft.com/office/drawing/2014/main" id="{7BDE96C0-465C-7952-04EA-C267AC8BF678}"/>
              </a:ext>
            </a:extLst>
          </p:cNvPr>
          <p:cNvSpPr>
            <a:spLocks noGrp="1"/>
          </p:cNvSpPr>
          <p:nvPr>
            <p:ph sz="half" idx="1"/>
          </p:nvPr>
        </p:nvSpPr>
        <p:spPr/>
        <p:txBody>
          <a:bodyPr>
            <a:normAutofit/>
          </a:bodyPr>
          <a:lstStyle/>
          <a:p>
            <a:pPr marL="0" indent="0">
              <a:buNone/>
            </a:pPr>
            <a:r>
              <a:rPr lang="en-GB" b="1" dirty="0"/>
              <a:t>Definition (</a:t>
            </a:r>
            <a:r>
              <a:rPr lang="en-GB" b="1" dirty="0">
                <a:solidFill>
                  <a:srgbClr val="00B050"/>
                </a:solidFill>
              </a:rPr>
              <a:t>Regularization</a:t>
            </a:r>
            <a:r>
              <a:rPr lang="en-GB" b="1" dirty="0"/>
              <a:t>):</a:t>
            </a:r>
          </a:p>
          <a:p>
            <a:pPr marL="0" indent="0">
              <a:buNone/>
            </a:pPr>
            <a:r>
              <a:rPr lang="en-SG" b="1" dirty="0">
                <a:solidFill>
                  <a:srgbClr val="00B050"/>
                </a:solidFill>
              </a:rPr>
              <a:t>Regularization</a:t>
            </a:r>
            <a:r>
              <a:rPr lang="en-SG" dirty="0"/>
              <a:t> consists of techniques, whose purpose is to help the model to reduce the odds of overfitting.</a:t>
            </a:r>
          </a:p>
          <a:p>
            <a:pPr marL="0" indent="0">
              <a:buNone/>
            </a:pPr>
            <a:r>
              <a:rPr lang="en-SG" dirty="0"/>
              <a:t>It can typically be done by making sure the model is not too complex for the data, but many other approaches exist. </a:t>
            </a:r>
          </a:p>
        </p:txBody>
      </p:sp>
      <p:sp>
        <p:nvSpPr>
          <p:cNvPr id="4" name="Content Placeholder 3">
            <a:extLst>
              <a:ext uri="{FF2B5EF4-FFF2-40B4-BE49-F238E27FC236}">
                <a16:creationId xmlns:a16="http://schemas.microsoft.com/office/drawing/2014/main" id="{5E76589E-870E-419D-CF95-4309EACDB190}"/>
              </a:ext>
            </a:extLst>
          </p:cNvPr>
          <p:cNvSpPr>
            <a:spLocks noGrp="1"/>
          </p:cNvSpPr>
          <p:nvPr>
            <p:ph sz="half" idx="2"/>
          </p:nvPr>
        </p:nvSpPr>
        <p:spPr>
          <a:xfrm>
            <a:off x="6172200" y="1825624"/>
            <a:ext cx="5181600" cy="5032375"/>
          </a:xfrm>
        </p:spPr>
        <p:txBody>
          <a:bodyPr>
            <a:normAutofit/>
          </a:bodyPr>
          <a:lstStyle/>
          <a:p>
            <a:pPr marL="0" indent="0">
              <a:buNone/>
            </a:pPr>
            <a:r>
              <a:rPr lang="en-GB" dirty="0"/>
              <a:t>In general,</a:t>
            </a:r>
          </a:p>
          <a:p>
            <a:r>
              <a:rPr lang="en-GB" b="1" dirty="0"/>
              <a:t>Scale model and dataset complexity: </a:t>
            </a:r>
            <a:r>
              <a:rPr lang="en-GB" dirty="0"/>
              <a:t>the more complex the data is (in terms of features), the more complex the model can/should be.</a:t>
            </a:r>
          </a:p>
          <a:p>
            <a:r>
              <a:rPr lang="en-GB" b="1" dirty="0"/>
              <a:t>Scale model and dataset size: </a:t>
            </a:r>
            <a:r>
              <a:rPr lang="en-GB" dirty="0"/>
              <a:t>the more data you have (in terms of quantity of individual samples in dataset), the more complex the model can be.</a:t>
            </a:r>
            <a:endParaRPr lang="en-SG" dirty="0"/>
          </a:p>
          <a:p>
            <a:endParaRPr lang="en-SG" b="1" dirty="0"/>
          </a:p>
        </p:txBody>
      </p:sp>
    </p:spTree>
    <p:extLst>
      <p:ext uri="{BB962C8B-B14F-4D97-AF65-F5344CB8AC3E}">
        <p14:creationId xmlns:p14="http://schemas.microsoft.com/office/powerpoint/2010/main" val="1377302654"/>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D3B68C2-4970-4C7E-1F52-6140F374C9AD}"/>
              </a:ext>
            </a:extLst>
          </p:cNvPr>
          <p:cNvSpPr>
            <a:spLocks noGrp="1"/>
          </p:cNvSpPr>
          <p:nvPr>
            <p:ph type="title"/>
          </p:nvPr>
        </p:nvSpPr>
        <p:spPr/>
        <p:txBody>
          <a:bodyPr/>
          <a:lstStyle/>
          <a:p>
            <a:r>
              <a:rPr lang="en-GB" dirty="0"/>
              <a:t>Regularization</a:t>
            </a:r>
            <a:endParaRPr lang="en-SG" dirty="0"/>
          </a:p>
        </p:txBody>
      </p:sp>
      <p:sp>
        <p:nvSpPr>
          <p:cNvPr id="3" name="Content Placeholder 2">
            <a:extLst>
              <a:ext uri="{FF2B5EF4-FFF2-40B4-BE49-F238E27FC236}">
                <a16:creationId xmlns:a16="http://schemas.microsoft.com/office/drawing/2014/main" id="{7BDE96C0-465C-7952-04EA-C267AC8BF678}"/>
              </a:ext>
            </a:extLst>
          </p:cNvPr>
          <p:cNvSpPr>
            <a:spLocks noGrp="1"/>
          </p:cNvSpPr>
          <p:nvPr>
            <p:ph sz="half" idx="1"/>
          </p:nvPr>
        </p:nvSpPr>
        <p:spPr/>
        <p:txBody>
          <a:bodyPr/>
          <a:lstStyle/>
          <a:p>
            <a:pPr marL="0" indent="0">
              <a:buNone/>
            </a:pPr>
            <a:r>
              <a:rPr lang="en-GB" b="1" dirty="0"/>
              <a:t>Definition (</a:t>
            </a:r>
            <a:r>
              <a:rPr lang="en-GB" b="1" dirty="0">
                <a:solidFill>
                  <a:srgbClr val="00B050"/>
                </a:solidFill>
              </a:rPr>
              <a:t>Regularization</a:t>
            </a:r>
            <a:r>
              <a:rPr lang="en-GB" b="1" dirty="0"/>
              <a:t>):</a:t>
            </a:r>
          </a:p>
          <a:p>
            <a:pPr marL="0" indent="0">
              <a:buNone/>
            </a:pPr>
            <a:r>
              <a:rPr lang="en-SG" b="1" dirty="0">
                <a:solidFill>
                  <a:srgbClr val="00B050"/>
                </a:solidFill>
              </a:rPr>
              <a:t>Regularization</a:t>
            </a:r>
            <a:r>
              <a:rPr lang="en-SG" dirty="0"/>
              <a:t> consists of techniques, whose purpose is to help the model to reduce the odds of overfitting.</a:t>
            </a:r>
          </a:p>
          <a:p>
            <a:pPr marL="0" indent="0">
              <a:buNone/>
            </a:pPr>
            <a:r>
              <a:rPr lang="en-SG" dirty="0"/>
              <a:t>It can typically be done by making sure the model is not too complex for the data, but many other approaches exist. </a:t>
            </a:r>
          </a:p>
        </p:txBody>
      </p:sp>
      <mc:AlternateContent xmlns:mc="http://schemas.openxmlformats.org/markup-compatibility/2006" xmlns:a14="http://schemas.microsoft.com/office/drawing/2010/main">
        <mc:Choice Requires="a14">
          <p:sp>
            <p:nvSpPr>
              <p:cNvPr id="4" name="Content Placeholder 3">
                <a:extLst>
                  <a:ext uri="{FF2B5EF4-FFF2-40B4-BE49-F238E27FC236}">
                    <a16:creationId xmlns:a16="http://schemas.microsoft.com/office/drawing/2014/main" id="{5E76589E-870E-419D-CF95-4309EACDB190}"/>
                  </a:ext>
                </a:extLst>
              </p:cNvPr>
              <p:cNvSpPr>
                <a:spLocks noGrp="1"/>
              </p:cNvSpPr>
              <p:nvPr>
                <p:ph sz="half" idx="2"/>
              </p:nvPr>
            </p:nvSpPr>
            <p:spPr/>
            <p:txBody>
              <a:bodyPr/>
              <a:lstStyle/>
              <a:p>
                <a:pPr marL="0" indent="0">
                  <a:buNone/>
                </a:pPr>
                <a:r>
                  <a:rPr lang="en-GB" dirty="0"/>
                  <a:t>A common approach to regularize a model consists of </a:t>
                </a:r>
                <a:r>
                  <a:rPr lang="en-GB" b="1" dirty="0"/>
                  <a:t>adding a penalty term to the loss function</a:t>
                </a:r>
                <a:r>
                  <a:rPr lang="en-GB" dirty="0"/>
                  <a:t>.</a:t>
                </a:r>
              </a:p>
              <a:p>
                <a:pPr marL="0" indent="0">
                  <a:buNone/>
                </a:pPr>
                <a:r>
                  <a:rPr lang="en-GB" dirty="0"/>
                  <a:t>The penalty term, also known as a </a:t>
                </a:r>
                <a:r>
                  <a:rPr lang="en-GB" b="1" dirty="0"/>
                  <a:t>regularization</a:t>
                </a:r>
                <a:r>
                  <a:rPr lang="en-GB" dirty="0"/>
                  <a:t> </a:t>
                </a:r>
                <a:r>
                  <a:rPr lang="en-GB" b="1" dirty="0"/>
                  <a:t>term</a:t>
                </a:r>
                <a:r>
                  <a:rPr lang="en-GB" dirty="0"/>
                  <a:t>, discourages the model from assigning too much weight to any one feature, i.e. making a certain parameter </a:t>
                </a:r>
                <a14:m>
                  <m:oMath xmlns:m="http://schemas.openxmlformats.org/officeDocument/2006/math">
                    <m:sSub>
                      <m:sSubPr>
                        <m:ctrlPr>
                          <a:rPr lang="en-GB" b="0" i="1" smtClean="0">
                            <a:latin typeface="Cambria Math" panose="02040503050406030204" pitchFamily="18" charset="0"/>
                          </a:rPr>
                        </m:ctrlPr>
                      </m:sSubPr>
                      <m:e>
                        <m:r>
                          <a:rPr lang="en-GB" b="0" i="1" smtClean="0">
                            <a:latin typeface="Cambria Math" panose="02040503050406030204" pitchFamily="18" charset="0"/>
                          </a:rPr>
                          <m:t>𝑎</m:t>
                        </m:r>
                      </m:e>
                      <m:sub>
                        <m:r>
                          <a:rPr lang="en-GB" b="0" i="1" smtClean="0">
                            <a:latin typeface="Cambria Math" panose="02040503050406030204" pitchFamily="18" charset="0"/>
                          </a:rPr>
                          <m:t>𝑘</m:t>
                        </m:r>
                      </m:sub>
                    </m:sSub>
                  </m:oMath>
                </a14:m>
                <a:r>
                  <a:rPr lang="en-SG" dirty="0"/>
                  <a:t> too prominent (and that is often the reason leading to overfitting).</a:t>
                </a:r>
              </a:p>
            </p:txBody>
          </p:sp>
        </mc:Choice>
        <mc:Fallback xmlns="">
          <p:sp>
            <p:nvSpPr>
              <p:cNvPr id="4" name="Content Placeholder 3">
                <a:extLst>
                  <a:ext uri="{FF2B5EF4-FFF2-40B4-BE49-F238E27FC236}">
                    <a16:creationId xmlns:a16="http://schemas.microsoft.com/office/drawing/2014/main" id="{5E76589E-870E-419D-CF95-4309EACDB190}"/>
                  </a:ext>
                </a:extLst>
              </p:cNvPr>
              <p:cNvSpPr>
                <a:spLocks noGrp="1" noRot="1" noChangeAspect="1" noMove="1" noResize="1" noEditPoints="1" noAdjustHandles="1" noChangeArrowheads="1" noChangeShapeType="1" noTextEdit="1"/>
              </p:cNvSpPr>
              <p:nvPr>
                <p:ph sz="half" idx="2"/>
              </p:nvPr>
            </p:nvSpPr>
            <p:spPr>
              <a:blipFill>
                <a:blip r:embed="rId2"/>
                <a:stretch>
                  <a:fillRect l="-2471" t="-2241" r="-2471"/>
                </a:stretch>
              </a:blipFill>
            </p:spPr>
            <p:txBody>
              <a:bodyPr/>
              <a:lstStyle/>
              <a:p>
                <a:r>
                  <a:rPr lang="en-GB">
                    <a:noFill/>
                  </a:rPr>
                  <a:t> </a:t>
                </a:r>
              </a:p>
            </p:txBody>
          </p:sp>
        </mc:Fallback>
      </mc:AlternateContent>
    </p:spTree>
    <p:extLst>
      <p:ext uri="{BB962C8B-B14F-4D97-AF65-F5344CB8AC3E}">
        <p14:creationId xmlns:p14="http://schemas.microsoft.com/office/powerpoint/2010/main" val="3495317520"/>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D3B68C2-4970-4C7E-1F52-6140F374C9AD}"/>
              </a:ext>
            </a:extLst>
          </p:cNvPr>
          <p:cNvSpPr>
            <a:spLocks noGrp="1"/>
          </p:cNvSpPr>
          <p:nvPr>
            <p:ph type="title"/>
          </p:nvPr>
        </p:nvSpPr>
        <p:spPr/>
        <p:txBody>
          <a:bodyPr/>
          <a:lstStyle/>
          <a:p>
            <a:r>
              <a:rPr lang="en-GB" dirty="0"/>
              <a:t>Regularization</a:t>
            </a:r>
            <a:endParaRPr lang="en-SG" dirty="0"/>
          </a:p>
        </p:txBody>
      </p:sp>
      <mc:AlternateContent xmlns:mc="http://schemas.openxmlformats.org/markup-compatibility/2006" xmlns:a14="http://schemas.microsoft.com/office/drawing/2010/main">
        <mc:Choice Requires="a14">
          <p:sp>
            <p:nvSpPr>
              <p:cNvPr id="3" name="Content Placeholder 2">
                <a:extLst>
                  <a:ext uri="{FF2B5EF4-FFF2-40B4-BE49-F238E27FC236}">
                    <a16:creationId xmlns:a16="http://schemas.microsoft.com/office/drawing/2014/main" id="{7BDE96C0-465C-7952-04EA-C267AC8BF678}"/>
                  </a:ext>
                </a:extLst>
              </p:cNvPr>
              <p:cNvSpPr>
                <a:spLocks noGrp="1"/>
              </p:cNvSpPr>
              <p:nvPr>
                <p:ph sz="half" idx="1"/>
              </p:nvPr>
            </p:nvSpPr>
            <p:spPr>
              <a:xfrm>
                <a:off x="838199" y="1825624"/>
                <a:ext cx="5656385" cy="5032375"/>
              </a:xfrm>
            </p:spPr>
            <p:txBody>
              <a:bodyPr>
                <a:normAutofit fontScale="92500"/>
              </a:bodyPr>
              <a:lstStyle/>
              <a:p>
                <a:pPr marL="0" indent="0">
                  <a:buNone/>
                </a:pPr>
                <a:r>
                  <a:rPr lang="en-GB" b="1" dirty="0"/>
                  <a:t>Definition (</a:t>
                </a:r>
                <a:r>
                  <a:rPr lang="en-GB" b="1" dirty="0">
                    <a:solidFill>
                      <a:srgbClr val="00B050"/>
                    </a:solidFill>
                  </a:rPr>
                  <a:t>Ridge Regression</a:t>
                </a:r>
                <a:r>
                  <a:rPr lang="en-GB" b="1" dirty="0"/>
                  <a:t>):</a:t>
                </a:r>
              </a:p>
              <a:p>
                <a:pPr marL="0" indent="0">
                  <a:buNone/>
                </a:pPr>
                <a:r>
                  <a:rPr lang="en-GB" dirty="0"/>
                  <a:t>The </a:t>
                </a:r>
                <a:r>
                  <a:rPr lang="en-GB" b="1" dirty="0">
                    <a:solidFill>
                      <a:srgbClr val="00B050"/>
                    </a:solidFill>
                  </a:rPr>
                  <a:t>Ridge Regressor </a:t>
                </a:r>
                <a:r>
                  <a:rPr lang="en-GB" b="1" dirty="0"/>
                  <a:t>is a polynomial regressor, </a:t>
                </a:r>
                <a:r>
                  <a:rPr lang="en-GB" dirty="0"/>
                  <a:t>like described earlier. </a:t>
                </a:r>
              </a:p>
              <a:p>
                <a:pPr marL="0" indent="0">
                  <a:buNone/>
                </a:pPr>
                <a:r>
                  <a:rPr lang="en-GB" dirty="0"/>
                  <a:t>Its only difference is that </a:t>
                </a:r>
                <a:r>
                  <a:rPr lang="en-GB" b="1" dirty="0"/>
                  <a:t>the loss function includes an additional regularization term </a:t>
                </a:r>
                <a14:m>
                  <m:oMath xmlns:m="http://schemas.openxmlformats.org/officeDocument/2006/math">
                    <m:r>
                      <a:rPr lang="en-GB" b="1" i="1" dirty="0" smtClean="0">
                        <a:latin typeface="Cambria Math" panose="02040503050406030204" pitchFamily="18" charset="0"/>
                      </a:rPr>
                      <m:t>𝝀</m:t>
                    </m:r>
                    <m:r>
                      <a:rPr lang="en-GB" b="1" i="1" dirty="0" smtClean="0">
                        <a:latin typeface="Cambria Math" panose="02040503050406030204" pitchFamily="18" charset="0"/>
                      </a:rPr>
                      <m:t> </m:t>
                    </m:r>
                    <m:r>
                      <a:rPr lang="en-GB" b="1" i="1" dirty="0" smtClean="0">
                        <a:latin typeface="Cambria Math" panose="02040503050406030204" pitchFamily="18" charset="0"/>
                      </a:rPr>
                      <m:t>𝑹</m:t>
                    </m:r>
                    <m:r>
                      <a:rPr lang="en-GB" b="1" i="1" dirty="0" smtClean="0">
                        <a:latin typeface="Cambria Math" panose="02040503050406030204" pitchFamily="18" charset="0"/>
                      </a:rPr>
                      <m:t>(</m:t>
                    </m:r>
                    <m:r>
                      <a:rPr lang="en-GB" b="1" i="1" dirty="0" smtClean="0">
                        <a:latin typeface="Cambria Math" panose="02040503050406030204" pitchFamily="18" charset="0"/>
                      </a:rPr>
                      <m:t>𝒂</m:t>
                    </m:r>
                    <m:r>
                      <a:rPr lang="en-GB" b="1" i="1" dirty="0" smtClean="0">
                        <a:latin typeface="Cambria Math" panose="02040503050406030204" pitchFamily="18" charset="0"/>
                      </a:rPr>
                      <m:t>, </m:t>
                    </m:r>
                    <m:r>
                      <a:rPr lang="en-GB" b="1" i="1" dirty="0" smtClean="0">
                        <a:latin typeface="Cambria Math" panose="02040503050406030204" pitchFamily="18" charset="0"/>
                      </a:rPr>
                      <m:t>𝒃</m:t>
                    </m:r>
                    <m:r>
                      <a:rPr lang="en-GB" b="1" i="1" dirty="0" smtClean="0">
                        <a:latin typeface="Cambria Math" panose="02040503050406030204" pitchFamily="18" charset="0"/>
                      </a:rPr>
                      <m:t>)</m:t>
                    </m:r>
                  </m:oMath>
                </a14:m>
                <a:r>
                  <a:rPr lang="en-GB" b="1" dirty="0"/>
                  <a:t>.</a:t>
                </a:r>
              </a:p>
              <a:p>
                <a:pPr marL="0" indent="0">
                  <a:buNone/>
                </a:pPr>
                <a:r>
                  <a:rPr lang="en-GB" dirty="0"/>
                  <a:t>This regularization term consists of the </a:t>
                </a:r>
                <a:r>
                  <a:rPr lang="en-GB" b="1" dirty="0"/>
                  <a:t>sum of the squared values for the trainable parameters</a:t>
                </a:r>
                <a:r>
                  <a:rPr lang="en-GB" dirty="0"/>
                  <a:t>, i.e.</a:t>
                </a:r>
              </a:p>
              <a:p>
                <a:pPr marL="0" indent="0">
                  <a:buNone/>
                </a:pPr>
                <a14:m>
                  <m:oMathPara xmlns:m="http://schemas.openxmlformats.org/officeDocument/2006/math">
                    <m:oMathParaPr>
                      <m:jc m:val="centerGroup"/>
                    </m:oMathParaPr>
                    <m:oMath xmlns:m="http://schemas.openxmlformats.org/officeDocument/2006/math">
                      <m:r>
                        <a:rPr lang="en-GB" i="1" dirty="0" smtClean="0">
                          <a:latin typeface="Cambria Math" panose="02040503050406030204" pitchFamily="18" charset="0"/>
                        </a:rPr>
                        <m:t>𝜆</m:t>
                      </m:r>
                      <m:r>
                        <a:rPr lang="en-GB" i="1" dirty="0" smtClean="0">
                          <a:latin typeface="Cambria Math" panose="02040503050406030204" pitchFamily="18" charset="0"/>
                        </a:rPr>
                        <m:t> </m:t>
                      </m:r>
                      <m:r>
                        <a:rPr lang="en-GB" i="1" dirty="0" smtClean="0">
                          <a:latin typeface="Cambria Math" panose="02040503050406030204" pitchFamily="18" charset="0"/>
                        </a:rPr>
                        <m:t>𝑅</m:t>
                      </m:r>
                      <m:d>
                        <m:dPr>
                          <m:ctrlPr>
                            <a:rPr lang="en-GB" i="1" dirty="0" smtClean="0">
                              <a:latin typeface="Cambria Math" panose="02040503050406030204" pitchFamily="18" charset="0"/>
                            </a:rPr>
                          </m:ctrlPr>
                        </m:dPr>
                        <m:e>
                          <m:r>
                            <a:rPr lang="en-GB" i="1" dirty="0" smtClean="0">
                              <a:latin typeface="Cambria Math" panose="02040503050406030204" pitchFamily="18" charset="0"/>
                            </a:rPr>
                            <m:t>𝑎</m:t>
                          </m:r>
                          <m:r>
                            <a:rPr lang="en-GB" i="1" dirty="0" smtClean="0">
                              <a:latin typeface="Cambria Math" panose="02040503050406030204" pitchFamily="18" charset="0"/>
                            </a:rPr>
                            <m:t>, </m:t>
                          </m:r>
                          <m:r>
                            <a:rPr lang="en-GB" i="1" dirty="0" smtClean="0">
                              <a:latin typeface="Cambria Math" panose="02040503050406030204" pitchFamily="18" charset="0"/>
                            </a:rPr>
                            <m:t>𝑏</m:t>
                          </m:r>
                        </m:e>
                      </m:d>
                      <m:r>
                        <a:rPr lang="en-GB" i="1" dirty="0" smtClean="0">
                          <a:latin typeface="Cambria Math" panose="02040503050406030204" pitchFamily="18" charset="0"/>
                        </a:rPr>
                        <m:t>=</m:t>
                      </m:r>
                      <m:f>
                        <m:fPr>
                          <m:ctrlPr>
                            <a:rPr lang="en-GB" i="1" dirty="0" smtClean="0">
                              <a:latin typeface="Cambria Math" panose="02040503050406030204" pitchFamily="18" charset="0"/>
                            </a:rPr>
                          </m:ctrlPr>
                        </m:fPr>
                        <m:num>
                          <m:r>
                            <a:rPr lang="en-GB" i="1" dirty="0" smtClean="0">
                              <a:latin typeface="Cambria Math" panose="02040503050406030204" pitchFamily="18" charset="0"/>
                            </a:rPr>
                            <m:t>𝜆</m:t>
                          </m:r>
                        </m:num>
                        <m:den>
                          <m:r>
                            <a:rPr lang="en-GB" i="1" dirty="0" smtClean="0">
                              <a:latin typeface="Cambria Math" panose="02040503050406030204" pitchFamily="18" charset="0"/>
                            </a:rPr>
                            <m:t>2</m:t>
                          </m:r>
                          <m:r>
                            <a:rPr lang="en-GB" i="1" dirty="0" smtClean="0">
                              <a:latin typeface="Cambria Math" panose="02040503050406030204" pitchFamily="18" charset="0"/>
                            </a:rPr>
                            <m:t>𝑁</m:t>
                          </m:r>
                        </m:den>
                      </m:f>
                      <m:d>
                        <m:dPr>
                          <m:ctrlPr>
                            <a:rPr lang="en-GB" b="0" i="1" dirty="0" smtClean="0">
                              <a:latin typeface="Cambria Math" panose="02040503050406030204" pitchFamily="18" charset="0"/>
                            </a:rPr>
                          </m:ctrlPr>
                        </m:dPr>
                        <m:e>
                          <m:r>
                            <a:rPr lang="en-GB" i="1" dirty="0" smtClean="0">
                              <a:latin typeface="Cambria Math" panose="02040503050406030204" pitchFamily="18" charset="0"/>
                            </a:rPr>
                            <m:t> </m:t>
                          </m:r>
                          <m:nary>
                            <m:naryPr>
                              <m:chr m:val="∑"/>
                              <m:ctrlPr>
                                <a:rPr lang="en-GB" i="1" dirty="0" smtClean="0">
                                  <a:latin typeface="Cambria Math" panose="02040503050406030204" pitchFamily="18" charset="0"/>
                                </a:rPr>
                              </m:ctrlPr>
                            </m:naryPr>
                            <m:sub>
                              <m:r>
                                <a:rPr lang="en-GB" i="1" dirty="0" smtClean="0">
                                  <a:latin typeface="Cambria Math" panose="02040503050406030204" pitchFamily="18" charset="0"/>
                                </a:rPr>
                                <m:t>𝑘</m:t>
                              </m:r>
                            </m:sub>
                            <m:sup>
                              <m:r>
                                <a:rPr lang="en-GB" b="0" i="1" dirty="0" smtClean="0">
                                  <a:latin typeface="Cambria Math" panose="02040503050406030204" pitchFamily="18" charset="0"/>
                                </a:rPr>
                                <m:t>𝑀</m:t>
                              </m:r>
                            </m:sup>
                            <m:e>
                              <m:sSup>
                                <m:sSupPr>
                                  <m:ctrlPr>
                                    <a:rPr lang="en-GB" i="1" dirty="0">
                                      <a:latin typeface="Cambria Math" panose="02040503050406030204" pitchFamily="18" charset="0"/>
                                    </a:rPr>
                                  </m:ctrlPr>
                                </m:sSupPr>
                                <m:e>
                                  <m:r>
                                    <a:rPr lang="en-GB" i="1" dirty="0">
                                      <a:latin typeface="Cambria Math" panose="02040503050406030204" pitchFamily="18" charset="0"/>
                                    </a:rPr>
                                    <m:t> </m:t>
                                  </m:r>
                                  <m:d>
                                    <m:dPr>
                                      <m:ctrlPr>
                                        <a:rPr lang="en-GB" i="1" dirty="0">
                                          <a:latin typeface="Cambria Math" panose="02040503050406030204" pitchFamily="18" charset="0"/>
                                        </a:rPr>
                                      </m:ctrlPr>
                                    </m:dPr>
                                    <m:e>
                                      <m:sSub>
                                        <m:sSubPr>
                                          <m:ctrlPr>
                                            <a:rPr lang="en-GB" i="1" dirty="0" err="1">
                                              <a:latin typeface="Cambria Math" panose="02040503050406030204" pitchFamily="18" charset="0"/>
                                            </a:rPr>
                                          </m:ctrlPr>
                                        </m:sSubPr>
                                        <m:e>
                                          <m:r>
                                            <a:rPr lang="en-GB" i="1" dirty="0" err="1">
                                              <a:latin typeface="Cambria Math" panose="02040503050406030204" pitchFamily="18" charset="0"/>
                                            </a:rPr>
                                            <m:t>𝑎</m:t>
                                          </m:r>
                                        </m:e>
                                        <m:sub>
                                          <m:r>
                                            <a:rPr lang="en-GB" i="1" dirty="0" err="1">
                                              <a:latin typeface="Cambria Math" panose="02040503050406030204" pitchFamily="18" charset="0"/>
                                            </a:rPr>
                                            <m:t>𝑘</m:t>
                                          </m:r>
                                        </m:sub>
                                      </m:sSub>
                                    </m:e>
                                  </m:d>
                                </m:e>
                                <m:sup>
                                  <m:r>
                                    <a:rPr lang="en-GB" i="1" dirty="0">
                                      <a:latin typeface="Cambria Math" panose="02040503050406030204" pitchFamily="18" charset="0"/>
                                    </a:rPr>
                                    <m:t>2</m:t>
                                  </m:r>
                                </m:sup>
                              </m:sSup>
                            </m:e>
                          </m:nary>
                          <m:r>
                            <a:rPr lang="en-GB" i="1" dirty="0" smtClean="0">
                              <a:latin typeface="Cambria Math" panose="02040503050406030204" pitchFamily="18" charset="0"/>
                            </a:rPr>
                            <m:t> + </m:t>
                          </m:r>
                          <m:sSup>
                            <m:sSupPr>
                              <m:ctrlPr>
                                <a:rPr lang="en-GB" i="1" dirty="0" smtClean="0">
                                  <a:latin typeface="Cambria Math" panose="02040503050406030204" pitchFamily="18" charset="0"/>
                                </a:rPr>
                              </m:ctrlPr>
                            </m:sSupPr>
                            <m:e>
                              <m:d>
                                <m:dPr>
                                  <m:ctrlPr>
                                    <a:rPr lang="en-GB" i="1" dirty="0" smtClean="0">
                                      <a:latin typeface="Cambria Math" panose="02040503050406030204" pitchFamily="18" charset="0"/>
                                    </a:rPr>
                                  </m:ctrlPr>
                                </m:dPr>
                                <m:e>
                                  <m:r>
                                    <a:rPr lang="en-GB" i="1" dirty="0" smtClean="0">
                                      <a:latin typeface="Cambria Math" panose="02040503050406030204" pitchFamily="18" charset="0"/>
                                    </a:rPr>
                                    <m:t>𝑏</m:t>
                                  </m:r>
                                </m:e>
                              </m:d>
                            </m:e>
                            <m:sup>
                              <m:r>
                                <a:rPr lang="en-GB" i="1" dirty="0" smtClean="0">
                                  <a:latin typeface="Cambria Math" panose="02040503050406030204" pitchFamily="18" charset="0"/>
                                </a:rPr>
                                <m:t>2</m:t>
                              </m:r>
                            </m:sup>
                          </m:sSup>
                        </m:e>
                      </m:d>
                    </m:oMath>
                  </m:oMathPara>
                </a14:m>
                <a:endParaRPr lang="en-GB" dirty="0"/>
              </a:p>
              <a:p>
                <a:endParaRPr lang="en-GB" dirty="0"/>
              </a:p>
            </p:txBody>
          </p:sp>
        </mc:Choice>
        <mc:Fallback xmlns="">
          <p:sp>
            <p:nvSpPr>
              <p:cNvPr id="3" name="Content Placeholder 2">
                <a:extLst>
                  <a:ext uri="{FF2B5EF4-FFF2-40B4-BE49-F238E27FC236}">
                    <a16:creationId xmlns:a16="http://schemas.microsoft.com/office/drawing/2014/main" id="{7BDE96C0-465C-7952-04EA-C267AC8BF678}"/>
                  </a:ext>
                </a:extLst>
              </p:cNvPr>
              <p:cNvSpPr>
                <a:spLocks noGrp="1" noRot="1" noChangeAspect="1" noMove="1" noResize="1" noEditPoints="1" noAdjustHandles="1" noChangeArrowheads="1" noChangeShapeType="1" noTextEdit="1"/>
              </p:cNvSpPr>
              <p:nvPr>
                <p:ph sz="half" idx="1"/>
              </p:nvPr>
            </p:nvSpPr>
            <p:spPr>
              <a:xfrm>
                <a:off x="838199" y="1825624"/>
                <a:ext cx="5656385" cy="5032375"/>
              </a:xfrm>
              <a:blipFill>
                <a:blip r:embed="rId2"/>
                <a:stretch>
                  <a:fillRect l="-1832" t="-1816"/>
                </a:stretch>
              </a:blipFill>
            </p:spPr>
            <p:txBody>
              <a:bodyPr/>
              <a:lstStyle/>
              <a:p>
                <a:r>
                  <a:rPr lang="en-SG">
                    <a:noFill/>
                  </a:rPr>
                  <a:t> </a:t>
                </a:r>
              </a:p>
            </p:txBody>
          </p:sp>
        </mc:Fallback>
      </mc:AlternateContent>
      <mc:AlternateContent xmlns:mc="http://schemas.openxmlformats.org/markup-compatibility/2006" xmlns:a14="http://schemas.microsoft.com/office/drawing/2010/main">
        <mc:Choice Requires="a14">
          <p:sp>
            <p:nvSpPr>
              <p:cNvPr id="4" name="Content Placeholder 3">
                <a:extLst>
                  <a:ext uri="{FF2B5EF4-FFF2-40B4-BE49-F238E27FC236}">
                    <a16:creationId xmlns:a16="http://schemas.microsoft.com/office/drawing/2014/main" id="{5E76589E-870E-419D-CF95-4309EACDB190}"/>
                  </a:ext>
                </a:extLst>
              </p:cNvPr>
              <p:cNvSpPr>
                <a:spLocks noGrp="1"/>
              </p:cNvSpPr>
              <p:nvPr>
                <p:ph sz="half" idx="2"/>
              </p:nvPr>
            </p:nvSpPr>
            <p:spPr>
              <a:xfrm>
                <a:off x="6781800" y="1830262"/>
                <a:ext cx="5181600" cy="5027737"/>
              </a:xfrm>
            </p:spPr>
            <p:txBody>
              <a:bodyPr>
                <a:normAutofit fontScale="92500"/>
              </a:bodyPr>
              <a:lstStyle/>
              <a:p>
                <a:pPr marL="0" indent="0">
                  <a:buNone/>
                </a:pPr>
                <a:r>
                  <a:rPr lang="en-GB" dirty="0"/>
                  <a:t>Why does it work?</a:t>
                </a:r>
              </a:p>
              <a:p>
                <a:r>
                  <a:rPr lang="en-GB" dirty="0"/>
                  <a:t>This </a:t>
                </a:r>
                <a:r>
                  <a:rPr lang="en-GB" b="1" dirty="0"/>
                  <a:t>regularization</a:t>
                </a:r>
                <a:r>
                  <a:rPr lang="en-GB" dirty="0"/>
                  <a:t> </a:t>
                </a:r>
                <a:r>
                  <a:rPr lang="en-GB" b="1" dirty="0"/>
                  <a:t>term</a:t>
                </a:r>
                <a:r>
                  <a:rPr lang="en-GB" dirty="0"/>
                  <a:t> </a:t>
                </a:r>
                <a:r>
                  <a:rPr lang="en-GB" b="1" dirty="0"/>
                  <a:t>encourages the model to assign low values</a:t>
                </a:r>
                <a:r>
                  <a:rPr lang="en-GB" dirty="0"/>
                  <a:t> </a:t>
                </a:r>
                <a:r>
                  <a:rPr lang="en-GB" b="1" dirty="0"/>
                  <a:t>to the model parameters</a:t>
                </a:r>
                <a:r>
                  <a:rPr lang="en-GB" dirty="0"/>
                  <a:t>.</a:t>
                </a:r>
              </a:p>
              <a:p>
                <a:r>
                  <a:rPr lang="en-GB" dirty="0"/>
                  <a:t>This will, in turn, lead to less overfitting.</a:t>
                </a:r>
              </a:p>
              <a:p>
                <a:r>
                  <a:rPr lang="en-GB" dirty="0"/>
                  <a:t>Indeed, overfitting often occurs when high values are assigned to coefficients for high degrees (i.e. coefficients </a:t>
                </a:r>
                <a14:m>
                  <m:oMath xmlns:m="http://schemas.openxmlformats.org/officeDocument/2006/math">
                    <m:sSub>
                      <m:sSubPr>
                        <m:ctrlPr>
                          <a:rPr lang="en-GB" i="1" dirty="0" smtClean="0">
                            <a:latin typeface="Cambria Math" panose="02040503050406030204" pitchFamily="18" charset="0"/>
                          </a:rPr>
                        </m:ctrlPr>
                      </m:sSubPr>
                      <m:e>
                        <m:r>
                          <a:rPr lang="en-GB" i="1" dirty="0" smtClean="0">
                            <a:latin typeface="Cambria Math" panose="02040503050406030204" pitchFamily="18" charset="0"/>
                          </a:rPr>
                          <m:t>𝑎</m:t>
                        </m:r>
                      </m:e>
                      <m:sub>
                        <m:r>
                          <a:rPr lang="en-GB" i="1" dirty="0" smtClean="0">
                            <a:latin typeface="Cambria Math" panose="02040503050406030204" pitchFamily="18" charset="0"/>
                          </a:rPr>
                          <m:t>𝑘</m:t>
                        </m:r>
                      </m:sub>
                    </m:sSub>
                    <m:r>
                      <a:rPr lang="en-GB" i="1" dirty="0" smtClean="0">
                        <a:latin typeface="Cambria Math" panose="02040503050406030204" pitchFamily="18" charset="0"/>
                      </a:rPr>
                      <m:t> </m:t>
                    </m:r>
                  </m:oMath>
                </a14:m>
                <a:r>
                  <a:rPr lang="en-GB" dirty="0"/>
                  <a:t>with high </a:t>
                </a:r>
                <a14:m>
                  <m:oMath xmlns:m="http://schemas.openxmlformats.org/officeDocument/2006/math">
                    <m:r>
                      <a:rPr lang="en-GB" i="1" dirty="0" smtClean="0">
                        <a:latin typeface="Cambria Math" panose="02040503050406030204" pitchFamily="18" charset="0"/>
                      </a:rPr>
                      <m:t>𝑘</m:t>
                    </m:r>
                  </m:oMath>
                </a14:m>
                <a:r>
                  <a:rPr lang="en-GB" dirty="0"/>
                  <a:t> values).</a:t>
                </a:r>
              </a:p>
            </p:txBody>
          </p:sp>
        </mc:Choice>
        <mc:Fallback xmlns="">
          <p:sp>
            <p:nvSpPr>
              <p:cNvPr id="4" name="Content Placeholder 3">
                <a:extLst>
                  <a:ext uri="{FF2B5EF4-FFF2-40B4-BE49-F238E27FC236}">
                    <a16:creationId xmlns:a16="http://schemas.microsoft.com/office/drawing/2014/main" id="{5E76589E-870E-419D-CF95-4309EACDB190}"/>
                  </a:ext>
                </a:extLst>
              </p:cNvPr>
              <p:cNvSpPr>
                <a:spLocks noGrp="1" noRot="1" noChangeAspect="1" noMove="1" noResize="1" noEditPoints="1" noAdjustHandles="1" noChangeArrowheads="1" noChangeShapeType="1" noTextEdit="1"/>
              </p:cNvSpPr>
              <p:nvPr>
                <p:ph sz="half" idx="2"/>
              </p:nvPr>
            </p:nvSpPr>
            <p:spPr>
              <a:xfrm>
                <a:off x="6781800" y="1830262"/>
                <a:ext cx="5181600" cy="5027737"/>
              </a:xfrm>
              <a:blipFill>
                <a:blip r:embed="rId3"/>
                <a:stretch>
                  <a:fillRect l="-2118" t="-1818"/>
                </a:stretch>
              </a:blipFill>
            </p:spPr>
            <p:txBody>
              <a:bodyPr/>
              <a:lstStyle/>
              <a:p>
                <a:r>
                  <a:rPr lang="en-GB">
                    <a:noFill/>
                  </a:rPr>
                  <a:t> </a:t>
                </a:r>
              </a:p>
            </p:txBody>
          </p:sp>
        </mc:Fallback>
      </mc:AlternateContent>
    </p:spTree>
    <p:extLst>
      <p:ext uri="{BB962C8B-B14F-4D97-AF65-F5344CB8AC3E}">
        <p14:creationId xmlns:p14="http://schemas.microsoft.com/office/powerpoint/2010/main" val="1636732520"/>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xmlns:a14="http://schemas.microsoft.com/office/drawing/2010/main">
        <mc:Choice Requires="a14">
          <p:sp>
            <p:nvSpPr>
              <p:cNvPr id="2" name="Title 1">
                <a:extLst>
                  <a:ext uri="{FF2B5EF4-FFF2-40B4-BE49-F238E27FC236}">
                    <a16:creationId xmlns:a16="http://schemas.microsoft.com/office/drawing/2014/main" id="{1D3B68C2-4970-4C7E-1F52-6140F374C9AD}"/>
                  </a:ext>
                </a:extLst>
              </p:cNvPr>
              <p:cNvSpPr>
                <a:spLocks noGrp="1"/>
              </p:cNvSpPr>
              <p:nvPr>
                <p:ph type="title"/>
              </p:nvPr>
            </p:nvSpPr>
            <p:spPr/>
            <p:txBody>
              <a:bodyPr/>
              <a:lstStyle/>
              <a:p>
                <a:r>
                  <a:rPr lang="en-GB" dirty="0"/>
                  <a:t>Regularization and hyperparameter </a:t>
                </a:r>
                <a14:m>
                  <m:oMath xmlns:m="http://schemas.openxmlformats.org/officeDocument/2006/math">
                    <m:r>
                      <a:rPr lang="en-GB" i="1" dirty="0" smtClean="0">
                        <a:latin typeface="Cambria Math" panose="02040503050406030204" pitchFamily="18" charset="0"/>
                      </a:rPr>
                      <m:t>𝜆</m:t>
                    </m:r>
                  </m:oMath>
                </a14:m>
                <a:endParaRPr lang="en-SG" dirty="0"/>
              </a:p>
            </p:txBody>
          </p:sp>
        </mc:Choice>
        <mc:Fallback xmlns="">
          <p:sp>
            <p:nvSpPr>
              <p:cNvPr id="2" name="Title 1">
                <a:extLst>
                  <a:ext uri="{FF2B5EF4-FFF2-40B4-BE49-F238E27FC236}">
                    <a16:creationId xmlns:a16="http://schemas.microsoft.com/office/drawing/2014/main" id="{1D3B68C2-4970-4C7E-1F52-6140F374C9AD}"/>
                  </a:ext>
                </a:extLst>
              </p:cNvPr>
              <p:cNvSpPr>
                <a:spLocks noGrp="1" noRot="1" noChangeAspect="1" noMove="1" noResize="1" noEditPoints="1" noAdjustHandles="1" noChangeArrowheads="1" noChangeShapeType="1" noTextEdit="1"/>
              </p:cNvSpPr>
              <p:nvPr>
                <p:ph type="title"/>
              </p:nvPr>
            </p:nvSpPr>
            <p:spPr>
              <a:blipFill>
                <a:blip r:embed="rId2"/>
                <a:stretch>
                  <a:fillRect l="-2377"/>
                </a:stretch>
              </a:blipFill>
            </p:spPr>
            <p:txBody>
              <a:bodyPr/>
              <a:lstStyle/>
              <a:p>
                <a:r>
                  <a:rPr lang="en-SG">
                    <a:noFill/>
                  </a:rPr>
                  <a:t> </a:t>
                </a:r>
              </a:p>
            </p:txBody>
          </p:sp>
        </mc:Fallback>
      </mc:AlternateContent>
      <mc:AlternateContent xmlns:mc="http://schemas.openxmlformats.org/markup-compatibility/2006" xmlns:a14="http://schemas.microsoft.com/office/drawing/2010/main">
        <mc:Choice Requires="a14">
          <p:sp>
            <p:nvSpPr>
              <p:cNvPr id="7" name="Content Placeholder 2">
                <a:extLst>
                  <a:ext uri="{FF2B5EF4-FFF2-40B4-BE49-F238E27FC236}">
                    <a16:creationId xmlns:a16="http://schemas.microsoft.com/office/drawing/2014/main" id="{A0D24550-75E0-C992-DC9E-D60538DBA84C}"/>
                  </a:ext>
                </a:extLst>
              </p:cNvPr>
              <p:cNvSpPr>
                <a:spLocks noGrp="1"/>
              </p:cNvSpPr>
              <p:nvPr>
                <p:ph idx="1"/>
              </p:nvPr>
            </p:nvSpPr>
            <p:spPr>
              <a:xfrm>
                <a:off x="838200" y="1825624"/>
                <a:ext cx="10515600" cy="5032375"/>
              </a:xfrm>
            </p:spPr>
            <p:txBody>
              <a:bodyPr>
                <a:normAutofit/>
              </a:bodyPr>
              <a:lstStyle/>
              <a:p>
                <a:pPr marL="0" indent="0">
                  <a:buNone/>
                </a:pPr>
                <a:r>
                  <a:rPr lang="en-GB" dirty="0"/>
                  <a:t>Just like the learning rate </a:t>
                </a:r>
                <a14:m>
                  <m:oMath xmlns:m="http://schemas.openxmlformats.org/officeDocument/2006/math">
                    <m:r>
                      <a:rPr lang="en-GB" b="0" i="1" smtClean="0">
                        <a:latin typeface="Cambria Math" panose="02040503050406030204" pitchFamily="18" charset="0"/>
                      </a:rPr>
                      <m:t>𝛼</m:t>
                    </m:r>
                  </m:oMath>
                </a14:m>
                <a:r>
                  <a:rPr lang="en-GB" dirty="0"/>
                  <a:t> in the GD algorithm, the parameter </a:t>
                </a:r>
                <a14:m>
                  <m:oMath xmlns:m="http://schemas.openxmlformats.org/officeDocument/2006/math">
                    <m:r>
                      <a:rPr lang="en-GB" b="1" i="1" dirty="0" smtClean="0">
                        <a:latin typeface="Cambria Math" panose="02040503050406030204" pitchFamily="18" charset="0"/>
                      </a:rPr>
                      <m:t>𝝀</m:t>
                    </m:r>
                  </m:oMath>
                </a14:m>
                <a:r>
                  <a:rPr lang="en-GB" b="1" dirty="0"/>
                  <a:t> </a:t>
                </a:r>
                <a:r>
                  <a:rPr lang="en-GB" dirty="0"/>
                  <a:t>must be </a:t>
                </a:r>
                <a:r>
                  <a:rPr lang="en-GB" b="1" dirty="0"/>
                  <a:t>manually decided</a:t>
                </a:r>
                <a:r>
                  <a:rPr lang="en-GB" dirty="0"/>
                  <a:t> and is used to weight the importance of the regularization term compared to the MSE.</a:t>
                </a:r>
              </a:p>
              <a:p>
                <a:r>
                  <a:rPr lang="en-GB" dirty="0"/>
                  <a:t>If the </a:t>
                </a:r>
                <a:r>
                  <a:rPr lang="en-GB" b="1" dirty="0"/>
                  <a:t>value for 𝜆 is small</a:t>
                </a:r>
                <a:r>
                  <a:rPr lang="en-GB" dirty="0"/>
                  <a:t>, the loss function will consist </a:t>
                </a:r>
                <a:r>
                  <a:rPr lang="en-GB" b="1" dirty="0"/>
                  <a:t>mostly of MSE </a:t>
                </a:r>
                <a:r>
                  <a:rPr lang="en-GB" dirty="0"/>
                  <a:t>and our model will likely suffer from the same </a:t>
                </a:r>
                <a:r>
                  <a:rPr lang="en-GB" b="1" dirty="0"/>
                  <a:t>overfitting</a:t>
                </a:r>
                <a:r>
                  <a:rPr lang="en-GB" dirty="0"/>
                  <a:t> problems we had earlier. </a:t>
                </a:r>
              </a:p>
              <a:p>
                <a:r>
                  <a:rPr lang="en-GB" dirty="0"/>
                  <a:t>If the </a:t>
                </a:r>
                <a:r>
                  <a:rPr lang="en-GB" b="1" dirty="0"/>
                  <a:t>value of 𝜆 is too high </a:t>
                </a:r>
                <a:r>
                  <a:rPr lang="en-GB" dirty="0"/>
                  <a:t>however, the model will </a:t>
                </a:r>
                <a:r>
                  <a:rPr lang="en-GB" b="1" dirty="0"/>
                  <a:t>mostly ignore the MSE </a:t>
                </a:r>
                <a:r>
                  <a:rPr lang="en-GB" dirty="0"/>
                  <a:t>part of the loss function, which will lead to a model not fitting (or </a:t>
                </a:r>
                <a:r>
                  <a:rPr lang="en-GB" b="1" dirty="0"/>
                  <a:t>underfitting</a:t>
                </a:r>
                <a:r>
                  <a:rPr lang="en-GB" dirty="0"/>
                  <a:t>) the data.</a:t>
                </a:r>
              </a:p>
              <a:p>
                <a:pPr marL="0" indent="0">
                  <a:buNone/>
                </a:pPr>
                <a:r>
                  <a:rPr lang="en-GB" dirty="0"/>
                  <a:t>We say that </a:t>
                </a:r>
                <a14:m>
                  <m:oMath xmlns:m="http://schemas.openxmlformats.org/officeDocument/2006/math">
                    <m:r>
                      <a:rPr lang="en-GB" i="1" dirty="0" smtClean="0">
                        <a:latin typeface="Cambria Math" panose="02040503050406030204" pitchFamily="18" charset="0"/>
                      </a:rPr>
                      <m:t>𝜆</m:t>
                    </m:r>
                  </m:oMath>
                </a14:m>
                <a:r>
                  <a:rPr lang="en-GB" dirty="0"/>
                  <a:t> is a </a:t>
                </a:r>
                <a:r>
                  <a:rPr lang="en-GB" b="1" dirty="0"/>
                  <a:t>hyperparameter</a:t>
                </a:r>
                <a:r>
                  <a:rPr lang="en-GB" dirty="0"/>
                  <a:t>, and choosing the right, balanced value to use is commonly referred to as </a:t>
                </a:r>
                <a:r>
                  <a:rPr lang="en-GB" b="1" dirty="0">
                    <a:solidFill>
                      <a:srgbClr val="7030A0"/>
                    </a:solidFill>
                  </a:rPr>
                  <a:t>hyperparameter tuning</a:t>
                </a:r>
                <a:r>
                  <a:rPr lang="en-GB" dirty="0"/>
                  <a:t>.</a:t>
                </a:r>
              </a:p>
            </p:txBody>
          </p:sp>
        </mc:Choice>
        <mc:Fallback xmlns="">
          <p:sp>
            <p:nvSpPr>
              <p:cNvPr id="7" name="Content Placeholder 2">
                <a:extLst>
                  <a:ext uri="{FF2B5EF4-FFF2-40B4-BE49-F238E27FC236}">
                    <a16:creationId xmlns:a16="http://schemas.microsoft.com/office/drawing/2014/main" id="{A0D24550-75E0-C992-DC9E-D60538DBA84C}"/>
                  </a:ext>
                </a:extLst>
              </p:cNvPr>
              <p:cNvSpPr>
                <a:spLocks noGrp="1" noRot="1" noChangeAspect="1" noMove="1" noResize="1" noEditPoints="1" noAdjustHandles="1" noChangeArrowheads="1" noChangeShapeType="1" noTextEdit="1"/>
              </p:cNvSpPr>
              <p:nvPr>
                <p:ph idx="1"/>
              </p:nvPr>
            </p:nvSpPr>
            <p:spPr>
              <a:xfrm>
                <a:off x="838200" y="1825624"/>
                <a:ext cx="10515600" cy="5032375"/>
              </a:xfrm>
              <a:blipFill>
                <a:blip r:embed="rId3"/>
                <a:stretch>
                  <a:fillRect l="-1217" t="-1937" r="-1913"/>
                </a:stretch>
              </a:blipFill>
            </p:spPr>
            <p:txBody>
              <a:bodyPr/>
              <a:lstStyle/>
              <a:p>
                <a:r>
                  <a:rPr lang="en-GB">
                    <a:noFill/>
                  </a:rPr>
                  <a:t> </a:t>
                </a:r>
              </a:p>
            </p:txBody>
          </p:sp>
        </mc:Fallback>
      </mc:AlternateContent>
    </p:spTree>
    <p:extLst>
      <p:ext uri="{BB962C8B-B14F-4D97-AF65-F5344CB8AC3E}">
        <p14:creationId xmlns:p14="http://schemas.microsoft.com/office/powerpoint/2010/main" val="1757057001"/>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9393E930-864D-AE43-E037-44F4533A0DDB}"/>
              </a:ext>
            </a:extLst>
          </p:cNvPr>
          <p:cNvPicPr>
            <a:picLocks noChangeAspect="1"/>
          </p:cNvPicPr>
          <p:nvPr/>
        </p:nvPicPr>
        <p:blipFill>
          <a:blip r:embed="rId2"/>
          <a:stretch>
            <a:fillRect/>
          </a:stretch>
        </p:blipFill>
        <p:spPr>
          <a:xfrm>
            <a:off x="904150" y="9047"/>
            <a:ext cx="10383699" cy="6839905"/>
          </a:xfrm>
          <a:prstGeom prst="rect">
            <a:avLst/>
          </a:prstGeom>
        </p:spPr>
      </p:pic>
    </p:spTree>
    <p:extLst>
      <p:ext uri="{BB962C8B-B14F-4D97-AF65-F5344CB8AC3E}">
        <p14:creationId xmlns:p14="http://schemas.microsoft.com/office/powerpoint/2010/main" val="710884314"/>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9393E930-864D-AE43-E037-44F4533A0DDB}"/>
              </a:ext>
            </a:extLst>
          </p:cNvPr>
          <p:cNvPicPr>
            <a:picLocks noChangeAspect="1"/>
          </p:cNvPicPr>
          <p:nvPr/>
        </p:nvPicPr>
        <p:blipFill>
          <a:blip r:embed="rId2"/>
          <a:stretch>
            <a:fillRect/>
          </a:stretch>
        </p:blipFill>
        <p:spPr>
          <a:xfrm>
            <a:off x="904150" y="9047"/>
            <a:ext cx="10383699" cy="6839905"/>
          </a:xfrm>
          <a:prstGeom prst="rect">
            <a:avLst/>
          </a:prstGeom>
        </p:spPr>
      </p:pic>
      <mc:AlternateContent xmlns:mc="http://schemas.openxmlformats.org/markup-compatibility/2006" xmlns:a14="http://schemas.microsoft.com/office/drawing/2010/main">
        <mc:Choice Requires="a14">
          <p:sp>
            <p:nvSpPr>
              <p:cNvPr id="2" name="TextBox 1">
                <a:extLst>
                  <a:ext uri="{FF2B5EF4-FFF2-40B4-BE49-F238E27FC236}">
                    <a16:creationId xmlns:a16="http://schemas.microsoft.com/office/drawing/2014/main" id="{7E8004EF-5A8C-5081-A7AD-65F92DB1C7E9}"/>
                  </a:ext>
                </a:extLst>
              </p:cNvPr>
              <p:cNvSpPr txBox="1"/>
              <p:nvPr/>
            </p:nvSpPr>
            <p:spPr>
              <a:xfrm>
                <a:off x="2035277" y="1366684"/>
                <a:ext cx="6076336" cy="3046988"/>
              </a:xfrm>
              <a:prstGeom prst="rect">
                <a:avLst/>
              </a:prstGeom>
              <a:noFill/>
            </p:spPr>
            <p:txBody>
              <a:bodyPr wrap="square" rtlCol="0">
                <a:spAutoFit/>
              </a:bodyPr>
              <a:lstStyle/>
              <a:p>
                <a:r>
                  <a:rPr lang="en-GB" sz="2400" b="1" dirty="0">
                    <a:solidFill>
                      <a:schemeClr val="accent2"/>
                    </a:solidFill>
                  </a:rPr>
                  <a:t>Note: </a:t>
                </a:r>
                <a:r>
                  <a:rPr lang="en-GB" sz="2400" b="1" dirty="0" err="1">
                    <a:solidFill>
                      <a:schemeClr val="accent2"/>
                    </a:solidFill>
                  </a:rPr>
                  <a:t>Sklearn</a:t>
                </a:r>
                <a:r>
                  <a:rPr lang="en-GB" sz="2400" b="1" dirty="0">
                    <a:solidFill>
                      <a:schemeClr val="accent2"/>
                    </a:solidFill>
                  </a:rPr>
                  <a:t> uses </a:t>
                </a:r>
                <a14:m>
                  <m:oMath xmlns:m="http://schemas.openxmlformats.org/officeDocument/2006/math">
                    <m:r>
                      <a:rPr lang="en-GB" sz="2400" b="1" i="1" smtClean="0">
                        <a:solidFill>
                          <a:schemeClr val="accent2"/>
                        </a:solidFill>
                        <a:latin typeface="Cambria Math" panose="02040503050406030204" pitchFamily="18" charset="0"/>
                      </a:rPr>
                      <m:t>𝜶</m:t>
                    </m:r>
                  </m:oMath>
                </a14:m>
                <a:r>
                  <a:rPr lang="en-GB" sz="2400" b="1" dirty="0">
                    <a:solidFill>
                      <a:schemeClr val="accent2"/>
                    </a:solidFill>
                  </a:rPr>
                  <a:t> to designate the regularization parameter. This is somewhat sketchy and could lead to confusion with the learning rate </a:t>
                </a:r>
                <a14:m>
                  <m:oMath xmlns:m="http://schemas.openxmlformats.org/officeDocument/2006/math">
                    <m:r>
                      <a:rPr lang="en-GB" sz="2400" b="1" i="1">
                        <a:solidFill>
                          <a:schemeClr val="accent2"/>
                        </a:solidFill>
                        <a:latin typeface="Cambria Math" panose="02040503050406030204" pitchFamily="18" charset="0"/>
                      </a:rPr>
                      <m:t>𝜶</m:t>
                    </m:r>
                    <m:r>
                      <a:rPr lang="en-GB" sz="2400" b="1" i="1">
                        <a:solidFill>
                          <a:schemeClr val="accent2"/>
                        </a:solidFill>
                        <a:latin typeface="Cambria Math" panose="02040503050406030204" pitchFamily="18" charset="0"/>
                      </a:rPr>
                      <m:t> </m:t>
                    </m:r>
                  </m:oMath>
                </a14:m>
                <a:r>
                  <a:rPr lang="en-GB" sz="2400" b="1" dirty="0">
                    <a:solidFill>
                      <a:schemeClr val="accent2"/>
                    </a:solidFill>
                  </a:rPr>
                  <a:t>of the Gradient Descent used for training. For the sake of clarity, we will stick to the notation used in the </a:t>
                </a:r>
                <a:r>
                  <a:rPr lang="en-GB" sz="2400" b="1" dirty="0" err="1">
                    <a:solidFill>
                      <a:schemeClr val="accent2"/>
                    </a:solidFill>
                  </a:rPr>
                  <a:t>Sklearn</a:t>
                </a:r>
                <a:r>
                  <a:rPr lang="en-GB" sz="2400" b="1" dirty="0">
                    <a:solidFill>
                      <a:schemeClr val="accent2"/>
                    </a:solidFill>
                  </a:rPr>
                  <a:t> functions, but it is important you do not confuse the two!</a:t>
                </a:r>
              </a:p>
            </p:txBody>
          </p:sp>
        </mc:Choice>
        <mc:Fallback xmlns="">
          <p:sp>
            <p:nvSpPr>
              <p:cNvPr id="2" name="TextBox 1">
                <a:extLst>
                  <a:ext uri="{FF2B5EF4-FFF2-40B4-BE49-F238E27FC236}">
                    <a16:creationId xmlns:a16="http://schemas.microsoft.com/office/drawing/2014/main" id="{7E8004EF-5A8C-5081-A7AD-65F92DB1C7E9}"/>
                  </a:ext>
                </a:extLst>
              </p:cNvPr>
              <p:cNvSpPr txBox="1">
                <a:spLocks noRot="1" noChangeAspect="1" noMove="1" noResize="1" noEditPoints="1" noAdjustHandles="1" noChangeArrowheads="1" noChangeShapeType="1" noTextEdit="1"/>
              </p:cNvSpPr>
              <p:nvPr/>
            </p:nvSpPr>
            <p:spPr>
              <a:xfrm>
                <a:off x="2035277" y="1366684"/>
                <a:ext cx="6076336" cy="3046988"/>
              </a:xfrm>
              <a:prstGeom prst="rect">
                <a:avLst/>
              </a:prstGeom>
              <a:blipFill>
                <a:blip r:embed="rId3"/>
                <a:stretch>
                  <a:fillRect l="-1605" t="-1600" b="-3600"/>
                </a:stretch>
              </a:blipFill>
            </p:spPr>
            <p:txBody>
              <a:bodyPr/>
              <a:lstStyle/>
              <a:p>
                <a:r>
                  <a:rPr lang="en-GB">
                    <a:noFill/>
                  </a:rPr>
                  <a:t> </a:t>
                </a:r>
              </a:p>
            </p:txBody>
          </p:sp>
        </mc:Fallback>
      </mc:AlternateContent>
    </p:spTree>
    <p:extLst>
      <p:ext uri="{BB962C8B-B14F-4D97-AF65-F5344CB8AC3E}">
        <p14:creationId xmlns:p14="http://schemas.microsoft.com/office/powerpoint/2010/main" val="1671560902"/>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D3B68C2-4970-4C7E-1F52-6140F374C9AD}"/>
              </a:ext>
            </a:extLst>
          </p:cNvPr>
          <p:cNvSpPr>
            <a:spLocks noGrp="1"/>
          </p:cNvSpPr>
          <p:nvPr>
            <p:ph type="title"/>
          </p:nvPr>
        </p:nvSpPr>
        <p:spPr/>
        <p:txBody>
          <a:bodyPr/>
          <a:lstStyle/>
          <a:p>
            <a:r>
              <a:rPr lang="en-GB" dirty="0"/>
              <a:t>Regularization with other things than L2?</a:t>
            </a:r>
            <a:endParaRPr lang="en-SG" dirty="0"/>
          </a:p>
        </p:txBody>
      </p:sp>
      <p:sp>
        <p:nvSpPr>
          <p:cNvPr id="6" name="Content Placeholder 5">
            <a:extLst>
              <a:ext uri="{FF2B5EF4-FFF2-40B4-BE49-F238E27FC236}">
                <a16:creationId xmlns:a16="http://schemas.microsoft.com/office/drawing/2014/main" id="{035BA096-4E67-B5D5-DBD3-F226777FADC7}"/>
              </a:ext>
            </a:extLst>
          </p:cNvPr>
          <p:cNvSpPr>
            <a:spLocks noGrp="1"/>
          </p:cNvSpPr>
          <p:nvPr>
            <p:ph idx="1"/>
          </p:nvPr>
        </p:nvSpPr>
        <p:spPr>
          <a:xfrm>
            <a:off x="838200" y="1825624"/>
            <a:ext cx="10515600" cy="5032375"/>
          </a:xfrm>
        </p:spPr>
        <p:txBody>
          <a:bodyPr>
            <a:normAutofit/>
          </a:bodyPr>
          <a:lstStyle/>
          <a:p>
            <a:pPr marL="0" indent="0">
              <a:buNone/>
            </a:pPr>
            <a:r>
              <a:rPr lang="en-GB"/>
              <a:t>Also possible </a:t>
            </a:r>
            <a:r>
              <a:rPr lang="en-GB" dirty="0"/>
              <a:t>to use the sum of </a:t>
            </a:r>
            <a:r>
              <a:rPr lang="en-GB" b="1" u="sng" dirty="0"/>
              <a:t>absolute</a:t>
            </a:r>
            <a:r>
              <a:rPr lang="en-GB" dirty="0"/>
              <a:t> values (or what we call a L1 regularization), making a </a:t>
            </a:r>
            <a:r>
              <a:rPr lang="en-GB" b="1" dirty="0">
                <a:solidFill>
                  <a:srgbClr val="00B050"/>
                </a:solidFill>
              </a:rPr>
              <a:t>Lasso Regressor </a:t>
            </a:r>
            <a:r>
              <a:rPr lang="en-GB" dirty="0"/>
              <a:t>instead of a </a:t>
            </a:r>
            <a:r>
              <a:rPr lang="en-GB" b="1" dirty="0">
                <a:solidFill>
                  <a:srgbClr val="00B050"/>
                </a:solidFill>
              </a:rPr>
              <a:t>Ridge Regressor</a:t>
            </a:r>
            <a:r>
              <a:rPr lang="en-GB" dirty="0"/>
              <a:t>.</a:t>
            </a:r>
            <a:endParaRPr lang="en-GB" b="1" dirty="0"/>
          </a:p>
          <a:p>
            <a:pPr marL="0" indent="0">
              <a:buNone/>
            </a:pPr>
            <a:r>
              <a:rPr lang="en-GB" b="1" dirty="0"/>
              <a:t>Why use L1 regularization over L2 regularization?</a:t>
            </a:r>
          </a:p>
          <a:p>
            <a:r>
              <a:rPr lang="en-GB" dirty="0"/>
              <a:t>L1 regularization results in some weights being exactly equal to zero, which can be used for feature selection.</a:t>
            </a:r>
          </a:p>
          <a:p>
            <a:r>
              <a:rPr lang="en-GB" dirty="0"/>
              <a:t>L2 regularization will not produce sparse models, and it will only shrink the weights.</a:t>
            </a:r>
          </a:p>
          <a:p>
            <a:endParaRPr lang="en-GB" dirty="0"/>
          </a:p>
          <a:p>
            <a:pPr marL="0" indent="0">
              <a:buNone/>
            </a:pPr>
            <a:r>
              <a:rPr lang="en-GB" b="1" dirty="0"/>
              <a:t>Why prefer L1 over L2 (and vice versa)? </a:t>
            </a:r>
            <a:r>
              <a:rPr lang="en-GB" dirty="0"/>
              <a:t>Have a look at this, if curious!</a:t>
            </a:r>
            <a:br>
              <a:rPr lang="en-GB" dirty="0"/>
            </a:br>
            <a:r>
              <a:rPr lang="en-GB" dirty="0">
                <a:hlinkClick r:id="rId2"/>
              </a:rPr>
              <a:t>https://medium.com/@fernando.dijkinga/explaining-l1-and-l2-regularization-in-machine-learning-2356ee91c8e3</a:t>
            </a:r>
            <a:r>
              <a:rPr lang="en-GB" dirty="0"/>
              <a:t> </a:t>
            </a:r>
          </a:p>
          <a:p>
            <a:endParaRPr lang="en-SG" dirty="0"/>
          </a:p>
        </p:txBody>
      </p:sp>
    </p:spTree>
    <p:extLst>
      <p:ext uri="{BB962C8B-B14F-4D97-AF65-F5344CB8AC3E}">
        <p14:creationId xmlns:p14="http://schemas.microsoft.com/office/powerpoint/2010/main" val="1659504250"/>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D3B68C2-4970-4C7E-1F52-6140F374C9AD}"/>
              </a:ext>
            </a:extLst>
          </p:cNvPr>
          <p:cNvSpPr>
            <a:spLocks noGrp="1"/>
          </p:cNvSpPr>
          <p:nvPr>
            <p:ph type="title"/>
          </p:nvPr>
        </p:nvSpPr>
        <p:spPr/>
        <p:txBody>
          <a:bodyPr/>
          <a:lstStyle/>
          <a:p>
            <a:r>
              <a:rPr lang="en-GB" dirty="0"/>
              <a:t>Regularization with other things than L2?</a:t>
            </a:r>
            <a:endParaRPr lang="en-SG" dirty="0"/>
          </a:p>
        </p:txBody>
      </p:sp>
      <p:sp>
        <p:nvSpPr>
          <p:cNvPr id="6" name="Content Placeholder 5">
            <a:extLst>
              <a:ext uri="{FF2B5EF4-FFF2-40B4-BE49-F238E27FC236}">
                <a16:creationId xmlns:a16="http://schemas.microsoft.com/office/drawing/2014/main" id="{035BA096-4E67-B5D5-DBD3-F226777FADC7}"/>
              </a:ext>
            </a:extLst>
          </p:cNvPr>
          <p:cNvSpPr>
            <a:spLocks noGrp="1"/>
          </p:cNvSpPr>
          <p:nvPr>
            <p:ph idx="1"/>
          </p:nvPr>
        </p:nvSpPr>
        <p:spPr/>
        <p:txBody>
          <a:bodyPr>
            <a:normAutofit/>
          </a:bodyPr>
          <a:lstStyle/>
          <a:p>
            <a:pPr marL="0" indent="0">
              <a:buNone/>
            </a:pPr>
            <a:r>
              <a:rPr lang="en-GB" dirty="0"/>
              <a:t>Also possible to use the sum of </a:t>
            </a:r>
            <a:r>
              <a:rPr lang="en-GB" b="1" u="sng" dirty="0"/>
              <a:t>absolute</a:t>
            </a:r>
            <a:r>
              <a:rPr lang="en-GB" dirty="0"/>
              <a:t> values </a:t>
            </a:r>
            <a:r>
              <a:rPr lang="en-GB" b="1" u="sng" dirty="0"/>
              <a:t>AND</a:t>
            </a:r>
            <a:r>
              <a:rPr lang="en-GB" dirty="0"/>
              <a:t> </a:t>
            </a:r>
            <a:r>
              <a:rPr lang="en-GB" b="1" u="sng" dirty="0"/>
              <a:t>squared</a:t>
            </a:r>
            <a:r>
              <a:rPr lang="en-GB" dirty="0"/>
              <a:t> values as regularization, i.e. combining the </a:t>
            </a:r>
            <a:r>
              <a:rPr lang="en-GB" b="1" dirty="0">
                <a:solidFill>
                  <a:srgbClr val="7030A0"/>
                </a:solidFill>
              </a:rPr>
              <a:t>L1</a:t>
            </a:r>
            <a:r>
              <a:rPr lang="en-GB" dirty="0"/>
              <a:t> and </a:t>
            </a:r>
            <a:r>
              <a:rPr lang="en-GB" b="1" dirty="0">
                <a:solidFill>
                  <a:srgbClr val="0070C0"/>
                </a:solidFill>
              </a:rPr>
              <a:t>L2</a:t>
            </a:r>
            <a:r>
              <a:rPr lang="en-GB" dirty="0"/>
              <a:t> regularizations together.</a:t>
            </a:r>
          </a:p>
          <a:p>
            <a:pPr marL="0" indent="0">
              <a:buNone/>
            </a:pPr>
            <a:endParaRPr lang="en-GB" dirty="0"/>
          </a:p>
          <a:p>
            <a:pPr marL="0" indent="0">
              <a:buNone/>
            </a:pPr>
            <a:r>
              <a:rPr lang="en-GB" dirty="0"/>
              <a:t>Essentially getting the best of both worlds, and making an </a:t>
            </a:r>
            <a:r>
              <a:rPr lang="en-GB" b="1" dirty="0">
                <a:solidFill>
                  <a:srgbClr val="00B050"/>
                </a:solidFill>
              </a:rPr>
              <a:t>Elastic Regressor </a:t>
            </a:r>
            <a:r>
              <a:rPr lang="en-GB" dirty="0"/>
              <a:t>instead! </a:t>
            </a:r>
            <a:r>
              <a:rPr lang="en-GB"/>
              <a:t>(MSE + L1 Reg + L2 Reg)</a:t>
            </a:r>
            <a:endParaRPr lang="en-GB" dirty="0"/>
          </a:p>
        </p:txBody>
      </p:sp>
      <p:pic>
        <p:nvPicPr>
          <p:cNvPr id="10" name="Picture 9" descr="A picture containing font, text, line, typography&#10;&#10;Description automatically generated">
            <a:extLst>
              <a:ext uri="{FF2B5EF4-FFF2-40B4-BE49-F238E27FC236}">
                <a16:creationId xmlns:a16="http://schemas.microsoft.com/office/drawing/2014/main" id="{71584AF8-DE87-F7E2-AD58-35BCCD7D1F89}"/>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220069" y="4495704"/>
            <a:ext cx="9751862" cy="1564551"/>
          </a:xfrm>
          <a:prstGeom prst="rect">
            <a:avLst/>
          </a:prstGeom>
        </p:spPr>
      </p:pic>
      <p:sp>
        <p:nvSpPr>
          <p:cNvPr id="11" name="TextBox 10">
            <a:extLst>
              <a:ext uri="{FF2B5EF4-FFF2-40B4-BE49-F238E27FC236}">
                <a16:creationId xmlns:a16="http://schemas.microsoft.com/office/drawing/2014/main" id="{ED238786-5737-F9FC-6108-858704D8D20C}"/>
              </a:ext>
            </a:extLst>
          </p:cNvPr>
          <p:cNvSpPr txBox="1"/>
          <p:nvPr/>
        </p:nvSpPr>
        <p:spPr>
          <a:xfrm>
            <a:off x="4434348" y="6060255"/>
            <a:ext cx="1976284" cy="584775"/>
          </a:xfrm>
          <a:prstGeom prst="rect">
            <a:avLst/>
          </a:prstGeom>
          <a:noFill/>
        </p:spPr>
        <p:txBody>
          <a:bodyPr wrap="square" rtlCol="0">
            <a:spAutoFit/>
          </a:bodyPr>
          <a:lstStyle/>
          <a:p>
            <a:pPr algn="ctr"/>
            <a:r>
              <a:rPr lang="en-GB" sz="3200" dirty="0">
                <a:solidFill>
                  <a:srgbClr val="00B050"/>
                </a:solidFill>
              </a:rPr>
              <a:t>MSE</a:t>
            </a:r>
            <a:endParaRPr lang="en-SG" sz="3200" dirty="0">
              <a:solidFill>
                <a:srgbClr val="00B050"/>
              </a:solidFill>
            </a:endParaRPr>
          </a:p>
        </p:txBody>
      </p:sp>
      <p:sp>
        <p:nvSpPr>
          <p:cNvPr id="12" name="TextBox 11">
            <a:extLst>
              <a:ext uri="{FF2B5EF4-FFF2-40B4-BE49-F238E27FC236}">
                <a16:creationId xmlns:a16="http://schemas.microsoft.com/office/drawing/2014/main" id="{61A8A419-4FE0-7FCD-F823-C870DB3A155F}"/>
              </a:ext>
            </a:extLst>
          </p:cNvPr>
          <p:cNvSpPr txBox="1"/>
          <p:nvPr/>
        </p:nvSpPr>
        <p:spPr>
          <a:xfrm>
            <a:off x="7143135" y="6060254"/>
            <a:ext cx="1976284" cy="584775"/>
          </a:xfrm>
          <a:prstGeom prst="rect">
            <a:avLst/>
          </a:prstGeom>
          <a:noFill/>
        </p:spPr>
        <p:txBody>
          <a:bodyPr wrap="square" rtlCol="0">
            <a:spAutoFit/>
          </a:bodyPr>
          <a:lstStyle/>
          <a:p>
            <a:pPr algn="ctr"/>
            <a:r>
              <a:rPr lang="en-GB" sz="3200" dirty="0">
                <a:solidFill>
                  <a:srgbClr val="7030A0"/>
                </a:solidFill>
              </a:rPr>
              <a:t>L1</a:t>
            </a:r>
            <a:endParaRPr lang="en-SG" sz="3200" dirty="0">
              <a:solidFill>
                <a:srgbClr val="7030A0"/>
              </a:solidFill>
            </a:endParaRPr>
          </a:p>
        </p:txBody>
      </p:sp>
      <p:sp>
        <p:nvSpPr>
          <p:cNvPr id="13" name="TextBox 12">
            <a:extLst>
              <a:ext uri="{FF2B5EF4-FFF2-40B4-BE49-F238E27FC236}">
                <a16:creationId xmlns:a16="http://schemas.microsoft.com/office/drawing/2014/main" id="{CF53D115-A062-0A2A-006C-7B83C5ABE2B7}"/>
              </a:ext>
            </a:extLst>
          </p:cNvPr>
          <p:cNvSpPr txBox="1"/>
          <p:nvPr/>
        </p:nvSpPr>
        <p:spPr>
          <a:xfrm>
            <a:off x="9261553" y="6060254"/>
            <a:ext cx="1976284" cy="584775"/>
          </a:xfrm>
          <a:prstGeom prst="rect">
            <a:avLst/>
          </a:prstGeom>
          <a:noFill/>
        </p:spPr>
        <p:txBody>
          <a:bodyPr wrap="square" rtlCol="0">
            <a:spAutoFit/>
          </a:bodyPr>
          <a:lstStyle/>
          <a:p>
            <a:pPr algn="ctr"/>
            <a:r>
              <a:rPr lang="en-GB" sz="3200" dirty="0">
                <a:solidFill>
                  <a:srgbClr val="0070C0"/>
                </a:solidFill>
              </a:rPr>
              <a:t>L2</a:t>
            </a:r>
            <a:endParaRPr lang="en-SG" sz="3200" dirty="0">
              <a:solidFill>
                <a:srgbClr val="0070C0"/>
              </a:solidFill>
            </a:endParaRPr>
          </a:p>
        </p:txBody>
      </p:sp>
    </p:spTree>
    <p:extLst>
      <p:ext uri="{BB962C8B-B14F-4D97-AF65-F5344CB8AC3E}">
        <p14:creationId xmlns:p14="http://schemas.microsoft.com/office/powerpoint/2010/main" val="3607984374"/>
      </p:ext>
    </p:ext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33EBB267-24B9-144C-E4DE-C6D6CD35E719}"/>
              </a:ext>
            </a:extLst>
          </p:cNvPr>
          <p:cNvSpPr>
            <a:spLocks noGrp="1"/>
          </p:cNvSpPr>
          <p:nvPr>
            <p:ph type="title"/>
          </p:nvPr>
        </p:nvSpPr>
        <p:spPr/>
        <p:txBody>
          <a:bodyPr/>
          <a:lstStyle/>
          <a:p>
            <a:r>
              <a:rPr lang="en-GB" dirty="0"/>
              <a:t>Let us call it a break for now</a:t>
            </a:r>
          </a:p>
        </p:txBody>
      </p:sp>
      <p:sp>
        <p:nvSpPr>
          <p:cNvPr id="5" name="Text Placeholder 4">
            <a:extLst>
              <a:ext uri="{FF2B5EF4-FFF2-40B4-BE49-F238E27FC236}">
                <a16:creationId xmlns:a16="http://schemas.microsoft.com/office/drawing/2014/main" id="{8784BD3C-A362-227F-DB67-10CF1E267B66}"/>
              </a:ext>
            </a:extLst>
          </p:cNvPr>
          <p:cNvSpPr>
            <a:spLocks noGrp="1"/>
          </p:cNvSpPr>
          <p:nvPr>
            <p:ph type="body" idx="1"/>
          </p:nvPr>
        </p:nvSpPr>
        <p:spPr/>
        <p:txBody>
          <a:bodyPr/>
          <a:lstStyle/>
          <a:p>
            <a:r>
              <a:rPr lang="en-GB" dirty="0"/>
              <a:t>We will continue on the </a:t>
            </a:r>
            <a:r>
              <a:rPr lang="en-GB"/>
              <a:t>next lecture</a:t>
            </a:r>
            <a:endParaRPr lang="en-GB" i="1" dirty="0"/>
          </a:p>
        </p:txBody>
      </p:sp>
    </p:spTree>
    <p:extLst>
      <p:ext uri="{BB962C8B-B14F-4D97-AF65-F5344CB8AC3E}">
        <p14:creationId xmlns:p14="http://schemas.microsoft.com/office/powerpoint/2010/main" val="4272836236"/>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3052</TotalTime>
  <Words>2586</Words>
  <Application>Microsoft Office PowerPoint</Application>
  <PresentationFormat>Widescreen</PresentationFormat>
  <Paragraphs>191</Paragraphs>
  <Slides>42</Slides>
  <Notes>0</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42</vt:i4>
      </vt:variant>
    </vt:vector>
  </HeadingPairs>
  <TitlesOfParts>
    <vt:vector size="47" baseType="lpstr">
      <vt:lpstr>Arial</vt:lpstr>
      <vt:lpstr>Calibri</vt:lpstr>
      <vt:lpstr>Calibri Light</vt:lpstr>
      <vt:lpstr>Cambria Math</vt:lpstr>
      <vt:lpstr>Office Theme</vt:lpstr>
      <vt:lpstr>Practice of Deep Learning Day 1, Part 2/4</vt:lpstr>
      <vt:lpstr>About this lecture</vt:lpstr>
      <vt:lpstr>Same problem, v2.0</vt:lpstr>
      <vt:lpstr>From Linear to Polynomial Regression</vt:lpstr>
      <vt:lpstr>Extension to Polynomial Regression</vt:lpstr>
      <vt:lpstr>Extension to Polynomial Regression</vt:lpstr>
      <vt:lpstr>From Linear to Polynomial Regression</vt:lpstr>
      <vt:lpstr>From Linear to Polynomial Regression</vt:lpstr>
      <vt:lpstr>PowerPoint Presentation</vt:lpstr>
      <vt:lpstr>Polynomial Regression with sklearn</vt:lpstr>
      <vt:lpstr>Polynomial Regression with sklearn</vt:lpstr>
      <vt:lpstr>PowerPoint Presentation</vt:lpstr>
      <vt:lpstr>PowerPoint Presentation</vt:lpstr>
      <vt:lpstr>PowerPoint Presentation</vt:lpstr>
      <vt:lpstr>Overfitting vs. degree of polynomial</vt:lpstr>
      <vt:lpstr>Overfitting vs. degree of polynomial</vt:lpstr>
      <vt:lpstr>PowerPoint Presentation</vt:lpstr>
      <vt:lpstr>Overfitting vs. degree of polynomial</vt:lpstr>
      <vt:lpstr>Overfitting vs. degree of polynomial</vt:lpstr>
      <vt:lpstr>Underfitting  vs. degree of polynomial</vt:lpstr>
      <vt:lpstr>Underfitting  vs. degree of polynomial</vt:lpstr>
      <vt:lpstr>Generalization</vt:lpstr>
      <vt:lpstr>Generalization vs. Overfitting/Underfitting</vt:lpstr>
      <vt:lpstr>While we are at it…</vt:lpstr>
      <vt:lpstr>Train and test split</vt:lpstr>
      <vt:lpstr>Train and test split</vt:lpstr>
      <vt:lpstr>PowerPoint Presentation</vt:lpstr>
      <vt:lpstr>Training the Polynomial Regressor, again</vt:lpstr>
      <vt:lpstr>PowerPoint Presentation</vt:lpstr>
      <vt:lpstr>PowerPoint Presentation</vt:lpstr>
      <vt:lpstr>Spotting over/underfitting</vt:lpstr>
      <vt:lpstr>Generalization vs. Train/Test Distributions</vt:lpstr>
      <vt:lpstr>PowerPoint Presentation</vt:lpstr>
      <vt:lpstr>Regularization</vt:lpstr>
      <vt:lpstr>Regularization</vt:lpstr>
      <vt:lpstr>Regularization</vt:lpstr>
      <vt:lpstr>Regularization and hyperparameter λ</vt:lpstr>
      <vt:lpstr>PowerPoint Presentation</vt:lpstr>
      <vt:lpstr>PowerPoint Presentation</vt:lpstr>
      <vt:lpstr>Regularization with other things than L2?</vt:lpstr>
      <vt:lpstr>Regularization with other things than L2?</vt:lpstr>
      <vt:lpstr>Let us call it a break for now</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50.039 Theory and Practice of Deep Learning W8 S1-2-3</dc:title>
  <dc:creator>Matthieu DE MARI</dc:creator>
  <cp:lastModifiedBy>Matthieu De Mari</cp:lastModifiedBy>
  <cp:revision>108</cp:revision>
  <dcterms:created xsi:type="dcterms:W3CDTF">2021-03-10T09:35:15Z</dcterms:created>
  <dcterms:modified xsi:type="dcterms:W3CDTF">2026-03-15T14:21:59Z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MSIP_Label_7fde23a9-9a05-4714-826f-57380a17bd9d_Enabled">
    <vt:lpwstr>true</vt:lpwstr>
  </property>
  <property fmtid="{D5CDD505-2E9C-101B-9397-08002B2CF9AE}" pid="3" name="MSIP_Label_7fde23a9-9a05-4714-826f-57380a17bd9d_SetDate">
    <vt:lpwstr>2022-10-19T06:30:58Z</vt:lpwstr>
  </property>
  <property fmtid="{D5CDD505-2E9C-101B-9397-08002B2CF9AE}" pid="4" name="MSIP_Label_7fde23a9-9a05-4714-826f-57380a17bd9d_Method">
    <vt:lpwstr>Privileged</vt:lpwstr>
  </property>
  <property fmtid="{D5CDD505-2E9C-101B-9397-08002B2CF9AE}" pid="5" name="MSIP_Label_7fde23a9-9a05-4714-826f-57380a17bd9d_Name">
    <vt:lpwstr>Restricted</vt:lpwstr>
  </property>
  <property fmtid="{D5CDD505-2E9C-101B-9397-08002B2CF9AE}" pid="6" name="MSIP_Label_7fde23a9-9a05-4714-826f-57380a17bd9d_SiteId">
    <vt:lpwstr>3476b776-e990-4f72-b950-62489831623d</vt:lpwstr>
  </property>
  <property fmtid="{D5CDD505-2E9C-101B-9397-08002B2CF9AE}" pid="7" name="MSIP_Label_7fde23a9-9a05-4714-826f-57380a17bd9d_ActionId">
    <vt:lpwstr>0e56de01-4734-4bb5-8abe-0837a2dfdfb0</vt:lpwstr>
  </property>
  <property fmtid="{D5CDD505-2E9C-101B-9397-08002B2CF9AE}" pid="8" name="MSIP_Label_7fde23a9-9a05-4714-826f-57380a17bd9d_ContentBits">
    <vt:lpwstr>3</vt:lpwstr>
  </property>
  <property fmtid="{D5CDD505-2E9C-101B-9397-08002B2CF9AE}" pid="9" name="ClassificationContentMarkingFooterLocations">
    <vt:lpwstr>Office Theme:10</vt:lpwstr>
  </property>
  <property fmtid="{D5CDD505-2E9C-101B-9397-08002B2CF9AE}" pid="10" name="ClassificationContentMarkingFooterText">
    <vt:lpwstr>Restricted</vt:lpwstr>
  </property>
  <property fmtid="{D5CDD505-2E9C-101B-9397-08002B2CF9AE}" pid="11" name="ClassificationContentMarkingHeaderLocations">
    <vt:lpwstr>Office Theme:9</vt:lpwstr>
  </property>
  <property fmtid="{D5CDD505-2E9C-101B-9397-08002B2CF9AE}" pid="12" name="ClassificationContentMarkingHeaderText">
    <vt:lpwstr>Restricted</vt:lpwstr>
  </property>
</Properties>
</file>