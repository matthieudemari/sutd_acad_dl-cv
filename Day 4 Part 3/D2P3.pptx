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7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9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11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13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15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7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ata6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ata8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ata1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ata12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ata14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ata16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ata18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442" r:id="rId3"/>
    <p:sldId id="443" r:id="rId4"/>
    <p:sldId id="444" r:id="rId5"/>
    <p:sldId id="446" r:id="rId6"/>
    <p:sldId id="447" r:id="rId7"/>
    <p:sldId id="448" r:id="rId8"/>
    <p:sldId id="449" r:id="rId9"/>
    <p:sldId id="450" r:id="rId10"/>
    <p:sldId id="451" r:id="rId11"/>
    <p:sldId id="379" r:id="rId12"/>
    <p:sldId id="671" r:id="rId13"/>
    <p:sldId id="672" r:id="rId14"/>
    <p:sldId id="452" r:id="rId15"/>
    <p:sldId id="392" r:id="rId16"/>
    <p:sldId id="391" r:id="rId17"/>
    <p:sldId id="673" r:id="rId18"/>
    <p:sldId id="581" r:id="rId19"/>
    <p:sldId id="406" r:id="rId20"/>
    <p:sldId id="675" r:id="rId21"/>
    <p:sldId id="676" r:id="rId22"/>
    <p:sldId id="677" r:id="rId23"/>
    <p:sldId id="604" r:id="rId24"/>
    <p:sldId id="669" r:id="rId25"/>
    <p:sldId id="410" r:id="rId26"/>
    <p:sldId id="681" r:id="rId27"/>
    <p:sldId id="617" r:id="rId28"/>
    <p:sldId id="622" r:id="rId29"/>
    <p:sldId id="633" r:id="rId30"/>
    <p:sldId id="624" r:id="rId31"/>
    <p:sldId id="670" r:id="rId32"/>
    <p:sldId id="634" r:id="rId33"/>
    <p:sldId id="635" r:id="rId34"/>
    <p:sldId id="665" r:id="rId35"/>
    <p:sldId id="627" r:id="rId36"/>
    <p:sldId id="628" r:id="rId37"/>
    <p:sldId id="629" r:id="rId38"/>
    <p:sldId id="631" r:id="rId39"/>
    <p:sldId id="674" r:id="rId40"/>
    <p:sldId id="678" r:id="rId41"/>
    <p:sldId id="682" r:id="rId42"/>
    <p:sldId id="683" r:id="rId43"/>
    <p:sldId id="684" r:id="rId44"/>
    <p:sldId id="685" r:id="rId45"/>
    <p:sldId id="686" r:id="rId46"/>
    <p:sldId id="687" r:id="rId47"/>
    <p:sldId id="688" r:id="rId48"/>
    <p:sldId id="689" r:id="rId49"/>
    <p:sldId id="690" r:id="rId50"/>
    <p:sldId id="691" r:id="rId51"/>
    <p:sldId id="692" r:id="rId52"/>
    <p:sldId id="693" r:id="rId53"/>
    <p:sldId id="694" r:id="rId54"/>
    <p:sldId id="55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256"/>
          </p14:sldIdLst>
        </p14:section>
        <p14:section name="I.1. Introduction" id="{2FD0FF71-F5FC-4EB7-B2CB-B31E4CBECD79}">
          <p14:sldIdLst>
            <p14:sldId id="442"/>
          </p14:sldIdLst>
        </p14:section>
        <p14:section name="II.1. The video datatype" id="{B97B6D94-8D70-4919-AF23-CB5298F1CD98}">
          <p14:sldIdLst>
            <p14:sldId id="443"/>
            <p14:sldId id="444"/>
            <p14:sldId id="446"/>
          </p14:sldIdLst>
        </p14:section>
        <p14:section name="II.2. The need for video processing" id="{5DBC16CC-45B0-4758-8CD3-196E52823E51}">
          <p14:sldIdLst>
            <p14:sldId id="447"/>
            <p14:sldId id="448"/>
          </p14:sldIdLst>
        </p14:section>
        <p14:section name="III.1. A Simple video baseline" id="{115AF214-C925-436B-98CD-42C22FF2A8E1}">
          <p14:sldIdLst>
            <p14:sldId id="449"/>
            <p14:sldId id="450"/>
            <p14:sldId id="451"/>
          </p14:sldIdLst>
        </p14:section>
        <p14:section name="III.2. Interlude - Time Series" id="{A237B55B-13BE-476C-A0B9-61DABA4E5F70}">
          <p14:sldIdLst>
            <p14:sldId id="379"/>
            <p14:sldId id="671"/>
            <p14:sldId id="672"/>
          </p14:sldIdLst>
        </p14:section>
        <p14:section name="III.3. Interlude - The need for RRNs" id="{B91C1C6E-72EF-41B9-A1F6-0C7B74ADA4D9}">
          <p14:sldIdLst>
            <p14:sldId id="452"/>
            <p14:sldId id="392"/>
            <p14:sldId id="391"/>
            <p14:sldId id="673"/>
            <p14:sldId id="581"/>
            <p14:sldId id="406"/>
            <p14:sldId id="675"/>
            <p14:sldId id="676"/>
            <p14:sldId id="677"/>
          </p14:sldIdLst>
        </p14:section>
        <p14:section name="III.4. Interlude - LSTM" id="{4E1F384E-9C4E-4CA4-8A0E-08F3C4C8B6B3}">
          <p14:sldIdLst>
            <p14:sldId id="604"/>
            <p14:sldId id="669"/>
            <p14:sldId id="410"/>
            <p14:sldId id="681"/>
            <p14:sldId id="617"/>
            <p14:sldId id="622"/>
            <p14:sldId id="633"/>
            <p14:sldId id="624"/>
            <p14:sldId id="670"/>
            <p14:sldId id="634"/>
            <p14:sldId id="635"/>
            <p14:sldId id="665"/>
            <p14:sldId id="627"/>
            <p14:sldId id="628"/>
            <p14:sldId id="629"/>
            <p14:sldId id="631"/>
          </p14:sldIdLst>
        </p14:section>
        <p14:section name="III.5. Implementation of a simple RNN for images" id="{14FB24BD-912B-4469-9BC8-01A3765C6A7C}">
          <p14:sldIdLst>
            <p14:sldId id="674"/>
            <p14:sldId id="678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5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addSection delSection modSection">
      <pc:chgData name="Matthieu De Mari" userId="dfb708c9-d8dc-439f-9a3b-c772bf4a311c" providerId="ADAL" clId="{81E9B007-0C2C-493E-9B93-55A62C9C1F12}" dt="2026-04-17T06:51:41.040" v="6775" actId="20577"/>
      <pc:docMkLst>
        <pc:docMk/>
      </pc:docMkLst>
      <pc:sldChg chg="modSp add mod modClrScheme chgLayout">
        <pc:chgData name="Matthieu De Mari" userId="dfb708c9-d8dc-439f-9a3b-c772bf4a311c" providerId="ADAL" clId="{81E9B007-0C2C-493E-9B93-55A62C9C1F12}" dt="2026-04-17T06:50:34.689" v="6647" actId="20577"/>
        <pc:sldMkLst>
          <pc:docMk/>
          <pc:sldMk cId="2607555637" sldId="686"/>
        </pc:sldMkLst>
        <pc:spChg chg="mod ord">
          <ac:chgData name="Matthieu De Mari" userId="dfb708c9-d8dc-439f-9a3b-c772bf4a311c" providerId="ADAL" clId="{81E9B007-0C2C-493E-9B93-55A62C9C1F12}" dt="2026-04-17T06:50:34.689" v="6647" actId="20577"/>
          <ac:spMkLst>
            <pc:docMk/>
            <pc:sldMk cId="2607555637" sldId="686"/>
            <ac:spMk id="3" creationId="{2D108765-E01B-B8A4-4DF6-64F4056CEC5B}"/>
          </ac:spMkLst>
        </pc:spChg>
      </pc:sldChg>
      <pc:sldChg chg="modSp mod">
        <pc:chgData name="Matthieu De Mari" userId="dfb708c9-d8dc-439f-9a3b-c772bf4a311c" providerId="ADAL" clId="{81E9B007-0C2C-493E-9B93-55A62C9C1F12}" dt="2026-04-17T06:51:41.040" v="6775" actId="20577"/>
        <pc:sldMkLst>
          <pc:docMk/>
          <pc:sldMk cId="264852092" sldId="689"/>
        </pc:sldMkLst>
        <pc:spChg chg="mod">
          <ac:chgData name="Matthieu De Mari" userId="dfb708c9-d8dc-439f-9a3b-c772bf4a311c" providerId="ADAL" clId="{81E9B007-0C2C-493E-9B93-55A62C9C1F12}" dt="2026-04-17T06:51:41.040" v="6775" actId="20577"/>
          <ac:spMkLst>
            <pc:docMk/>
            <pc:sldMk cId="264852092" sldId="689"/>
            <ac:spMk id="3" creationId="{6CBC9C5B-989A-2B3C-DF5D-5EB47C9A56BC}"/>
          </ac:spMkLst>
        </pc:spChg>
        <pc:picChg chg="mod">
          <ac:chgData name="Matthieu De Mari" userId="dfb708c9-d8dc-439f-9a3b-c772bf4a311c" providerId="ADAL" clId="{81E9B007-0C2C-493E-9B93-55A62C9C1F12}" dt="2026-04-17T06:51:31.175" v="6762" actId="14100"/>
          <ac:picMkLst>
            <pc:docMk/>
            <pc:sldMk cId="264852092" sldId="689"/>
            <ac:picMk id="5" creationId="{4F8A6D20-789B-6DD7-CE19-7533776A8567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0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image" Target="../media/image13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0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0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image" Target="../media/image13.pn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0.pn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0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image" Target="../media/image13.png"/></Relationships>
</file>

<file path=ppt/diagrams/_rels/data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t="-862"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2841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 dirty="0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 dirty="0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t="-862"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2841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</a:t>
              </a:r>
              <a:r>
                <a:rPr lang="en-GB" i="0" dirty="0">
                  <a:latin typeface="Cambria Math" panose="02040503050406030204" pitchFamily="18" charset="0"/>
                </a:rPr>
                <a:t>1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_2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1705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t="-862"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716E82D-168C-4A36-AA25-38CD8066DBF4}">
          <dgm:prSet phldrT="[Text]" phldr="0"/>
          <dgm:spPr/>
          <dgm:t>
            <a:bodyPr/>
            <a:lstStyle/>
            <a:p>
              <a:r>
                <a:rPr lang="en-GB" dirty="0"/>
                <a:t>Frame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14:m>
                <m:oMath xmlns:m="http://schemas.openxmlformats.org/officeDocument/2006/math">
                  <m:sSub>
                    <m:sSubPr>
                      <m:ctrlPr>
                        <a:rPr lang="fr-FR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𝐼</m:t>
                      </m:r>
                    </m:e>
                    <m: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sub>
                  </m:sSub>
                </m:oMath>
              </a14:m>
              <a:endParaRPr lang="en-GB" dirty="0"/>
            </a:p>
          </dgm:t>
        </dgm:pt>
      </mc:Choice>
      <mc:Fallback xmlns="">
        <dgm:pt modelId="{0C8D6073-A4F0-4562-A44D-6F58FD353664}">
          <dgm:prSet phldrT="[Text]" phldr="0"/>
          <dgm:spPr/>
          <dgm:t>
            <a:bodyPr/>
            <a:lstStyle/>
            <a:p>
              <a:r>
                <a:rPr lang="en-GB" dirty="0"/>
                <a:t>Output for </a:t>
              </a:r>
              <a:r>
                <a:rPr lang="en-GB" i="0" dirty="0">
                  <a:latin typeface="Cambria Math" panose="02040503050406030204" pitchFamily="18" charset="0"/>
                </a:rPr>
                <a:t>𝐼</a:t>
              </a:r>
              <a:r>
                <a:rPr lang="fr-FR" b="0" i="0" dirty="0">
                  <a:latin typeface="Cambria Math" panose="02040503050406030204" pitchFamily="18" charset="0"/>
                </a:rPr>
                <a:t>_𝑇</a:t>
              </a:r>
              <a:endParaRPr lang="en-GB" dirty="0"/>
            </a:p>
          </dgm:t>
        </dgm:pt>
      </mc:Fallback>
    </mc:AlternateConten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88CFB1C-EEF9-4F70-B52F-CCBE8594C9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16E82D-168C-4A36-AA25-38CD8066DBF4}">
      <dgm:prSet phldrT="[Text]" phldr="0"/>
      <dgm:spPr>
        <a:blipFill>
          <a:blip xmlns:r="http://schemas.openxmlformats.org/officeDocument/2006/relationships" r:embed="rId1"/>
          <a:stretch>
            <a:fillRect l="-2841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C0829E6-F914-452B-AAA9-CA2C361BE2DA}" type="parTrans" cxnId="{FDA9C980-5C2B-40BA-9374-F14FB8855972}">
      <dgm:prSet/>
      <dgm:spPr/>
      <dgm:t>
        <a:bodyPr/>
        <a:lstStyle/>
        <a:p>
          <a:endParaRPr lang="en-GB"/>
        </a:p>
      </dgm:t>
    </dgm:pt>
    <dgm:pt modelId="{706F099A-AAE3-420B-BE6E-C0A76FC6FE57}" type="sibTrans" cxnId="{FDA9C980-5C2B-40BA-9374-F14FB8855972}">
      <dgm:prSet/>
      <dgm:spPr/>
      <dgm:t>
        <a:bodyPr/>
        <a:lstStyle/>
        <a:p>
          <a:endParaRPr lang="en-GB"/>
        </a:p>
      </dgm:t>
    </dgm:pt>
    <dgm:pt modelId="{609E8E01-C4F6-4F5B-82EC-CFE0E8549CEC}">
      <dgm:prSet phldrT="[Text]" phldr="0"/>
      <dgm:spPr/>
      <dgm:t>
        <a:bodyPr/>
        <a:lstStyle/>
        <a:p>
          <a:r>
            <a:rPr lang="en-GB" dirty="0"/>
            <a:t>CNN</a:t>
          </a:r>
        </a:p>
      </dgm:t>
    </dgm:pt>
    <dgm:pt modelId="{9D8D255E-94F4-4D1E-A3D7-07697EF6A8A0}" type="parTrans" cxnId="{1845D728-B724-4704-8CF9-32A7A0D92D35}">
      <dgm:prSet/>
      <dgm:spPr/>
      <dgm:t>
        <a:bodyPr/>
        <a:lstStyle/>
        <a:p>
          <a:endParaRPr lang="en-GB"/>
        </a:p>
      </dgm:t>
    </dgm:pt>
    <dgm:pt modelId="{B7384C74-27D7-4FB5-905D-BBDC26492510}" type="sibTrans" cxnId="{1845D728-B724-4704-8CF9-32A7A0D92D35}">
      <dgm:prSet/>
      <dgm:spPr/>
      <dgm:t>
        <a:bodyPr/>
        <a:lstStyle/>
        <a:p>
          <a:endParaRPr lang="en-GB"/>
        </a:p>
      </dgm:t>
    </dgm:pt>
    <dgm:pt modelId="{0C8D6073-A4F0-4562-A44D-6F58FD353664}">
      <dgm:prSet phldrT="[Text]" phldr="0"/>
      <dgm:spPr>
        <a:blipFill>
          <a:blip xmlns:r="http://schemas.openxmlformats.org/officeDocument/2006/relationships" r:embed="rId2"/>
          <a:stretch>
            <a:fillRect b="-5172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F7CC048-D276-4BE1-AA36-2F539B5509FA}" type="parTrans" cxnId="{C95519B5-4FE7-46FF-8F5E-49B7918C35C1}">
      <dgm:prSet/>
      <dgm:spPr/>
      <dgm:t>
        <a:bodyPr/>
        <a:lstStyle/>
        <a:p>
          <a:endParaRPr lang="en-GB"/>
        </a:p>
      </dgm:t>
    </dgm:pt>
    <dgm:pt modelId="{CDFB2946-EC4E-433B-86AE-4D1B1ECE73DA}" type="sibTrans" cxnId="{C95519B5-4FE7-46FF-8F5E-49B7918C35C1}">
      <dgm:prSet/>
      <dgm:spPr/>
      <dgm:t>
        <a:bodyPr/>
        <a:lstStyle/>
        <a:p>
          <a:endParaRPr lang="en-GB"/>
        </a:p>
      </dgm:t>
    </dgm:pt>
    <dgm:pt modelId="{0B534684-BEED-4A02-9F35-378D7AD0EFBD}" type="pres">
      <dgm:prSet presAssocID="{A88CFB1C-EEF9-4F70-B52F-CCBE8594C920}" presName="Name0" presStyleCnt="0">
        <dgm:presLayoutVars>
          <dgm:dir/>
          <dgm:resizeHandles val="exact"/>
        </dgm:presLayoutVars>
      </dgm:prSet>
      <dgm:spPr/>
    </dgm:pt>
    <dgm:pt modelId="{CD57BBCC-7ACB-4C56-ABC0-5D1EA1B60FC6}" type="pres">
      <dgm:prSet presAssocID="{0716E82D-168C-4A36-AA25-38CD8066DBF4}" presName="node" presStyleLbl="node1" presStyleIdx="0" presStyleCnt="3">
        <dgm:presLayoutVars>
          <dgm:bulletEnabled val="1"/>
        </dgm:presLayoutVars>
      </dgm:prSet>
      <dgm:spPr/>
    </dgm:pt>
    <dgm:pt modelId="{98F3933E-3285-480A-B116-CAC6A3538B1E}" type="pres">
      <dgm:prSet presAssocID="{706F099A-AAE3-420B-BE6E-C0A76FC6FE57}" presName="sibTrans" presStyleLbl="sibTrans2D1" presStyleIdx="0" presStyleCnt="2"/>
      <dgm:spPr/>
    </dgm:pt>
    <dgm:pt modelId="{24CC2AFA-CB6A-4C12-88A1-3940B936E65D}" type="pres">
      <dgm:prSet presAssocID="{706F099A-AAE3-420B-BE6E-C0A76FC6FE57}" presName="connectorText" presStyleLbl="sibTrans2D1" presStyleIdx="0" presStyleCnt="2"/>
      <dgm:spPr/>
    </dgm:pt>
    <dgm:pt modelId="{F20772FE-0E4B-4974-8369-7DA9472F550E}" type="pres">
      <dgm:prSet presAssocID="{609E8E01-C4F6-4F5B-82EC-CFE0E8549CEC}" presName="node" presStyleLbl="node1" presStyleIdx="1" presStyleCnt="3">
        <dgm:presLayoutVars>
          <dgm:bulletEnabled val="1"/>
        </dgm:presLayoutVars>
      </dgm:prSet>
      <dgm:spPr/>
    </dgm:pt>
    <dgm:pt modelId="{8DC1D9C5-B952-438C-A75B-1FEF11D78F7F}" type="pres">
      <dgm:prSet presAssocID="{B7384C74-27D7-4FB5-905D-BBDC26492510}" presName="sibTrans" presStyleLbl="sibTrans2D1" presStyleIdx="1" presStyleCnt="2"/>
      <dgm:spPr/>
    </dgm:pt>
    <dgm:pt modelId="{C715D193-800F-4BFE-BE74-722DFA20C8FC}" type="pres">
      <dgm:prSet presAssocID="{B7384C74-27D7-4FB5-905D-BBDC26492510}" presName="connectorText" presStyleLbl="sibTrans2D1" presStyleIdx="1" presStyleCnt="2"/>
      <dgm:spPr/>
    </dgm:pt>
    <dgm:pt modelId="{9B79F1E4-994A-492C-8B18-EB47AD0933D9}" type="pres">
      <dgm:prSet presAssocID="{0C8D6073-A4F0-4562-A44D-6F58FD353664}" presName="node" presStyleLbl="node1" presStyleIdx="2" presStyleCnt="3">
        <dgm:presLayoutVars>
          <dgm:bulletEnabled val="1"/>
        </dgm:presLayoutVars>
      </dgm:prSet>
      <dgm:spPr/>
    </dgm:pt>
  </dgm:ptLst>
  <dgm:cxnLst>
    <dgm:cxn modelId="{8AB5B51C-81FC-4992-81B9-CDBC2DE956F2}" type="presOf" srcId="{B7384C74-27D7-4FB5-905D-BBDC26492510}" destId="{C715D193-800F-4BFE-BE74-722DFA20C8FC}" srcOrd="1" destOrd="0" presId="urn:microsoft.com/office/officeart/2005/8/layout/process1"/>
    <dgm:cxn modelId="{8A38821E-4634-41BB-9762-9BF190C35DFC}" type="presOf" srcId="{609E8E01-C4F6-4F5B-82EC-CFE0E8549CEC}" destId="{F20772FE-0E4B-4974-8369-7DA9472F550E}" srcOrd="0" destOrd="0" presId="urn:microsoft.com/office/officeart/2005/8/layout/process1"/>
    <dgm:cxn modelId="{1845D728-B724-4704-8CF9-32A7A0D92D35}" srcId="{A88CFB1C-EEF9-4F70-B52F-CCBE8594C920}" destId="{609E8E01-C4F6-4F5B-82EC-CFE0E8549CEC}" srcOrd="1" destOrd="0" parTransId="{9D8D255E-94F4-4D1E-A3D7-07697EF6A8A0}" sibTransId="{B7384C74-27D7-4FB5-905D-BBDC26492510}"/>
    <dgm:cxn modelId="{75129A6F-4CD3-44EE-B05C-0DCE172E2632}" type="presOf" srcId="{0716E82D-168C-4A36-AA25-38CD8066DBF4}" destId="{CD57BBCC-7ACB-4C56-ABC0-5D1EA1B60FC6}" srcOrd="0" destOrd="0" presId="urn:microsoft.com/office/officeart/2005/8/layout/process1"/>
    <dgm:cxn modelId="{FDA9C980-5C2B-40BA-9374-F14FB8855972}" srcId="{A88CFB1C-EEF9-4F70-B52F-CCBE8594C920}" destId="{0716E82D-168C-4A36-AA25-38CD8066DBF4}" srcOrd="0" destOrd="0" parTransId="{CC0829E6-F914-452B-AAA9-CA2C361BE2DA}" sibTransId="{706F099A-AAE3-420B-BE6E-C0A76FC6FE57}"/>
    <dgm:cxn modelId="{C95519B5-4FE7-46FF-8F5E-49B7918C35C1}" srcId="{A88CFB1C-EEF9-4F70-B52F-CCBE8594C920}" destId="{0C8D6073-A4F0-4562-A44D-6F58FD353664}" srcOrd="2" destOrd="0" parTransId="{7F7CC048-D276-4BE1-AA36-2F539B5509FA}" sibTransId="{CDFB2946-EC4E-433B-86AE-4D1B1ECE73DA}"/>
    <dgm:cxn modelId="{A38BD5B5-DC62-426C-AE81-4799E1142E4A}" type="presOf" srcId="{706F099A-AAE3-420B-BE6E-C0A76FC6FE57}" destId="{24CC2AFA-CB6A-4C12-88A1-3940B936E65D}" srcOrd="1" destOrd="0" presId="urn:microsoft.com/office/officeart/2005/8/layout/process1"/>
    <dgm:cxn modelId="{A7101DE2-5706-4CED-9A42-9BC4AB316C03}" type="presOf" srcId="{A88CFB1C-EEF9-4F70-B52F-CCBE8594C920}" destId="{0B534684-BEED-4A02-9F35-378D7AD0EFBD}" srcOrd="0" destOrd="0" presId="urn:microsoft.com/office/officeart/2005/8/layout/process1"/>
    <dgm:cxn modelId="{54EAD7F1-8588-495E-84DC-6899B0E5A1BA}" type="presOf" srcId="{B7384C74-27D7-4FB5-905D-BBDC26492510}" destId="{8DC1D9C5-B952-438C-A75B-1FEF11D78F7F}" srcOrd="0" destOrd="0" presId="urn:microsoft.com/office/officeart/2005/8/layout/process1"/>
    <dgm:cxn modelId="{61469EFE-DFE4-4F7C-B73E-14CD9F7DDF43}" type="presOf" srcId="{706F099A-AAE3-420B-BE6E-C0A76FC6FE57}" destId="{98F3933E-3285-480A-B116-CAC6A3538B1E}" srcOrd="0" destOrd="0" presId="urn:microsoft.com/office/officeart/2005/8/layout/process1"/>
    <dgm:cxn modelId="{EDA6A2FE-07AC-4505-B8A3-12CE638F94E9}" type="presOf" srcId="{0C8D6073-A4F0-4562-A44D-6F58FD353664}" destId="{9B79F1E4-994A-492C-8B18-EB47AD0933D9}" srcOrd="0" destOrd="0" presId="urn:microsoft.com/office/officeart/2005/8/layout/process1"/>
    <dgm:cxn modelId="{CA338378-45A9-43CA-B085-2B420A818977}" type="presParOf" srcId="{0B534684-BEED-4A02-9F35-378D7AD0EFBD}" destId="{CD57BBCC-7ACB-4C56-ABC0-5D1EA1B60FC6}" srcOrd="0" destOrd="0" presId="urn:microsoft.com/office/officeart/2005/8/layout/process1"/>
    <dgm:cxn modelId="{DC2E9E58-5BEA-4005-A035-43C119D437E7}" type="presParOf" srcId="{0B534684-BEED-4A02-9F35-378D7AD0EFBD}" destId="{98F3933E-3285-480A-B116-CAC6A3538B1E}" srcOrd="1" destOrd="0" presId="urn:microsoft.com/office/officeart/2005/8/layout/process1"/>
    <dgm:cxn modelId="{73169A1B-E2EC-4EF6-B8A5-FDA232FE99EE}" type="presParOf" srcId="{98F3933E-3285-480A-B116-CAC6A3538B1E}" destId="{24CC2AFA-CB6A-4C12-88A1-3940B936E65D}" srcOrd="0" destOrd="0" presId="urn:microsoft.com/office/officeart/2005/8/layout/process1"/>
    <dgm:cxn modelId="{E58DFA28-9CF9-4D47-A34F-D9FC2AE52CB2}" type="presParOf" srcId="{0B534684-BEED-4A02-9F35-378D7AD0EFBD}" destId="{F20772FE-0E4B-4974-8369-7DA9472F550E}" srcOrd="2" destOrd="0" presId="urn:microsoft.com/office/officeart/2005/8/layout/process1"/>
    <dgm:cxn modelId="{55D41956-CA4C-4042-9456-4B95FD12A3DE}" type="presParOf" srcId="{0B534684-BEED-4A02-9F35-378D7AD0EFBD}" destId="{8DC1D9C5-B952-438C-A75B-1FEF11D78F7F}" srcOrd="3" destOrd="0" presId="urn:microsoft.com/office/officeart/2005/8/layout/process1"/>
    <dgm:cxn modelId="{DF2270B7-8819-4F35-A12D-03A086C83836}" type="presParOf" srcId="{8DC1D9C5-B952-438C-A75B-1FEF11D78F7F}" destId="{C715D193-800F-4BFE-BE74-722DFA20C8FC}" srcOrd="0" destOrd="0" presId="urn:microsoft.com/office/officeart/2005/8/layout/process1"/>
    <dgm:cxn modelId="{936B0C70-4A6E-4ADF-BB8D-2872092BCD79}" type="presParOf" srcId="{0B534684-BEED-4A02-9F35-378D7AD0EFBD}" destId="{9B79F1E4-994A-492C-8B18-EB47AD0933D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1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BBCC-7ACB-4C56-ABC0-5D1EA1B60FC6}">
      <dsp:nvSpPr>
        <dsp:cNvPr id="0" name=""/>
        <dsp:cNvSpPr/>
      </dsp:nvSpPr>
      <dsp:spPr>
        <a:xfrm>
          <a:off x="3539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Frame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3876" y="335942"/>
        <a:ext cx="1017387" cy="653678"/>
      </dsp:txXfrm>
    </dsp:sp>
    <dsp:sp modelId="{98F3933E-3285-480A-B116-CAC6A3538B1E}">
      <dsp:nvSpPr>
        <dsp:cNvPr id="0" name=""/>
        <dsp:cNvSpPr/>
      </dsp:nvSpPr>
      <dsp:spPr>
        <a:xfrm>
          <a:off x="1167407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167407" y="584061"/>
        <a:ext cx="157016" cy="157439"/>
      </dsp:txXfrm>
    </dsp:sp>
    <dsp:sp modelId="{F20772FE-0E4B-4974-8369-7DA9472F550E}">
      <dsp:nvSpPr>
        <dsp:cNvPr id="0" name=""/>
        <dsp:cNvSpPr/>
      </dsp:nvSpPr>
      <dsp:spPr>
        <a:xfrm>
          <a:off x="1484825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1505162" y="335942"/>
        <a:ext cx="1017387" cy="653678"/>
      </dsp:txXfrm>
    </dsp:sp>
    <dsp:sp modelId="{8DC1D9C5-B952-438C-A75B-1FEF11D78F7F}">
      <dsp:nvSpPr>
        <dsp:cNvPr id="0" name=""/>
        <dsp:cNvSpPr/>
      </dsp:nvSpPr>
      <dsp:spPr>
        <a:xfrm>
          <a:off x="2648693" y="531581"/>
          <a:ext cx="224309" cy="262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648693" y="584061"/>
        <a:ext cx="157016" cy="157439"/>
      </dsp:txXfrm>
    </dsp:sp>
    <dsp:sp modelId="{9B79F1E4-994A-492C-8B18-EB47AD0933D9}">
      <dsp:nvSpPr>
        <dsp:cNvPr id="0" name=""/>
        <dsp:cNvSpPr/>
      </dsp:nvSpPr>
      <dsp:spPr>
        <a:xfrm>
          <a:off x="2966111" y="315605"/>
          <a:ext cx="1058061" cy="694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Output for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FR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i="1" kern="1200" dirty="0" smtClean="0">
                      <a:latin typeface="Cambria Math" panose="02040503050406030204" pitchFamily="18" charset="0"/>
                    </a:rPr>
                    <m:t>𝐼</m:t>
                  </m:r>
                </m:e>
                <m:sub>
                  <m:r>
                    <a:rPr lang="fr-FR" sz="1800" b="0" i="1" kern="1200" dirty="0" smtClean="0">
                      <a:latin typeface="Cambria Math" panose="02040503050406030204" pitchFamily="18" charset="0"/>
                    </a:rPr>
                    <m:t>𝑇</m:t>
                  </m:r>
                </m:sub>
              </m:sSub>
            </m:oMath>
          </a14:m>
          <a:endParaRPr lang="en-GB" sz="1800" kern="1200" dirty="0"/>
        </a:p>
      </dsp:txBody>
      <dsp:txXfrm>
        <a:off x="2986448" y="335942"/>
        <a:ext cx="1017387" cy="653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17/04/2026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B6CC6-B2CF-7656-2E2D-C880FCE9C5D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42FF7-EED7-9C39-0BD4-36748C1365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20.xml"/><Relationship Id="rId26" Type="http://schemas.openxmlformats.org/officeDocument/2006/relationships/diagramLayout" Target="../diagrams/layout30.xml"/><Relationship Id="rId3" Type="http://schemas.openxmlformats.org/officeDocument/2006/relationships/diagramLayout" Target="../diagrams/layout1.xml"/><Relationship Id="rId21" Type="http://schemas.openxmlformats.org/officeDocument/2006/relationships/diagramLayout" Target="../diagrams/layout3.xml"/><Relationship Id="rId7" Type="http://schemas.openxmlformats.org/officeDocument/2006/relationships/diagramData" Target="../diagrams/data2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20.xml"/><Relationship Id="rId25" Type="http://schemas.openxmlformats.org/officeDocument/2006/relationships/diagramData" Target="../diagrams/data6.xml"/><Relationship Id="rId2" Type="http://schemas.openxmlformats.org/officeDocument/2006/relationships/diagramData" Target="../diagrams/data1.xml"/><Relationship Id="rId16" Type="http://schemas.openxmlformats.org/officeDocument/2006/relationships/diagramData" Target="../diagrams/data4.xml"/><Relationship Id="rId20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diagramData" Target="../diagrams/data3.xml"/><Relationship Id="rId24" Type="http://schemas.microsoft.com/office/2007/relationships/diagramDrawing" Target="../diagrams/drawing3.xml"/><Relationship Id="rId5" Type="http://schemas.openxmlformats.org/officeDocument/2006/relationships/diagramColors" Target="../diagrams/colors1.xml"/><Relationship Id="rId15" Type="http://schemas.microsoft.com/office/2007/relationships/diagramDrawing" Target="../diagrams/drawing2.xml"/><Relationship Id="rId23" Type="http://schemas.openxmlformats.org/officeDocument/2006/relationships/diagramColors" Target="../diagrams/colors3.xml"/><Relationship Id="rId28" Type="http://schemas.openxmlformats.org/officeDocument/2006/relationships/diagramColors" Target="../diagrams/colors30.xml"/><Relationship Id="rId10" Type="http://schemas.openxmlformats.org/officeDocument/2006/relationships/diagramColors" Target="../diagrams/colors10.xml"/><Relationship Id="rId19" Type="http://schemas.openxmlformats.org/officeDocument/2006/relationships/diagramColors" Target="../diagrams/colors2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Relationship Id="rId14" Type="http://schemas.openxmlformats.org/officeDocument/2006/relationships/diagramColors" Target="../diagrams/colors2.xml"/><Relationship Id="rId22" Type="http://schemas.openxmlformats.org/officeDocument/2006/relationships/diagramQuickStyle" Target="../diagrams/quickStyle3.xml"/><Relationship Id="rId27" Type="http://schemas.openxmlformats.org/officeDocument/2006/relationships/diagramQuickStyle" Target="../diagrams/quickStyle3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13" Type="http://schemas.openxmlformats.org/officeDocument/2006/relationships/diagramQuickStyle" Target="../diagrams/quickStyle5.xml"/><Relationship Id="rId18" Type="http://schemas.openxmlformats.org/officeDocument/2006/relationships/diagramQuickStyle" Target="../diagrams/quickStyle50.xml"/><Relationship Id="rId26" Type="http://schemas.openxmlformats.org/officeDocument/2006/relationships/diagramLayout" Target="../diagrams/layout60.xml"/><Relationship Id="rId3" Type="http://schemas.openxmlformats.org/officeDocument/2006/relationships/diagramLayout" Target="../diagrams/layout4.xml"/><Relationship Id="rId21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12" Type="http://schemas.openxmlformats.org/officeDocument/2006/relationships/diagramLayout" Target="../diagrams/layout5.xml"/><Relationship Id="rId17" Type="http://schemas.openxmlformats.org/officeDocument/2006/relationships/diagramLayout" Target="../diagrams/layout50.xml"/><Relationship Id="rId25" Type="http://schemas.openxmlformats.org/officeDocument/2006/relationships/diagramData" Target="../diagrams/data12.xml"/><Relationship Id="rId2" Type="http://schemas.openxmlformats.org/officeDocument/2006/relationships/diagramData" Target="../diagrams/data7.xml"/><Relationship Id="rId16" Type="http://schemas.openxmlformats.org/officeDocument/2006/relationships/diagramData" Target="../diagrams/data10.xml"/><Relationship Id="rId20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openxmlformats.org/officeDocument/2006/relationships/diagramData" Target="../diagrams/data9.xml"/><Relationship Id="rId24" Type="http://schemas.microsoft.com/office/2007/relationships/diagramDrawing" Target="../diagrams/drawing6.xml"/><Relationship Id="rId5" Type="http://schemas.openxmlformats.org/officeDocument/2006/relationships/diagramColors" Target="../diagrams/colors4.xml"/><Relationship Id="rId15" Type="http://schemas.microsoft.com/office/2007/relationships/diagramDrawing" Target="../diagrams/drawing5.xml"/><Relationship Id="rId23" Type="http://schemas.openxmlformats.org/officeDocument/2006/relationships/diagramColors" Target="../diagrams/colors6.xml"/><Relationship Id="rId28" Type="http://schemas.openxmlformats.org/officeDocument/2006/relationships/diagramColors" Target="../diagrams/colors60.xml"/><Relationship Id="rId10" Type="http://schemas.openxmlformats.org/officeDocument/2006/relationships/diagramColors" Target="../diagrams/colors40.xml"/><Relationship Id="rId19" Type="http://schemas.openxmlformats.org/officeDocument/2006/relationships/diagramColors" Target="../diagrams/colors50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0.xml"/><Relationship Id="rId14" Type="http://schemas.openxmlformats.org/officeDocument/2006/relationships/diagramColors" Target="../diagrams/colors5.xml"/><Relationship Id="rId22" Type="http://schemas.openxmlformats.org/officeDocument/2006/relationships/diagramQuickStyle" Target="../diagrams/quickStyle6.xml"/><Relationship Id="rId27" Type="http://schemas.openxmlformats.org/officeDocument/2006/relationships/diagramQuickStyle" Target="../diagrams/quickStyle6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0.xml"/><Relationship Id="rId13" Type="http://schemas.openxmlformats.org/officeDocument/2006/relationships/diagramQuickStyle" Target="../diagrams/quickStyle8.xml"/><Relationship Id="rId18" Type="http://schemas.openxmlformats.org/officeDocument/2006/relationships/diagramQuickStyle" Target="../diagrams/quickStyle80.xml"/><Relationship Id="rId26" Type="http://schemas.openxmlformats.org/officeDocument/2006/relationships/diagramLayout" Target="../diagrams/layout90.xml"/><Relationship Id="rId3" Type="http://schemas.openxmlformats.org/officeDocument/2006/relationships/diagramLayout" Target="../diagrams/layout7.xml"/><Relationship Id="rId21" Type="http://schemas.openxmlformats.org/officeDocument/2006/relationships/diagramLayout" Target="../diagrams/layout9.xml"/><Relationship Id="rId7" Type="http://schemas.openxmlformats.org/officeDocument/2006/relationships/diagramData" Target="../diagrams/data14.xml"/><Relationship Id="rId12" Type="http://schemas.openxmlformats.org/officeDocument/2006/relationships/diagramLayout" Target="../diagrams/layout8.xml"/><Relationship Id="rId17" Type="http://schemas.openxmlformats.org/officeDocument/2006/relationships/diagramLayout" Target="../diagrams/layout80.xml"/><Relationship Id="rId25" Type="http://schemas.openxmlformats.org/officeDocument/2006/relationships/diagramData" Target="../diagrams/data18.xml"/><Relationship Id="rId2" Type="http://schemas.openxmlformats.org/officeDocument/2006/relationships/diagramData" Target="../diagrams/data13.xml"/><Relationship Id="rId16" Type="http://schemas.openxmlformats.org/officeDocument/2006/relationships/diagramData" Target="../diagrams/data16.xml"/><Relationship Id="rId20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openxmlformats.org/officeDocument/2006/relationships/diagramData" Target="../diagrams/data15.xml"/><Relationship Id="rId24" Type="http://schemas.microsoft.com/office/2007/relationships/diagramDrawing" Target="../diagrams/drawing9.xml"/><Relationship Id="rId5" Type="http://schemas.openxmlformats.org/officeDocument/2006/relationships/diagramColors" Target="../diagrams/colors7.xml"/><Relationship Id="rId15" Type="http://schemas.microsoft.com/office/2007/relationships/diagramDrawing" Target="../diagrams/drawing8.xml"/><Relationship Id="rId23" Type="http://schemas.openxmlformats.org/officeDocument/2006/relationships/diagramColors" Target="../diagrams/colors9.xml"/><Relationship Id="rId28" Type="http://schemas.openxmlformats.org/officeDocument/2006/relationships/diagramColors" Target="../diagrams/colors90.xml"/><Relationship Id="rId10" Type="http://schemas.openxmlformats.org/officeDocument/2006/relationships/diagramColors" Target="../diagrams/colors70.xml"/><Relationship Id="rId19" Type="http://schemas.openxmlformats.org/officeDocument/2006/relationships/diagramColors" Target="../diagrams/colors80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70.xml"/><Relationship Id="rId14" Type="http://schemas.openxmlformats.org/officeDocument/2006/relationships/diagramColors" Target="../diagrams/colors8.xml"/><Relationship Id="rId22" Type="http://schemas.openxmlformats.org/officeDocument/2006/relationships/diagramQuickStyle" Target="../diagrams/quickStyle9.xml"/><Relationship Id="rId27" Type="http://schemas.openxmlformats.org/officeDocument/2006/relationships/diagramQuickStyle" Target="../diagrams/quickStyle9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sley.edu/article/stages-of-memory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sley.edu/article/stages-of-memory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41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Computer Vision in Python</a:t>
            </a:r>
            <a:br>
              <a:rPr lang="en-US" dirty="0"/>
            </a:br>
            <a:r>
              <a:rPr lang="en-US" dirty="0"/>
              <a:t>Day 2, Part 3/4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  <a:p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35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videos</a:t>
            </a:r>
            <a:r>
              <a:rPr lang="en-US" dirty="0"/>
              <a:t> and how can they be represented as a </a:t>
            </a:r>
            <a:r>
              <a:rPr lang="en-US" b="1" dirty="0"/>
              <a:t>sequence</a:t>
            </a:r>
            <a:r>
              <a:rPr lang="en-US" dirty="0"/>
              <a:t> </a:t>
            </a:r>
            <a:r>
              <a:rPr lang="en-US" b="1" dirty="0"/>
              <a:t>of image frames</a:t>
            </a:r>
            <a:r>
              <a:rPr lang="en-US" dirty="0"/>
              <a:t>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typical uses of </a:t>
            </a:r>
            <a:r>
              <a:rPr lang="en-US" b="1" dirty="0"/>
              <a:t>video processing models </a:t>
            </a:r>
            <a:r>
              <a:rPr lang="en-US" dirty="0"/>
              <a:t>and why are image models alone </a:t>
            </a:r>
            <a:r>
              <a:rPr lang="en-US" b="1" dirty="0"/>
              <a:t>insufficient</a:t>
            </a:r>
            <a:r>
              <a:rPr lang="en-US" dirty="0"/>
              <a:t> to process videos?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sequential models </a:t>
            </a:r>
            <a:r>
              <a:rPr lang="en-US" dirty="0"/>
              <a:t>and </a:t>
            </a:r>
            <a:r>
              <a:rPr lang="en-US" b="1" dirty="0"/>
              <a:t>recurrent neural networks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RNN</a:t>
            </a:r>
            <a:r>
              <a:rPr lang="en-US" dirty="0"/>
              <a:t> models? </a:t>
            </a:r>
            <a:r>
              <a:rPr lang="en-US" b="1" dirty="0"/>
              <a:t>LSTM</a:t>
            </a:r>
            <a:r>
              <a:rPr lang="en-US" dirty="0"/>
              <a:t> models? </a:t>
            </a:r>
            <a:r>
              <a:rPr lang="en-US" b="1" dirty="0"/>
              <a:t>GRU</a:t>
            </a:r>
            <a:r>
              <a:rPr lang="en-US" dirty="0"/>
              <a:t> models?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</a:t>
            </a:r>
            <a:r>
              <a:rPr lang="en-US" b="1" dirty="0"/>
              <a:t>combine</a:t>
            </a:r>
            <a:r>
              <a:rPr lang="en-US" dirty="0"/>
              <a:t> </a:t>
            </a:r>
            <a:r>
              <a:rPr lang="en-US" b="1" dirty="0"/>
              <a:t>RNNs</a:t>
            </a:r>
            <a:r>
              <a:rPr lang="en-US" dirty="0"/>
              <a:t> </a:t>
            </a:r>
            <a:r>
              <a:rPr lang="en-US" b="1" dirty="0"/>
              <a:t>and CNNs </a:t>
            </a:r>
            <a:r>
              <a:rPr lang="en-US" dirty="0"/>
              <a:t>to process images?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(If time allows, what are </a:t>
            </a:r>
            <a:r>
              <a:rPr lang="en-US" b="1" dirty="0"/>
              <a:t>transformers</a:t>
            </a:r>
            <a:r>
              <a:rPr lang="en-US" dirty="0"/>
              <a:t>?)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(And, if time allows, how to </a:t>
            </a:r>
            <a:r>
              <a:rPr lang="en-US" b="1" dirty="0"/>
              <a:t>combine transformers and CNNs </a:t>
            </a:r>
            <a:r>
              <a:rPr lang="en-US" dirty="0"/>
              <a:t>for video processing?)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0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84546-C535-F9D9-434C-B1E67DA6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video, mathematically?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4BB3FA-7C66-56E5-1183-86E129B6309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Definition (video datatype):</a:t>
                </a:r>
              </a:p>
              <a:p>
                <a:pPr marL="0" indent="0">
                  <a:buNone/>
                </a:pPr>
                <a:r>
                  <a:rPr lang="en-GB" dirty="0"/>
                  <a:t>The video datatype consists of an </a:t>
                </a:r>
                <a:r>
                  <a:rPr lang="en-GB" b="1" dirty="0"/>
                  <a:t>ordered sequence of frames</a:t>
                </a:r>
                <a:endParaRPr lang="en-GB" dirty="0"/>
              </a:p>
              <a:p>
                <a:r>
                  <a:rPr lang="en-GB" dirty="0"/>
                  <a:t>Each frame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is an image, represented as a tensor with dimensions (C, H, W)</a:t>
                </a:r>
              </a:p>
              <a:p>
                <a:r>
                  <a:rPr lang="en-GB" dirty="0"/>
                  <a:t>A video clip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is then a sequence of image frames, represented as a tensor with dimensions (T, C, H, W)</a:t>
                </a:r>
              </a:p>
              <a:p>
                <a:r>
                  <a:rPr lang="en-GB" dirty="0"/>
                  <a:t>Temporal order matters!</a:t>
                </a:r>
                <a:br>
                  <a:rPr lang="fr-FR" i="1" dirty="0">
                    <a:latin typeface="Cambria Math" panose="02040503050406030204" pitchFamily="18" charset="0"/>
                  </a:rPr>
                </a:br>
                <a:br>
                  <a:rPr lang="fr-F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 {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₂, …, 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4BB3FA-7C66-56E5-1183-86E129B63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  <a:blipFill>
                <a:blip r:embed="rId2"/>
                <a:stretch>
                  <a:fillRect l="-2029" t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olved]How to Add Frame to Video Online Free?">
            <a:extLst>
              <a:ext uri="{FF2B5EF4-FFF2-40B4-BE49-F238E27FC236}">
                <a16:creationId xmlns:a16="http://schemas.microsoft.com/office/drawing/2014/main" id="{203A2EEB-0197-CE2F-E91F-4E35429CE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478" y="1448480"/>
            <a:ext cx="5411836" cy="261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ing TensorFlow for Deep Learning on Video Data — The TensorFlow Blog">
            <a:extLst>
              <a:ext uri="{FF2B5EF4-FFF2-40B4-BE49-F238E27FC236}">
                <a16:creationId xmlns:a16="http://schemas.microsoft.com/office/drawing/2014/main" id="{AD62BA01-329D-AAA4-E0D9-39EA623C5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3" t="11905" r="10001" b="11945"/>
          <a:stretch>
            <a:fillRect/>
          </a:stretch>
        </p:blipFill>
        <p:spPr bwMode="auto">
          <a:xfrm>
            <a:off x="7640954" y="4246788"/>
            <a:ext cx="3450771" cy="261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25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9C98-ED1C-D1DE-0AA7-D8091D2D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7D2AAC-07D1-E527-0FE9-CBD15D75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video, mathematically?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4C6DD7-29DE-874F-E1EF-6EDCB41A78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Definition (video datatype):</a:t>
                </a:r>
              </a:p>
              <a:p>
                <a:pPr marL="0" indent="0">
                  <a:buNone/>
                </a:pPr>
                <a:r>
                  <a:rPr lang="en-GB" dirty="0"/>
                  <a:t>The video datatype consists of an </a:t>
                </a:r>
                <a:r>
                  <a:rPr lang="en-GB" b="1" dirty="0"/>
                  <a:t>ordered sequence of frames</a:t>
                </a:r>
                <a:endParaRPr lang="en-GB" dirty="0"/>
              </a:p>
              <a:p>
                <a:r>
                  <a:rPr lang="en-GB" dirty="0"/>
                  <a:t>Each frame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is an image, represented as a tensor with dimensions (C, H, W)</a:t>
                </a:r>
              </a:p>
              <a:p>
                <a:r>
                  <a:rPr lang="en-GB" dirty="0"/>
                  <a:t>A video clip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is then a sequence of image frames, represented as a tensor with dimensions </a:t>
                </a:r>
                <a:r>
                  <a:rPr lang="en-GB" b="1" dirty="0">
                    <a:solidFill>
                      <a:schemeClr val="accent2"/>
                    </a:solidFill>
                  </a:rPr>
                  <a:t>(T, C, H, W)</a:t>
                </a:r>
              </a:p>
              <a:p>
                <a:r>
                  <a:rPr lang="en-GB" dirty="0"/>
                  <a:t>Temporal order matters!</a:t>
                </a:r>
                <a:br>
                  <a:rPr lang="fr-FR" i="1" dirty="0">
                    <a:latin typeface="Cambria Math" panose="02040503050406030204" pitchFamily="18" charset="0"/>
                  </a:rPr>
                </a:br>
                <a:br>
                  <a:rPr lang="fr-F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 {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₂, …, 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4C6DD7-29DE-874F-E1EF-6EDCB41A7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  <a:blipFill>
                <a:blip r:embed="rId2"/>
                <a:stretch>
                  <a:fillRect l="-2029" t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8B08E76-61D1-6D63-2E80-2E2926C2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23" y="2093459"/>
            <a:ext cx="5800777" cy="43182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14AB09-6B26-CB7E-92A4-07C68C0900BF}"/>
              </a:ext>
            </a:extLst>
          </p:cNvPr>
          <p:cNvSpPr/>
          <p:nvPr/>
        </p:nvSpPr>
        <p:spPr>
          <a:xfrm>
            <a:off x="6391223" y="5845629"/>
            <a:ext cx="2785434" cy="56605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183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A8D4-D666-5862-A6AD-3D30AB2F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CC763-9339-477A-E456-95545497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video, mathematically?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736976-231E-9A74-CE4D-4E540591D0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Definition (video datatype):</a:t>
                </a:r>
              </a:p>
              <a:p>
                <a:pPr marL="0" indent="0">
                  <a:buNone/>
                </a:pPr>
                <a:r>
                  <a:rPr lang="en-GB" dirty="0"/>
                  <a:t>The video datatype consists of an </a:t>
                </a:r>
                <a:r>
                  <a:rPr lang="en-GB" b="1" dirty="0"/>
                  <a:t>ordered sequence of frames</a:t>
                </a:r>
                <a:endParaRPr lang="en-GB" dirty="0"/>
              </a:p>
              <a:p>
                <a:r>
                  <a:rPr lang="en-GB" dirty="0"/>
                  <a:t>Each frame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is an image, represented as a tensor with dimensions (C, H, W)</a:t>
                </a:r>
              </a:p>
              <a:p>
                <a:r>
                  <a:rPr lang="en-GB" dirty="0"/>
                  <a:t>A video clip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is then a sequence of image frames, represented as a tensor with dimensions </a:t>
                </a:r>
                <a:r>
                  <a:rPr lang="en-GB" b="1" dirty="0">
                    <a:solidFill>
                      <a:schemeClr val="accent2"/>
                    </a:solidFill>
                  </a:rPr>
                  <a:t>(T, C, H, W)</a:t>
                </a:r>
              </a:p>
              <a:p>
                <a:r>
                  <a:rPr lang="en-GB" dirty="0"/>
                  <a:t>Temporal order matters!</a:t>
                </a:r>
                <a:br>
                  <a:rPr lang="fr-FR" i="1" dirty="0">
                    <a:latin typeface="Cambria Math" panose="02040503050406030204" pitchFamily="18" charset="0"/>
                  </a:rPr>
                </a:br>
                <a:br>
                  <a:rPr lang="fr-F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 {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₂, …, 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736976-231E-9A74-CE4D-4E540591D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11836" cy="5032375"/>
              </a:xfrm>
              <a:blipFill>
                <a:blip r:embed="rId2"/>
                <a:stretch>
                  <a:fillRect l="-2029" t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1228DF1-41F3-DC31-3CB6-8E5A15F9D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23" y="2093459"/>
            <a:ext cx="5800777" cy="43182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CDA756-D53F-5E7F-9EE1-953A725714B4}"/>
              </a:ext>
            </a:extLst>
          </p:cNvPr>
          <p:cNvSpPr/>
          <p:nvPr/>
        </p:nvSpPr>
        <p:spPr>
          <a:xfrm>
            <a:off x="6391223" y="5845629"/>
            <a:ext cx="2785434" cy="56605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D20F1A-473A-F108-F981-B658035A0C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699"/>
          <a:stretch>
            <a:fillRect/>
          </a:stretch>
        </p:blipFill>
        <p:spPr>
          <a:xfrm>
            <a:off x="248903" y="1082675"/>
            <a:ext cx="11694193" cy="5410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CBD9-8EB6-7B18-3C7C-F1810DDC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images to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3913-9CA9-FE61-E63F-BAA77FBE8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Key difference between image processing and video processing.</a:t>
            </a:r>
          </a:p>
          <a:p>
            <a:r>
              <a:rPr lang="en-GB" dirty="0"/>
              <a:t>Performing image recognition boiled down to </a:t>
            </a:r>
            <a:r>
              <a:rPr lang="en-GB" b="1" dirty="0"/>
              <a:t>recognizing</a:t>
            </a:r>
            <a:r>
              <a:rPr lang="en-GB" dirty="0"/>
              <a:t> </a:t>
            </a:r>
            <a:r>
              <a:rPr lang="en-GB" b="1" dirty="0"/>
              <a:t>what is in the image.</a:t>
            </a:r>
          </a:p>
          <a:p>
            <a:r>
              <a:rPr lang="en-GB" dirty="0"/>
              <a:t>Video recognition takes it one step further as it requires to </a:t>
            </a:r>
            <a:r>
              <a:rPr lang="en-GB" b="1" dirty="0"/>
              <a:t>recognize what is happening over time.</a:t>
            </a:r>
          </a:p>
          <a:p>
            <a:pPr marL="0" indent="0">
              <a:buNone/>
            </a:pPr>
            <a:br>
              <a:rPr lang="en-GB" b="1" dirty="0"/>
            </a:br>
            <a:r>
              <a:rPr lang="en-GB" b="1" dirty="0"/>
              <a:t>Far more complex task!</a:t>
            </a:r>
          </a:p>
        </p:txBody>
      </p:sp>
      <p:pic>
        <p:nvPicPr>
          <p:cNvPr id="2050" name="Picture 2" descr="Computer Vision vs. Image Recognition: Why the Difference Matters for  Modern Manufacturing">
            <a:extLst>
              <a:ext uri="{FF2B5EF4-FFF2-40B4-BE49-F238E27FC236}">
                <a16:creationId xmlns:a16="http://schemas.microsoft.com/office/drawing/2014/main" id="{69A25A74-F276-8D31-13BC-BDDA08109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081" y="3620182"/>
            <a:ext cx="5523892" cy="310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esla Autopilot - Wikipedia">
            <a:extLst>
              <a:ext uri="{FF2B5EF4-FFF2-40B4-BE49-F238E27FC236}">
                <a16:creationId xmlns:a16="http://schemas.microsoft.com/office/drawing/2014/main" id="{6370CA38-755E-85E8-C9C2-DBB38FA39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73" y="205015"/>
            <a:ext cx="4321627" cy="324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29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6AF8-779F-8ECC-1E0A-9C398B0A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1B8D-AA9D-AD3A-081B-B3E4E998B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03068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Self driving cars</a:t>
            </a:r>
          </a:p>
          <a:p>
            <a:r>
              <a:rPr lang="en-GB" dirty="0"/>
              <a:t>Is there a pedestrian in the picture? (image recognition)</a:t>
            </a:r>
          </a:p>
          <a:p>
            <a:r>
              <a:rPr lang="en-GB" dirty="0"/>
              <a:t>Is the pedestrian waiting or is he about to cross the street?</a:t>
            </a:r>
            <a:br>
              <a:rPr lang="en-GB" dirty="0"/>
            </a:br>
            <a:r>
              <a:rPr lang="en-GB" dirty="0"/>
              <a:t>(video processing)</a:t>
            </a:r>
          </a:p>
          <a:p>
            <a:pPr marL="0" indent="0">
              <a:buNone/>
            </a:pPr>
            <a:r>
              <a:rPr lang="en-GB" b="1" dirty="0"/>
              <a:t>Medical imaging</a:t>
            </a:r>
          </a:p>
          <a:p>
            <a:r>
              <a:rPr lang="en-GB" dirty="0"/>
              <a:t>Is there cancer? Where are the cancer cells in the image? (image recognition)</a:t>
            </a:r>
          </a:p>
          <a:p>
            <a:r>
              <a:rPr lang="en-GB" dirty="0"/>
              <a:t>Is the heart beating incorrectly?</a:t>
            </a:r>
            <a:br>
              <a:rPr lang="en-GB" dirty="0"/>
            </a:br>
            <a:r>
              <a:rPr lang="en-GB" dirty="0"/>
              <a:t>(video processing)</a:t>
            </a:r>
          </a:p>
          <a:p>
            <a:endParaRPr lang="en-GB" dirty="0"/>
          </a:p>
        </p:txBody>
      </p:sp>
      <p:pic>
        <p:nvPicPr>
          <p:cNvPr id="5" name="Picture 4" descr="Tesla Autopilot - Wikipedia">
            <a:extLst>
              <a:ext uri="{FF2B5EF4-FFF2-40B4-BE49-F238E27FC236}">
                <a16:creationId xmlns:a16="http://schemas.microsoft.com/office/drawing/2014/main" id="{930CCE39-FB5F-F752-AAC3-6D75AB663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145" y="365125"/>
            <a:ext cx="4321627" cy="324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D9B572-19DD-396C-E6A5-EB98D862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09" y="3856719"/>
            <a:ext cx="4686500" cy="26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69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3DC8-0FD7-2D26-4C8F-C1DAFBC5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simplest video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48AC-8858-775B-3500-23C3AA035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 simple baseline for video understanding</a:t>
            </a:r>
          </a:p>
          <a:p>
            <a:r>
              <a:rPr lang="en-GB" dirty="0"/>
              <a:t>Treat a video as a set of frames</a:t>
            </a:r>
          </a:p>
          <a:p>
            <a:r>
              <a:rPr lang="en-GB" dirty="0"/>
              <a:t>Apply a CNN to each frame independently</a:t>
            </a:r>
          </a:p>
          <a:p>
            <a:r>
              <a:rPr lang="en-GB" dirty="0"/>
              <a:t>Aggregate frame-level information after each image has been processed</a:t>
            </a:r>
          </a:p>
          <a:p>
            <a:r>
              <a:rPr lang="en-GB" dirty="0"/>
              <a:t>Predict one label per 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36F28222-149E-498C-BB8B-9BEC3738DD3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48248241"/>
                  </p:ext>
                </p:extLst>
              </p:nvPr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36F28222-149E-498C-BB8B-9BEC3738DD3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48248241"/>
                  </p:ext>
                </p:extLst>
              </p:nvPr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7D4B14CB-A719-5079-7AC7-A57A641DD4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28459631"/>
                  </p:ext>
                </p:extLst>
              </p:nvPr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Choice>
        <mc:Fallback xmlns="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7D4B14CB-A719-5079-7AC7-A57A641DD4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28459631"/>
                  </p:ext>
                </p:extLst>
              </p:nvPr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CAF3DA17-DBC0-9245-91AF-E1A95957AD6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35334622"/>
                  </p:ext>
                </p:extLst>
              </p:nvPr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0" r:lo="rId21" r:qs="rId22" r:cs="rId23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CAF3DA17-DBC0-9245-91AF-E1A95957AD6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35334622"/>
                  </p:ext>
                </p:extLst>
              </p:nvPr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5" r:lo="rId26" r:qs="rId27" r:cs="rId28"/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927103E-7805-B395-78E2-EB1D0577A92A}"/>
              </a:ext>
            </a:extLst>
          </p:cNvPr>
          <p:cNvGrpSpPr/>
          <p:nvPr/>
        </p:nvGrpSpPr>
        <p:grpSpPr>
          <a:xfrm>
            <a:off x="11053369" y="3549909"/>
            <a:ext cx="1058061" cy="694352"/>
            <a:chOff x="2966111" y="315605"/>
            <a:chExt cx="1058061" cy="69435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F62082-4A98-A985-E163-97B8CC3039B1}"/>
                </a:ext>
              </a:extLst>
            </p:cNvPr>
            <p:cNvSpPr/>
            <p:nvPr/>
          </p:nvSpPr>
          <p:spPr>
            <a:xfrm>
              <a:off x="2966111" y="315605"/>
              <a:ext cx="1058061" cy="69435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0FCB6830-54E1-7200-E20A-AEBAE9B6E6F7}"/>
                </a:ext>
              </a:extLst>
            </p:cNvPr>
            <p:cNvSpPr txBox="1"/>
            <p:nvPr/>
          </p:nvSpPr>
          <p:spPr>
            <a:xfrm>
              <a:off x="2986448" y="335942"/>
              <a:ext cx="1017387" cy="6536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kern="1200" dirty="0"/>
                <a:t>Final </a:t>
              </a:r>
              <a:r>
                <a:rPr lang="fr-FR" sz="1800" kern="1200" dirty="0" err="1"/>
                <a:t>Decision</a:t>
              </a:r>
              <a:endParaRPr lang="en-GB" sz="1800" kern="1200" dirty="0"/>
            </a:p>
          </p:txBody>
        </p:sp>
      </p:grpSp>
      <p:sp>
        <p:nvSpPr>
          <p:cNvPr id="11" name="Right Brace 10">
            <a:extLst>
              <a:ext uri="{FF2B5EF4-FFF2-40B4-BE49-F238E27FC236}">
                <a16:creationId xmlns:a16="http://schemas.microsoft.com/office/drawing/2014/main" id="{46E36BEC-AC08-C61D-FEDA-65358C8C4991}"/>
              </a:ext>
            </a:extLst>
          </p:cNvPr>
          <p:cNvSpPr/>
          <p:nvPr/>
        </p:nvSpPr>
        <p:spPr>
          <a:xfrm>
            <a:off x="10624457" y="1374094"/>
            <a:ext cx="315686" cy="50233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FED7F-BE22-5B3A-4E52-FF3A70D217D8}"/>
              </a:ext>
            </a:extLst>
          </p:cNvPr>
          <p:cNvSpPr txBox="1"/>
          <p:nvPr/>
        </p:nvSpPr>
        <p:spPr>
          <a:xfrm>
            <a:off x="7761514" y="3869981"/>
            <a:ext cx="1491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478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41A3-A3B7-753C-74FE-914FC228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A7AA-FBF9-5446-AE5F-72754CE7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simplest video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AE50-935C-781B-012C-0BFD81B84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Strengths</a:t>
            </a:r>
            <a:endParaRPr lang="en-GB" dirty="0"/>
          </a:p>
          <a:p>
            <a:r>
              <a:rPr lang="en-GB" dirty="0"/>
              <a:t>Appearance-based reasoning</a:t>
            </a:r>
          </a:p>
          <a:p>
            <a:r>
              <a:rPr lang="en-GB" dirty="0"/>
              <a:t>Simple and efficient</a:t>
            </a:r>
          </a:p>
          <a:p>
            <a:r>
              <a:rPr lang="en-GB" dirty="0"/>
              <a:t>Strong baseline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Limitations</a:t>
            </a:r>
          </a:p>
          <a:p>
            <a:r>
              <a:rPr lang="en-GB" dirty="0"/>
              <a:t>Treats images independently</a:t>
            </a:r>
          </a:p>
          <a:p>
            <a:r>
              <a:rPr lang="en-GB" dirty="0"/>
              <a:t>No motion </a:t>
            </a:r>
            <a:r>
              <a:rPr lang="en-GB" dirty="0" err="1"/>
              <a:t>modeling</a:t>
            </a:r>
            <a:endParaRPr lang="en-GB" dirty="0"/>
          </a:p>
          <a:p>
            <a:r>
              <a:rPr lang="en-GB" dirty="0"/>
              <a:t>No temporal order or sequence</a:t>
            </a:r>
          </a:p>
          <a:p>
            <a:r>
              <a:rPr lang="en-GB" dirty="0"/>
              <a:t>Cannot distinguish reversed actions or shuffled images</a:t>
            </a:r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AEF3BC90-F822-8DF1-C613-844BA1C74BD7}"/>
                  </a:ext>
                </a:extLst>
              </p:cNvPr>
              <p:cNvGraphicFramePr/>
              <p:nvPr/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AEF3BC90-F822-8DF1-C613-844BA1C74BD7}"/>
                  </a:ext>
                </a:extLst>
              </p:cNvPr>
              <p:cNvGraphicFramePr/>
              <p:nvPr/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9F207DDA-2574-3B79-2A4D-E519AFDE904D}"/>
                  </a:ext>
                </a:extLst>
              </p:cNvPr>
              <p:cNvGraphicFramePr/>
              <p:nvPr/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Choice>
        <mc:Fallback xmlns="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9F207DDA-2574-3B79-2A4D-E519AFDE904D}"/>
                  </a:ext>
                </a:extLst>
              </p:cNvPr>
              <p:cNvGraphicFramePr/>
              <p:nvPr/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D7988D1A-F806-C9A3-E93B-E646475CE1EE}"/>
                  </a:ext>
                </a:extLst>
              </p:cNvPr>
              <p:cNvGraphicFramePr/>
              <p:nvPr/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0" r:lo="rId21" r:qs="rId22" r:cs="rId23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D7988D1A-F806-C9A3-E93B-E646475CE1EE}"/>
                  </a:ext>
                </a:extLst>
              </p:cNvPr>
              <p:cNvGraphicFramePr/>
              <p:nvPr/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5" r:lo="rId26" r:qs="rId27" r:cs="rId28"/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CE13637-4BDA-DE7B-0F7A-89B9174A8FDD}"/>
              </a:ext>
            </a:extLst>
          </p:cNvPr>
          <p:cNvGrpSpPr/>
          <p:nvPr/>
        </p:nvGrpSpPr>
        <p:grpSpPr>
          <a:xfrm>
            <a:off x="11053369" y="3549909"/>
            <a:ext cx="1058061" cy="694352"/>
            <a:chOff x="2966111" y="315605"/>
            <a:chExt cx="1058061" cy="69435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79D9420-B7FD-7AE0-320B-87442C90F8FD}"/>
                </a:ext>
              </a:extLst>
            </p:cNvPr>
            <p:cNvSpPr/>
            <p:nvPr/>
          </p:nvSpPr>
          <p:spPr>
            <a:xfrm>
              <a:off x="2966111" y="315605"/>
              <a:ext cx="1058061" cy="69435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69DE795E-E116-F802-3F34-E985F53CA427}"/>
                </a:ext>
              </a:extLst>
            </p:cNvPr>
            <p:cNvSpPr txBox="1"/>
            <p:nvPr/>
          </p:nvSpPr>
          <p:spPr>
            <a:xfrm>
              <a:off x="2986448" y="335942"/>
              <a:ext cx="1017387" cy="6536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kern="1200" dirty="0"/>
                <a:t>Final </a:t>
              </a:r>
              <a:r>
                <a:rPr lang="fr-FR" sz="1800" kern="1200" dirty="0" err="1"/>
                <a:t>Decision</a:t>
              </a:r>
              <a:endParaRPr lang="en-GB" sz="1800" kern="1200" dirty="0"/>
            </a:p>
          </p:txBody>
        </p:sp>
      </p:grp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135D353-C71B-89C5-05D8-D9F31C76C7DF}"/>
              </a:ext>
            </a:extLst>
          </p:cNvPr>
          <p:cNvSpPr/>
          <p:nvPr/>
        </p:nvSpPr>
        <p:spPr>
          <a:xfrm>
            <a:off x="10624457" y="1374094"/>
            <a:ext cx="315686" cy="50233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FA38A-AE74-69B6-3E92-4DD6FA97150B}"/>
              </a:ext>
            </a:extLst>
          </p:cNvPr>
          <p:cNvSpPr txBox="1"/>
          <p:nvPr/>
        </p:nvSpPr>
        <p:spPr>
          <a:xfrm>
            <a:off x="7761514" y="3869981"/>
            <a:ext cx="1491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285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5DE9-FA8F-47A7-8695-B7A9FFA4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D5FD-E203-9532-1DEC-D4E79CAB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missing?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4E60-AC49-D754-D425-357F4446F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Correctly processing videos requires to understand:</a:t>
            </a:r>
          </a:p>
          <a:p>
            <a:r>
              <a:rPr lang="en-GB" dirty="0"/>
              <a:t>Motion direction</a:t>
            </a:r>
          </a:p>
          <a:p>
            <a:r>
              <a:rPr lang="en-GB" dirty="0"/>
              <a:t>Temporal causality</a:t>
            </a:r>
          </a:p>
          <a:p>
            <a:r>
              <a:rPr lang="en-GB" dirty="0"/>
              <a:t>Long-term dependencies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other words: “How do we model </a:t>
            </a:r>
            <a:r>
              <a:rPr lang="en-GB" b="1" dirty="0"/>
              <a:t>order</a:t>
            </a:r>
            <a:r>
              <a:rPr lang="en-GB" dirty="0"/>
              <a:t> to better</a:t>
            </a:r>
            <a:br>
              <a:rPr lang="en-GB" dirty="0"/>
            </a:br>
            <a:r>
              <a:rPr lang="en-GB" dirty="0"/>
              <a:t>understand what is happening</a:t>
            </a:r>
            <a:br>
              <a:rPr lang="en-GB" dirty="0"/>
            </a:br>
            <a:r>
              <a:rPr lang="en-GB" dirty="0"/>
              <a:t>in the </a:t>
            </a:r>
            <a:r>
              <a:rPr lang="en-GB" b="1" dirty="0"/>
              <a:t>sequence of images</a:t>
            </a:r>
            <a:r>
              <a:rPr lang="en-GB" dirty="0"/>
              <a:t>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E870EE53-21A5-C45A-6077-E524DE391B35}"/>
                  </a:ext>
                </a:extLst>
              </p:cNvPr>
              <p:cNvGraphicFramePr/>
              <p:nvPr/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E870EE53-21A5-C45A-6077-E524DE391B35}"/>
                  </a:ext>
                </a:extLst>
              </p:cNvPr>
              <p:cNvGraphicFramePr/>
              <p:nvPr/>
            </p:nvGraphicFramePr>
            <p:xfrm>
              <a:off x="6466115" y="1374094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3EAC8AC5-09CF-DA99-710A-B08CB2909872}"/>
                  </a:ext>
                </a:extLst>
              </p:cNvPr>
              <p:cNvGraphicFramePr/>
              <p:nvPr/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Choice>
        <mc:Fallback xmlns="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3EAC8AC5-09CF-DA99-710A-B08CB2909872}"/>
                  </a:ext>
                </a:extLst>
              </p:cNvPr>
              <p:cNvGraphicFramePr/>
              <p:nvPr/>
            </p:nvGraphicFramePr>
            <p:xfrm>
              <a:off x="6466115" y="2383063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CA55699D-9301-B069-017B-F4A6DD11F963}"/>
                  </a:ext>
                </a:extLst>
              </p:cNvPr>
              <p:cNvGraphicFramePr/>
              <p:nvPr/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0" r:lo="rId21" r:qs="rId22" r:cs="rId23"/>
              </a:graphicData>
            </a:graphic>
          </p:graphicFrame>
        </mc:Choice>
        <mc:Fallback xmlns="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CA55699D-9301-B069-017B-F4A6DD11F963}"/>
                  </a:ext>
                </a:extLst>
              </p:cNvPr>
              <p:cNvGraphicFramePr/>
              <p:nvPr/>
            </p:nvGraphicFramePr>
            <p:xfrm>
              <a:off x="6466115" y="5071835"/>
              <a:ext cx="4027713" cy="13255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5" r:lo="rId26" r:qs="rId27" r:cs="rId28"/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5F29AFC-0D0B-F423-0739-72CDE85DAA7D}"/>
              </a:ext>
            </a:extLst>
          </p:cNvPr>
          <p:cNvGrpSpPr/>
          <p:nvPr/>
        </p:nvGrpSpPr>
        <p:grpSpPr>
          <a:xfrm>
            <a:off x="11053369" y="3549909"/>
            <a:ext cx="1058061" cy="694352"/>
            <a:chOff x="2966111" y="315605"/>
            <a:chExt cx="1058061" cy="69435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4D9BA0A-8084-FB2B-3E23-6D9A6DCB3CAD}"/>
                </a:ext>
              </a:extLst>
            </p:cNvPr>
            <p:cNvSpPr/>
            <p:nvPr/>
          </p:nvSpPr>
          <p:spPr>
            <a:xfrm>
              <a:off x="2966111" y="315605"/>
              <a:ext cx="1058061" cy="69435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8E84BC7C-2EC2-D1AE-7FD1-99452EF9F998}"/>
                </a:ext>
              </a:extLst>
            </p:cNvPr>
            <p:cNvSpPr txBox="1"/>
            <p:nvPr/>
          </p:nvSpPr>
          <p:spPr>
            <a:xfrm>
              <a:off x="2986448" y="335942"/>
              <a:ext cx="1017387" cy="6536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kern="1200" dirty="0"/>
                <a:t>Final </a:t>
              </a:r>
              <a:r>
                <a:rPr lang="fr-FR" sz="1800" kern="1200" dirty="0" err="1"/>
                <a:t>Decision</a:t>
              </a:r>
              <a:endParaRPr lang="en-GB" sz="1800" kern="1200" dirty="0"/>
            </a:p>
          </p:txBody>
        </p:sp>
      </p:grp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824F7B1-FC81-C3FD-2908-D2743CCEF969}"/>
              </a:ext>
            </a:extLst>
          </p:cNvPr>
          <p:cNvSpPr/>
          <p:nvPr/>
        </p:nvSpPr>
        <p:spPr>
          <a:xfrm>
            <a:off x="10624457" y="1374094"/>
            <a:ext cx="315686" cy="50233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514ABB-440B-7868-1935-63D4D09BEE70}"/>
              </a:ext>
            </a:extLst>
          </p:cNvPr>
          <p:cNvSpPr txBox="1"/>
          <p:nvPr/>
        </p:nvSpPr>
        <p:spPr>
          <a:xfrm>
            <a:off x="7761514" y="3869981"/>
            <a:ext cx="1491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069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B1015D-E7F1-F3D9-E560-C9E82C06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interlude: about time series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0D7D74-AD4E-73AE-79C0-432D2B4B2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time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series</a:t>
            </a:r>
            <a:r>
              <a:rPr lang="en-GB" b="1" dirty="0"/>
              <a:t> dataset):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time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series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 is a </a:t>
            </a:r>
            <a:r>
              <a:rPr lang="en-GB" b="1" dirty="0"/>
              <a:t>sequence of data points that are collected over time</a:t>
            </a:r>
            <a:r>
              <a:rPr lang="en-GB" dirty="0"/>
              <a:t>, typically at regular intervals.</a:t>
            </a:r>
          </a:p>
          <a:p>
            <a:pPr marL="0" indent="0">
              <a:buNone/>
            </a:pPr>
            <a:r>
              <a:rPr lang="en-GB" dirty="0"/>
              <a:t>Time series data can be used to study how a particular variable changes over time, with many applications as stock prices, weather patterns,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9F02C5-327D-5E29-7377-652FB7F17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8" y="1570786"/>
            <a:ext cx="5486452" cy="47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4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1D2B-BDEB-E432-C49F-C5F16F1F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CBCB84-D7CC-48A5-2ABC-17123FC1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interlude: about time series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80EE6-0F18-6A47-E21F-867D08ABA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time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series</a:t>
            </a:r>
            <a:r>
              <a:rPr lang="en-GB" b="1" dirty="0"/>
              <a:t> dataset):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time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series</a:t>
            </a:r>
            <a:r>
              <a:rPr lang="en-GB" dirty="0"/>
              <a:t> </a:t>
            </a:r>
            <a:r>
              <a:rPr lang="en-GB" b="1" dirty="0"/>
              <a:t>dataset</a:t>
            </a:r>
            <a:r>
              <a:rPr lang="en-GB" dirty="0"/>
              <a:t> is a </a:t>
            </a:r>
            <a:r>
              <a:rPr lang="en-GB" b="1" dirty="0"/>
              <a:t>sequence of data points that are collected over time</a:t>
            </a:r>
            <a:r>
              <a:rPr lang="en-GB" dirty="0"/>
              <a:t>, typically at regular intervals.</a:t>
            </a:r>
          </a:p>
          <a:p>
            <a:pPr marL="0" indent="0">
              <a:buNone/>
            </a:pPr>
            <a:r>
              <a:rPr lang="en-GB" dirty="0"/>
              <a:t>Time series data can be used to study how a particular variable changes over time, with many applications as stock prices, weather patterns, etc.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054061-007D-BC38-9BFD-0C34692CF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r>
              <a:rPr lang="en-GB" dirty="0"/>
              <a:t>Time series have </a:t>
            </a:r>
            <a:r>
              <a:rPr lang="en-GB" b="1" dirty="0"/>
              <a:t>structure</a:t>
            </a:r>
            <a:r>
              <a:rPr lang="en-GB" dirty="0"/>
              <a:t> (somewhat similar to videos).</a:t>
            </a:r>
          </a:p>
          <a:p>
            <a:r>
              <a:rPr lang="en-GB" dirty="0"/>
              <a:t>This means that shuffling the data points in a time series has a destructive effect on your dataset, just like shuffling pixels in an image or frames in a video!</a:t>
            </a:r>
          </a:p>
          <a:p>
            <a:r>
              <a:rPr lang="en-GB" dirty="0"/>
              <a:t>They are usually ordered chronologically, with each data point representing the value of a variable at a specific time.</a:t>
            </a:r>
          </a:p>
        </p:txBody>
      </p:sp>
    </p:spTree>
    <p:extLst>
      <p:ext uri="{BB962C8B-B14F-4D97-AF65-F5344CB8AC3E}">
        <p14:creationId xmlns:p14="http://schemas.microsoft.com/office/powerpoint/2010/main" val="421525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96E-47CA-8290-187D-49042C02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E6DC15-7D91-678E-0B21-CD49B11B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interlude: about time series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12C78-E7A9-28E9-7266-F3F27E413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Time series are often represented as tensors of size (T, V).</a:t>
            </a:r>
          </a:p>
          <a:p>
            <a:r>
              <a:rPr lang="en-GB" dirty="0"/>
              <a:t>With T being the number of time steps (or data points in the time series).</a:t>
            </a:r>
          </a:p>
          <a:p>
            <a:r>
              <a:rPr lang="en-GB" dirty="0"/>
              <a:t>And values at a given time are assembled in a vector of size V, often set to just 1.</a:t>
            </a:r>
          </a:p>
          <a:p>
            <a:pPr marL="0" indent="0">
              <a:buNone/>
            </a:pPr>
            <a:r>
              <a:rPr lang="en-GB" dirty="0"/>
              <a:t>These time series tensors can be seen as the numerical “cousin” of video tensors.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06338-12BD-23C4-456A-FDC9B36C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8" y="1570786"/>
            <a:ext cx="5486452" cy="47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2FA5-5524-B8D0-E158-62EC06B2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standard NNs fail on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DC8A-24D7-D748-11A2-68B0141E6F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Why linear NN are insufficient</a:t>
            </a:r>
          </a:p>
          <a:p>
            <a:r>
              <a:rPr lang="en-GB" dirty="0"/>
              <a:t>Linear neural networks assume fixed-size input</a:t>
            </a:r>
          </a:p>
          <a:p>
            <a:r>
              <a:rPr lang="en-GB" dirty="0"/>
              <a:t>They have no notion of order</a:t>
            </a:r>
          </a:p>
          <a:p>
            <a:r>
              <a:rPr lang="en-GB" dirty="0"/>
              <a:t>No memory of previous values</a:t>
            </a:r>
          </a:p>
          <a:p>
            <a:r>
              <a:rPr lang="en-GB" dirty="0"/>
              <a:t>Shuffle timesteps → Same input to an MLP (same idea as shuffling pixels in an image or frames in a video, earlier!)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DD2BA-880C-6A10-070C-75932B9D4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15" y="1625374"/>
            <a:ext cx="5475514" cy="327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9B22FF-5F71-DBC8-C23C-7F884B3F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8" y="4735556"/>
            <a:ext cx="2253345" cy="196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8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DE4A-B9A9-CCDF-2EFA-3BA4C358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visual example for the need of “memory”</a:t>
            </a:r>
            <a:endParaRPr lang="en-SG" dirty="0"/>
          </a:p>
        </p:txBody>
      </p:sp>
      <p:pic>
        <p:nvPicPr>
          <p:cNvPr id="10" name="Picture 9" descr="A group of gold coins&#10;&#10;Description automatically generated with medium confidence">
            <a:extLst>
              <a:ext uri="{FF2B5EF4-FFF2-40B4-BE49-F238E27FC236}">
                <a16:creationId xmlns:a16="http://schemas.microsoft.com/office/drawing/2014/main" id="{F83FE53A-C01F-5A70-FCBF-D89938440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03" y="1690688"/>
            <a:ext cx="7783029" cy="50135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97C65D-302D-97F3-B9E7-0795EAD68417}"/>
              </a:ext>
            </a:extLst>
          </p:cNvPr>
          <p:cNvSpPr/>
          <p:nvPr/>
        </p:nvSpPr>
        <p:spPr>
          <a:xfrm>
            <a:off x="4282831" y="1774092"/>
            <a:ext cx="4400061" cy="27510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7AF6B-B2F9-3EFF-C0AF-2B594EF765FF}"/>
              </a:ext>
            </a:extLst>
          </p:cNvPr>
          <p:cNvSpPr/>
          <p:nvPr/>
        </p:nvSpPr>
        <p:spPr>
          <a:xfrm flipV="1">
            <a:off x="4435232" y="4228122"/>
            <a:ext cx="3481754" cy="22647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586BE-A17E-1BF1-BFDE-31813F4B3DA7}"/>
              </a:ext>
            </a:extLst>
          </p:cNvPr>
          <p:cNvSpPr/>
          <p:nvPr/>
        </p:nvSpPr>
        <p:spPr>
          <a:xfrm flipH="1" flipV="1">
            <a:off x="7776308" y="5556738"/>
            <a:ext cx="4040554" cy="10885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DB98B-84DF-C2AD-F494-6AFEC7D2D6CE}"/>
              </a:ext>
            </a:extLst>
          </p:cNvPr>
          <p:cNvSpPr/>
          <p:nvPr/>
        </p:nvSpPr>
        <p:spPr>
          <a:xfrm flipH="1">
            <a:off x="8903660" y="3087077"/>
            <a:ext cx="3034339" cy="26220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D8EDD4-508D-2592-641D-F07131736022}"/>
              </a:ext>
            </a:extLst>
          </p:cNvPr>
          <p:cNvSpPr/>
          <p:nvPr/>
        </p:nvSpPr>
        <p:spPr>
          <a:xfrm>
            <a:off x="8720138" y="5191125"/>
            <a:ext cx="502443" cy="5180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455056-4146-112A-F120-BE0214897893}"/>
                  </a:ext>
                </a:extLst>
              </p:cNvPr>
              <p:cNvSpPr txBox="1"/>
              <p:nvPr/>
            </p:nvSpPr>
            <p:spPr>
              <a:xfrm>
                <a:off x="203199" y="1570892"/>
                <a:ext cx="377200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800" dirty="0"/>
              </a:p>
              <a:p>
                <a:r>
                  <a:rPr lang="en-GB" sz="2800" dirty="0"/>
                  <a:t>Let us pretend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sz="2800" dirty="0"/>
                  <a:t> is the position of the basketball at time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SG" sz="2800" dirty="0"/>
                  <a:t>.</a:t>
                </a:r>
              </a:p>
              <a:p>
                <a:endParaRPr lang="en-SG" sz="2800" dirty="0"/>
              </a:p>
              <a:p>
                <a:r>
                  <a:rPr lang="en-SG" sz="2800" b="1" dirty="0">
                    <a:solidFill>
                      <a:srgbClr val="7030A0"/>
                    </a:solidFill>
                  </a:rPr>
                  <a:t>Looking at the picture on the right, can you guess what the next ball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SG" sz="2800" b="1" dirty="0">
                    <a:solidFill>
                      <a:srgbClr val="7030A0"/>
                    </a:solidFill>
                  </a:rPr>
                  <a:t> will be?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455056-4146-112A-F120-BE0214897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" y="1570892"/>
                <a:ext cx="3772001" cy="3970318"/>
              </a:xfrm>
              <a:prstGeom prst="rect">
                <a:avLst/>
              </a:prstGeom>
              <a:blipFill>
                <a:blip r:embed="rId3"/>
                <a:stretch>
                  <a:fillRect l="-3231" r="-5331" b="-35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32C3E9-BCF7-21C1-63AF-73D41ED05D73}"/>
              </a:ext>
            </a:extLst>
          </p:cNvPr>
          <p:cNvCxnSpPr>
            <a:cxnSpLocks/>
          </p:cNvCxnSpPr>
          <p:nvPr/>
        </p:nvCxnSpPr>
        <p:spPr>
          <a:xfrm flipV="1">
            <a:off x="8847015" y="3556000"/>
            <a:ext cx="625231" cy="1125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D247D5-7FC8-E539-BBF9-553966365A8E}"/>
              </a:ext>
            </a:extLst>
          </p:cNvPr>
          <p:cNvCxnSpPr>
            <a:cxnSpLocks/>
          </p:cNvCxnSpPr>
          <p:nvPr/>
        </p:nvCxnSpPr>
        <p:spPr>
          <a:xfrm>
            <a:off x="8510954" y="5556738"/>
            <a:ext cx="0" cy="820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DACFCA-54FF-8B97-ADDE-2E676AE80B9A}"/>
              </a:ext>
            </a:extLst>
          </p:cNvPr>
          <p:cNvCxnSpPr>
            <a:cxnSpLocks/>
          </p:cNvCxnSpPr>
          <p:nvPr/>
        </p:nvCxnSpPr>
        <p:spPr>
          <a:xfrm flipV="1">
            <a:off x="8999415" y="4525108"/>
            <a:ext cx="879231" cy="3087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62C7FE-569E-526F-8EAC-7FB212EC0703}"/>
              </a:ext>
            </a:extLst>
          </p:cNvPr>
          <p:cNvCxnSpPr>
            <a:cxnSpLocks/>
          </p:cNvCxnSpPr>
          <p:nvPr/>
        </p:nvCxnSpPr>
        <p:spPr>
          <a:xfrm flipH="1" flipV="1">
            <a:off x="7776308" y="4939323"/>
            <a:ext cx="343877" cy="859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97FE7D-83F3-331E-3DF8-232847CB58B0}"/>
              </a:ext>
            </a:extLst>
          </p:cNvPr>
          <p:cNvSpPr txBox="1"/>
          <p:nvPr/>
        </p:nvSpPr>
        <p:spPr>
          <a:xfrm>
            <a:off x="8135814" y="4289735"/>
            <a:ext cx="64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????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353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DE4A-B9A9-CCDF-2EFA-3BA4C358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visual example for the need of “memory”</a:t>
            </a:r>
            <a:endParaRPr lang="en-SG" dirty="0"/>
          </a:p>
        </p:txBody>
      </p:sp>
      <p:pic>
        <p:nvPicPr>
          <p:cNvPr id="10" name="Picture 9" descr="A group of gold coins&#10;&#10;Description automatically generated with medium confidence">
            <a:extLst>
              <a:ext uri="{FF2B5EF4-FFF2-40B4-BE49-F238E27FC236}">
                <a16:creationId xmlns:a16="http://schemas.microsoft.com/office/drawing/2014/main" id="{F83FE53A-C01F-5A70-FCBF-D89938440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03" y="1690688"/>
            <a:ext cx="7783029" cy="5013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1C82DA-C4AB-4A16-CC94-7486A4928219}"/>
                  </a:ext>
                </a:extLst>
              </p:cNvPr>
              <p:cNvSpPr txBox="1"/>
              <p:nvPr/>
            </p:nvSpPr>
            <p:spPr>
              <a:xfrm>
                <a:off x="203199" y="1570892"/>
                <a:ext cx="3772001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800" dirty="0"/>
              </a:p>
              <a:p>
                <a:r>
                  <a:rPr lang="en-GB" sz="2800" dirty="0"/>
                  <a:t>Let us pretend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sz="2800" dirty="0"/>
                  <a:t> is the position of the basketball at time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SG" sz="2800" dirty="0"/>
                  <a:t>.</a:t>
                </a:r>
              </a:p>
              <a:p>
                <a:endParaRPr lang="en-SG" sz="2800" dirty="0"/>
              </a:p>
              <a:p>
                <a:r>
                  <a:rPr lang="en-SG" sz="2800" b="1" dirty="0">
                    <a:solidFill>
                      <a:srgbClr val="7030A0"/>
                    </a:solidFill>
                  </a:rPr>
                  <a:t>Looking at the picture on the right, can you guess what the next ball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SG" sz="2800" b="1" dirty="0">
                    <a:solidFill>
                      <a:srgbClr val="7030A0"/>
                    </a:solidFill>
                  </a:rPr>
                  <a:t> will be?</a:t>
                </a:r>
              </a:p>
              <a:p>
                <a:endParaRPr lang="en-SG" sz="2800" b="1" dirty="0">
                  <a:solidFill>
                    <a:srgbClr val="7030A0"/>
                  </a:solidFill>
                </a:endParaRPr>
              </a:p>
              <a:p>
                <a:r>
                  <a:rPr lang="en-SG" sz="2800" b="1" dirty="0">
                    <a:solidFill>
                      <a:srgbClr val="7030A0"/>
                    </a:solidFill>
                  </a:rPr>
                  <a:t>What if I give you some info about the past?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1C82DA-C4AB-4A16-CC94-7486A4928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" y="1570892"/>
                <a:ext cx="3772001" cy="5262979"/>
              </a:xfrm>
              <a:prstGeom prst="rect">
                <a:avLst/>
              </a:prstGeom>
              <a:blipFill>
                <a:blip r:embed="rId3"/>
                <a:stretch>
                  <a:fillRect l="-3231" r="-5331" b="-2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group of gold coins&#10;&#10;Description automatically generated with medium confidence">
            <a:extLst>
              <a:ext uri="{FF2B5EF4-FFF2-40B4-BE49-F238E27FC236}">
                <a16:creationId xmlns:a16="http://schemas.microsoft.com/office/drawing/2014/main" id="{F1C767E9-6308-3CB8-97B8-EB787964E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03" y="1690688"/>
            <a:ext cx="7783029" cy="50135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EFA2E9D-D346-A4E1-725F-1DA59AFF1537}"/>
              </a:ext>
            </a:extLst>
          </p:cNvPr>
          <p:cNvSpPr/>
          <p:nvPr/>
        </p:nvSpPr>
        <p:spPr>
          <a:xfrm flipH="1" flipV="1">
            <a:off x="7776308" y="5556738"/>
            <a:ext cx="4040554" cy="10885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EED8B7-FABB-F38D-5C99-E82E2A917136}"/>
              </a:ext>
            </a:extLst>
          </p:cNvPr>
          <p:cNvSpPr/>
          <p:nvPr/>
        </p:nvSpPr>
        <p:spPr>
          <a:xfrm flipH="1">
            <a:off x="8911475" y="3087077"/>
            <a:ext cx="3034339" cy="26220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EF33CF-8803-CBB6-6050-94DB222659B3}"/>
              </a:ext>
            </a:extLst>
          </p:cNvPr>
          <p:cNvSpPr/>
          <p:nvPr/>
        </p:nvSpPr>
        <p:spPr>
          <a:xfrm>
            <a:off x="8720138" y="5191125"/>
            <a:ext cx="502443" cy="5180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D1F4BF-E49D-B5B0-D29A-0AD9F138EA4D}"/>
              </a:ext>
            </a:extLst>
          </p:cNvPr>
          <p:cNvCxnSpPr>
            <a:cxnSpLocks/>
          </p:cNvCxnSpPr>
          <p:nvPr/>
        </p:nvCxnSpPr>
        <p:spPr>
          <a:xfrm flipV="1">
            <a:off x="8847015" y="3556000"/>
            <a:ext cx="625231" cy="1125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812B12-576A-6946-A73E-BC430F72C12A}"/>
              </a:ext>
            </a:extLst>
          </p:cNvPr>
          <p:cNvCxnSpPr>
            <a:cxnSpLocks/>
          </p:cNvCxnSpPr>
          <p:nvPr/>
        </p:nvCxnSpPr>
        <p:spPr>
          <a:xfrm>
            <a:off x="8510954" y="5556738"/>
            <a:ext cx="0" cy="8206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BD407E-7763-A03E-ED4D-C8271B9766EB}"/>
              </a:ext>
            </a:extLst>
          </p:cNvPr>
          <p:cNvCxnSpPr>
            <a:cxnSpLocks/>
          </p:cNvCxnSpPr>
          <p:nvPr/>
        </p:nvCxnSpPr>
        <p:spPr>
          <a:xfrm flipV="1">
            <a:off x="8999415" y="4525108"/>
            <a:ext cx="879231" cy="3087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6CE662-DD07-831E-AD74-73E8C04653AF}"/>
              </a:ext>
            </a:extLst>
          </p:cNvPr>
          <p:cNvCxnSpPr>
            <a:cxnSpLocks/>
          </p:cNvCxnSpPr>
          <p:nvPr/>
        </p:nvCxnSpPr>
        <p:spPr>
          <a:xfrm flipH="1" flipV="1">
            <a:off x="7776308" y="4939323"/>
            <a:ext cx="343877" cy="859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72403B-2BDE-01C2-E534-43FF91D25167}"/>
              </a:ext>
            </a:extLst>
          </p:cNvPr>
          <p:cNvSpPr txBox="1"/>
          <p:nvPr/>
        </p:nvSpPr>
        <p:spPr>
          <a:xfrm>
            <a:off x="8135814" y="4289735"/>
            <a:ext cx="64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????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65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F51D7-1F4A-B7F1-78C2-7B2959E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06F4-71E1-00A0-3DE7-13FC3F30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memory and RNNs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F2568-087F-9FE2-7177-BE92295682A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4"/>
                <a:ext cx="557348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Need to introduce the concept of “</a:t>
                </a:r>
                <a:r>
                  <a:rPr lang="en-GB" b="1" dirty="0">
                    <a:solidFill>
                      <a:srgbClr val="00B050"/>
                    </a:solidFill>
                  </a:rPr>
                  <a:t>memory</a:t>
                </a:r>
                <a:r>
                  <a:rPr lang="en-GB" b="1" dirty="0"/>
                  <a:t>” to our models</a:t>
                </a:r>
              </a:p>
              <a:p>
                <a:r>
                  <a:rPr lang="en-GB" dirty="0"/>
                  <a:t>Process sequences one step at a time, as before, but…</a:t>
                </a:r>
              </a:p>
              <a:p>
                <a:r>
                  <a:rPr lang="en-GB" dirty="0"/>
                  <a:t>Maintain a hidden state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(memory) to remember relevant information from seen pictures</a:t>
                </a:r>
              </a:p>
              <a:p>
                <a:r>
                  <a:rPr lang="en-GB" dirty="0"/>
                  <a:t>Store memory in a hidden state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that summarizes the past</a:t>
                </a:r>
              </a:p>
              <a:p>
                <a:r>
                  <a:rPr lang="en-GB" dirty="0"/>
                  <a:t>Leave it to model to decide what and how to remember at each step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F2568-087F-9FE2-7177-BE9229568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4"/>
                <a:ext cx="5573487" cy="5032375"/>
              </a:xfrm>
              <a:blipFill>
                <a:blip r:embed="rId2"/>
                <a:stretch>
                  <a:fillRect l="-2186" t="-1937" r="-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 descr="Brain implant boosts memory for first time ever">
            <a:extLst>
              <a:ext uri="{FF2B5EF4-FFF2-40B4-BE49-F238E27FC236}">
                <a16:creationId xmlns:a16="http://schemas.microsoft.com/office/drawing/2014/main" id="{C043CF6A-47E2-E14B-8BFC-39AC3CD05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720" y="1577657"/>
            <a:ext cx="3429424" cy="252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E91072-CE38-60FA-91B1-7E85BBA4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686" y="4550228"/>
            <a:ext cx="5676606" cy="209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15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5DED-4F6A-4420-1474-79C41D9C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memory and RNNs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74FAFFC-EE13-6E7D-3976-35D8869D82C3}"/>
                  </a:ext>
                </a:extLst>
              </p:cNvPr>
              <p:cNvSpPr/>
              <p:nvPr/>
            </p:nvSpPr>
            <p:spPr>
              <a:xfrm>
                <a:off x="2344616" y="1990914"/>
                <a:ext cx="157089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Some Neural Network used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SG" dirty="0"/>
              </a:p>
              <a:p>
                <a:pPr algn="ctr"/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74FAFFC-EE13-6E7D-3976-35D8869D8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16" y="1990914"/>
                <a:ext cx="1570892" cy="4024923"/>
              </a:xfrm>
              <a:prstGeom prst="rect">
                <a:avLst/>
              </a:prstGeom>
              <a:blipFill>
                <a:blip r:embed="rId2"/>
                <a:stretch>
                  <a:fillRect l="-2317" r="-3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66D4B6-18A8-AE63-2FC1-32C7FC7C8213}"/>
                  </a:ext>
                </a:extLst>
              </p:cNvPr>
              <p:cNvSpPr txBox="1"/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66D4B6-18A8-AE63-2FC1-32C7FC7C8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A004E-C36C-A0BD-B4FD-46D940AD7EB5}"/>
                  </a:ext>
                </a:extLst>
              </p:cNvPr>
              <p:cNvSpPr txBox="1"/>
              <p:nvPr/>
            </p:nvSpPr>
            <p:spPr>
              <a:xfrm>
                <a:off x="-70334" y="4700674"/>
                <a:ext cx="21726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𝑧𝑒𝑟𝑜𝑠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A004E-C36C-A0BD-B4FD-46D940AD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334" y="4700674"/>
                <a:ext cx="2172675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E9812F-F2E8-E040-2472-E8D75FDCF55E}"/>
              </a:ext>
            </a:extLst>
          </p:cNvPr>
          <p:cNvCxnSpPr/>
          <p:nvPr/>
        </p:nvCxnSpPr>
        <p:spPr>
          <a:xfrm>
            <a:off x="1266092" y="2905703"/>
            <a:ext cx="10785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A2532C-5A73-EE55-7432-C84D1C844169}"/>
              </a:ext>
            </a:extLst>
          </p:cNvPr>
          <p:cNvCxnSpPr>
            <a:cxnSpLocks/>
          </p:cNvCxnSpPr>
          <p:nvPr/>
        </p:nvCxnSpPr>
        <p:spPr>
          <a:xfrm>
            <a:off x="1961662" y="4931508"/>
            <a:ext cx="3829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0BD230-5EDA-0119-291A-1D565F88F5CA}"/>
              </a:ext>
            </a:extLst>
          </p:cNvPr>
          <p:cNvCxnSpPr>
            <a:cxnSpLocks/>
          </p:cNvCxnSpPr>
          <p:nvPr/>
        </p:nvCxnSpPr>
        <p:spPr>
          <a:xfrm>
            <a:off x="3915508" y="4931508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99946B-6B6B-90DD-0493-EBE789609C47}"/>
                  </a:ext>
                </a:extLst>
              </p:cNvPr>
              <p:cNvSpPr txBox="1"/>
              <p:nvPr/>
            </p:nvSpPr>
            <p:spPr>
              <a:xfrm>
                <a:off x="4579816" y="4700675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99946B-6B6B-90DD-0493-EBE789609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816" y="4700675"/>
                <a:ext cx="664308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D84635E-2C16-54E4-7A9D-F4ADD004BBF5}"/>
                  </a:ext>
                </a:extLst>
              </p:cNvPr>
              <p:cNvSpPr/>
              <p:nvPr/>
            </p:nvSpPr>
            <p:spPr>
              <a:xfrm>
                <a:off x="6932248" y="1990914"/>
                <a:ext cx="157089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Some Neural Network used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dirty="0"/>
              </a:p>
              <a:p>
                <a:pPr algn="ctr"/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=2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D84635E-2C16-54E4-7A9D-F4ADD004B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248" y="1990914"/>
                <a:ext cx="1570892" cy="4024923"/>
              </a:xfrm>
              <a:prstGeom prst="rect">
                <a:avLst/>
              </a:prstGeom>
              <a:blipFill>
                <a:blip r:embed="rId7"/>
                <a:stretch>
                  <a:fillRect l="-2308" r="-3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1DA120-D8B1-0C8C-2868-4245CBED7B3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244124" y="4931507"/>
            <a:ext cx="168812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088D8-695E-CBE5-B605-617F7284E996}"/>
                  </a:ext>
                </a:extLst>
              </p:cNvPr>
              <p:cNvSpPr txBox="1"/>
              <p:nvPr/>
            </p:nvSpPr>
            <p:spPr>
              <a:xfrm>
                <a:off x="5704255" y="2674870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088D8-695E-CBE5-B605-617F7284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255" y="2674870"/>
                <a:ext cx="120357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5CAEAB-3CD0-DCCC-58DD-7B3E30B7A28D}"/>
              </a:ext>
            </a:extLst>
          </p:cNvPr>
          <p:cNvCxnSpPr>
            <a:cxnSpLocks/>
          </p:cNvCxnSpPr>
          <p:nvPr/>
        </p:nvCxnSpPr>
        <p:spPr>
          <a:xfrm flipV="1">
            <a:off x="6578601" y="2905702"/>
            <a:ext cx="35364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11ED1B-BF15-5FC2-E042-64663686C819}"/>
              </a:ext>
            </a:extLst>
          </p:cNvPr>
          <p:cNvCxnSpPr>
            <a:cxnSpLocks/>
          </p:cNvCxnSpPr>
          <p:nvPr/>
        </p:nvCxnSpPr>
        <p:spPr>
          <a:xfrm>
            <a:off x="8493371" y="4931507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92D947-8A37-C6CB-24FB-05464BCE64E6}"/>
                  </a:ext>
                </a:extLst>
              </p:cNvPr>
              <p:cNvSpPr txBox="1"/>
              <p:nvPr/>
            </p:nvSpPr>
            <p:spPr>
              <a:xfrm>
                <a:off x="9157679" y="4700674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92D947-8A37-C6CB-24FB-05464BCE6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679" y="4700674"/>
                <a:ext cx="664308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690D79-C8B8-1BAF-BBD2-92E9DA5073F0}"/>
                  </a:ext>
                </a:extLst>
              </p:cNvPr>
              <p:cNvSpPr txBox="1"/>
              <p:nvPr/>
            </p:nvSpPr>
            <p:spPr>
              <a:xfrm>
                <a:off x="10658231" y="3560574"/>
                <a:ext cx="13911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Etc.</a:t>
                </a:r>
              </a:p>
              <a:p>
                <a:pPr algn="ctr"/>
                <a:r>
                  <a:rPr lang="en-GB" dirty="0"/>
                  <a:t>(use for loop on time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</a:t>
                </a:r>
                <a:endParaRPr lang="en-SG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690D79-C8B8-1BAF-BBD2-92E9DA50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231" y="3560574"/>
                <a:ext cx="1391138" cy="923330"/>
              </a:xfrm>
              <a:prstGeom prst="rect">
                <a:avLst/>
              </a:prstGeom>
              <a:blipFill>
                <a:blip r:embed="rId11"/>
                <a:stretch>
                  <a:fillRect l="-2620" t="-3289" r="-2620" b="-9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2AF4033-797C-A6C5-0B45-9A22BED2462D}"/>
              </a:ext>
            </a:extLst>
          </p:cNvPr>
          <p:cNvSpPr txBox="1"/>
          <p:nvPr/>
        </p:nvSpPr>
        <p:spPr>
          <a:xfrm>
            <a:off x="-71733" y="5162339"/>
            <a:ext cx="2224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Initialize memory as zeroes?</a:t>
            </a:r>
          </a:p>
        </p:txBody>
      </p:sp>
    </p:spTree>
    <p:extLst>
      <p:ext uri="{BB962C8B-B14F-4D97-AF65-F5344CB8AC3E}">
        <p14:creationId xmlns:p14="http://schemas.microsoft.com/office/powerpoint/2010/main" val="4262229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768D-0ADB-471D-2241-6FFD5D4B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Recurrent Neural Network (RNN)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AE32E-486E-5D7D-8C79-C7083EAF2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87743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Recurrent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Neural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Network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SG" dirty="0"/>
                  <a:t>A </a:t>
                </a:r>
                <a:r>
                  <a:rPr lang="en-SG" b="1" dirty="0">
                    <a:solidFill>
                      <a:srgbClr val="00B050"/>
                    </a:solidFill>
                  </a:rPr>
                  <a:t>Recurrent</a:t>
                </a:r>
                <a:r>
                  <a:rPr lang="en-SG" b="1" dirty="0"/>
                  <a:t> </a:t>
                </a:r>
                <a:r>
                  <a:rPr lang="en-SG" b="1" dirty="0">
                    <a:solidFill>
                      <a:srgbClr val="00B050"/>
                    </a:solidFill>
                  </a:rPr>
                  <a:t>Neural</a:t>
                </a:r>
                <a:r>
                  <a:rPr lang="en-SG" b="1" dirty="0"/>
                  <a:t> </a:t>
                </a:r>
                <a:r>
                  <a:rPr lang="en-SG" b="1" dirty="0">
                    <a:solidFill>
                      <a:srgbClr val="00B050"/>
                    </a:solidFill>
                  </a:rPr>
                  <a:t>Network</a:t>
                </a:r>
                <a:r>
                  <a:rPr lang="en-SG" b="1" dirty="0"/>
                  <a:t> (or </a:t>
                </a:r>
                <a:r>
                  <a:rPr lang="en-SG" b="1" dirty="0">
                    <a:solidFill>
                      <a:srgbClr val="00B050"/>
                    </a:solidFill>
                  </a:rPr>
                  <a:t>RNN</a:t>
                </a:r>
                <a:r>
                  <a:rPr lang="en-SG" b="1" dirty="0"/>
                  <a:t>) </a:t>
                </a:r>
                <a:r>
                  <a:rPr lang="en-SG" dirty="0"/>
                  <a:t>is a neural network that:</a:t>
                </a:r>
              </a:p>
              <a:p>
                <a:r>
                  <a:rPr lang="en-GB" dirty="0"/>
                  <a:t>Receives an input which consists of </a:t>
                </a:r>
                <a:r>
                  <a:rPr lang="en-GB" b="1" dirty="0"/>
                  <a:t>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b="1" dirty="0"/>
                  <a:t> at time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dirty="0"/>
                  <a:t>, and a </a:t>
                </a:r>
                <a:r>
                  <a:rPr lang="en-GB" b="1" dirty="0"/>
                  <a:t>memory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b="1" dirty="0"/>
                  <a:t> computed as one of the Neural Network outputs at time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dirty="0"/>
                  <a:t>. Its initial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dirty="0"/>
                  <a:t> often gets initialized as zeroes.</a:t>
                </a:r>
              </a:p>
              <a:p>
                <a:r>
                  <a:rPr lang="en-GB" dirty="0"/>
                  <a:t>Computes an </a:t>
                </a:r>
                <a:r>
                  <a:rPr lang="en-GB" b="1" dirty="0"/>
                  <a:t>updated memory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/>
                  <a:t>, </a:t>
                </a:r>
                <a:r>
                  <a:rPr lang="en-GB" dirty="0"/>
                  <a:t>hopefully keeping a memory of what has happened in the previous operations. </a:t>
                </a:r>
              </a:p>
              <a:p>
                <a:pPr marL="0" indent="0">
                  <a:buNone/>
                </a:pPr>
                <a:r>
                  <a:rPr lang="en-SG" dirty="0"/>
                  <a:t>The </a:t>
                </a:r>
                <a:r>
                  <a:rPr lang="en-SG" b="1" dirty="0">
                    <a:solidFill>
                      <a:srgbClr val="00B050"/>
                    </a:solidFill>
                  </a:rPr>
                  <a:t>RNN</a:t>
                </a:r>
                <a:r>
                  <a:rPr lang="en-SG" dirty="0"/>
                  <a:t> is then used on all datapoints in the time series, using a for loop repeating the forward pass operation on all data points. Once all data points have been seen the </a:t>
                </a:r>
                <a:r>
                  <a:rPr lang="en-SG" b="1" dirty="0"/>
                  <a:t>final memory vector value </a:t>
                </a:r>
                <a:r>
                  <a:rPr lang="en-SG" dirty="0"/>
                  <a:t>can be used as the </a:t>
                </a:r>
                <a:r>
                  <a:rPr lang="en-SG" b="1" dirty="0"/>
                  <a:t>produced output </a:t>
                </a:r>
                <a:r>
                  <a:rPr lang="en-SG" dirty="0"/>
                  <a:t>from the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AE32E-486E-5D7D-8C79-C7083EAF2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87743" cy="5032375"/>
              </a:xfrm>
              <a:blipFill>
                <a:blip r:embed="rId2"/>
                <a:stretch>
                  <a:fillRect l="-1130" t="-1937" r="-1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272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FEED-7811-3367-828E-819E23EB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Want to learn more about RNNs?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E9B48-BE19-AE1B-8C42-0B55BA5BB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Recurrent Neural Networks are typically used on numerical time series data (think weather, finance, etc.)</a:t>
            </a:r>
          </a:p>
          <a:p>
            <a:r>
              <a:rPr lang="en-GB" dirty="0"/>
              <a:t>They are also used a lot in Natural Language Processing:</a:t>
            </a:r>
            <a:br>
              <a:rPr lang="en-GB" dirty="0"/>
            </a:br>
            <a:r>
              <a:rPr lang="en-GB" dirty="0"/>
              <a:t>A sentence can be seen as a time series of words!</a:t>
            </a:r>
          </a:p>
          <a:p>
            <a:r>
              <a:rPr lang="en-GB" dirty="0"/>
              <a:t>Their intuition, and implementation logic is out-of-scope for this course.</a:t>
            </a:r>
          </a:p>
          <a:p>
            <a:r>
              <a:rPr lang="en-GB" i="1" dirty="0"/>
              <a:t>(But if curious, bonus slides!)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443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B9DA-D92A-F618-66B2-4D86B8BA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FA37-8413-62E6-16FD-E3BB1098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Want to learn more about RNNs?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35033-E747-AFF9-DFD1-FC88C1781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Recurrent Neural Networks are typically used on numerical time series data (think weather, finance, etc.)</a:t>
            </a:r>
          </a:p>
          <a:p>
            <a:r>
              <a:rPr lang="en-GB" dirty="0"/>
              <a:t>They are also used a lot in Natural Language Processing:</a:t>
            </a:r>
            <a:br>
              <a:rPr lang="en-GB" dirty="0"/>
            </a:br>
            <a:r>
              <a:rPr lang="en-GB" dirty="0"/>
              <a:t>A sentence can be seen as a time series of words!</a:t>
            </a:r>
          </a:p>
          <a:p>
            <a:r>
              <a:rPr lang="en-GB" dirty="0"/>
              <a:t>Their intuition, and implementation logic is out-of-scope for this course.</a:t>
            </a:r>
          </a:p>
          <a:p>
            <a:r>
              <a:rPr lang="en-GB" i="1" dirty="0"/>
              <a:t>(But if curious, bonus slides!)</a:t>
            </a:r>
          </a:p>
          <a:p>
            <a:endParaRPr lang="en-GB" dirty="0"/>
          </a:p>
        </p:txBody>
      </p:sp>
      <p:pic>
        <p:nvPicPr>
          <p:cNvPr id="7170" name="Picture 2" descr="Comparing Natural Language Processing Techniques: RNNs, Transformers, BERT  - KDnuggets">
            <a:extLst>
              <a:ext uri="{FF2B5EF4-FFF2-40B4-BE49-F238E27FC236}">
                <a16:creationId xmlns:a16="http://schemas.microsoft.com/office/drawing/2014/main" id="{AEFBFA76-F957-F7CA-097A-6C5621C41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06" y="2221435"/>
            <a:ext cx="10449494" cy="3559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281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C90B5-DA0E-0CB7-A505-E85D7DD8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ADB8-1844-189A-0FE6-747EEDE1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Want to learn more about RNNs?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F265-111A-7B6F-BA4F-9EF21A3D0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Recurrent Neural Networks are typically used on numerical time series data (think weather, finance, etc.)</a:t>
            </a:r>
          </a:p>
          <a:p>
            <a:r>
              <a:rPr lang="en-GB" dirty="0"/>
              <a:t>They are also used a lot in Natural Language Processing:</a:t>
            </a:r>
            <a:br>
              <a:rPr lang="en-GB" dirty="0"/>
            </a:br>
            <a:r>
              <a:rPr lang="en-GB" dirty="0"/>
              <a:t>A sentence can be seen as a time series of words!</a:t>
            </a:r>
          </a:p>
          <a:p>
            <a:r>
              <a:rPr lang="en-GB" dirty="0"/>
              <a:t>Their intuition, and implementation logic is out-of-scope for this course.</a:t>
            </a:r>
          </a:p>
          <a:p>
            <a:r>
              <a:rPr lang="en-GB" i="1" dirty="0"/>
              <a:t>(But if curious, bonus slides!)</a:t>
            </a:r>
          </a:p>
          <a:p>
            <a:endParaRPr lang="en-GB" dirty="0"/>
          </a:p>
        </p:txBody>
      </p:sp>
      <p:pic>
        <p:nvPicPr>
          <p:cNvPr id="7170" name="Picture 2" descr="Comparing Natural Language Processing Techniques: RNNs, Transformers, BERT  - KDnuggets">
            <a:extLst>
              <a:ext uri="{FF2B5EF4-FFF2-40B4-BE49-F238E27FC236}">
                <a16:creationId xmlns:a16="http://schemas.microsoft.com/office/drawing/2014/main" id="{D8A23EEB-56F9-4D31-F588-E94525ADF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06" y="2221435"/>
            <a:ext cx="10449494" cy="3559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ow to Control Autocorrect &amp; Predictive Text on iPhone">
            <a:extLst>
              <a:ext uri="{FF2B5EF4-FFF2-40B4-BE49-F238E27FC236}">
                <a16:creationId xmlns:a16="http://schemas.microsoft.com/office/drawing/2014/main" id="{02DBDDD8-AAC8-E53A-5BCF-46F25FE7E1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 r="7932"/>
          <a:stretch>
            <a:fillRect/>
          </a:stretch>
        </p:blipFill>
        <p:spPr bwMode="auto">
          <a:xfrm>
            <a:off x="685675" y="2079965"/>
            <a:ext cx="4027714" cy="38426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3BE135-9385-41E3-E3BC-95DFE197C6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21" t="9930" r="20893" b="3016"/>
          <a:stretch>
            <a:fillRect/>
          </a:stretch>
        </p:blipFill>
        <p:spPr>
          <a:xfrm>
            <a:off x="5230459" y="1469571"/>
            <a:ext cx="6640411" cy="52627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271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A4E9-9DD0-5D61-6F41-047DF9BA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ideas behind memory-based models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42F1-3AC9-47C6-0B59-A6D4BF707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But hold on a second, what is the human brain doing when it comes to memory anyway?</a:t>
            </a:r>
          </a:p>
          <a:p>
            <a:r>
              <a:rPr lang="en-GB" dirty="0"/>
              <a:t>Our brains will decide what is an important information to </a:t>
            </a:r>
            <a:r>
              <a:rPr lang="en-GB" b="1" dirty="0"/>
              <a:t>remember</a:t>
            </a:r>
            <a:r>
              <a:rPr lang="en-GB" dirty="0"/>
              <a:t> over time,</a:t>
            </a:r>
          </a:p>
          <a:p>
            <a:r>
              <a:rPr lang="en-GB" dirty="0"/>
              <a:t>But it might also choose to </a:t>
            </a:r>
            <a:r>
              <a:rPr lang="en-GB" b="1" dirty="0"/>
              <a:t>forget</a:t>
            </a:r>
            <a:r>
              <a:rPr lang="en-GB" dirty="0"/>
              <a:t> about information that is no longer relevant!</a:t>
            </a:r>
          </a:p>
          <a:p>
            <a:r>
              <a:rPr lang="en-GB" dirty="0"/>
              <a:t>(Basically, freeing space in the memory of your brain!)</a:t>
            </a:r>
            <a:endParaRPr lang="en-SG" dirty="0"/>
          </a:p>
        </p:txBody>
      </p:sp>
      <p:pic>
        <p:nvPicPr>
          <p:cNvPr id="6" name="Picture 5" descr="A picture containing person, phone, cellphone&#10;&#10;Description automatically generated">
            <a:extLst>
              <a:ext uri="{FF2B5EF4-FFF2-40B4-BE49-F238E27FC236}">
                <a16:creationId xmlns:a16="http://schemas.microsoft.com/office/drawing/2014/main" id="{F4A2A0D0-72EE-4F3F-35D4-0F2C943E8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965" y="1553306"/>
            <a:ext cx="5483795" cy="4112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901C81-2DF4-9E7A-6DE1-7AD7F4414F31}"/>
              </a:ext>
            </a:extLst>
          </p:cNvPr>
          <p:cNvSpPr txBox="1"/>
          <p:nvPr/>
        </p:nvSpPr>
        <p:spPr>
          <a:xfrm>
            <a:off x="6522965" y="5750004"/>
            <a:ext cx="5799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Learn more about memory and the brain, here:</a:t>
            </a:r>
            <a:br>
              <a:rPr lang="en-GB" sz="2200" dirty="0"/>
            </a:br>
            <a:r>
              <a:rPr lang="en-GB" sz="2200" dirty="0">
                <a:hlinkClick r:id="rId3"/>
              </a:rPr>
              <a:t>https://lesley.edu/article/stages-of-memory</a:t>
            </a:r>
            <a:endParaRPr lang="en-GB" sz="2200" dirty="0"/>
          </a:p>
          <a:p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1888637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BBC2-84BE-A996-FE94-FD108FDC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8305-9C93-036D-BE69-60B000F9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ideas behind memory-based models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5FA57-03F7-0D2B-DC25-B384F224D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5257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brain also has </a:t>
            </a:r>
            <a:r>
              <a:rPr lang="en-GB" b="1" dirty="0"/>
              <a:t>several types of memories</a:t>
            </a:r>
            <a:r>
              <a:rPr lang="en-GB" dirty="0"/>
              <a:t>. For instance, it has:</a:t>
            </a:r>
          </a:p>
          <a:p>
            <a:r>
              <a:rPr lang="en-GB" dirty="0"/>
              <a:t>A </a:t>
            </a:r>
            <a:r>
              <a:rPr lang="en-GB" b="1" dirty="0"/>
              <a:t>short-term</a:t>
            </a:r>
            <a:r>
              <a:rPr lang="en-GB" dirty="0"/>
              <a:t> memory (What did you have for lunch today? How about lunch two months ago?)</a:t>
            </a:r>
          </a:p>
          <a:p>
            <a:r>
              <a:rPr lang="en-GB" dirty="0"/>
              <a:t>A </a:t>
            </a:r>
            <a:r>
              <a:rPr lang="en-GB" b="1" dirty="0"/>
              <a:t>long-term</a:t>
            </a:r>
            <a:r>
              <a:rPr lang="en-GB" dirty="0"/>
              <a:t> memory (What was your favourite toy as a kid? What was the first video game you ever played?)</a:t>
            </a:r>
          </a:p>
          <a:p>
            <a:pPr marL="0" indent="0">
              <a:buNone/>
            </a:pPr>
            <a:r>
              <a:rPr lang="en-GB" dirty="0"/>
              <a:t>The human brain seems capable to decide what makes it into each of these memories, in a </a:t>
            </a:r>
            <a:r>
              <a:rPr lang="en-GB" b="1" dirty="0"/>
              <a:t>controlled</a:t>
            </a:r>
            <a:r>
              <a:rPr lang="en-GB" dirty="0"/>
              <a:t> way.</a:t>
            </a:r>
            <a:endParaRPr lang="en-SG" dirty="0"/>
          </a:p>
        </p:txBody>
      </p:sp>
      <p:pic>
        <p:nvPicPr>
          <p:cNvPr id="6" name="Picture 5" descr="A picture containing person, phone, cellphone&#10;&#10;Description automatically generated">
            <a:extLst>
              <a:ext uri="{FF2B5EF4-FFF2-40B4-BE49-F238E27FC236}">
                <a16:creationId xmlns:a16="http://schemas.microsoft.com/office/drawing/2014/main" id="{23B91067-5596-51D2-4CBB-A6B60140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965" y="1553306"/>
            <a:ext cx="5483795" cy="4112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0A307D-0301-4736-0F0B-4E1FA71ACCFE}"/>
              </a:ext>
            </a:extLst>
          </p:cNvPr>
          <p:cNvSpPr txBox="1"/>
          <p:nvPr/>
        </p:nvSpPr>
        <p:spPr>
          <a:xfrm>
            <a:off x="6522965" y="5750004"/>
            <a:ext cx="5799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Learn more about memory and the brain, here:</a:t>
            </a:r>
            <a:br>
              <a:rPr lang="en-GB" sz="2200" dirty="0"/>
            </a:br>
            <a:r>
              <a:rPr lang="en-GB" sz="2200" dirty="0">
                <a:hlinkClick r:id="rId3"/>
              </a:rPr>
              <a:t>https://lesley.edu/article/stages-of-memory</a:t>
            </a:r>
            <a:endParaRPr lang="en-GB" sz="2200" dirty="0"/>
          </a:p>
          <a:p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2636755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D002-02FC-2A00-D5DF-089062C9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BEC1-D1F9-4A6E-CECC-2236C4B5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Long Short-Term Memory </a:t>
            </a:r>
            <a:r>
              <a:rPr lang="en-GB" b="1" dirty="0"/>
              <a:t>models):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LSTMs</a:t>
            </a:r>
            <a:r>
              <a:rPr lang="en-GB" b="1" dirty="0"/>
              <a:t> (</a:t>
            </a:r>
            <a:r>
              <a:rPr lang="en-GB" b="1" dirty="0">
                <a:solidFill>
                  <a:srgbClr val="00B050"/>
                </a:solidFill>
              </a:rPr>
              <a:t>Long Short-Term Memory </a:t>
            </a:r>
            <a:r>
              <a:rPr lang="en-GB" b="1" dirty="0"/>
              <a:t>models) </a:t>
            </a:r>
            <a:r>
              <a:rPr lang="en-GB" dirty="0"/>
              <a:t>are a type of recurrent neural network architecture introduced in [Hochreiter1997] and revised in [</a:t>
            </a:r>
            <a:r>
              <a:rPr lang="en-SG" dirty="0"/>
              <a:t>Gers2013</a:t>
            </a:r>
            <a:r>
              <a:rPr lang="en-GB" dirty="0"/>
              <a:t>].</a:t>
            </a:r>
          </a:p>
          <a:p>
            <a:pPr marL="0" indent="0">
              <a:buNone/>
            </a:pPr>
            <a:r>
              <a:rPr lang="en-GB" dirty="0"/>
              <a:t>LSTMs is an advanced type of RNNs, which </a:t>
            </a:r>
            <a:r>
              <a:rPr lang="en-GB" b="1" dirty="0"/>
              <a:t>adds gating mechanisms to selectively update and discard information in the memory vectors</a:t>
            </a:r>
            <a:r>
              <a:rPr lang="en-GB" dirty="0"/>
              <a:t>. It also keep track of memory using two memory vectors, instead of one, to track short-term and long-term memory information.</a:t>
            </a:r>
          </a:p>
          <a:p>
            <a:pPr marL="0" indent="0">
              <a:buNone/>
            </a:pPr>
            <a:r>
              <a:rPr lang="en-GB" dirty="0"/>
              <a:t>This allows the model to </a:t>
            </a:r>
            <a:r>
              <a:rPr lang="en-GB" b="1" dirty="0"/>
              <a:t>selectively choose which information from the previous time step to retain and which to discard</a:t>
            </a:r>
            <a:r>
              <a:rPr lang="en-GB" dirty="0"/>
              <a:t>, in order to give more importance to recently seen values, for instance.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3163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90EDC-996F-33AF-0101-4BBAC4B2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40B8-4003-3D3E-4B56-E5BD8D2D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idea behind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0CAB67-5A32-3B56-BF02-682BC7142606}"/>
                  </a:ext>
                </a:extLst>
              </p:cNvPr>
              <p:cNvSpPr/>
              <p:nvPr/>
            </p:nvSpPr>
            <p:spPr>
              <a:xfrm>
                <a:off x="2344616" y="1990914"/>
                <a:ext cx="732302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LSTM Neural Network prediction at time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0CAB67-5A32-3B56-BF02-682BC71426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16" y="1990914"/>
                <a:ext cx="7323022" cy="4024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4C4693-88E1-4244-EB83-AA8D9DF9ABE6}"/>
                  </a:ext>
                </a:extLst>
              </p:cNvPr>
              <p:cNvSpPr txBox="1"/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63DCC9-4608-745C-1F57-BE9BD8E32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772FD2-05C7-F1A4-E176-1E151849C83D}"/>
                  </a:ext>
                </a:extLst>
              </p:cNvPr>
              <p:cNvSpPr txBox="1"/>
              <p:nvPr/>
            </p:nvSpPr>
            <p:spPr>
              <a:xfrm>
                <a:off x="-66431" y="4640440"/>
                <a:ext cx="21726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0FE10-744A-0E3A-36A8-49E46B407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431" y="4640440"/>
                <a:ext cx="2172675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6E26D2-8B22-0737-2301-740B3A089B44}"/>
              </a:ext>
            </a:extLst>
          </p:cNvPr>
          <p:cNvCxnSpPr/>
          <p:nvPr/>
        </p:nvCxnSpPr>
        <p:spPr>
          <a:xfrm>
            <a:off x="1266092" y="2905703"/>
            <a:ext cx="10785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C37F30-0927-6762-E673-51CC0FC3AD23}"/>
              </a:ext>
            </a:extLst>
          </p:cNvPr>
          <p:cNvCxnSpPr>
            <a:cxnSpLocks/>
          </p:cNvCxnSpPr>
          <p:nvPr/>
        </p:nvCxnSpPr>
        <p:spPr>
          <a:xfrm>
            <a:off x="1781908" y="4931508"/>
            <a:ext cx="5627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41D25B-F070-E068-28B5-16F6B36BDC84}"/>
              </a:ext>
            </a:extLst>
          </p:cNvPr>
          <p:cNvCxnSpPr>
            <a:cxnSpLocks/>
          </p:cNvCxnSpPr>
          <p:nvPr/>
        </p:nvCxnSpPr>
        <p:spPr>
          <a:xfrm>
            <a:off x="9667639" y="4931508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A9F228-73EB-5CF6-A8FD-82F2F45B5426}"/>
                  </a:ext>
                </a:extLst>
              </p:cNvPr>
              <p:cNvSpPr txBox="1"/>
              <p:nvPr/>
            </p:nvSpPr>
            <p:spPr>
              <a:xfrm>
                <a:off x="10331947" y="4700675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6DE83-C6B4-89AF-BF9E-9965FE1C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947" y="4700675"/>
                <a:ext cx="664308" cy="461665"/>
              </a:xfrm>
              <a:prstGeom prst="rect">
                <a:avLst/>
              </a:prstGeom>
              <a:blipFill>
                <a:blip r:embed="rId6"/>
                <a:stretch>
                  <a:fillRect l="-2752" r="-20183"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755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D002-02FC-2A00-D5DF-089062C9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EBEC1-D1F9-4A6E-CECC-2236C4B553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/>
                  <a:t>memory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b="1" dirty="0"/>
                  <a:t> (often called cell state and hidden state) can be seen as conveyor belts that carries information, or memory, across the network.</a:t>
                </a:r>
                <a:endParaRPr lang="en-GB" dirty="0"/>
              </a:p>
              <a:p>
                <a:r>
                  <a:rPr lang="en-GB" b="1" dirty="0"/>
                  <a:t>The gates can either allow or prevent information from flowing through the belt, </a:t>
                </a:r>
                <a:r>
                  <a:rPr lang="en-GB" b="1" u="sng" dirty="0"/>
                  <a:t>mimicking this idea or remembering or forgetting things in the brain</a:t>
                </a:r>
                <a:r>
                  <a:rPr lang="en-GB" b="1" dirty="0"/>
                  <a:t>.</a:t>
                </a:r>
                <a:endParaRPr lang="en-GB" dirty="0"/>
              </a:p>
              <a:p>
                <a:r>
                  <a:rPr lang="en-GB" dirty="0"/>
                  <a:t>This feature makes LSTMs better suited for modelling complex time series data that exhibit long-term dependencies, as they can selectively choose which information to remember or forget at each time step, depending on the input and the context.</a:t>
                </a:r>
              </a:p>
              <a:p>
                <a:r>
                  <a:rPr lang="en-GB" b="1" dirty="0"/>
                  <a:t>Therefore, mimicking the </a:t>
                </a:r>
                <a:r>
                  <a:rPr lang="en-GB" b="1" dirty="0" err="1"/>
                  <a:t>behavior</a:t>
                </a:r>
                <a:r>
                  <a:rPr lang="en-GB" b="1" dirty="0"/>
                  <a:t> of the human brain!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EBEC1-D1F9-4A6E-CECC-2236C4B553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818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1975-EEDC-002B-3E07-DF70C384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SG" b="1" dirty="0"/>
                  <a:t>Below are the equations used in a LSTM model.</a:t>
                </a:r>
              </a:p>
              <a:p>
                <a:r>
                  <a:rPr lang="en-SG" b="1" dirty="0"/>
                  <a:t>Forget Gate: </a:t>
                </a:r>
                <a:r>
                  <a:rPr lang="en-GB" dirty="0"/>
                  <a:t>will be used to decide what information to throw away from the previous cell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presence of a sigmoid,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to have a value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(Will be important later on).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 r="-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5938CD-05DA-1785-3D56-E870E3F271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SG" dirty="0"/>
                  <a:t>Similarly,</a:t>
                </a:r>
              </a:p>
              <a:p>
                <a:r>
                  <a:rPr lang="en-SG" b="1" dirty="0"/>
                  <a:t>Input Gate: </a:t>
                </a:r>
                <a:r>
                  <a:rPr lang="en-SG" dirty="0"/>
                  <a:t>will be </a:t>
                </a:r>
                <a:r>
                  <a:rPr lang="en-GB" dirty="0"/>
                  <a:t>used to decide what new information to store in the current cell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.</a:t>
                </a: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presence of a sigmoid,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to have a value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(Will be important later on).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5938CD-05DA-1785-3D56-E870E3F27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3"/>
                <a:stretch>
                  <a:fillRect l="-2471" t="-2663" r="-12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47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1975-EEDC-002B-3E07-DF70C384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SG" b="1" dirty="0"/>
                  <a:t>Below are the equations used in a LSTM model.</a:t>
                </a:r>
              </a:p>
              <a:p>
                <a:r>
                  <a:rPr lang="en-SG" b="1" dirty="0"/>
                  <a:t>Output Gate: </a:t>
                </a:r>
                <a:r>
                  <a:rPr lang="en-SG" dirty="0"/>
                  <a:t>will </a:t>
                </a:r>
                <a:r>
                  <a:rPr lang="en-GB" dirty="0"/>
                  <a:t>be used to decide what information to output from the current cell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presence of a sigmoid,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to have a value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(Will be important later on).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 r="-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5938CD-05DA-1785-3D56-E870E3F27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Important to note:</a:t>
            </a:r>
          </a:p>
          <a:p>
            <a:r>
              <a:rPr lang="en-GB" dirty="0"/>
              <a:t>All three equations for the forget, input and output gates seem to be following the same logic.</a:t>
            </a:r>
          </a:p>
          <a:p>
            <a:r>
              <a:rPr lang="en-GB" dirty="0"/>
              <a:t>However, they have their own sets of parameters (weights and biases), which can be trained independently later 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1484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1975-EEDC-002B-3E07-DF70C384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dirty="0"/>
                  <a:t>Below are the equations used in the forward method of a LSTM model.</a:t>
                </a:r>
              </a:p>
              <a:p>
                <a:r>
                  <a:rPr lang="en-GB" b="1" dirty="0"/>
                  <a:t>New cell state:</a:t>
                </a:r>
                <a:r>
                  <a:rPr lang="en-GB" dirty="0"/>
                  <a:t> The new 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, is then computed by: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err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The new cell state will consist of</a:t>
                </a:r>
              </a:p>
              <a:p>
                <a:r>
                  <a:rPr lang="en-GB" b="1" dirty="0">
                    <a:solidFill>
                      <a:schemeClr val="accent2"/>
                    </a:solidFill>
                  </a:rPr>
                  <a:t>A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err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b="1" i="1" dirty="0" err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GB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GB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SG" b="1" dirty="0">
                    <a:solidFill>
                      <a:schemeClr val="accent2"/>
                    </a:solidFill>
                  </a:rPr>
                  <a:t> to keep from the previous 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GB" b="1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GB" b="1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br>
                  <a:rPr lang="en-GB" dirty="0"/>
                </a:br>
                <a:r>
                  <a:rPr lang="en-SG" dirty="0"/>
                  <a:t>(= “remembering” part of the previous memory state in the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),</a:t>
                </a:r>
              </a:p>
              <a:p>
                <a:r>
                  <a:rPr lang="en-SG" b="1" dirty="0">
                    <a:solidFill>
                      <a:srgbClr val="00B050"/>
                    </a:solidFill>
                  </a:rPr>
                  <a:t>A new memory state</a:t>
                </a:r>
                <a:r>
                  <a:rPr lang="en-SG" dirty="0"/>
                  <a:t>, decided as a function of the previous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SG" dirty="0"/>
                  <a:t> and the current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. A certain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r>
                  <a:rPr lang="en-SG" dirty="0"/>
                  <a:t>, is then added to the new memory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  <a:blipFill>
                <a:blip r:embed="rId2"/>
                <a:stretch>
                  <a:fillRect l="-1192" t="-1937" r="-5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980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AF1B-2C6F-D267-89F8-9E483370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7E36-5AF2-8219-6A0D-62E9B616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74465-B0B7-C67A-F341-8D557D0DD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dirty="0"/>
                  <a:t>Below are the equations used in the forward method of a LSTM model.</a:t>
                </a:r>
              </a:p>
              <a:p>
                <a:r>
                  <a:rPr lang="en-GB" b="1" dirty="0"/>
                  <a:t>New cell state:</a:t>
                </a:r>
                <a:r>
                  <a:rPr lang="en-GB" dirty="0"/>
                  <a:t> The new 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, is then computed by: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b="1" dirty="0">
                    <a:solidFill>
                      <a:srgbClr val="7030A0"/>
                    </a:solidFill>
                  </a:rPr>
                  <a:t>Question:</a:t>
                </a:r>
                <a:r>
                  <a:rPr lang="en-GB" dirty="0">
                    <a:solidFill>
                      <a:srgbClr val="7030A0"/>
                    </a:solidFill>
                  </a:rPr>
                  <a:t> why use </a:t>
                </a:r>
                <a:r>
                  <a:rPr lang="en-GB" b="1" dirty="0">
                    <a:solidFill>
                      <a:srgbClr val="7030A0"/>
                    </a:solidFill>
                  </a:rPr>
                  <a:t>tanh()</a:t>
                </a:r>
                <a:r>
                  <a:rPr lang="en-GB" dirty="0">
                    <a:solidFill>
                      <a:srgbClr val="7030A0"/>
                    </a:solidFill>
                  </a:rPr>
                  <a:t> here instead of sigmoid?</a:t>
                </a:r>
              </a:p>
              <a:p>
                <a:r>
                  <a:rPr lang="en-GB" dirty="0"/>
                  <a:t>We do not want the values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to be positive real values only. But at the same time, we do not want these values to go crazy (normalize!).</a:t>
                </a:r>
              </a:p>
              <a:p>
                <a:r>
                  <a:rPr lang="en-GB" dirty="0"/>
                  <a:t>Using tanh() keeps values in [-1, 1] and the gates keep the values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under control and somewhat normalized. </a:t>
                </a: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74465-B0B7-C67A-F341-8D557D0DD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  <a:blipFill>
                <a:blip r:embed="rId2"/>
                <a:stretch>
                  <a:fillRect l="-1192" t="-1937" r="-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34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1975-EEDC-002B-3E07-DF70C384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dirty="0"/>
                  <a:t>Below are the equations used in the forward method of a LSTM model.</a:t>
                </a:r>
              </a:p>
              <a:p>
                <a:r>
                  <a:rPr lang="en-GB" b="1" dirty="0"/>
                  <a:t>New hidden state:</a:t>
                </a:r>
                <a:r>
                  <a:rPr lang="en-GB" dirty="0"/>
                  <a:t> The new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, is computed by: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GB" dirty="0"/>
                  <a:t>The new cell state will therefore simply consist of a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SG" dirty="0"/>
                  <a:t> of the current 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Important question: </a:t>
                </a:r>
                <a:r>
                  <a:rPr lang="en-SG" dirty="0"/>
                  <a:t>Hold on a second, why do we need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/>
                  <a:t> to keep track of the memory?!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44200" cy="5032375"/>
              </a:xfrm>
              <a:blipFill>
                <a:blip r:embed="rId2"/>
                <a:stretch>
                  <a:fillRect l="-1192" t="-1937" r="-1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945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1975-EEDC-002B-3E07-DF70C384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dirty="0">
                    <a:solidFill>
                      <a:srgbClr val="7030A0"/>
                    </a:solidFill>
                  </a:rPr>
                  <a:t>Important question: </a:t>
                </a:r>
                <a:r>
                  <a:rPr lang="en-SG" dirty="0">
                    <a:solidFill>
                      <a:srgbClr val="7030A0"/>
                    </a:solidFill>
                  </a:rPr>
                  <a:t>But wait, why do we need two memory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7030A0"/>
                    </a:solidFill>
                  </a:rPr>
                  <a:t> to keep track of the memory?!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r>
                  <a:rPr lang="en-GB" dirty="0"/>
                  <a:t>They serve different purposes in the model…!</a:t>
                </a:r>
              </a:p>
              <a:p>
                <a:r>
                  <a:rPr lang="en-GB" dirty="0"/>
                  <a:t>The </a:t>
                </a:r>
                <a:r>
                  <a:rPr lang="en-GB" b="1" dirty="0">
                    <a:solidFill>
                      <a:schemeClr val="accent2"/>
                    </a:solidFill>
                  </a:rPr>
                  <a:t>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acts as a first type of memory for the LSTM.</a:t>
                </a:r>
              </a:p>
              <a:p>
                <a:r>
                  <a:rPr lang="en-GB" dirty="0"/>
                  <a:t>In fact, it is </a:t>
                </a:r>
                <a:r>
                  <a:rPr lang="en-GB" b="1" dirty="0"/>
                  <a:t>responsible for retaining long-term information </a:t>
                </a:r>
                <a:r>
                  <a:rPr lang="en-GB" dirty="0"/>
                  <a:t>over time. It is the "state" of the cell and is passed from one time step to the next, allowing the LSTM to </a:t>
                </a:r>
                <a:r>
                  <a:rPr lang="en-GB" b="1" dirty="0"/>
                  <a:t>maintain a longer-term memory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88264-BB37-CFC8-0955-0927A7B14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888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5E2F-58A7-1692-FE09-EEE8A731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6415-841A-514F-6A8D-288EABF9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67D09-B578-229E-4EB1-9E41290482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dirty="0">
                    <a:solidFill>
                      <a:srgbClr val="7030A0"/>
                    </a:solidFill>
                  </a:rPr>
                  <a:t>Important question: </a:t>
                </a:r>
                <a:r>
                  <a:rPr lang="en-SG" dirty="0">
                    <a:solidFill>
                      <a:srgbClr val="7030A0"/>
                    </a:solidFill>
                  </a:rPr>
                  <a:t>But wait, why do we need two memory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7030A0"/>
                    </a:solidFill>
                  </a:rPr>
                  <a:t> to keep track of the memory?!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hidden</a:t>
                </a:r>
                <a:r>
                  <a:rPr lang="en-GB" dirty="0">
                    <a:solidFill>
                      <a:srgbClr val="00B050"/>
                    </a:solidFill>
                  </a:rPr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dirty="0"/>
                  <a:t>, on the other hand, is used to </a:t>
                </a:r>
                <a:r>
                  <a:rPr lang="en-GB" b="1" dirty="0"/>
                  <a:t>output the prediction </a:t>
                </a:r>
                <a:r>
                  <a:rPr lang="en-GB" dirty="0"/>
                  <a:t>and </a:t>
                </a:r>
                <a:r>
                  <a:rPr lang="en-GB" b="1" dirty="0"/>
                  <a:t>capture shorter-term dependencies in the data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It serves as a second type of memory that allows the model to </a:t>
                </a:r>
                <a:r>
                  <a:rPr lang="en-GB" b="1" dirty="0"/>
                  <a:t>capture patterns in the input data over shorter time periods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Separating both helps the model avoid the vanishing gradient problem and, at the same time, allows it to better capture short- and long-term dependencies in the data.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67D09-B578-229E-4EB1-9E41290482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714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C363-4152-7DFE-00E6-87EE7920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recap, our LSTM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7853777-6B9E-547F-DABB-2F1A3E24A21B}"/>
                  </a:ext>
                </a:extLst>
              </p:cNvPr>
              <p:cNvSpPr/>
              <p:nvPr/>
            </p:nvSpPr>
            <p:spPr>
              <a:xfrm>
                <a:off x="2344616" y="1990914"/>
                <a:ext cx="732302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LSTM Neural Network prediction at time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G" dirty="0"/>
              </a:p>
              <a:p>
                <a:pPr algn="ctr"/>
                <a:endParaRPr lang="en-SG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​(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SG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n-GB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​(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SG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SG" i="1" dirty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n-GB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i="1" dirty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GB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7853777-6B9E-547F-DABB-2F1A3E24A2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16" y="1990914"/>
                <a:ext cx="7323022" cy="4024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63DCC9-4608-745C-1F57-BE9BD8E329BE}"/>
                  </a:ext>
                </a:extLst>
              </p:cNvPr>
              <p:cNvSpPr txBox="1"/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63DCC9-4608-745C-1F57-BE9BD8E32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0FE10-744A-0E3A-36A8-49E46B40701D}"/>
                  </a:ext>
                </a:extLst>
              </p:cNvPr>
              <p:cNvSpPr txBox="1"/>
              <p:nvPr/>
            </p:nvSpPr>
            <p:spPr>
              <a:xfrm>
                <a:off x="-66431" y="4640440"/>
                <a:ext cx="21726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0FE10-744A-0E3A-36A8-49E46B407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431" y="4640440"/>
                <a:ext cx="2172675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7FFF05-8D46-8F14-6F85-F5BE931BF4EE}"/>
              </a:ext>
            </a:extLst>
          </p:cNvPr>
          <p:cNvCxnSpPr/>
          <p:nvPr/>
        </p:nvCxnSpPr>
        <p:spPr>
          <a:xfrm>
            <a:off x="1266092" y="2905703"/>
            <a:ext cx="10785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C6DB83-7AA9-2C2A-ECC0-0FEBA699687D}"/>
              </a:ext>
            </a:extLst>
          </p:cNvPr>
          <p:cNvCxnSpPr>
            <a:cxnSpLocks/>
          </p:cNvCxnSpPr>
          <p:nvPr/>
        </p:nvCxnSpPr>
        <p:spPr>
          <a:xfrm>
            <a:off x="1781908" y="4931508"/>
            <a:ext cx="5627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36D401-9379-C136-20F2-B5C79E971F76}"/>
              </a:ext>
            </a:extLst>
          </p:cNvPr>
          <p:cNvCxnSpPr>
            <a:cxnSpLocks/>
          </p:cNvCxnSpPr>
          <p:nvPr/>
        </p:nvCxnSpPr>
        <p:spPr>
          <a:xfrm>
            <a:off x="9667639" y="4931508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6DE83-C6B4-89AF-BF9E-9965FE1C2CFF}"/>
                  </a:ext>
                </a:extLst>
              </p:cNvPr>
              <p:cNvSpPr txBox="1"/>
              <p:nvPr/>
            </p:nvSpPr>
            <p:spPr>
              <a:xfrm>
                <a:off x="10331947" y="4700675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36DE83-C6B4-89AF-BF9E-9965FE1C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947" y="4700675"/>
                <a:ext cx="664308" cy="461665"/>
              </a:xfrm>
              <a:prstGeom prst="rect">
                <a:avLst/>
              </a:prstGeom>
              <a:blipFill>
                <a:blip r:embed="rId6"/>
                <a:stretch>
                  <a:fillRect l="-2752" r="-20183" b="-13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578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4F7BCE9-4B93-3A33-6D6C-8C0B560F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our own</a:t>
            </a:r>
            <a:br>
              <a:rPr lang="en-GB" dirty="0"/>
            </a:br>
            <a:r>
              <a:rPr lang="en-GB" dirty="0"/>
              <a:t>LSTM model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F8987C-E172-1405-8751-BD9CE7EB1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41723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Let us start by defining all the weights and biases we need for each of the 6 operations we discussed.</a:t>
            </a:r>
          </a:p>
          <a:p>
            <a:pPr marL="0" indent="0">
              <a:buNone/>
            </a:pPr>
            <a:r>
              <a:rPr lang="en-GB" dirty="0"/>
              <a:t>We implement them in the </a:t>
            </a:r>
            <a:r>
              <a:rPr lang="en-GB" dirty="0" err="1"/>
              <a:t>init</a:t>
            </a:r>
            <a:r>
              <a:rPr lang="en-GB" dirty="0"/>
              <a:t> method of our class as before.</a:t>
            </a:r>
          </a:p>
          <a:p>
            <a:pPr marL="0" indent="0">
              <a:buNone/>
            </a:pPr>
            <a:r>
              <a:rPr lang="en-GB" dirty="0"/>
              <a:t>Pay attention to the sizes used for each parameter.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AE490-08E5-C819-B33D-2F4CF373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923" y="318636"/>
            <a:ext cx="6816111" cy="622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65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4F7BCE9-4B93-3A33-6D6C-8C0B560F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our own LSTM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F8987C-E172-1405-8751-BD9CE7EB1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Eventually, compute all 6 LSTM operations in the forward method.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E2877-6473-820C-AB1F-6E34AAC8E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62"/>
          <a:stretch>
            <a:fillRect/>
          </a:stretch>
        </p:blipFill>
        <p:spPr>
          <a:xfrm>
            <a:off x="1323309" y="2400850"/>
            <a:ext cx="9545382" cy="3575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C9BD6D-F72E-E7D3-5ECB-80FFCFAF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98" y="5892829"/>
            <a:ext cx="2819402" cy="2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85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23CE-D797-D49A-3B8F-540728C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PyTorch</a:t>
            </a:r>
            <a:r>
              <a:rPr lang="en-GB" dirty="0"/>
              <a:t> LSTM (equivalent to ours, but can be repeated </a:t>
            </a:r>
            <a:r>
              <a:rPr lang="en-GB" dirty="0" err="1"/>
              <a:t>num_layers</a:t>
            </a:r>
            <a:r>
              <a:rPr lang="en-GB" dirty="0"/>
              <a:t> times in a row)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CD673-EF46-0E65-8D1D-FB472341C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91"/>
          <a:stretch>
            <a:fillRect/>
          </a:stretch>
        </p:blipFill>
        <p:spPr>
          <a:xfrm>
            <a:off x="1158386" y="1690688"/>
            <a:ext cx="9875227" cy="44815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6F0575-6CCD-EB00-0612-FE070651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8" y="6117770"/>
            <a:ext cx="2819402" cy="2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74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3649-CA74-CC4B-0D35-34E11C04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videos</a:t>
            </a:r>
          </a:p>
        </p:txBody>
      </p:sp>
      <p:pic>
        <p:nvPicPr>
          <p:cNvPr id="9218" name="Picture 2" descr="Long-term Recurrent Convolutional Network (LRCN) - Home">
            <a:extLst>
              <a:ext uri="{FF2B5EF4-FFF2-40B4-BE49-F238E27FC236}">
                <a16:creationId xmlns:a16="http://schemas.microsoft.com/office/drawing/2014/main" id="{DB3B4CA6-E50D-4069-1092-EF43562457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87"/>
          <a:stretch>
            <a:fillRect/>
          </a:stretch>
        </p:blipFill>
        <p:spPr bwMode="auto">
          <a:xfrm>
            <a:off x="6930603" y="300265"/>
            <a:ext cx="3496043" cy="353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E2E4EE-E4F0-3C47-C683-A1992815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644" y="4030889"/>
            <a:ext cx="6551963" cy="2526846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F1F3EE0-7C42-0776-72DD-4A99B8A8E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4"/>
            <a:ext cx="478971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videos are defined as </a:t>
            </a:r>
            <a:r>
              <a:rPr lang="en-GB" b="1" dirty="0"/>
              <a:t>sequences of images.</a:t>
            </a:r>
          </a:p>
          <a:p>
            <a:r>
              <a:rPr lang="en-GB" dirty="0"/>
              <a:t>Images have to be processed with CNNs.</a:t>
            </a:r>
          </a:p>
          <a:p>
            <a:r>
              <a:rPr lang="en-GB" dirty="0"/>
              <a:t>Sequences require RNNs with memory vectors.</a:t>
            </a:r>
          </a:p>
          <a:p>
            <a:r>
              <a:rPr lang="en-GB" b="1" dirty="0"/>
              <a:t>Idea: </a:t>
            </a:r>
            <a:r>
              <a:rPr lang="en-GB" dirty="0"/>
              <a:t>combine both concepts and make a RNN of CNNs!</a:t>
            </a:r>
          </a:p>
        </p:txBody>
      </p:sp>
    </p:spTree>
    <p:extLst>
      <p:ext uri="{BB962C8B-B14F-4D97-AF65-F5344CB8AC3E}">
        <p14:creationId xmlns:p14="http://schemas.microsoft.com/office/powerpoint/2010/main" val="1998115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96E3-A8A1-1D17-BBF1-01AE3AF2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5FE0-59B3-4397-D425-F6807C03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RNN+CNN idea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CFD8C8-926B-63CB-D03D-7AA7F37C73BF}"/>
                  </a:ext>
                </a:extLst>
              </p:cNvPr>
              <p:cNvSpPr/>
              <p:nvPr/>
            </p:nvSpPr>
            <p:spPr>
              <a:xfrm>
                <a:off x="2344616" y="1990914"/>
                <a:ext cx="157089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Some Convolutional Neural Network used on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SG" dirty="0"/>
              </a:p>
              <a:p>
                <a:pPr algn="ctr"/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CFD8C8-926B-63CB-D03D-7AA7F37C73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16" y="1990914"/>
                <a:ext cx="1570892" cy="4024923"/>
              </a:xfrm>
              <a:prstGeom prst="rect">
                <a:avLst/>
              </a:prstGeom>
              <a:blipFill>
                <a:blip r:embed="rId2"/>
                <a:stretch>
                  <a:fillRect l="-386" r="-3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14405B-A63C-F36D-DE16-223DC105B366}"/>
                  </a:ext>
                </a:extLst>
              </p:cNvPr>
              <p:cNvSpPr txBox="1"/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14405B-A63C-F36D-DE16-223DC105B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2" y="2674871"/>
                <a:ext cx="120357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5667D4-CBAD-36C4-0181-7DD7936EEB70}"/>
                  </a:ext>
                </a:extLst>
              </p:cNvPr>
              <p:cNvSpPr txBox="1"/>
              <p:nvPr/>
            </p:nvSpPr>
            <p:spPr>
              <a:xfrm>
                <a:off x="-70334" y="4253071"/>
                <a:ext cx="24950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𝑧𝑒𝑟𝑜𝑠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5667D4-CBAD-36C4-0181-7DD7936EE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334" y="4253071"/>
                <a:ext cx="2495059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8B4309-68F7-7599-58BE-413572BD516A}"/>
              </a:ext>
            </a:extLst>
          </p:cNvPr>
          <p:cNvCxnSpPr/>
          <p:nvPr/>
        </p:nvCxnSpPr>
        <p:spPr>
          <a:xfrm>
            <a:off x="1266092" y="2905703"/>
            <a:ext cx="10785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CB2F0B-9F12-C856-2D2A-2FC66055F86A}"/>
              </a:ext>
            </a:extLst>
          </p:cNvPr>
          <p:cNvCxnSpPr>
            <a:cxnSpLocks/>
          </p:cNvCxnSpPr>
          <p:nvPr/>
        </p:nvCxnSpPr>
        <p:spPr>
          <a:xfrm>
            <a:off x="1961662" y="4931508"/>
            <a:ext cx="3829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573BBC-4ECB-FDDD-5752-DF591A3B775F}"/>
              </a:ext>
            </a:extLst>
          </p:cNvPr>
          <p:cNvCxnSpPr>
            <a:cxnSpLocks/>
          </p:cNvCxnSpPr>
          <p:nvPr/>
        </p:nvCxnSpPr>
        <p:spPr>
          <a:xfrm>
            <a:off x="3915508" y="4931508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DB6515-DFD2-8574-3513-018E831E56B8}"/>
                  </a:ext>
                </a:extLst>
              </p:cNvPr>
              <p:cNvSpPr txBox="1"/>
              <p:nvPr/>
            </p:nvSpPr>
            <p:spPr>
              <a:xfrm>
                <a:off x="4579816" y="4700675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DB6515-DFD2-8574-3513-018E831E5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816" y="4700675"/>
                <a:ext cx="664308" cy="461665"/>
              </a:xfrm>
              <a:prstGeom prst="rect">
                <a:avLst/>
              </a:prstGeom>
              <a:blipFill>
                <a:blip r:embed="rId5"/>
                <a:stretch>
                  <a:fillRect r="-25688" b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ADC09FB-0981-1E6C-FD6A-9D370BD9F93B}"/>
                  </a:ext>
                </a:extLst>
              </p:cNvPr>
              <p:cNvSpPr/>
              <p:nvPr/>
            </p:nvSpPr>
            <p:spPr>
              <a:xfrm>
                <a:off x="6932248" y="1990914"/>
                <a:ext cx="1570892" cy="40249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Some Convolutional Neural Network used on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dirty="0"/>
              </a:p>
              <a:p>
                <a:pPr algn="ctr"/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=2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ADC09FB-0981-1E6C-FD6A-9D370BD9F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248" y="1990914"/>
                <a:ext cx="1570892" cy="4024923"/>
              </a:xfrm>
              <a:prstGeom prst="rect">
                <a:avLst/>
              </a:prstGeom>
              <a:blipFill>
                <a:blip r:embed="rId6"/>
                <a:stretch>
                  <a:fillRect r="-3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F16B93-F9E8-B1C2-7369-B10A8FB9F269}"/>
              </a:ext>
            </a:extLst>
          </p:cNvPr>
          <p:cNvCxnSpPr>
            <a:cxnSpLocks/>
          </p:cNvCxnSpPr>
          <p:nvPr/>
        </p:nvCxnSpPr>
        <p:spPr>
          <a:xfrm>
            <a:off x="5486400" y="4931506"/>
            <a:ext cx="14458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26C2A3-303B-2C98-CAA9-39B7FA7BD0EC}"/>
                  </a:ext>
                </a:extLst>
              </p:cNvPr>
              <p:cNvSpPr txBox="1"/>
              <p:nvPr/>
            </p:nvSpPr>
            <p:spPr>
              <a:xfrm>
                <a:off x="5704255" y="2674870"/>
                <a:ext cx="1203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26C2A3-303B-2C98-CAA9-39B7FA7B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255" y="2674870"/>
                <a:ext cx="120357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1E2F35-57D9-5FF9-67F8-9A2B826C47C3}"/>
              </a:ext>
            </a:extLst>
          </p:cNvPr>
          <p:cNvCxnSpPr>
            <a:cxnSpLocks/>
          </p:cNvCxnSpPr>
          <p:nvPr/>
        </p:nvCxnSpPr>
        <p:spPr>
          <a:xfrm flipV="1">
            <a:off x="6578601" y="2905702"/>
            <a:ext cx="35364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3FA074-78EA-7D6A-52CD-9EA6D76BE4E0}"/>
              </a:ext>
            </a:extLst>
          </p:cNvPr>
          <p:cNvCxnSpPr>
            <a:cxnSpLocks/>
          </p:cNvCxnSpPr>
          <p:nvPr/>
        </p:nvCxnSpPr>
        <p:spPr>
          <a:xfrm>
            <a:off x="8493371" y="4931507"/>
            <a:ext cx="6643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764B27-62C7-B2D3-411A-F9AB3BAB1B40}"/>
                  </a:ext>
                </a:extLst>
              </p:cNvPr>
              <p:cNvSpPr txBox="1"/>
              <p:nvPr/>
            </p:nvSpPr>
            <p:spPr>
              <a:xfrm>
                <a:off x="9157679" y="4700674"/>
                <a:ext cx="66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0764B27-62C7-B2D3-411A-F9AB3BAB1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679" y="4700674"/>
                <a:ext cx="664308" cy="461665"/>
              </a:xfrm>
              <a:prstGeom prst="rect">
                <a:avLst/>
              </a:prstGeom>
              <a:blipFill>
                <a:blip r:embed="rId8"/>
                <a:stretch>
                  <a:fillRect r="-27523" b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F2DC5D6-B415-36E1-33A1-E49DFA71C25C}"/>
                  </a:ext>
                </a:extLst>
              </p:cNvPr>
              <p:cNvSpPr txBox="1"/>
              <p:nvPr/>
            </p:nvSpPr>
            <p:spPr>
              <a:xfrm>
                <a:off x="10658231" y="3560574"/>
                <a:ext cx="13911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Etc.</a:t>
                </a:r>
              </a:p>
              <a:p>
                <a:pPr algn="ctr"/>
                <a:r>
                  <a:rPr lang="en-GB" dirty="0"/>
                  <a:t>(use for loop on time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</a:t>
                </a:r>
                <a:endParaRPr lang="en-SG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690D79-C8B8-1BAF-BBD2-92E9DA50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231" y="3560574"/>
                <a:ext cx="1391138" cy="923330"/>
              </a:xfrm>
              <a:prstGeom prst="rect">
                <a:avLst/>
              </a:prstGeom>
              <a:blipFill>
                <a:blip r:embed="rId11"/>
                <a:stretch>
                  <a:fillRect l="-2620" t="-3289" r="-2620" b="-9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DD2321-6CDB-541E-575E-5DA202EE2BBC}"/>
              </a:ext>
            </a:extLst>
          </p:cNvPr>
          <p:cNvSpPr txBox="1"/>
          <p:nvPr/>
        </p:nvSpPr>
        <p:spPr>
          <a:xfrm>
            <a:off x="-71733" y="4700674"/>
            <a:ext cx="2224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Initialize memory as zeroes?</a:t>
            </a:r>
          </a:p>
        </p:txBody>
      </p:sp>
    </p:spTree>
    <p:extLst>
      <p:ext uri="{BB962C8B-B14F-4D97-AF65-F5344CB8AC3E}">
        <p14:creationId xmlns:p14="http://schemas.microsoft.com/office/powerpoint/2010/main" val="2578393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0EC7-445F-1D05-1B61-B5D67817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BFDE-A3B6-8CC4-BEE5-93A034AD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videos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A428F-BD45-1F89-36DC-4126ABFA5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4"/>
            <a:ext cx="478971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videos are defined as </a:t>
            </a:r>
            <a:r>
              <a:rPr lang="en-GB" b="1" dirty="0"/>
              <a:t>sequences of images.</a:t>
            </a:r>
          </a:p>
          <a:p>
            <a:r>
              <a:rPr lang="en-GB" dirty="0"/>
              <a:t>Images have to be processed with CNNs.</a:t>
            </a:r>
          </a:p>
          <a:p>
            <a:r>
              <a:rPr lang="en-GB" dirty="0"/>
              <a:t>Sequences require RNNs with memory vectors.</a:t>
            </a:r>
          </a:p>
          <a:p>
            <a:r>
              <a:rPr lang="en-GB" b="1" dirty="0"/>
              <a:t>Idea: </a:t>
            </a:r>
            <a:r>
              <a:rPr lang="en-GB" dirty="0"/>
              <a:t>combine both concepts and make a RNN of CNNs!</a:t>
            </a:r>
          </a:p>
          <a:p>
            <a:r>
              <a:rPr lang="en-GB" b="1" dirty="0">
                <a:solidFill>
                  <a:srgbClr val="7030A0"/>
                </a:solidFill>
              </a:rPr>
              <a:t>Eventually, use the final memory vector for predictions!</a:t>
            </a:r>
          </a:p>
        </p:txBody>
      </p:sp>
      <p:pic>
        <p:nvPicPr>
          <p:cNvPr id="9218" name="Picture 2" descr="Long-term Recurrent Convolutional Network (LRCN) - Home">
            <a:extLst>
              <a:ext uri="{FF2B5EF4-FFF2-40B4-BE49-F238E27FC236}">
                <a16:creationId xmlns:a16="http://schemas.microsoft.com/office/drawing/2014/main" id="{62CDE3C6-4B86-E81E-71FE-3918706DB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87"/>
          <a:stretch>
            <a:fillRect/>
          </a:stretch>
        </p:blipFill>
        <p:spPr bwMode="auto">
          <a:xfrm>
            <a:off x="6930603" y="300265"/>
            <a:ext cx="3496043" cy="353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26DD89-2AF2-A758-4854-697B7DC7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644" y="4030889"/>
            <a:ext cx="6551963" cy="252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09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9F13-8DDA-04E6-D4B2-DC4A49F9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1 – Make a CNN to process each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BE7F-FDF7-8E21-3CE9-AB17947349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CNN will simply consist of:</a:t>
            </a:r>
          </a:p>
          <a:p>
            <a:r>
              <a:rPr lang="en-GB" dirty="0"/>
              <a:t>3 Convolutional layers,</a:t>
            </a:r>
          </a:p>
          <a:p>
            <a:r>
              <a:rPr lang="en-GB" dirty="0"/>
              <a:t>Flatten,</a:t>
            </a:r>
          </a:p>
          <a:p>
            <a:r>
              <a:rPr lang="en-GB" dirty="0"/>
              <a:t>And a single final linear layer,</a:t>
            </a:r>
          </a:p>
          <a:p>
            <a:r>
              <a:rPr lang="en-GB" dirty="0" err="1"/>
              <a:t>ReLU</a:t>
            </a:r>
            <a:r>
              <a:rPr lang="en-GB" dirty="0"/>
              <a:t> as activation functions, except for the final layer.</a:t>
            </a:r>
          </a:p>
        </p:txBody>
      </p:sp>
    </p:spTree>
    <p:extLst>
      <p:ext uri="{BB962C8B-B14F-4D97-AF65-F5344CB8AC3E}">
        <p14:creationId xmlns:p14="http://schemas.microsoft.com/office/powerpoint/2010/main" val="3208212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5420-1305-3370-2F4B-840D772A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1F54-5D76-B9D6-5FC4-FFDFB25A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1 – Make a CNN to process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34D4-DB0B-4F65-4545-9C96AD882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CNN will simply consist of:</a:t>
            </a:r>
          </a:p>
          <a:p>
            <a:r>
              <a:rPr lang="en-GB" dirty="0"/>
              <a:t>3 Convolutional layers,</a:t>
            </a:r>
          </a:p>
          <a:p>
            <a:r>
              <a:rPr lang="en-GB" dirty="0"/>
              <a:t>Flatten,</a:t>
            </a:r>
          </a:p>
          <a:p>
            <a:r>
              <a:rPr lang="en-GB" dirty="0"/>
              <a:t>And a single final linear layer.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A9C90-EC70-0E04-F295-C10CA1759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97" y="252941"/>
            <a:ext cx="11116205" cy="635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411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E63B-B3AE-A552-755F-F8A997CA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DE10-453D-39CE-FA06-7815CF03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1 – Make a CNN to process each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B939-9CF2-E987-6DA0-7695600D1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CNN will simply consist of:</a:t>
            </a:r>
          </a:p>
          <a:p>
            <a:r>
              <a:rPr lang="en-GB" dirty="0"/>
              <a:t>3 Convolutional layers,</a:t>
            </a:r>
          </a:p>
          <a:p>
            <a:r>
              <a:rPr lang="en-GB" dirty="0"/>
              <a:t>Flatten,</a:t>
            </a:r>
          </a:p>
          <a:p>
            <a:r>
              <a:rPr lang="en-GB" dirty="0"/>
              <a:t>And a single final linear layer,</a:t>
            </a:r>
          </a:p>
          <a:p>
            <a:r>
              <a:rPr lang="en-GB" dirty="0" err="1"/>
              <a:t>ReLU</a:t>
            </a:r>
            <a:r>
              <a:rPr lang="en-GB" dirty="0"/>
              <a:t> as activation functions, except for the final layer.</a:t>
            </a:r>
          </a:p>
          <a:p>
            <a:pPr marL="0" indent="0">
              <a:buNone/>
            </a:pPr>
            <a:r>
              <a:rPr lang="en-GB" dirty="0"/>
              <a:t>Can test it on our video!</a:t>
            </a:r>
          </a:p>
          <a:p>
            <a:r>
              <a:rPr lang="en-GB" dirty="0"/>
              <a:t>Each frame is processed by the CNN and is transformed into a vector of size 128!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E9A42-81ED-C31E-D7B6-1D5E0F00C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9255"/>
            <a:ext cx="5957896" cy="303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59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06F2-B1E6-94AB-F4C3-BC4B2B2E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3160-142A-F1EC-D4E1-7B1A97E2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 – Make a RNN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8765-E01B-B8A4-4DF6-64F4056C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will start simple</a:t>
            </a:r>
          </a:p>
          <a:p>
            <a:r>
              <a:rPr lang="en-GB" dirty="0"/>
              <a:t>Only one memory vector h,</a:t>
            </a:r>
          </a:p>
          <a:p>
            <a:r>
              <a:rPr lang="en-GB" dirty="0"/>
              <a:t>Simple memory update, following the gating operation from LSTMs,</a:t>
            </a:r>
          </a:p>
          <a:p>
            <a:r>
              <a:rPr lang="en-GB" dirty="0"/>
              <a:t>Reuse the CNN on each frame of our video, and pass the output of CNNs as inputs for the memory update operation.</a:t>
            </a:r>
          </a:p>
          <a:p>
            <a:r>
              <a:rPr lang="en-GB" dirty="0"/>
              <a:t>Final memory vector through a linear to produce final output</a:t>
            </a:r>
          </a:p>
        </p:txBody>
      </p:sp>
    </p:spTree>
    <p:extLst>
      <p:ext uri="{BB962C8B-B14F-4D97-AF65-F5344CB8AC3E}">
        <p14:creationId xmlns:p14="http://schemas.microsoft.com/office/powerpoint/2010/main" val="2607555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549-1F98-DB5D-FAD1-A2FF07D1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CF5B-46C4-528A-D977-D7279885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 – Make a RNN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98E5-6193-DAFB-C8B5-19738F16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will start simple</a:t>
            </a:r>
          </a:p>
          <a:p>
            <a:r>
              <a:rPr lang="en-GB" dirty="0"/>
              <a:t>Only one memory vector h,</a:t>
            </a:r>
          </a:p>
          <a:p>
            <a:r>
              <a:rPr lang="en-GB" dirty="0"/>
              <a:t>Simple memory update, following the gating operation from LSTMs,</a:t>
            </a:r>
          </a:p>
          <a:p>
            <a:r>
              <a:rPr lang="en-GB" dirty="0"/>
              <a:t>Reuse the CNN on each frame of our video, and pass the output of CNNs as inputs for the memory update operation.</a:t>
            </a:r>
          </a:p>
          <a:p>
            <a:r>
              <a:rPr lang="en-GB" dirty="0"/>
              <a:t>Final memory vector through a linear to produce final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344C6-6D06-10E7-CE24-605C89689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873"/>
          <a:stretch>
            <a:fillRect/>
          </a:stretch>
        </p:blipFill>
        <p:spPr>
          <a:xfrm>
            <a:off x="393690" y="1255033"/>
            <a:ext cx="11557024" cy="47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468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0C09-D861-BB60-2814-E757C7F5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FB86-34B8-60F4-7984-F83A16CE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 – Make a RNN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A210-D27B-85AF-91C5-2F4B93069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will start simple</a:t>
            </a:r>
          </a:p>
          <a:p>
            <a:r>
              <a:rPr lang="en-GB" dirty="0"/>
              <a:t>Only one memory vector h,</a:t>
            </a:r>
          </a:p>
          <a:p>
            <a:r>
              <a:rPr lang="en-GB" dirty="0"/>
              <a:t>Simple memory update, following the gating operation from LSTMs,</a:t>
            </a:r>
          </a:p>
          <a:p>
            <a:r>
              <a:rPr lang="en-GB" dirty="0"/>
              <a:t>Reuse the CNN on each frame of our video, and pass the output of CNNs as inputs for the memory update operation.</a:t>
            </a:r>
          </a:p>
          <a:p>
            <a:r>
              <a:rPr lang="en-GB" dirty="0"/>
              <a:t>Final memory vector through a linear to produce final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8760C-2DCC-5EF8-D725-9463C05D6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93"/>
          <a:stretch>
            <a:fillRect/>
          </a:stretch>
        </p:blipFill>
        <p:spPr>
          <a:xfrm>
            <a:off x="838200" y="762000"/>
            <a:ext cx="10476323" cy="57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31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6B500-2627-AC10-3EC2-86B68351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42E3-6573-1E55-0B45-A926DEEB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 – Make a RNN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C9C5B-989A-2B3C-DF5D-5EB47C9A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will start simple</a:t>
            </a:r>
          </a:p>
          <a:p>
            <a:r>
              <a:rPr lang="en-GB" dirty="0"/>
              <a:t>Bring in two vectors (one for long term memory, one for short term), called h and c. Simple memory update, following the gating operation </a:t>
            </a:r>
            <a:r>
              <a:rPr lang="en-GB"/>
              <a:t>from LSTMs this time.</a:t>
            </a:r>
            <a:endParaRPr lang="en-GB" dirty="0"/>
          </a:p>
          <a:p>
            <a:r>
              <a:rPr lang="en-GB" dirty="0"/>
              <a:t>As before, reuse the CNN on each frame of our video, and pass the output of CNNs as inputs for the memory update operation.</a:t>
            </a:r>
          </a:p>
          <a:p>
            <a:r>
              <a:rPr lang="en-GB" dirty="0"/>
              <a:t>Final memory vector through a linear to produce final output.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A6D20-789B-6DD7-CE19-7533776A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09763"/>
            <a:ext cx="9220200" cy="16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20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C7BB-4782-C186-826F-5FF665F2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A983-48D3-704B-6B53-737F5B6B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2bis – Make a LSTM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30253-174D-6BFF-BA77-F687813A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Later, we can use the built-in LSTM function from </a:t>
            </a:r>
            <a:r>
              <a:rPr lang="en-GB" dirty="0" err="1"/>
              <a:t>PyTorch</a:t>
            </a:r>
            <a:r>
              <a:rPr lang="en-GB" dirty="0"/>
              <a:t>, to make a more advanced RNN using the LSTM ideas, and multiple memory vectors to keep track of long-term and short-term memory.</a:t>
            </a:r>
          </a:p>
        </p:txBody>
      </p:sp>
    </p:spTree>
    <p:extLst>
      <p:ext uri="{BB962C8B-B14F-4D97-AF65-F5344CB8AC3E}">
        <p14:creationId xmlns:p14="http://schemas.microsoft.com/office/powerpoint/2010/main" val="892623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B01EA-ADC0-FB35-7701-81998736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1156-DA42-7EE1-0EB4-CB76EC19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2bis – Make a LSTM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FC2B-6DC9-5B92-C5ED-4CC7578CB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Later, we can use the built-in LSTM function from </a:t>
            </a:r>
            <a:r>
              <a:rPr lang="en-GB" dirty="0" err="1"/>
              <a:t>PyTorch</a:t>
            </a:r>
            <a:r>
              <a:rPr lang="en-GB" dirty="0"/>
              <a:t>, to make a more advanced RNN using the LSTM ideas, and multiple memory vectors to keep track of long-term and short-term memory.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E62AF-E060-005F-70AA-4CD41CBE8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170" y="310466"/>
            <a:ext cx="7851659" cy="618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11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5E58F-5000-9C94-9AC2-A337404D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864A-6754-D164-5813-910277C7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2bis – Make a LSTM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7555-1EAC-5D4C-41E2-2F831162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Later, we can use the built-in LSTM function from </a:t>
            </a:r>
            <a:r>
              <a:rPr lang="en-GB" dirty="0" err="1"/>
              <a:t>PyTorch</a:t>
            </a:r>
            <a:r>
              <a:rPr lang="en-GB" dirty="0"/>
              <a:t>, to make a more advanced RNN using the LSTM ideas, and multiple memory vectors to keep track of long-term and short-term memory.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A8E8C-D96A-1AF3-6E15-00552D613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94" y="92046"/>
            <a:ext cx="7742212" cy="66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892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565C1-C0BE-CCA8-B304-96B1AC67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5AD2-D576-4800-12A0-A6782DB5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2bis – Make a LSTM to process all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F15C-817C-1E4A-BC49-A63A2181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Later, we can use the built-in LSTM function from </a:t>
            </a:r>
            <a:r>
              <a:rPr lang="en-GB" dirty="0" err="1"/>
              <a:t>PyTorch</a:t>
            </a:r>
            <a:r>
              <a:rPr lang="en-GB" dirty="0"/>
              <a:t>, to make a more advanced RNN using the LSTM ideas, and multiple memory vectors to keep track of long-term and short-term memory.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Works!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CAD4B-6F45-F6FC-1122-B83949309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97" y="4489603"/>
            <a:ext cx="11250206" cy="207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3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A246-9A36-D2DC-A696-1D4EB875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D783-786B-C3A4-94B3-C078C2DC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Guided implementation</a:t>
            </a:r>
            <a:br>
              <a:rPr lang="en-GB" dirty="0"/>
            </a:br>
            <a:r>
              <a:rPr lang="en-GB" dirty="0"/>
              <a:t>Step 3 – Make a trainer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876E-6F4D-425F-6EEF-4FDFA2D04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Of course, later on, we would need to find a dataset containing multiple videos to train our model, for instance:</a:t>
            </a:r>
          </a:p>
          <a:p>
            <a:r>
              <a:rPr lang="en-GB" dirty="0"/>
              <a:t>10 sec videos, resolution 220 by 220 of MRI of beating hearts</a:t>
            </a:r>
          </a:p>
          <a:p>
            <a:r>
              <a:rPr lang="en-GB" dirty="0"/>
              <a:t>Each video has a ground truth among N possible classes, e.g.:</a:t>
            </a:r>
          </a:p>
          <a:p>
            <a:pPr lvl="1">
              <a:buFontTx/>
              <a:buChar char="-"/>
            </a:pPr>
            <a:r>
              <a:rPr lang="en-GB" dirty="0"/>
              <a:t>0: Normal, no abnormalities</a:t>
            </a:r>
          </a:p>
          <a:p>
            <a:pPr lvl="1">
              <a:buFontTx/>
              <a:buChar char="-"/>
            </a:pPr>
            <a:r>
              <a:rPr lang="en-GB" dirty="0"/>
              <a:t>1: Cardiomyopathy</a:t>
            </a:r>
          </a:p>
          <a:p>
            <a:pPr lvl="1">
              <a:buFontTx/>
              <a:buChar char="-"/>
            </a:pPr>
            <a:r>
              <a:rPr lang="en-GB" dirty="0"/>
              <a:t>2: Heart Failure</a:t>
            </a:r>
          </a:p>
          <a:p>
            <a:pPr lvl="1">
              <a:buFontTx/>
              <a:buChar char="-"/>
            </a:pPr>
            <a:r>
              <a:rPr lang="en-GB" dirty="0"/>
              <a:t>3: Ischemia/Infarcts</a:t>
            </a:r>
          </a:p>
          <a:p>
            <a:pPr lvl="1">
              <a:buFontTx/>
              <a:buChar char="-"/>
            </a:pPr>
            <a:r>
              <a:rPr lang="en-GB" dirty="0"/>
              <a:t>Etc.</a:t>
            </a:r>
          </a:p>
          <a:p>
            <a:pPr marL="0" indent="0">
              <a:buNone/>
            </a:pPr>
            <a:r>
              <a:rPr lang="en-GB" dirty="0"/>
              <a:t>Write datasets, </a:t>
            </a:r>
            <a:r>
              <a:rPr lang="en-GB" dirty="0" err="1"/>
              <a:t>dataloaders</a:t>
            </a:r>
            <a:r>
              <a:rPr lang="en-GB" dirty="0"/>
              <a:t> and trainer functions as before with MNIST, adjusting tensor sizes so it takes sequences of frames and not images!</a:t>
            </a:r>
          </a:p>
        </p:txBody>
      </p:sp>
    </p:spTree>
    <p:extLst>
      <p:ext uri="{BB962C8B-B14F-4D97-AF65-F5344CB8AC3E}">
        <p14:creationId xmlns:p14="http://schemas.microsoft.com/office/powerpoint/2010/main" val="7619629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BB267-24B9-144C-E4DE-C6D6CD35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call it a break for now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4BD3C-A362-227F-DB67-10CF1E267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continue on the next lecture with another NLP-inspired Computer Vision Model called a </a:t>
            </a:r>
            <a:r>
              <a:rPr lang="en-GB"/>
              <a:t>Vision Transformer!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272836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2636</TotalTime>
  <Words>3857</Words>
  <Application>Microsoft Office PowerPoint</Application>
  <PresentationFormat>Widescreen</PresentationFormat>
  <Paragraphs>365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Office Theme</vt:lpstr>
      <vt:lpstr>Computer Vision in Python Day 2, Part 3/4</vt:lpstr>
      <vt:lpstr>About this lecture</vt:lpstr>
      <vt:lpstr>What is a video, mathematically?</vt:lpstr>
      <vt:lpstr>What is a video, mathematically?</vt:lpstr>
      <vt:lpstr>What is a video, mathematically?</vt:lpstr>
      <vt:lpstr>From images to videos</vt:lpstr>
      <vt:lpstr>Applications</vt:lpstr>
      <vt:lpstr>The simplest video baseline</vt:lpstr>
      <vt:lpstr>The simplest video baseline</vt:lpstr>
      <vt:lpstr>What’s missing?</vt:lpstr>
      <vt:lpstr>Quick interlude: about time series</vt:lpstr>
      <vt:lpstr>Quick interlude: about time series</vt:lpstr>
      <vt:lpstr>Quick interlude: about time series</vt:lpstr>
      <vt:lpstr>Why standard NNs fail on time series</vt:lpstr>
      <vt:lpstr>A visual example for the need of “memory”</vt:lpstr>
      <vt:lpstr>A visual example for the need of “memory”</vt:lpstr>
      <vt:lpstr>The need for memory and RNNs</vt:lpstr>
      <vt:lpstr>The need for memory and RNNs</vt:lpstr>
      <vt:lpstr>Defining a Recurrent Neural Network (RNN)</vt:lpstr>
      <vt:lpstr>Want to learn more about RNNs?</vt:lpstr>
      <vt:lpstr>Want to learn more about RNNs?</vt:lpstr>
      <vt:lpstr>Want to learn more about RNNs?</vt:lpstr>
      <vt:lpstr>More ideas behind memory-based models</vt:lpstr>
      <vt:lpstr>More ideas behind memory-based models</vt:lpstr>
      <vt:lpstr>Introducing LSTM</vt:lpstr>
      <vt:lpstr>The idea behind LSTM</vt:lpstr>
      <vt:lpstr>Introducing LSTM</vt:lpstr>
      <vt:lpstr>Introducing LSTM</vt:lpstr>
      <vt:lpstr>Introducing LSTM</vt:lpstr>
      <vt:lpstr>Introducing LSTM</vt:lpstr>
      <vt:lpstr>Introducing LSTM</vt:lpstr>
      <vt:lpstr>Introducing LSTM</vt:lpstr>
      <vt:lpstr>Introducing LSTM</vt:lpstr>
      <vt:lpstr>Introducing LSTM</vt:lpstr>
      <vt:lpstr>To recap, our LSTM</vt:lpstr>
      <vt:lpstr>Building our own LSTM model</vt:lpstr>
      <vt:lpstr>Building our own LSTM</vt:lpstr>
      <vt:lpstr>The PyTorch LSTM (equivalent to ours, but can be repeated num_layers times in a row)</vt:lpstr>
      <vt:lpstr>Back to our videos</vt:lpstr>
      <vt:lpstr>The RNN+CNN idea</vt:lpstr>
      <vt:lpstr>Back to our videos</vt:lpstr>
      <vt:lpstr>Guided implementation Step 1 – Make a CNN to process each frame</vt:lpstr>
      <vt:lpstr>Guided implementation Step 1 – Make a CNN to process frames</vt:lpstr>
      <vt:lpstr>Guided implementation Step 1 – Make a CNN to process each frame</vt:lpstr>
      <vt:lpstr>Guided implementation Step 2 – Make a RNN to process all frames</vt:lpstr>
      <vt:lpstr>Guided implementation Step 2 – Make a RNN to process all frames</vt:lpstr>
      <vt:lpstr>Guided implementation Step 2 – Make a RNN to process all frames</vt:lpstr>
      <vt:lpstr>Guided implementation Step 2 – Make a RNN to process all frames</vt:lpstr>
      <vt:lpstr>Guided implementation Step 2bis – Make a LSTM to process all frames</vt:lpstr>
      <vt:lpstr>Guided implementation Step 2bis – Make a LSTM to process all frames</vt:lpstr>
      <vt:lpstr>Guided implementation Step 2bis – Make a LSTM to process all frames</vt:lpstr>
      <vt:lpstr>Guided implementation Step 2bis – Make a LSTM to process all frames</vt:lpstr>
      <vt:lpstr>Guided implementation Step 3 – Make a trainer function</vt:lpstr>
      <vt:lpstr>Let us call it a break for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156</cp:revision>
  <dcterms:created xsi:type="dcterms:W3CDTF">2021-03-10T09:35:15Z</dcterms:created>
  <dcterms:modified xsi:type="dcterms:W3CDTF">2026-04-17T06:51:42Z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2022-10-19T06:33:11Z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b38511b1-1f99-43ef-90d2-0a93e93e7588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